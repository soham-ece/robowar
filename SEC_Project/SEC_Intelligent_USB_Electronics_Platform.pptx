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Avi  ·  about 0:45
Good morning. We are presenting our SEC project, Design and Development of an Intelligent USB-Based Electronics Platform, under the supervision of Prof. G.S. Chilana. I am Avi, with Harshit and Anshul; our team member Soham Pandit Nalawade could not be present today. In one line, our project is one small device that does the work of eight lab instruments, connects to a laptop with one USB cable, and has an AI engineer, called Proto, that runs tests and explains the results in plain language.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Avi  ·  about 1:00
Why did we build this? A normal electronics bench needs five to eight separate instruments: an oscilloscope, a function generator, a logic analyser, a multimeter and power supplies. They are costly and bulky, each has its own controls, and students often see a number without knowing what it means or what to fix. So our objectives are: put all eight instruments in one USB unit; build the core on an FPGA; give everything one software screen; add Proto, an AI engineer that plans tests and explains results; and keep it affordable for student labs.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Harshit  ·  about 1:15
This is how the hardware is organised. Read it from left to right. Each port on the left goes through a front end that protects and scales the signal, then through a converter. The two oscilloscope inputs use AD9226 chips, 12-bit converters that take 65 million readings per second. The waveform outputs use a 14-bit dual DAC. The 16 logic lines pass through a 74LVC245 buffer, the multimeter uses a precise 24-bit ADC, and the two power supplies are set by a small DAC and measured by an INA226 current monitor. Everything meets in the FPGA, the brain of the device. It handles triggering, captures data, generates waveforms and decodes buses, then sends everything over USB 2.0 to the computer, where our software and Proto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Harshit  ·  about 1:00
This is the front panel the user actually touches. CH1 and CH2 are the oscilloscope inputs. W1 and W2 are the signal generator outputs. The 16-pin header is for logic signals: the logic analyser, the pattern generator and the protocol decoder all use it. V1, V2 and COM are the two programmable power supplies, DMM is the multimeter input, and USB-C connects to the laptop. The table shows each instrument, its port, its key specification and the chip that does the 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Anshul  ·  about 1:00
This is our software design. On the left you choose an instrument. In the middle is the oscilloscope screen with two waveforms, and below it the logic view decoding an I2C message into readable bytes. On the right are automatic measurements like frequency, voltage and rise time, and the Proto panel, where you can ask a question in plain English. On the right side of the slide is the software stack, from bottom to top: the FPGA logic, the USB link, the device interface, the workbench screen, and Proto at the 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Anshul  ·  about 1:15
Proto is what makes the platform intelligent. It follows a fixed test flow: connect the board, power it up while watching the current, check every supply rail, drive the inputs, capture the outputs, decode the buses, give a verdict and suggest the fix. The first graph shows a frequency-response test of an RC filter. The generator sweeps the frequency, the scope measures the output, and Proto compares it with theory: the cutoff is one over two pi R C, about 1.59 kilohertz. The second graph checks each supply rail against a five percent tolerance. Here the sensor supply is 2.71 volts instead of 3.3, so Proto flags it and suggests what to check. These graphs show the test method with example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Avi  ·  about 1:00
Our method has seven phases: requirements and architecture, component selection, schematic and PCB design, FPGA logic, the workbench software, Proto integration, and finally testing and validation. The expected outcome is one USB unit that replaces eight bench instruments, runs tests as plans, and explains results in simple language at a cost student labs can afford. In future we want to add a probe fixture that reaches every point on a board automatically, more protocol decoders, remote lab access and automatic lab reports. Thank you. We are happy to take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8FAFC"/>
          </a:solidFill>
          <a:ln w="12700">
            <a:solidFill>
              <a:srgbClr val="F8FAFC"/>
            </a:solidFill>
            <a:prstDash val="solid"/>
          </a:ln>
        </p:spPr>
      </p:sp>
      <p:sp>
        <p:nvSpPr>
          <p:cNvPr id="3" name="Shape 1"/>
          <p:cNvSpPr/>
          <p:nvPr/>
        </p:nvSpPr>
        <p:spPr>
          <a:xfrm>
            <a:off x="0" y="0"/>
            <a:ext cx="164592" cy="6858000"/>
          </a:xfrm>
          <a:prstGeom prst="rect">
            <a:avLst/>
          </a:prstGeom>
          <a:solidFill>
            <a:srgbClr val="14213D"/>
          </a:solidFill>
          <a:ln w="12700">
            <a:solidFill>
              <a:srgbClr val="14213D"/>
            </a:solidFill>
            <a:prstDash val="solid"/>
          </a:ln>
        </p:spPr>
      </p:sp>
      <p:sp>
        <p:nvSpPr>
          <p:cNvPr id="4" name="Text 2"/>
          <p:cNvSpPr txBox="1"/>
          <p:nvPr/>
        </p:nvSpPr>
        <p:spPr>
          <a:xfrm>
            <a:off x="685800" y="640080"/>
            <a:ext cx="7315200" cy="274320"/>
          </a:xfrm>
          <a:prstGeom prst="rect">
            <a:avLst/>
          </a:prstGeom>
          <a:noFill/>
          <a:ln/>
        </p:spPr>
        <p:txBody>
          <a:bodyPr wrap="square" lIns="0" tIns="0" rIns="0" bIns="0" rtlCol="0" anchor="t"/>
          <a:lstStyle/>
          <a:p>
            <a:pPr indent="0" marL="0">
              <a:buNone/>
            </a:pPr>
            <a:r>
              <a:rPr lang="en-US" sz="1200" b="1" spc="200" kern="0" dirty="0">
                <a:solidFill>
                  <a:srgbClr val="2563EB"/>
                </a:solidFill>
                <a:latin typeface="Arial" pitchFamily="34" charset="0"/>
                <a:ea typeface="Arial" pitchFamily="34" charset="-122"/>
                <a:cs typeface="Arial" pitchFamily="34" charset="-120"/>
              </a:rPr>
              <a:t>SKILL ENHANCEMENT COURSE (SEC) PROJECT</a:t>
            </a:r>
            <a:endParaRPr lang="en-US" sz="1200" dirty="0"/>
          </a:p>
        </p:txBody>
      </p:sp>
      <p:sp>
        <p:nvSpPr>
          <p:cNvPr id="5" name="Text 3"/>
          <p:cNvSpPr txBox="1"/>
          <p:nvPr/>
        </p:nvSpPr>
        <p:spPr>
          <a:xfrm>
            <a:off x="685800" y="1005840"/>
            <a:ext cx="6949440" cy="1737360"/>
          </a:xfrm>
          <a:prstGeom prst="rect">
            <a:avLst/>
          </a:prstGeom>
          <a:noFill/>
          <a:ln/>
        </p:spPr>
        <p:txBody>
          <a:bodyPr wrap="square" lIns="0" tIns="0" rIns="0" bIns="0" rtlCol="0" anchor="t"/>
          <a:lstStyle/>
          <a:p>
            <a:pPr indent="0" marL="0">
              <a:buNone/>
            </a:pPr>
            <a:r>
              <a:rPr lang="en-US" sz="3600" b="1" dirty="0">
                <a:solidFill>
                  <a:srgbClr val="14213D"/>
                </a:solidFill>
                <a:latin typeface="Arial" pitchFamily="34" charset="0"/>
                <a:ea typeface="Arial" pitchFamily="34" charset="-122"/>
                <a:cs typeface="Arial" pitchFamily="34" charset="-120"/>
              </a:rPr>
              <a:t>Design and Development of an Intelligent USB-Based Electronics Platform</a:t>
            </a:r>
            <a:endParaRPr lang="en-US" sz="3600" dirty="0"/>
          </a:p>
        </p:txBody>
      </p:sp>
      <p:sp>
        <p:nvSpPr>
          <p:cNvPr id="6" name="Text 4"/>
          <p:cNvSpPr txBox="1"/>
          <p:nvPr/>
        </p:nvSpPr>
        <p:spPr>
          <a:xfrm>
            <a:off x="685800" y="2788920"/>
            <a:ext cx="6583680" cy="731520"/>
          </a:xfrm>
          <a:prstGeom prst="rect">
            <a:avLst/>
          </a:prstGeom>
          <a:noFill/>
          <a:ln/>
        </p:spPr>
        <p:txBody>
          <a:bodyPr wrap="square" lIns="0" tIns="0" rIns="0" bIns="0" rtlCol="0" anchor="t"/>
          <a:lstStyle/>
          <a:p>
            <a:pPr indent="0" marL="0">
              <a:buNone/>
            </a:pPr>
            <a:r>
              <a:rPr lang="en-US" sz="1500" dirty="0">
                <a:solidFill>
                  <a:srgbClr val="334155"/>
                </a:solidFill>
                <a:latin typeface="Arial" pitchFamily="34" charset="0"/>
                <a:ea typeface="Arial" pitchFamily="34" charset="-122"/>
                <a:cs typeface="Arial" pitchFamily="34" charset="-120"/>
              </a:rPr>
              <a:t>Eight bench instruments on one USB cable, with Proto, an AI engineer that plans every test and explains every measurement.</a:t>
            </a:r>
            <a:endParaRPr lang="en-US" sz="1500" dirty="0"/>
          </a:p>
        </p:txBody>
      </p:sp>
      <p:sp>
        <p:nvSpPr>
          <p:cNvPr id="7" name="Shape 5"/>
          <p:cNvSpPr/>
          <p:nvPr/>
        </p:nvSpPr>
        <p:spPr>
          <a:xfrm>
            <a:off x="685800" y="3794760"/>
            <a:ext cx="6675120" cy="2331720"/>
          </a:xfrm>
          <a:prstGeom prst="rect">
            <a:avLst/>
          </a:prstGeom>
          <a:solidFill>
            <a:srgbClr val="FFFFFF"/>
          </a:solidFill>
          <a:ln w="12700">
            <a:solidFill>
              <a:srgbClr val="E2E8F0"/>
            </a:solidFill>
            <a:prstDash val="solid"/>
          </a:ln>
        </p:spPr>
      </p:sp>
      <p:sp>
        <p:nvSpPr>
          <p:cNvPr id="8" name="Shape 6"/>
          <p:cNvSpPr/>
          <p:nvPr/>
        </p:nvSpPr>
        <p:spPr>
          <a:xfrm>
            <a:off x="685800" y="3794760"/>
            <a:ext cx="73152" cy="2331720"/>
          </a:xfrm>
          <a:prstGeom prst="rect">
            <a:avLst/>
          </a:prstGeom>
          <a:solidFill>
            <a:srgbClr val="2563EB"/>
          </a:solidFill>
          <a:ln w="12700">
            <a:solidFill>
              <a:srgbClr val="2563EB"/>
            </a:solidFill>
            <a:prstDash val="solid"/>
          </a:ln>
        </p:spPr>
      </p:sp>
      <p:sp>
        <p:nvSpPr>
          <p:cNvPr id="9" name="Text 7"/>
          <p:cNvSpPr txBox="1"/>
          <p:nvPr/>
        </p:nvSpPr>
        <p:spPr>
          <a:xfrm>
            <a:off x="960120" y="3950208"/>
            <a:ext cx="2743200" cy="228600"/>
          </a:xfrm>
          <a:prstGeom prst="rect">
            <a:avLst/>
          </a:prstGeom>
          <a:noFill/>
          <a:ln/>
        </p:spPr>
        <p:txBody>
          <a:bodyPr wrap="square" lIns="0" tIns="0" rIns="0" bIns="0" rtlCol="0" anchor="t"/>
          <a:lstStyle/>
          <a:p>
            <a:pPr indent="0" marL="0">
              <a:buNone/>
            </a:pPr>
            <a:r>
              <a:rPr lang="en-US" sz="1050" b="1" spc="150" kern="0" dirty="0">
                <a:solidFill>
                  <a:srgbClr val="64748B"/>
                </a:solidFill>
                <a:latin typeface="Arial" pitchFamily="34" charset="0"/>
                <a:ea typeface="Arial" pitchFamily="34" charset="-122"/>
                <a:cs typeface="Arial" pitchFamily="34" charset="-120"/>
              </a:rPr>
              <a:t>PROJECT TEAM</a:t>
            </a:r>
            <a:endParaRPr lang="en-US" sz="1050" dirty="0"/>
          </a:p>
        </p:txBody>
      </p:sp>
      <p:sp>
        <p:nvSpPr>
          <p:cNvPr id="10" name="Text 8"/>
          <p:cNvSpPr txBox="1"/>
          <p:nvPr/>
        </p:nvSpPr>
        <p:spPr>
          <a:xfrm>
            <a:off x="960120" y="4261104"/>
            <a:ext cx="3291840" cy="292608"/>
          </a:xfrm>
          <a:prstGeom prst="rect">
            <a:avLst/>
          </a:prstGeom>
          <a:noFill/>
          <a:ln/>
        </p:spPr>
        <p:txBody>
          <a:bodyPr wrap="square" lIns="0" tIns="0" rIns="0" bIns="0" rtlCol="0" anchor="t"/>
          <a:lstStyle/>
          <a:p>
            <a:pPr indent="0" marL="0">
              <a:buNone/>
            </a:pPr>
            <a:r>
              <a:rPr lang="en-US" sz="1400" b="1" dirty="0">
                <a:solidFill>
                  <a:srgbClr val="1E293B"/>
                </a:solidFill>
                <a:latin typeface="Arial" pitchFamily="34" charset="0"/>
                <a:ea typeface="Arial" pitchFamily="34" charset="-122"/>
                <a:cs typeface="Arial" pitchFamily="34" charset="-120"/>
              </a:rPr>
              <a:t>Avi Prakash Jaiswal</a:t>
            </a:r>
            <a:endParaRPr lang="en-US" sz="1400" dirty="0"/>
          </a:p>
        </p:txBody>
      </p:sp>
      <p:sp>
        <p:nvSpPr>
          <p:cNvPr id="11" name="Text 9"/>
          <p:cNvSpPr txBox="1"/>
          <p:nvPr/>
        </p:nvSpPr>
        <p:spPr>
          <a:xfrm>
            <a:off x="4160520" y="4261104"/>
            <a:ext cx="1463040" cy="292608"/>
          </a:xfrm>
          <a:prstGeom prst="rect">
            <a:avLst/>
          </a:prstGeom>
          <a:noFill/>
          <a:ln/>
        </p:spPr>
        <p:txBody>
          <a:bodyPr wrap="square" lIns="0" tIns="0" rIns="0" bIns="0" rtlCol="0" anchor="t"/>
          <a:lstStyle/>
          <a:p>
            <a:pPr indent="0" marL="0">
              <a:buNone/>
            </a:pPr>
            <a:r>
              <a:rPr lang="en-US" sz="1300" dirty="0">
                <a:solidFill>
                  <a:srgbClr val="64748B"/>
                </a:solidFill>
                <a:latin typeface="Courier New" pitchFamily="34" charset="0"/>
                <a:ea typeface="Courier New" pitchFamily="34" charset="-122"/>
                <a:cs typeface="Courier New" pitchFamily="34" charset="-120"/>
              </a:rPr>
              <a:t>24294917</a:t>
            </a:r>
            <a:endParaRPr lang="en-US" sz="1300" dirty="0"/>
          </a:p>
        </p:txBody>
      </p:sp>
      <p:sp>
        <p:nvSpPr>
          <p:cNvPr id="12" name="Text 10"/>
          <p:cNvSpPr txBox="1"/>
          <p:nvPr/>
        </p:nvSpPr>
        <p:spPr>
          <a:xfrm>
            <a:off x="960120" y="4590288"/>
            <a:ext cx="3291840" cy="292608"/>
          </a:xfrm>
          <a:prstGeom prst="rect">
            <a:avLst/>
          </a:prstGeom>
          <a:noFill/>
          <a:ln/>
        </p:spPr>
        <p:txBody>
          <a:bodyPr wrap="square" lIns="0" tIns="0" rIns="0" bIns="0" rtlCol="0" anchor="t"/>
          <a:lstStyle/>
          <a:p>
            <a:pPr indent="0" marL="0">
              <a:buNone/>
            </a:pPr>
            <a:r>
              <a:rPr lang="en-US" sz="1400" b="1" dirty="0">
                <a:solidFill>
                  <a:srgbClr val="1E293B"/>
                </a:solidFill>
                <a:latin typeface="Arial" pitchFamily="34" charset="0"/>
                <a:ea typeface="Arial" pitchFamily="34" charset="-122"/>
                <a:cs typeface="Arial" pitchFamily="34" charset="-120"/>
              </a:rPr>
              <a:t>Soham Pandit Nalawade</a:t>
            </a:r>
            <a:endParaRPr lang="en-US" sz="1400" dirty="0"/>
          </a:p>
        </p:txBody>
      </p:sp>
      <p:sp>
        <p:nvSpPr>
          <p:cNvPr id="13" name="Text 11"/>
          <p:cNvSpPr txBox="1"/>
          <p:nvPr/>
        </p:nvSpPr>
        <p:spPr>
          <a:xfrm>
            <a:off x="4160520" y="4590288"/>
            <a:ext cx="1463040" cy="292608"/>
          </a:xfrm>
          <a:prstGeom prst="rect">
            <a:avLst/>
          </a:prstGeom>
          <a:noFill/>
          <a:ln/>
        </p:spPr>
        <p:txBody>
          <a:bodyPr wrap="square" lIns="0" tIns="0" rIns="0" bIns="0" rtlCol="0" anchor="t"/>
          <a:lstStyle/>
          <a:p>
            <a:pPr indent="0" marL="0">
              <a:buNone/>
            </a:pPr>
            <a:r>
              <a:rPr lang="en-US" sz="1300" dirty="0">
                <a:solidFill>
                  <a:srgbClr val="64748B"/>
                </a:solidFill>
                <a:latin typeface="Courier New" pitchFamily="34" charset="0"/>
                <a:ea typeface="Courier New" pitchFamily="34" charset="-122"/>
                <a:cs typeface="Courier New" pitchFamily="34" charset="-120"/>
              </a:rPr>
              <a:t>24294917002</a:t>
            </a:r>
            <a:endParaRPr lang="en-US" sz="1300" dirty="0"/>
          </a:p>
        </p:txBody>
      </p:sp>
      <p:sp>
        <p:nvSpPr>
          <p:cNvPr id="14" name="Text 12"/>
          <p:cNvSpPr txBox="1"/>
          <p:nvPr/>
        </p:nvSpPr>
        <p:spPr>
          <a:xfrm>
            <a:off x="960120" y="4919472"/>
            <a:ext cx="3291840" cy="292608"/>
          </a:xfrm>
          <a:prstGeom prst="rect">
            <a:avLst/>
          </a:prstGeom>
          <a:noFill/>
          <a:ln/>
        </p:spPr>
        <p:txBody>
          <a:bodyPr wrap="square" lIns="0" tIns="0" rIns="0" bIns="0" rtlCol="0" anchor="t"/>
          <a:lstStyle/>
          <a:p>
            <a:pPr indent="0" marL="0">
              <a:buNone/>
            </a:pPr>
            <a:r>
              <a:rPr lang="en-US" sz="1400" b="1" dirty="0">
                <a:solidFill>
                  <a:srgbClr val="1E293B"/>
                </a:solidFill>
                <a:latin typeface="Arial" pitchFamily="34" charset="0"/>
                <a:ea typeface="Arial" pitchFamily="34" charset="-122"/>
                <a:cs typeface="Arial" pitchFamily="34" charset="-120"/>
              </a:rPr>
              <a:t>Harshit Saini</a:t>
            </a:r>
            <a:endParaRPr lang="en-US" sz="1400" dirty="0"/>
          </a:p>
        </p:txBody>
      </p:sp>
      <p:sp>
        <p:nvSpPr>
          <p:cNvPr id="15" name="Text 13"/>
          <p:cNvSpPr txBox="1"/>
          <p:nvPr/>
        </p:nvSpPr>
        <p:spPr>
          <a:xfrm>
            <a:off x="4160520" y="4919472"/>
            <a:ext cx="1463040" cy="292608"/>
          </a:xfrm>
          <a:prstGeom prst="rect">
            <a:avLst/>
          </a:prstGeom>
          <a:noFill/>
          <a:ln/>
        </p:spPr>
        <p:txBody>
          <a:bodyPr wrap="square" lIns="0" tIns="0" rIns="0" bIns="0" rtlCol="0" anchor="t"/>
          <a:lstStyle/>
          <a:p>
            <a:pPr indent="0" marL="0">
              <a:buNone/>
            </a:pPr>
            <a:r>
              <a:rPr lang="en-US" sz="1300" dirty="0">
                <a:solidFill>
                  <a:srgbClr val="64748B"/>
                </a:solidFill>
                <a:latin typeface="Courier New" pitchFamily="34" charset="0"/>
                <a:ea typeface="Courier New" pitchFamily="34" charset="-122"/>
                <a:cs typeface="Courier New" pitchFamily="34" charset="-120"/>
              </a:rPr>
              <a:t>24294917086</a:t>
            </a:r>
            <a:endParaRPr lang="en-US" sz="1300" dirty="0"/>
          </a:p>
        </p:txBody>
      </p:sp>
      <p:sp>
        <p:nvSpPr>
          <p:cNvPr id="16" name="Text 14"/>
          <p:cNvSpPr txBox="1"/>
          <p:nvPr/>
        </p:nvSpPr>
        <p:spPr>
          <a:xfrm>
            <a:off x="960120" y="5248656"/>
            <a:ext cx="3291840" cy="292608"/>
          </a:xfrm>
          <a:prstGeom prst="rect">
            <a:avLst/>
          </a:prstGeom>
          <a:noFill/>
          <a:ln/>
        </p:spPr>
        <p:txBody>
          <a:bodyPr wrap="square" lIns="0" tIns="0" rIns="0" bIns="0" rtlCol="0" anchor="t"/>
          <a:lstStyle/>
          <a:p>
            <a:pPr indent="0" marL="0">
              <a:buNone/>
            </a:pPr>
            <a:r>
              <a:rPr lang="en-US" sz="1400" b="1" dirty="0">
                <a:solidFill>
                  <a:srgbClr val="1E293B"/>
                </a:solidFill>
                <a:latin typeface="Arial" pitchFamily="34" charset="0"/>
                <a:ea typeface="Arial" pitchFamily="34" charset="-122"/>
                <a:cs typeface="Arial" pitchFamily="34" charset="-120"/>
              </a:rPr>
              <a:t>Anshul</a:t>
            </a:r>
            <a:endParaRPr lang="en-US" sz="1400" dirty="0"/>
          </a:p>
        </p:txBody>
      </p:sp>
      <p:sp>
        <p:nvSpPr>
          <p:cNvPr id="17" name="Text 15"/>
          <p:cNvSpPr txBox="1"/>
          <p:nvPr/>
        </p:nvSpPr>
        <p:spPr>
          <a:xfrm>
            <a:off x="4160520" y="5248656"/>
            <a:ext cx="1463040" cy="292608"/>
          </a:xfrm>
          <a:prstGeom prst="rect">
            <a:avLst/>
          </a:prstGeom>
          <a:noFill/>
          <a:ln/>
        </p:spPr>
        <p:txBody>
          <a:bodyPr wrap="square" lIns="0" tIns="0" rIns="0" bIns="0" rtlCol="0" anchor="t"/>
          <a:lstStyle/>
          <a:p>
            <a:pPr indent="0" marL="0">
              <a:buNone/>
            </a:pPr>
            <a:r>
              <a:rPr lang="en-US" sz="1300" dirty="0">
                <a:solidFill>
                  <a:srgbClr val="64748B"/>
                </a:solidFill>
                <a:latin typeface="Courier New" pitchFamily="34" charset="0"/>
                <a:ea typeface="Courier New" pitchFamily="34" charset="-122"/>
                <a:cs typeface="Courier New" pitchFamily="34" charset="-120"/>
              </a:rPr>
              <a:t>24294917037</a:t>
            </a:r>
            <a:endParaRPr lang="en-US" sz="1300" dirty="0"/>
          </a:p>
        </p:txBody>
      </p:sp>
      <p:sp>
        <p:nvSpPr>
          <p:cNvPr id="18" name="Shape 16"/>
          <p:cNvSpPr/>
          <p:nvPr/>
        </p:nvSpPr>
        <p:spPr>
          <a:xfrm>
            <a:off x="5669280" y="4069080"/>
            <a:ext cx="0" cy="1783080"/>
          </a:xfrm>
          <a:prstGeom prst="line">
            <a:avLst/>
          </a:prstGeom>
          <a:noFill/>
          <a:ln w="12700">
            <a:solidFill>
              <a:srgbClr val="E2E8F0"/>
            </a:solidFill>
            <a:prstDash val="solid"/>
          </a:ln>
        </p:spPr>
      </p:sp>
      <p:sp>
        <p:nvSpPr>
          <p:cNvPr id="19" name="Text 17"/>
          <p:cNvSpPr txBox="1"/>
          <p:nvPr/>
        </p:nvSpPr>
        <p:spPr>
          <a:xfrm>
            <a:off x="5852160" y="3950208"/>
            <a:ext cx="1463040" cy="228600"/>
          </a:xfrm>
          <a:prstGeom prst="rect">
            <a:avLst/>
          </a:prstGeom>
          <a:noFill/>
          <a:ln/>
        </p:spPr>
        <p:txBody>
          <a:bodyPr wrap="square" lIns="0" tIns="0" rIns="0" bIns="0" rtlCol="0" anchor="t"/>
          <a:lstStyle/>
          <a:p>
            <a:pPr indent="0" marL="0">
              <a:buNone/>
            </a:pPr>
            <a:r>
              <a:rPr lang="en-US" sz="1050" b="1" spc="150" kern="0" dirty="0">
                <a:solidFill>
                  <a:srgbClr val="64748B"/>
                </a:solidFill>
                <a:latin typeface="Arial" pitchFamily="34" charset="0"/>
                <a:ea typeface="Arial" pitchFamily="34" charset="-122"/>
                <a:cs typeface="Arial" pitchFamily="34" charset="-120"/>
              </a:rPr>
              <a:t>SUPERVISOR</a:t>
            </a:r>
            <a:endParaRPr lang="en-US" sz="1050" dirty="0"/>
          </a:p>
        </p:txBody>
      </p:sp>
      <p:sp>
        <p:nvSpPr>
          <p:cNvPr id="20" name="Text 18"/>
          <p:cNvSpPr txBox="1"/>
          <p:nvPr/>
        </p:nvSpPr>
        <p:spPr>
          <a:xfrm>
            <a:off x="5852160" y="4261104"/>
            <a:ext cx="1463040" cy="640080"/>
          </a:xfrm>
          <a:prstGeom prst="rect">
            <a:avLst/>
          </a:prstGeom>
          <a:noFill/>
          <a:ln/>
        </p:spPr>
        <p:txBody>
          <a:bodyPr wrap="square" lIns="0" tIns="0" rIns="0" bIns="0" rtlCol="0" anchor="t"/>
          <a:lstStyle/>
          <a:p>
            <a:pPr indent="0" marL="0">
              <a:buNone/>
            </a:pPr>
            <a:r>
              <a:rPr lang="en-US" sz="1400" b="1" dirty="0">
                <a:solidFill>
                  <a:srgbClr val="1E293B"/>
                </a:solidFill>
                <a:latin typeface="Arial" pitchFamily="34" charset="0"/>
                <a:ea typeface="Arial" pitchFamily="34" charset="-122"/>
                <a:cs typeface="Arial" pitchFamily="34" charset="-120"/>
              </a:rPr>
              <a:t>Prof. G.S. Chilana</a:t>
            </a:r>
            <a:endParaRPr lang="en-US" sz="1400" dirty="0"/>
          </a:p>
        </p:txBody>
      </p:sp>
      <p:sp>
        <p:nvSpPr>
          <p:cNvPr id="21" name="Shape 19"/>
          <p:cNvSpPr/>
          <p:nvPr/>
        </p:nvSpPr>
        <p:spPr>
          <a:xfrm>
            <a:off x="7818120" y="640080"/>
            <a:ext cx="3931920" cy="5486400"/>
          </a:xfrm>
          <a:prstGeom prst="rect">
            <a:avLst/>
          </a:prstGeom>
          <a:solidFill>
            <a:srgbClr val="FFFFFF"/>
          </a:solidFill>
          <a:ln w="12700">
            <a:solidFill>
              <a:srgbClr val="E2E8F0"/>
            </a:solidFill>
            <a:prstDash val="solid"/>
          </a:ln>
        </p:spPr>
      </p:sp>
      <p:pic>
        <p:nvPicPr>
          <p:cNvPr id="22" name="Image 0" descr="/tmp/claude-0/-home-user-robowar/aee4da2e-473c-53db-a5de-8e0dc57de510/scratchpad/sec/img/front_panel.png">    </p:cNvPr>
          <p:cNvPicPr>
            <a:picLocks noChangeAspect="1"/>
          </p:cNvPicPr>
          <p:nvPr/>
        </p:nvPicPr>
        <p:blipFill>
          <a:blip r:embed="rId1"/>
          <a:stretch>
            <a:fillRect/>
          </a:stretch>
        </p:blipFill>
        <p:spPr>
          <a:xfrm>
            <a:off x="7955280" y="1005840"/>
            <a:ext cx="3657600" cy="1216152"/>
          </a:xfrm>
          <a:prstGeom prst="rect">
            <a:avLst/>
          </a:prstGeom>
        </p:spPr>
      </p:pic>
      <p:sp>
        <p:nvSpPr>
          <p:cNvPr id="23" name="Text 20"/>
          <p:cNvSpPr txBox="1"/>
          <p:nvPr/>
        </p:nvSpPr>
        <p:spPr>
          <a:xfrm>
            <a:off x="8092440" y="2697480"/>
            <a:ext cx="3474720" cy="228600"/>
          </a:xfrm>
          <a:prstGeom prst="rect">
            <a:avLst/>
          </a:prstGeom>
          <a:noFill/>
          <a:ln/>
        </p:spPr>
        <p:txBody>
          <a:bodyPr wrap="square" lIns="0" tIns="0" rIns="0" bIns="0" rtlCol="0" anchor="t"/>
          <a:lstStyle/>
          <a:p>
            <a:pPr indent="0" marL="0">
              <a:buNone/>
            </a:pPr>
            <a:r>
              <a:rPr lang="en-US" sz="1000" b="1" spc="150" kern="0" dirty="0">
                <a:solidFill>
                  <a:srgbClr val="64748B"/>
                </a:solidFill>
                <a:latin typeface="Arial" pitchFamily="34" charset="0"/>
                <a:ea typeface="Arial" pitchFamily="34" charset="-122"/>
                <a:cs typeface="Arial" pitchFamily="34" charset="-120"/>
              </a:rPr>
              <a:t>ONE DEVICE, EIGHT INSTRUMENTS</a:t>
            </a:r>
            <a:endParaRPr lang="en-US" sz="1000" dirty="0"/>
          </a:p>
        </p:txBody>
      </p:sp>
      <p:sp>
        <p:nvSpPr>
          <p:cNvPr id="24" name="Shape 21"/>
          <p:cNvSpPr/>
          <p:nvPr/>
        </p:nvSpPr>
        <p:spPr>
          <a:xfrm>
            <a:off x="8092440" y="3017520"/>
            <a:ext cx="1691640" cy="365760"/>
          </a:xfrm>
          <a:prstGeom prst="roundRect">
            <a:avLst>
              <a:gd name="adj" fmla="val 15000"/>
            </a:avLst>
          </a:prstGeom>
          <a:solidFill>
            <a:srgbClr val="F1F5F9"/>
          </a:solidFill>
          <a:ln w="12700">
            <a:solidFill>
              <a:srgbClr val="F1F5F9"/>
            </a:solidFill>
            <a:prstDash val="solid"/>
          </a:ln>
        </p:spPr>
      </p:sp>
      <p:sp>
        <p:nvSpPr>
          <p:cNvPr id="25" name="Shape 22"/>
          <p:cNvSpPr/>
          <p:nvPr/>
        </p:nvSpPr>
        <p:spPr>
          <a:xfrm>
            <a:off x="8092440" y="3017520"/>
            <a:ext cx="64008" cy="365760"/>
          </a:xfrm>
          <a:prstGeom prst="rect">
            <a:avLst/>
          </a:prstGeom>
          <a:solidFill>
            <a:srgbClr val="D97706"/>
          </a:solidFill>
          <a:ln w="12700">
            <a:solidFill>
              <a:srgbClr val="D97706"/>
            </a:solidFill>
            <a:prstDash val="solid"/>
          </a:ln>
        </p:spPr>
      </p:sp>
      <p:sp>
        <p:nvSpPr>
          <p:cNvPr id="26" name="Text 23"/>
          <p:cNvSpPr txBox="1"/>
          <p:nvPr/>
        </p:nvSpPr>
        <p:spPr>
          <a:xfrm>
            <a:off x="8229600" y="3017520"/>
            <a:ext cx="1554480" cy="365760"/>
          </a:xfrm>
          <a:prstGeom prst="rect">
            <a:avLst/>
          </a:prstGeom>
          <a:noFill/>
          <a:ln/>
        </p:spPr>
        <p:txBody>
          <a:bodyPr wrap="square" lIns="0" tIns="0" rIns="0" bIns="0" rtlCol="0" anchor="ctr"/>
          <a:lstStyle/>
          <a:p>
            <a:pPr indent="0" marL="0">
              <a:buNone/>
            </a:pPr>
            <a:r>
              <a:rPr lang="en-US" sz="1100" b="1" dirty="0">
                <a:solidFill>
                  <a:srgbClr val="1E293B"/>
                </a:solidFill>
                <a:latin typeface="Arial" pitchFamily="34" charset="0"/>
                <a:ea typeface="Arial" pitchFamily="34" charset="-122"/>
                <a:cs typeface="Arial" pitchFamily="34" charset="-120"/>
              </a:rPr>
              <a:t>Oscilloscope</a:t>
            </a:r>
            <a:endParaRPr lang="en-US" sz="1100" dirty="0"/>
          </a:p>
        </p:txBody>
      </p:sp>
      <p:sp>
        <p:nvSpPr>
          <p:cNvPr id="27" name="Shape 24"/>
          <p:cNvSpPr/>
          <p:nvPr/>
        </p:nvSpPr>
        <p:spPr>
          <a:xfrm>
            <a:off x="9875520" y="3017520"/>
            <a:ext cx="1691640" cy="365760"/>
          </a:xfrm>
          <a:prstGeom prst="roundRect">
            <a:avLst>
              <a:gd name="adj" fmla="val 15000"/>
            </a:avLst>
          </a:prstGeom>
          <a:solidFill>
            <a:srgbClr val="F1F5F9"/>
          </a:solidFill>
          <a:ln w="12700">
            <a:solidFill>
              <a:srgbClr val="F1F5F9"/>
            </a:solidFill>
            <a:prstDash val="solid"/>
          </a:ln>
        </p:spPr>
      </p:sp>
      <p:sp>
        <p:nvSpPr>
          <p:cNvPr id="28" name="Shape 25"/>
          <p:cNvSpPr/>
          <p:nvPr/>
        </p:nvSpPr>
        <p:spPr>
          <a:xfrm>
            <a:off x="9875520" y="3017520"/>
            <a:ext cx="64008" cy="365760"/>
          </a:xfrm>
          <a:prstGeom prst="rect">
            <a:avLst/>
          </a:prstGeom>
          <a:solidFill>
            <a:srgbClr val="2563EB"/>
          </a:solidFill>
          <a:ln w="12700">
            <a:solidFill>
              <a:srgbClr val="2563EB"/>
            </a:solidFill>
            <a:prstDash val="solid"/>
          </a:ln>
        </p:spPr>
      </p:sp>
      <p:sp>
        <p:nvSpPr>
          <p:cNvPr id="29" name="Text 26"/>
          <p:cNvSpPr txBox="1"/>
          <p:nvPr/>
        </p:nvSpPr>
        <p:spPr>
          <a:xfrm>
            <a:off x="10012680" y="3017520"/>
            <a:ext cx="1554480" cy="365760"/>
          </a:xfrm>
          <a:prstGeom prst="rect">
            <a:avLst/>
          </a:prstGeom>
          <a:noFill/>
          <a:ln/>
        </p:spPr>
        <p:txBody>
          <a:bodyPr wrap="square" lIns="0" tIns="0" rIns="0" bIns="0" rtlCol="0" anchor="ctr"/>
          <a:lstStyle/>
          <a:p>
            <a:pPr indent="0" marL="0">
              <a:buNone/>
            </a:pPr>
            <a:r>
              <a:rPr lang="en-US" sz="1100" b="1" dirty="0">
                <a:solidFill>
                  <a:srgbClr val="1E293B"/>
                </a:solidFill>
                <a:latin typeface="Arial" pitchFamily="34" charset="0"/>
                <a:ea typeface="Arial" pitchFamily="34" charset="-122"/>
                <a:cs typeface="Arial" pitchFamily="34" charset="-120"/>
              </a:rPr>
              <a:t>Waveform generator</a:t>
            </a:r>
            <a:endParaRPr lang="en-US" sz="1100" dirty="0"/>
          </a:p>
        </p:txBody>
      </p:sp>
      <p:sp>
        <p:nvSpPr>
          <p:cNvPr id="30" name="Shape 27"/>
          <p:cNvSpPr/>
          <p:nvPr/>
        </p:nvSpPr>
        <p:spPr>
          <a:xfrm>
            <a:off x="8092440" y="3474720"/>
            <a:ext cx="1691640" cy="365760"/>
          </a:xfrm>
          <a:prstGeom prst="roundRect">
            <a:avLst>
              <a:gd name="adj" fmla="val 15000"/>
            </a:avLst>
          </a:prstGeom>
          <a:solidFill>
            <a:srgbClr val="F1F5F9"/>
          </a:solidFill>
          <a:ln w="12700">
            <a:solidFill>
              <a:srgbClr val="F1F5F9"/>
            </a:solidFill>
            <a:prstDash val="solid"/>
          </a:ln>
        </p:spPr>
      </p:sp>
      <p:sp>
        <p:nvSpPr>
          <p:cNvPr id="31" name="Shape 28"/>
          <p:cNvSpPr/>
          <p:nvPr/>
        </p:nvSpPr>
        <p:spPr>
          <a:xfrm>
            <a:off x="8092440" y="3474720"/>
            <a:ext cx="64008" cy="365760"/>
          </a:xfrm>
          <a:prstGeom prst="rect">
            <a:avLst/>
          </a:prstGeom>
          <a:solidFill>
            <a:srgbClr val="16A34A"/>
          </a:solidFill>
          <a:ln w="12700">
            <a:solidFill>
              <a:srgbClr val="16A34A"/>
            </a:solidFill>
            <a:prstDash val="solid"/>
          </a:ln>
        </p:spPr>
      </p:sp>
      <p:sp>
        <p:nvSpPr>
          <p:cNvPr id="32" name="Text 29"/>
          <p:cNvSpPr txBox="1"/>
          <p:nvPr/>
        </p:nvSpPr>
        <p:spPr>
          <a:xfrm>
            <a:off x="8229600" y="3474720"/>
            <a:ext cx="1554480" cy="365760"/>
          </a:xfrm>
          <a:prstGeom prst="rect">
            <a:avLst/>
          </a:prstGeom>
          <a:noFill/>
          <a:ln/>
        </p:spPr>
        <p:txBody>
          <a:bodyPr wrap="square" lIns="0" tIns="0" rIns="0" bIns="0" rtlCol="0" anchor="ctr"/>
          <a:lstStyle/>
          <a:p>
            <a:pPr indent="0" marL="0">
              <a:buNone/>
            </a:pPr>
            <a:r>
              <a:rPr lang="en-US" sz="1100" b="1" dirty="0">
                <a:solidFill>
                  <a:srgbClr val="1E293B"/>
                </a:solidFill>
                <a:latin typeface="Arial" pitchFamily="34" charset="0"/>
                <a:ea typeface="Arial" pitchFamily="34" charset="-122"/>
                <a:cs typeface="Arial" pitchFamily="34" charset="-120"/>
              </a:rPr>
              <a:t>Logic analyser</a:t>
            </a:r>
            <a:endParaRPr lang="en-US" sz="1100" dirty="0"/>
          </a:p>
        </p:txBody>
      </p:sp>
      <p:sp>
        <p:nvSpPr>
          <p:cNvPr id="33" name="Shape 30"/>
          <p:cNvSpPr/>
          <p:nvPr/>
        </p:nvSpPr>
        <p:spPr>
          <a:xfrm>
            <a:off x="9875520" y="3474720"/>
            <a:ext cx="1691640" cy="365760"/>
          </a:xfrm>
          <a:prstGeom prst="roundRect">
            <a:avLst>
              <a:gd name="adj" fmla="val 15000"/>
            </a:avLst>
          </a:prstGeom>
          <a:solidFill>
            <a:srgbClr val="F1F5F9"/>
          </a:solidFill>
          <a:ln w="12700">
            <a:solidFill>
              <a:srgbClr val="F1F5F9"/>
            </a:solidFill>
            <a:prstDash val="solid"/>
          </a:ln>
        </p:spPr>
      </p:sp>
      <p:sp>
        <p:nvSpPr>
          <p:cNvPr id="34" name="Shape 31"/>
          <p:cNvSpPr/>
          <p:nvPr/>
        </p:nvSpPr>
        <p:spPr>
          <a:xfrm>
            <a:off x="9875520" y="3474720"/>
            <a:ext cx="64008" cy="365760"/>
          </a:xfrm>
          <a:prstGeom prst="rect">
            <a:avLst/>
          </a:prstGeom>
          <a:solidFill>
            <a:srgbClr val="16A34A"/>
          </a:solidFill>
          <a:ln w="12700">
            <a:solidFill>
              <a:srgbClr val="16A34A"/>
            </a:solidFill>
            <a:prstDash val="solid"/>
          </a:ln>
        </p:spPr>
      </p:sp>
      <p:sp>
        <p:nvSpPr>
          <p:cNvPr id="35" name="Text 32"/>
          <p:cNvSpPr txBox="1"/>
          <p:nvPr/>
        </p:nvSpPr>
        <p:spPr>
          <a:xfrm>
            <a:off x="10012680" y="3474720"/>
            <a:ext cx="1554480" cy="365760"/>
          </a:xfrm>
          <a:prstGeom prst="rect">
            <a:avLst/>
          </a:prstGeom>
          <a:noFill/>
          <a:ln/>
        </p:spPr>
        <p:txBody>
          <a:bodyPr wrap="square" lIns="0" tIns="0" rIns="0" bIns="0" rtlCol="0" anchor="ctr"/>
          <a:lstStyle/>
          <a:p>
            <a:pPr indent="0" marL="0">
              <a:buNone/>
            </a:pPr>
            <a:r>
              <a:rPr lang="en-US" sz="1100" b="1" dirty="0">
                <a:solidFill>
                  <a:srgbClr val="1E293B"/>
                </a:solidFill>
                <a:latin typeface="Arial" pitchFamily="34" charset="0"/>
                <a:ea typeface="Arial" pitchFamily="34" charset="-122"/>
                <a:cs typeface="Arial" pitchFamily="34" charset="-120"/>
              </a:rPr>
              <a:t>Pattern generator</a:t>
            </a:r>
            <a:endParaRPr lang="en-US" sz="1100" dirty="0"/>
          </a:p>
        </p:txBody>
      </p:sp>
      <p:sp>
        <p:nvSpPr>
          <p:cNvPr id="36" name="Shape 33"/>
          <p:cNvSpPr/>
          <p:nvPr/>
        </p:nvSpPr>
        <p:spPr>
          <a:xfrm>
            <a:off x="8092440" y="3931920"/>
            <a:ext cx="1691640" cy="365760"/>
          </a:xfrm>
          <a:prstGeom prst="roundRect">
            <a:avLst>
              <a:gd name="adj" fmla="val 15000"/>
            </a:avLst>
          </a:prstGeom>
          <a:solidFill>
            <a:srgbClr val="F1F5F9"/>
          </a:solidFill>
          <a:ln w="12700">
            <a:solidFill>
              <a:srgbClr val="F1F5F9"/>
            </a:solidFill>
            <a:prstDash val="solid"/>
          </a:ln>
        </p:spPr>
      </p:sp>
      <p:sp>
        <p:nvSpPr>
          <p:cNvPr id="37" name="Shape 34"/>
          <p:cNvSpPr/>
          <p:nvPr/>
        </p:nvSpPr>
        <p:spPr>
          <a:xfrm>
            <a:off x="8092440" y="3931920"/>
            <a:ext cx="64008" cy="365760"/>
          </a:xfrm>
          <a:prstGeom prst="rect">
            <a:avLst/>
          </a:prstGeom>
          <a:solidFill>
            <a:srgbClr val="7C3AED"/>
          </a:solidFill>
          <a:ln w="12700">
            <a:solidFill>
              <a:srgbClr val="7C3AED"/>
            </a:solidFill>
            <a:prstDash val="solid"/>
          </a:ln>
        </p:spPr>
      </p:sp>
      <p:sp>
        <p:nvSpPr>
          <p:cNvPr id="38" name="Text 35"/>
          <p:cNvSpPr txBox="1"/>
          <p:nvPr/>
        </p:nvSpPr>
        <p:spPr>
          <a:xfrm>
            <a:off x="8229600" y="3931920"/>
            <a:ext cx="1554480" cy="365760"/>
          </a:xfrm>
          <a:prstGeom prst="rect">
            <a:avLst/>
          </a:prstGeom>
          <a:noFill/>
          <a:ln/>
        </p:spPr>
        <p:txBody>
          <a:bodyPr wrap="square" lIns="0" tIns="0" rIns="0" bIns="0" rtlCol="0" anchor="ctr"/>
          <a:lstStyle/>
          <a:p>
            <a:pPr indent="0" marL="0">
              <a:buNone/>
            </a:pPr>
            <a:r>
              <a:rPr lang="en-US" sz="1100" b="1" dirty="0">
                <a:solidFill>
                  <a:srgbClr val="1E293B"/>
                </a:solidFill>
                <a:latin typeface="Arial" pitchFamily="34" charset="0"/>
                <a:ea typeface="Arial" pitchFamily="34" charset="-122"/>
                <a:cs typeface="Arial" pitchFamily="34" charset="-120"/>
              </a:rPr>
              <a:t>Protocol decoder</a:t>
            </a:r>
            <a:endParaRPr lang="en-US" sz="1100" dirty="0"/>
          </a:p>
        </p:txBody>
      </p:sp>
      <p:sp>
        <p:nvSpPr>
          <p:cNvPr id="39" name="Shape 36"/>
          <p:cNvSpPr/>
          <p:nvPr/>
        </p:nvSpPr>
        <p:spPr>
          <a:xfrm>
            <a:off x="9875520" y="3931920"/>
            <a:ext cx="1691640" cy="365760"/>
          </a:xfrm>
          <a:prstGeom prst="roundRect">
            <a:avLst>
              <a:gd name="adj" fmla="val 15000"/>
            </a:avLst>
          </a:prstGeom>
          <a:solidFill>
            <a:srgbClr val="F1F5F9"/>
          </a:solidFill>
          <a:ln w="12700">
            <a:solidFill>
              <a:srgbClr val="F1F5F9"/>
            </a:solidFill>
            <a:prstDash val="solid"/>
          </a:ln>
        </p:spPr>
      </p:sp>
      <p:sp>
        <p:nvSpPr>
          <p:cNvPr id="40" name="Shape 37"/>
          <p:cNvSpPr/>
          <p:nvPr/>
        </p:nvSpPr>
        <p:spPr>
          <a:xfrm>
            <a:off x="9875520" y="3931920"/>
            <a:ext cx="64008" cy="365760"/>
          </a:xfrm>
          <a:prstGeom prst="rect">
            <a:avLst/>
          </a:prstGeom>
          <a:solidFill>
            <a:srgbClr val="DC2626"/>
          </a:solidFill>
          <a:ln w="12700">
            <a:solidFill>
              <a:srgbClr val="DC2626"/>
            </a:solidFill>
            <a:prstDash val="solid"/>
          </a:ln>
        </p:spPr>
      </p:sp>
      <p:sp>
        <p:nvSpPr>
          <p:cNvPr id="41" name="Text 38"/>
          <p:cNvSpPr txBox="1"/>
          <p:nvPr/>
        </p:nvSpPr>
        <p:spPr>
          <a:xfrm>
            <a:off x="10012680" y="3931920"/>
            <a:ext cx="1554480" cy="365760"/>
          </a:xfrm>
          <a:prstGeom prst="rect">
            <a:avLst/>
          </a:prstGeom>
          <a:noFill/>
          <a:ln/>
        </p:spPr>
        <p:txBody>
          <a:bodyPr wrap="square" lIns="0" tIns="0" rIns="0" bIns="0" rtlCol="0" anchor="ctr"/>
          <a:lstStyle/>
          <a:p>
            <a:pPr indent="0" marL="0">
              <a:buNone/>
            </a:pPr>
            <a:r>
              <a:rPr lang="en-US" sz="1100" b="1" dirty="0">
                <a:solidFill>
                  <a:srgbClr val="1E293B"/>
                </a:solidFill>
                <a:latin typeface="Arial" pitchFamily="34" charset="0"/>
                <a:ea typeface="Arial" pitchFamily="34" charset="-122"/>
                <a:cs typeface="Arial" pitchFamily="34" charset="-120"/>
              </a:rPr>
              <a:t>Power supply 1</a:t>
            </a:r>
            <a:endParaRPr lang="en-US" sz="1100" dirty="0"/>
          </a:p>
        </p:txBody>
      </p:sp>
      <p:sp>
        <p:nvSpPr>
          <p:cNvPr id="42" name="Shape 39"/>
          <p:cNvSpPr/>
          <p:nvPr/>
        </p:nvSpPr>
        <p:spPr>
          <a:xfrm>
            <a:off x="8092440" y="4389120"/>
            <a:ext cx="1691640" cy="365760"/>
          </a:xfrm>
          <a:prstGeom prst="roundRect">
            <a:avLst>
              <a:gd name="adj" fmla="val 15000"/>
            </a:avLst>
          </a:prstGeom>
          <a:solidFill>
            <a:srgbClr val="F1F5F9"/>
          </a:solidFill>
          <a:ln w="12700">
            <a:solidFill>
              <a:srgbClr val="F1F5F9"/>
            </a:solidFill>
            <a:prstDash val="solid"/>
          </a:ln>
        </p:spPr>
      </p:sp>
      <p:sp>
        <p:nvSpPr>
          <p:cNvPr id="43" name="Shape 40"/>
          <p:cNvSpPr/>
          <p:nvPr/>
        </p:nvSpPr>
        <p:spPr>
          <a:xfrm>
            <a:off x="8092440" y="4389120"/>
            <a:ext cx="64008" cy="365760"/>
          </a:xfrm>
          <a:prstGeom prst="rect">
            <a:avLst/>
          </a:prstGeom>
          <a:solidFill>
            <a:srgbClr val="DC2626"/>
          </a:solidFill>
          <a:ln w="12700">
            <a:solidFill>
              <a:srgbClr val="DC2626"/>
            </a:solidFill>
            <a:prstDash val="solid"/>
          </a:ln>
        </p:spPr>
      </p:sp>
      <p:sp>
        <p:nvSpPr>
          <p:cNvPr id="44" name="Text 41"/>
          <p:cNvSpPr txBox="1"/>
          <p:nvPr/>
        </p:nvSpPr>
        <p:spPr>
          <a:xfrm>
            <a:off x="8229600" y="4389120"/>
            <a:ext cx="1554480" cy="365760"/>
          </a:xfrm>
          <a:prstGeom prst="rect">
            <a:avLst/>
          </a:prstGeom>
          <a:noFill/>
          <a:ln/>
        </p:spPr>
        <p:txBody>
          <a:bodyPr wrap="square" lIns="0" tIns="0" rIns="0" bIns="0" rtlCol="0" anchor="ctr"/>
          <a:lstStyle/>
          <a:p>
            <a:pPr indent="0" marL="0">
              <a:buNone/>
            </a:pPr>
            <a:r>
              <a:rPr lang="en-US" sz="1100" b="1" dirty="0">
                <a:solidFill>
                  <a:srgbClr val="1E293B"/>
                </a:solidFill>
                <a:latin typeface="Arial" pitchFamily="34" charset="0"/>
                <a:ea typeface="Arial" pitchFamily="34" charset="-122"/>
                <a:cs typeface="Arial" pitchFamily="34" charset="-120"/>
              </a:rPr>
              <a:t>Power supply 2</a:t>
            </a:r>
            <a:endParaRPr lang="en-US" sz="1100" dirty="0"/>
          </a:p>
        </p:txBody>
      </p:sp>
      <p:sp>
        <p:nvSpPr>
          <p:cNvPr id="45" name="Shape 42"/>
          <p:cNvSpPr/>
          <p:nvPr/>
        </p:nvSpPr>
        <p:spPr>
          <a:xfrm>
            <a:off x="9875520" y="4389120"/>
            <a:ext cx="1691640" cy="365760"/>
          </a:xfrm>
          <a:prstGeom prst="roundRect">
            <a:avLst>
              <a:gd name="adj" fmla="val 15000"/>
            </a:avLst>
          </a:prstGeom>
          <a:solidFill>
            <a:srgbClr val="F1F5F9"/>
          </a:solidFill>
          <a:ln w="12700">
            <a:solidFill>
              <a:srgbClr val="F1F5F9"/>
            </a:solidFill>
            <a:prstDash val="solid"/>
          </a:ln>
        </p:spPr>
      </p:sp>
      <p:sp>
        <p:nvSpPr>
          <p:cNvPr id="46" name="Shape 43"/>
          <p:cNvSpPr/>
          <p:nvPr/>
        </p:nvSpPr>
        <p:spPr>
          <a:xfrm>
            <a:off x="9875520" y="4389120"/>
            <a:ext cx="64008" cy="365760"/>
          </a:xfrm>
          <a:prstGeom prst="rect">
            <a:avLst/>
          </a:prstGeom>
          <a:solidFill>
            <a:srgbClr val="0E9F9A"/>
          </a:solidFill>
          <a:ln w="12700">
            <a:solidFill>
              <a:srgbClr val="0E9F9A"/>
            </a:solidFill>
            <a:prstDash val="solid"/>
          </a:ln>
        </p:spPr>
      </p:sp>
      <p:sp>
        <p:nvSpPr>
          <p:cNvPr id="47" name="Text 44"/>
          <p:cNvSpPr txBox="1"/>
          <p:nvPr/>
        </p:nvSpPr>
        <p:spPr>
          <a:xfrm>
            <a:off x="10012680" y="4389120"/>
            <a:ext cx="1554480" cy="365760"/>
          </a:xfrm>
          <a:prstGeom prst="rect">
            <a:avLst/>
          </a:prstGeom>
          <a:noFill/>
          <a:ln/>
        </p:spPr>
        <p:txBody>
          <a:bodyPr wrap="square" lIns="0" tIns="0" rIns="0" bIns="0" rtlCol="0" anchor="ctr"/>
          <a:lstStyle/>
          <a:p>
            <a:pPr indent="0" marL="0">
              <a:buNone/>
            </a:pPr>
            <a:r>
              <a:rPr lang="en-US" sz="1100" b="1" dirty="0">
                <a:solidFill>
                  <a:srgbClr val="1E293B"/>
                </a:solidFill>
                <a:latin typeface="Arial" pitchFamily="34" charset="0"/>
                <a:ea typeface="Arial" pitchFamily="34" charset="-122"/>
                <a:cs typeface="Arial" pitchFamily="34" charset="-120"/>
              </a:rPr>
              <a:t>Multimeter</a:t>
            </a:r>
            <a:endParaRPr lang="en-US" sz="1100" dirty="0"/>
          </a:p>
        </p:txBody>
      </p:sp>
      <p:sp>
        <p:nvSpPr>
          <p:cNvPr id="48" name="Shape 45"/>
          <p:cNvSpPr/>
          <p:nvPr/>
        </p:nvSpPr>
        <p:spPr>
          <a:xfrm>
            <a:off x="8092440" y="4937760"/>
            <a:ext cx="3429000" cy="868680"/>
          </a:xfrm>
          <a:prstGeom prst="roundRect">
            <a:avLst>
              <a:gd name="adj" fmla="val 8421"/>
            </a:avLst>
          </a:prstGeom>
          <a:solidFill>
            <a:srgbClr val="FEF3C7"/>
          </a:solidFill>
          <a:ln w="12700">
            <a:solidFill>
              <a:srgbClr val="F5B700"/>
            </a:solidFill>
            <a:prstDash val="solid"/>
          </a:ln>
        </p:spPr>
      </p:sp>
      <p:sp>
        <p:nvSpPr>
          <p:cNvPr id="49" name="Text 46"/>
          <p:cNvSpPr txBox="1"/>
          <p:nvPr/>
        </p:nvSpPr>
        <p:spPr>
          <a:xfrm>
            <a:off x="8229600" y="5001768"/>
            <a:ext cx="3200400" cy="777240"/>
          </a:xfrm>
          <a:prstGeom prst="rect">
            <a:avLst/>
          </a:prstGeom>
          <a:noFill/>
          <a:ln/>
        </p:spPr>
        <p:txBody>
          <a:bodyPr wrap="square" lIns="0" tIns="0" rIns="0" bIns="0" rtlCol="0" anchor="ctr"/>
          <a:lstStyle/>
          <a:p>
            <a:pPr indent="0" marL="0">
              <a:buNone/>
            </a:pPr>
            <a:r>
              <a:rPr lang="en-US" sz="1150" b="1" dirty="0">
                <a:solidFill>
                  <a:srgbClr val="92400E"/>
                </a:solidFill>
                <a:latin typeface="Arial" pitchFamily="34" charset="0"/>
                <a:ea typeface="Arial" pitchFamily="34" charset="-122"/>
                <a:cs typeface="Arial" pitchFamily="34" charset="-120"/>
              </a:rPr>
              <a:t>+ Proto</a:t>
            </a:r>
            <a:endParaRPr lang="en-US" sz="1150" dirty="0"/>
          </a:p>
          <a:p>
            <a:pPr indent="0" marL="0">
              <a:buNone/>
            </a:pPr>
            <a:r>
              <a:rPr lang="en-US" sz="1150" dirty="0">
                <a:solidFill>
                  <a:srgbClr val="78350F"/>
                </a:solidFill>
                <a:latin typeface="Arial" pitchFamily="34" charset="0"/>
                <a:ea typeface="Arial" pitchFamily="34" charset="-122"/>
                <a:cs typeface="Arial" pitchFamily="34" charset="-120"/>
              </a:rPr>
              <a:t>an AI engineer that runs the tests and gives a verdict in plain words</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4213D"/>
          </a:solidFill>
          <a:ln w="12700">
            <a:solidFill>
              <a:srgbClr val="14213D"/>
            </a:solidFill>
            <a:prstDash val="solid"/>
          </a:ln>
        </p:spPr>
      </p:sp>
      <p:sp>
        <p:nvSpPr>
          <p:cNvPr id="3" name="Text 1"/>
          <p:cNvSpPr txBox="1"/>
          <p:nvPr/>
        </p:nvSpPr>
        <p:spPr>
          <a:xfrm>
            <a:off x="548640" y="347472"/>
            <a:ext cx="8229600" cy="228600"/>
          </a:xfrm>
          <a:prstGeom prst="rect">
            <a:avLst/>
          </a:prstGeom>
          <a:noFill/>
          <a:ln/>
        </p:spPr>
        <p:txBody>
          <a:bodyPr wrap="square" lIns="0" tIns="0" rIns="0" bIns="0" rtlCol="0" anchor="t"/>
          <a:lstStyle/>
          <a:p>
            <a:pPr indent="0" marL="0">
              <a:buNone/>
            </a:pPr>
            <a:r>
              <a:rPr lang="en-US" sz="1100" b="1" spc="200" kern="0" dirty="0">
                <a:solidFill>
                  <a:srgbClr val="2563EB"/>
                </a:solidFill>
                <a:latin typeface="Arial" pitchFamily="34" charset="0"/>
                <a:ea typeface="Arial" pitchFamily="34" charset="-122"/>
                <a:cs typeface="Arial" pitchFamily="34" charset="-120"/>
              </a:rPr>
              <a:t>MOTIVATION AND OBJECTIVES</a:t>
            </a:r>
            <a:endParaRPr lang="en-US" sz="1100" dirty="0"/>
          </a:p>
        </p:txBody>
      </p:sp>
      <p:sp>
        <p:nvSpPr>
          <p:cNvPr id="4" name="Text 2"/>
          <p:cNvSpPr txBox="1"/>
          <p:nvPr/>
        </p:nvSpPr>
        <p:spPr>
          <a:xfrm>
            <a:off x="548640" y="603504"/>
            <a:ext cx="11155680" cy="594360"/>
          </a:xfrm>
          <a:prstGeom prst="rect">
            <a:avLst/>
          </a:prstGeom>
          <a:noFill/>
          <a:ln/>
        </p:spPr>
        <p:txBody>
          <a:bodyPr wrap="square" lIns="0" tIns="0" rIns="0" bIns="0" rtlCol="0" anchor="t"/>
          <a:lstStyle/>
          <a:p>
            <a:pPr indent="0" marL="0">
              <a:buNone/>
            </a:pPr>
            <a:r>
              <a:rPr lang="en-US" sz="2800" b="1" dirty="0">
                <a:solidFill>
                  <a:srgbClr val="14213D"/>
                </a:solidFill>
                <a:latin typeface="Arial" pitchFamily="34" charset="0"/>
                <a:ea typeface="Arial" pitchFamily="34" charset="-122"/>
                <a:cs typeface="Arial" pitchFamily="34" charset="-120"/>
              </a:rPr>
              <a:t>Why one intelligent platform instead of a bench of instruments</a:t>
            </a:r>
            <a:endParaRPr lang="en-US" sz="2800" dirty="0"/>
          </a:p>
        </p:txBody>
      </p:sp>
      <p:sp>
        <p:nvSpPr>
          <p:cNvPr id="5" name="Shape 3"/>
          <p:cNvSpPr/>
          <p:nvPr/>
        </p:nvSpPr>
        <p:spPr>
          <a:xfrm>
            <a:off x="548640" y="6419088"/>
            <a:ext cx="11091672" cy="0"/>
          </a:xfrm>
          <a:prstGeom prst="line">
            <a:avLst/>
          </a:prstGeom>
          <a:noFill/>
          <a:ln w="12700">
            <a:solidFill>
              <a:srgbClr val="E2E8F0"/>
            </a:solidFill>
            <a:prstDash val="solid"/>
          </a:ln>
        </p:spPr>
      </p:sp>
      <p:sp>
        <p:nvSpPr>
          <p:cNvPr id="6" name="Text 4"/>
          <p:cNvSpPr txBox="1"/>
          <p:nvPr/>
        </p:nvSpPr>
        <p:spPr>
          <a:xfrm>
            <a:off x="548640" y="6492240"/>
            <a:ext cx="7315200" cy="228600"/>
          </a:xfrm>
          <a:prstGeom prst="rect">
            <a:avLst/>
          </a:prstGeom>
          <a:noFill/>
          <a:ln/>
        </p:spPr>
        <p:txBody>
          <a:bodyPr wrap="square" lIns="0" tIns="0" rIns="0" bIns="0" rtlCol="0" anchor="t"/>
          <a:lstStyle/>
          <a:p>
            <a:pPr indent="0" marL="0">
              <a:buNone/>
            </a:pPr>
            <a:r>
              <a:rPr lang="en-US" sz="1000" dirty="0">
                <a:solidFill>
                  <a:srgbClr val="64748B"/>
                </a:solidFill>
                <a:latin typeface="Arial" pitchFamily="34" charset="0"/>
                <a:ea typeface="Arial" pitchFamily="34" charset="-122"/>
                <a:cs typeface="Arial" pitchFamily="34" charset="-120"/>
              </a:rPr>
              <a:t>Intelligent USB-Based Electronics Platform  ·  SEC Project</a:t>
            </a:r>
            <a:endParaRPr lang="en-US" sz="1000" dirty="0"/>
          </a:p>
        </p:txBody>
      </p:sp>
      <p:sp>
        <p:nvSpPr>
          <p:cNvPr id="7" name="Text 5"/>
          <p:cNvSpPr txBox="1"/>
          <p:nvPr/>
        </p:nvSpPr>
        <p:spPr>
          <a:xfrm>
            <a:off x="10725912" y="6492240"/>
            <a:ext cx="914400" cy="228600"/>
          </a:xfrm>
          <a:prstGeom prst="rect">
            <a:avLst/>
          </a:prstGeom>
          <a:noFill/>
          <a:ln/>
        </p:spPr>
        <p:txBody>
          <a:bodyPr wrap="square" lIns="0" tIns="0" rIns="0" bIns="0" rtlCol="0" anchor="t"/>
          <a:lstStyle/>
          <a:p>
            <a:pPr algn="r" indent="0" marL="0">
              <a:buNone/>
            </a:pPr>
            <a:r>
              <a:rPr lang="en-US" sz="1000" dirty="0">
                <a:solidFill>
                  <a:srgbClr val="64748B"/>
                </a:solidFill>
                <a:latin typeface="Arial" pitchFamily="34" charset="0"/>
                <a:ea typeface="Arial" pitchFamily="34" charset="-122"/>
                <a:cs typeface="Arial" pitchFamily="34" charset="-120"/>
              </a:rPr>
              <a:t>2 / 7</a:t>
            </a:r>
            <a:endParaRPr lang="en-US" sz="1000" dirty="0"/>
          </a:p>
        </p:txBody>
      </p:sp>
      <p:sp>
        <p:nvSpPr>
          <p:cNvPr id="8" name="Text 6"/>
          <p:cNvSpPr txBox="1"/>
          <p:nvPr/>
        </p:nvSpPr>
        <p:spPr>
          <a:xfrm>
            <a:off x="548640" y="1417320"/>
            <a:ext cx="5120640" cy="274320"/>
          </a:xfrm>
          <a:prstGeom prst="rect">
            <a:avLst/>
          </a:prstGeom>
          <a:noFill/>
          <a:ln/>
        </p:spPr>
        <p:txBody>
          <a:bodyPr wrap="square" lIns="0" tIns="0" rIns="0" bIns="0" rtlCol="0" anchor="t"/>
          <a:lstStyle/>
          <a:p>
            <a:pPr indent="0" marL="0">
              <a:buNone/>
            </a:pPr>
            <a:r>
              <a:rPr lang="en-US" sz="1200" b="1" spc="150" kern="0" dirty="0">
                <a:solidFill>
                  <a:srgbClr val="DC2626"/>
                </a:solidFill>
                <a:latin typeface="Arial" pitchFamily="34" charset="0"/>
                <a:ea typeface="Arial" pitchFamily="34" charset="-122"/>
                <a:cs typeface="Arial" pitchFamily="34" charset="-120"/>
              </a:rPr>
              <a:t>THE PROBLEM</a:t>
            </a:r>
            <a:endParaRPr lang="en-US" sz="1200" dirty="0"/>
          </a:p>
        </p:txBody>
      </p:sp>
      <p:sp>
        <p:nvSpPr>
          <p:cNvPr id="9" name="Shape 7"/>
          <p:cNvSpPr/>
          <p:nvPr/>
        </p:nvSpPr>
        <p:spPr>
          <a:xfrm>
            <a:off x="548640" y="1783080"/>
            <a:ext cx="5120640" cy="822960"/>
          </a:xfrm>
          <a:prstGeom prst="roundRect">
            <a:avLst>
              <a:gd name="adj" fmla="val 6667"/>
            </a:avLst>
          </a:prstGeom>
          <a:solidFill>
            <a:srgbClr val="FEF2F2"/>
          </a:solidFill>
          <a:ln w="12700">
            <a:solidFill>
              <a:srgbClr val="FEF2F2"/>
            </a:solidFill>
            <a:prstDash val="solid"/>
          </a:ln>
        </p:spPr>
      </p:sp>
      <p:sp>
        <p:nvSpPr>
          <p:cNvPr id="10" name="Shape 8"/>
          <p:cNvSpPr/>
          <p:nvPr/>
        </p:nvSpPr>
        <p:spPr>
          <a:xfrm>
            <a:off x="548640" y="1783080"/>
            <a:ext cx="64008" cy="822960"/>
          </a:xfrm>
          <a:prstGeom prst="rect">
            <a:avLst/>
          </a:prstGeom>
          <a:solidFill>
            <a:srgbClr val="DC2626"/>
          </a:solidFill>
          <a:ln w="12700">
            <a:solidFill>
              <a:srgbClr val="DC2626"/>
            </a:solidFill>
            <a:prstDash val="solid"/>
          </a:ln>
        </p:spPr>
      </p:sp>
      <p:sp>
        <p:nvSpPr>
          <p:cNvPr id="11" name="Text 9"/>
          <p:cNvSpPr txBox="1"/>
          <p:nvPr/>
        </p:nvSpPr>
        <p:spPr>
          <a:xfrm>
            <a:off x="777240" y="1874520"/>
            <a:ext cx="4754880" cy="274320"/>
          </a:xfrm>
          <a:prstGeom prst="rect">
            <a:avLst/>
          </a:prstGeom>
          <a:noFill/>
          <a:ln/>
        </p:spPr>
        <p:txBody>
          <a:bodyPr wrap="square" lIns="0" tIns="0" rIns="0" bIns="0" rtlCol="0" anchor="t"/>
          <a:lstStyle/>
          <a:p>
            <a:pPr indent="0" marL="0">
              <a:buNone/>
            </a:pPr>
            <a:r>
              <a:rPr lang="en-US" sz="1450" b="1" dirty="0">
                <a:solidFill>
                  <a:srgbClr val="1E293B"/>
                </a:solidFill>
                <a:latin typeface="Arial" pitchFamily="34" charset="0"/>
                <a:ea typeface="Arial" pitchFamily="34" charset="-122"/>
                <a:cs typeface="Arial" pitchFamily="34" charset="-120"/>
              </a:rPr>
              <a:t>Costly and bulky</a:t>
            </a:r>
            <a:endParaRPr lang="en-US" sz="1450" dirty="0"/>
          </a:p>
        </p:txBody>
      </p:sp>
      <p:sp>
        <p:nvSpPr>
          <p:cNvPr id="12" name="Text 10"/>
          <p:cNvSpPr txBox="1"/>
          <p:nvPr/>
        </p:nvSpPr>
        <p:spPr>
          <a:xfrm>
            <a:off x="777240" y="2176272"/>
            <a:ext cx="4800600" cy="384048"/>
          </a:xfrm>
          <a:prstGeom prst="rect">
            <a:avLst/>
          </a:prstGeom>
          <a:noFill/>
          <a:ln/>
        </p:spPr>
        <p:txBody>
          <a:bodyPr wrap="square" lIns="0" tIns="0" rIns="0" bIns="0" rtlCol="0" anchor="t"/>
          <a:lstStyle/>
          <a:p>
            <a:pPr indent="0" marL="0">
              <a:buNone/>
            </a:pPr>
            <a:r>
              <a:rPr lang="en-US" sz="1200" dirty="0">
                <a:solidFill>
                  <a:srgbClr val="334155"/>
                </a:solidFill>
                <a:latin typeface="Arial" pitchFamily="34" charset="0"/>
                <a:ea typeface="Arial" pitchFamily="34" charset="-122"/>
                <a:cs typeface="Arial" pitchFamily="34" charset="-120"/>
              </a:rPr>
              <a:t>A complete electronics bench needs five to eight separate instruments.</a:t>
            </a:r>
            <a:endParaRPr lang="en-US" sz="1200" dirty="0"/>
          </a:p>
        </p:txBody>
      </p:sp>
      <p:sp>
        <p:nvSpPr>
          <p:cNvPr id="13" name="Shape 11"/>
          <p:cNvSpPr/>
          <p:nvPr/>
        </p:nvSpPr>
        <p:spPr>
          <a:xfrm>
            <a:off x="548640" y="2743200"/>
            <a:ext cx="5120640" cy="822960"/>
          </a:xfrm>
          <a:prstGeom prst="roundRect">
            <a:avLst>
              <a:gd name="adj" fmla="val 6667"/>
            </a:avLst>
          </a:prstGeom>
          <a:solidFill>
            <a:srgbClr val="FEF2F2"/>
          </a:solidFill>
          <a:ln w="12700">
            <a:solidFill>
              <a:srgbClr val="FEF2F2"/>
            </a:solidFill>
            <a:prstDash val="solid"/>
          </a:ln>
        </p:spPr>
      </p:sp>
      <p:sp>
        <p:nvSpPr>
          <p:cNvPr id="14" name="Shape 12"/>
          <p:cNvSpPr/>
          <p:nvPr/>
        </p:nvSpPr>
        <p:spPr>
          <a:xfrm>
            <a:off x="548640" y="2743200"/>
            <a:ext cx="64008" cy="822960"/>
          </a:xfrm>
          <a:prstGeom prst="rect">
            <a:avLst/>
          </a:prstGeom>
          <a:solidFill>
            <a:srgbClr val="DC2626"/>
          </a:solidFill>
          <a:ln w="12700">
            <a:solidFill>
              <a:srgbClr val="DC2626"/>
            </a:solidFill>
            <a:prstDash val="solid"/>
          </a:ln>
        </p:spPr>
      </p:sp>
      <p:sp>
        <p:nvSpPr>
          <p:cNvPr id="15" name="Text 13"/>
          <p:cNvSpPr txBox="1"/>
          <p:nvPr/>
        </p:nvSpPr>
        <p:spPr>
          <a:xfrm>
            <a:off x="777240" y="2834640"/>
            <a:ext cx="4754880" cy="274320"/>
          </a:xfrm>
          <a:prstGeom prst="rect">
            <a:avLst/>
          </a:prstGeom>
          <a:noFill/>
          <a:ln/>
        </p:spPr>
        <p:txBody>
          <a:bodyPr wrap="square" lIns="0" tIns="0" rIns="0" bIns="0" rtlCol="0" anchor="t"/>
          <a:lstStyle/>
          <a:p>
            <a:pPr indent="0" marL="0">
              <a:buNone/>
            </a:pPr>
            <a:r>
              <a:rPr lang="en-US" sz="1450" b="1" dirty="0">
                <a:solidFill>
                  <a:srgbClr val="1E293B"/>
                </a:solidFill>
                <a:latin typeface="Arial" pitchFamily="34" charset="0"/>
                <a:ea typeface="Arial" pitchFamily="34" charset="-122"/>
                <a:cs typeface="Arial" pitchFamily="34" charset="-120"/>
              </a:rPr>
              <a:t>Disconnected</a:t>
            </a:r>
            <a:endParaRPr lang="en-US" sz="1450" dirty="0"/>
          </a:p>
        </p:txBody>
      </p:sp>
      <p:sp>
        <p:nvSpPr>
          <p:cNvPr id="16" name="Text 14"/>
          <p:cNvSpPr txBox="1"/>
          <p:nvPr/>
        </p:nvSpPr>
        <p:spPr>
          <a:xfrm>
            <a:off x="777240" y="3136392"/>
            <a:ext cx="4800600" cy="384048"/>
          </a:xfrm>
          <a:prstGeom prst="rect">
            <a:avLst/>
          </a:prstGeom>
          <a:noFill/>
          <a:ln/>
        </p:spPr>
        <p:txBody>
          <a:bodyPr wrap="square" lIns="0" tIns="0" rIns="0" bIns="0" rtlCol="0" anchor="t"/>
          <a:lstStyle/>
          <a:p>
            <a:pPr indent="0" marL="0">
              <a:buNone/>
            </a:pPr>
            <a:r>
              <a:rPr lang="en-US" sz="1200" dirty="0">
                <a:solidFill>
                  <a:srgbClr val="334155"/>
                </a:solidFill>
                <a:latin typeface="Arial" pitchFamily="34" charset="0"/>
                <a:ea typeface="Arial" pitchFamily="34" charset="-122"/>
                <a:cs typeface="Arial" pitchFamily="34" charset="-120"/>
              </a:rPr>
              <a:t>Each instrument has its own interface; results are hard to combine and record.</a:t>
            </a:r>
            <a:endParaRPr lang="en-US" sz="1200" dirty="0"/>
          </a:p>
        </p:txBody>
      </p:sp>
      <p:sp>
        <p:nvSpPr>
          <p:cNvPr id="17" name="Shape 15"/>
          <p:cNvSpPr/>
          <p:nvPr/>
        </p:nvSpPr>
        <p:spPr>
          <a:xfrm>
            <a:off x="548640" y="3703320"/>
            <a:ext cx="5120640" cy="822960"/>
          </a:xfrm>
          <a:prstGeom prst="roundRect">
            <a:avLst>
              <a:gd name="adj" fmla="val 6667"/>
            </a:avLst>
          </a:prstGeom>
          <a:solidFill>
            <a:srgbClr val="FEF2F2"/>
          </a:solidFill>
          <a:ln w="12700">
            <a:solidFill>
              <a:srgbClr val="FEF2F2"/>
            </a:solidFill>
            <a:prstDash val="solid"/>
          </a:ln>
        </p:spPr>
      </p:sp>
      <p:sp>
        <p:nvSpPr>
          <p:cNvPr id="18" name="Shape 16"/>
          <p:cNvSpPr/>
          <p:nvPr/>
        </p:nvSpPr>
        <p:spPr>
          <a:xfrm>
            <a:off x="548640" y="3703320"/>
            <a:ext cx="64008" cy="822960"/>
          </a:xfrm>
          <a:prstGeom prst="rect">
            <a:avLst/>
          </a:prstGeom>
          <a:solidFill>
            <a:srgbClr val="DC2626"/>
          </a:solidFill>
          <a:ln w="12700">
            <a:solidFill>
              <a:srgbClr val="DC2626"/>
            </a:solidFill>
            <a:prstDash val="solid"/>
          </a:ln>
        </p:spPr>
      </p:sp>
      <p:sp>
        <p:nvSpPr>
          <p:cNvPr id="19" name="Text 17"/>
          <p:cNvSpPr txBox="1"/>
          <p:nvPr/>
        </p:nvSpPr>
        <p:spPr>
          <a:xfrm>
            <a:off x="777240" y="3794760"/>
            <a:ext cx="4754880" cy="274320"/>
          </a:xfrm>
          <a:prstGeom prst="rect">
            <a:avLst/>
          </a:prstGeom>
          <a:noFill/>
          <a:ln/>
        </p:spPr>
        <p:txBody>
          <a:bodyPr wrap="square" lIns="0" tIns="0" rIns="0" bIns="0" rtlCol="0" anchor="t"/>
          <a:lstStyle/>
          <a:p>
            <a:pPr indent="0" marL="0">
              <a:buNone/>
            </a:pPr>
            <a:r>
              <a:rPr lang="en-US" sz="1450" b="1" dirty="0">
                <a:solidFill>
                  <a:srgbClr val="1E293B"/>
                </a:solidFill>
                <a:latin typeface="Arial" pitchFamily="34" charset="0"/>
                <a:ea typeface="Arial" pitchFamily="34" charset="-122"/>
                <a:cs typeface="Arial" pitchFamily="34" charset="-120"/>
              </a:rPr>
              <a:t>Hard to interpret</a:t>
            </a:r>
            <a:endParaRPr lang="en-US" sz="1450" dirty="0"/>
          </a:p>
        </p:txBody>
      </p:sp>
      <p:sp>
        <p:nvSpPr>
          <p:cNvPr id="20" name="Text 18"/>
          <p:cNvSpPr txBox="1"/>
          <p:nvPr/>
        </p:nvSpPr>
        <p:spPr>
          <a:xfrm>
            <a:off x="777240" y="4096512"/>
            <a:ext cx="4800600" cy="384048"/>
          </a:xfrm>
          <a:prstGeom prst="rect">
            <a:avLst/>
          </a:prstGeom>
          <a:noFill/>
          <a:ln/>
        </p:spPr>
        <p:txBody>
          <a:bodyPr wrap="square" lIns="0" tIns="0" rIns="0" bIns="0" rtlCol="0" anchor="t"/>
          <a:lstStyle/>
          <a:p>
            <a:pPr indent="0" marL="0">
              <a:buNone/>
            </a:pPr>
            <a:r>
              <a:rPr lang="en-US" sz="1200" dirty="0">
                <a:solidFill>
                  <a:srgbClr val="334155"/>
                </a:solidFill>
                <a:latin typeface="Arial" pitchFamily="34" charset="0"/>
                <a:ea typeface="Arial" pitchFamily="34" charset="-122"/>
                <a:cs typeface="Arial" pitchFamily="34" charset="-120"/>
              </a:rPr>
              <a:t>Students can read a number but often not what it means, or what to fix.</a:t>
            </a:r>
            <a:endParaRPr lang="en-US" sz="1200" dirty="0"/>
          </a:p>
        </p:txBody>
      </p:sp>
      <p:sp>
        <p:nvSpPr>
          <p:cNvPr id="21" name="Shape 19"/>
          <p:cNvSpPr/>
          <p:nvPr/>
        </p:nvSpPr>
        <p:spPr>
          <a:xfrm>
            <a:off x="548640" y="4800600"/>
            <a:ext cx="868680" cy="365760"/>
          </a:xfrm>
          <a:prstGeom prst="roundRect">
            <a:avLst>
              <a:gd name="adj" fmla="val 12500"/>
            </a:avLst>
          </a:prstGeom>
          <a:solidFill>
            <a:srgbClr val="FFFFFF"/>
          </a:solidFill>
          <a:ln w="12700">
            <a:solidFill>
              <a:srgbClr val="CBD5E1"/>
            </a:solidFill>
            <a:prstDash val="solid"/>
          </a:ln>
        </p:spPr>
      </p:sp>
      <p:sp>
        <p:nvSpPr>
          <p:cNvPr id="22" name="Text 20"/>
          <p:cNvSpPr txBox="1"/>
          <p:nvPr/>
        </p:nvSpPr>
        <p:spPr>
          <a:xfrm>
            <a:off x="548640" y="4800600"/>
            <a:ext cx="868680" cy="365760"/>
          </a:xfrm>
          <a:prstGeom prst="rect">
            <a:avLst/>
          </a:prstGeom>
          <a:noFill/>
          <a:ln/>
        </p:spPr>
        <p:txBody>
          <a:bodyPr wrap="square" lIns="0" tIns="0" rIns="0" bIns="0" rtlCol="0" anchor="ctr"/>
          <a:lstStyle/>
          <a:p>
            <a:pPr algn="ctr" indent="0" marL="0">
              <a:buNone/>
            </a:pPr>
            <a:r>
              <a:rPr lang="en-US" sz="1000" dirty="0">
                <a:solidFill>
                  <a:srgbClr val="334155"/>
                </a:solidFill>
                <a:latin typeface="Arial" pitchFamily="34" charset="0"/>
                <a:ea typeface="Arial" pitchFamily="34" charset="-122"/>
                <a:cs typeface="Arial" pitchFamily="34" charset="-120"/>
              </a:rPr>
              <a:t>Scope</a:t>
            </a:r>
            <a:endParaRPr lang="en-US" sz="1000" dirty="0"/>
          </a:p>
        </p:txBody>
      </p:sp>
      <p:sp>
        <p:nvSpPr>
          <p:cNvPr id="23" name="Shape 21"/>
          <p:cNvSpPr/>
          <p:nvPr/>
        </p:nvSpPr>
        <p:spPr>
          <a:xfrm>
            <a:off x="1508760" y="4800600"/>
            <a:ext cx="868680" cy="365760"/>
          </a:xfrm>
          <a:prstGeom prst="roundRect">
            <a:avLst>
              <a:gd name="adj" fmla="val 12500"/>
            </a:avLst>
          </a:prstGeom>
          <a:solidFill>
            <a:srgbClr val="FFFFFF"/>
          </a:solidFill>
          <a:ln w="12700">
            <a:solidFill>
              <a:srgbClr val="CBD5E1"/>
            </a:solidFill>
            <a:prstDash val="solid"/>
          </a:ln>
        </p:spPr>
      </p:sp>
      <p:sp>
        <p:nvSpPr>
          <p:cNvPr id="24" name="Text 22"/>
          <p:cNvSpPr txBox="1"/>
          <p:nvPr/>
        </p:nvSpPr>
        <p:spPr>
          <a:xfrm>
            <a:off x="1508760" y="4800600"/>
            <a:ext cx="868680" cy="365760"/>
          </a:xfrm>
          <a:prstGeom prst="rect">
            <a:avLst/>
          </a:prstGeom>
          <a:noFill/>
          <a:ln/>
        </p:spPr>
        <p:txBody>
          <a:bodyPr wrap="square" lIns="0" tIns="0" rIns="0" bIns="0" rtlCol="0" anchor="ctr"/>
          <a:lstStyle/>
          <a:p>
            <a:pPr algn="ctr" indent="0" marL="0">
              <a:buNone/>
            </a:pPr>
            <a:r>
              <a:rPr lang="en-US" sz="1000" dirty="0">
                <a:solidFill>
                  <a:srgbClr val="334155"/>
                </a:solidFill>
                <a:latin typeface="Arial" pitchFamily="34" charset="0"/>
                <a:ea typeface="Arial" pitchFamily="34" charset="-122"/>
                <a:cs typeface="Arial" pitchFamily="34" charset="-120"/>
              </a:rPr>
              <a:t>Wavegen</a:t>
            </a:r>
            <a:endParaRPr lang="en-US" sz="1000" dirty="0"/>
          </a:p>
        </p:txBody>
      </p:sp>
      <p:sp>
        <p:nvSpPr>
          <p:cNvPr id="25" name="Shape 23"/>
          <p:cNvSpPr/>
          <p:nvPr/>
        </p:nvSpPr>
        <p:spPr>
          <a:xfrm>
            <a:off x="2468880" y="4800600"/>
            <a:ext cx="868680" cy="365760"/>
          </a:xfrm>
          <a:prstGeom prst="roundRect">
            <a:avLst>
              <a:gd name="adj" fmla="val 12500"/>
            </a:avLst>
          </a:prstGeom>
          <a:solidFill>
            <a:srgbClr val="FFFFFF"/>
          </a:solidFill>
          <a:ln w="12700">
            <a:solidFill>
              <a:srgbClr val="CBD5E1"/>
            </a:solidFill>
            <a:prstDash val="solid"/>
          </a:ln>
        </p:spPr>
      </p:sp>
      <p:sp>
        <p:nvSpPr>
          <p:cNvPr id="26" name="Text 24"/>
          <p:cNvSpPr txBox="1"/>
          <p:nvPr/>
        </p:nvSpPr>
        <p:spPr>
          <a:xfrm>
            <a:off x="2468880" y="4800600"/>
            <a:ext cx="868680" cy="365760"/>
          </a:xfrm>
          <a:prstGeom prst="rect">
            <a:avLst/>
          </a:prstGeom>
          <a:noFill/>
          <a:ln/>
        </p:spPr>
        <p:txBody>
          <a:bodyPr wrap="square" lIns="0" tIns="0" rIns="0" bIns="0" rtlCol="0" anchor="ctr"/>
          <a:lstStyle/>
          <a:p>
            <a:pPr algn="ctr" indent="0" marL="0">
              <a:buNone/>
            </a:pPr>
            <a:r>
              <a:rPr lang="en-US" sz="1000" dirty="0">
                <a:solidFill>
                  <a:srgbClr val="334155"/>
                </a:solidFill>
                <a:latin typeface="Arial" pitchFamily="34" charset="0"/>
                <a:ea typeface="Arial" pitchFamily="34" charset="-122"/>
                <a:cs typeface="Arial" pitchFamily="34" charset="-120"/>
              </a:rPr>
              <a:t>Logic</a:t>
            </a:r>
            <a:endParaRPr lang="en-US" sz="1000" dirty="0"/>
          </a:p>
        </p:txBody>
      </p:sp>
      <p:sp>
        <p:nvSpPr>
          <p:cNvPr id="27" name="Shape 25"/>
          <p:cNvSpPr/>
          <p:nvPr/>
        </p:nvSpPr>
        <p:spPr>
          <a:xfrm>
            <a:off x="3429000" y="4800600"/>
            <a:ext cx="868680" cy="365760"/>
          </a:xfrm>
          <a:prstGeom prst="roundRect">
            <a:avLst>
              <a:gd name="adj" fmla="val 12500"/>
            </a:avLst>
          </a:prstGeom>
          <a:solidFill>
            <a:srgbClr val="FFFFFF"/>
          </a:solidFill>
          <a:ln w="12700">
            <a:solidFill>
              <a:srgbClr val="CBD5E1"/>
            </a:solidFill>
            <a:prstDash val="solid"/>
          </a:ln>
        </p:spPr>
      </p:sp>
      <p:sp>
        <p:nvSpPr>
          <p:cNvPr id="28" name="Text 26"/>
          <p:cNvSpPr txBox="1"/>
          <p:nvPr/>
        </p:nvSpPr>
        <p:spPr>
          <a:xfrm>
            <a:off x="3429000" y="4800600"/>
            <a:ext cx="868680" cy="365760"/>
          </a:xfrm>
          <a:prstGeom prst="rect">
            <a:avLst/>
          </a:prstGeom>
          <a:noFill/>
          <a:ln/>
        </p:spPr>
        <p:txBody>
          <a:bodyPr wrap="square" lIns="0" tIns="0" rIns="0" bIns="0" rtlCol="0" anchor="ctr"/>
          <a:lstStyle/>
          <a:p>
            <a:pPr algn="ctr" indent="0" marL="0">
              <a:buNone/>
            </a:pPr>
            <a:r>
              <a:rPr lang="en-US" sz="1000" dirty="0">
                <a:solidFill>
                  <a:srgbClr val="334155"/>
                </a:solidFill>
                <a:latin typeface="Arial" pitchFamily="34" charset="0"/>
                <a:ea typeface="Arial" pitchFamily="34" charset="-122"/>
                <a:cs typeface="Arial" pitchFamily="34" charset="-120"/>
              </a:rPr>
              <a:t>Pattern</a:t>
            </a:r>
            <a:endParaRPr lang="en-US" sz="1000" dirty="0"/>
          </a:p>
        </p:txBody>
      </p:sp>
      <p:sp>
        <p:nvSpPr>
          <p:cNvPr id="29" name="Shape 27"/>
          <p:cNvSpPr/>
          <p:nvPr/>
        </p:nvSpPr>
        <p:spPr>
          <a:xfrm>
            <a:off x="548640" y="5257800"/>
            <a:ext cx="868680" cy="365760"/>
          </a:xfrm>
          <a:prstGeom prst="roundRect">
            <a:avLst>
              <a:gd name="adj" fmla="val 12500"/>
            </a:avLst>
          </a:prstGeom>
          <a:solidFill>
            <a:srgbClr val="FFFFFF"/>
          </a:solidFill>
          <a:ln w="12700">
            <a:solidFill>
              <a:srgbClr val="CBD5E1"/>
            </a:solidFill>
            <a:prstDash val="solid"/>
          </a:ln>
        </p:spPr>
      </p:sp>
      <p:sp>
        <p:nvSpPr>
          <p:cNvPr id="30" name="Text 28"/>
          <p:cNvSpPr txBox="1"/>
          <p:nvPr/>
        </p:nvSpPr>
        <p:spPr>
          <a:xfrm>
            <a:off x="548640" y="5257800"/>
            <a:ext cx="868680" cy="365760"/>
          </a:xfrm>
          <a:prstGeom prst="rect">
            <a:avLst/>
          </a:prstGeom>
          <a:noFill/>
          <a:ln/>
        </p:spPr>
        <p:txBody>
          <a:bodyPr wrap="square" lIns="0" tIns="0" rIns="0" bIns="0" rtlCol="0" anchor="ctr"/>
          <a:lstStyle/>
          <a:p>
            <a:pPr algn="ctr" indent="0" marL="0">
              <a:buNone/>
            </a:pPr>
            <a:r>
              <a:rPr lang="en-US" sz="1000" dirty="0">
                <a:solidFill>
                  <a:srgbClr val="334155"/>
                </a:solidFill>
                <a:latin typeface="Arial" pitchFamily="34" charset="0"/>
                <a:ea typeface="Arial" pitchFamily="34" charset="-122"/>
                <a:cs typeface="Arial" pitchFamily="34" charset="-120"/>
              </a:rPr>
              <a:t>Decoder</a:t>
            </a:r>
            <a:endParaRPr lang="en-US" sz="1000" dirty="0"/>
          </a:p>
        </p:txBody>
      </p:sp>
      <p:sp>
        <p:nvSpPr>
          <p:cNvPr id="31" name="Shape 29"/>
          <p:cNvSpPr/>
          <p:nvPr/>
        </p:nvSpPr>
        <p:spPr>
          <a:xfrm>
            <a:off x="1508760" y="5257800"/>
            <a:ext cx="868680" cy="365760"/>
          </a:xfrm>
          <a:prstGeom prst="roundRect">
            <a:avLst>
              <a:gd name="adj" fmla="val 12500"/>
            </a:avLst>
          </a:prstGeom>
          <a:solidFill>
            <a:srgbClr val="FFFFFF"/>
          </a:solidFill>
          <a:ln w="12700">
            <a:solidFill>
              <a:srgbClr val="CBD5E1"/>
            </a:solidFill>
            <a:prstDash val="solid"/>
          </a:ln>
        </p:spPr>
      </p:sp>
      <p:sp>
        <p:nvSpPr>
          <p:cNvPr id="32" name="Text 30"/>
          <p:cNvSpPr txBox="1"/>
          <p:nvPr/>
        </p:nvSpPr>
        <p:spPr>
          <a:xfrm>
            <a:off x="1508760" y="5257800"/>
            <a:ext cx="868680" cy="365760"/>
          </a:xfrm>
          <a:prstGeom prst="rect">
            <a:avLst/>
          </a:prstGeom>
          <a:noFill/>
          <a:ln/>
        </p:spPr>
        <p:txBody>
          <a:bodyPr wrap="square" lIns="0" tIns="0" rIns="0" bIns="0" rtlCol="0" anchor="ctr"/>
          <a:lstStyle/>
          <a:p>
            <a:pPr algn="ctr" indent="0" marL="0">
              <a:buNone/>
            </a:pPr>
            <a:r>
              <a:rPr lang="en-US" sz="1000" dirty="0">
                <a:solidFill>
                  <a:srgbClr val="334155"/>
                </a:solidFill>
                <a:latin typeface="Arial" pitchFamily="34" charset="0"/>
                <a:ea typeface="Arial" pitchFamily="34" charset="-122"/>
                <a:cs typeface="Arial" pitchFamily="34" charset="-120"/>
              </a:rPr>
              <a:t>PSU 1</a:t>
            </a:r>
            <a:endParaRPr lang="en-US" sz="1000" dirty="0"/>
          </a:p>
        </p:txBody>
      </p:sp>
      <p:sp>
        <p:nvSpPr>
          <p:cNvPr id="33" name="Shape 31"/>
          <p:cNvSpPr/>
          <p:nvPr/>
        </p:nvSpPr>
        <p:spPr>
          <a:xfrm>
            <a:off x="2468880" y="5257800"/>
            <a:ext cx="868680" cy="365760"/>
          </a:xfrm>
          <a:prstGeom prst="roundRect">
            <a:avLst>
              <a:gd name="adj" fmla="val 12500"/>
            </a:avLst>
          </a:prstGeom>
          <a:solidFill>
            <a:srgbClr val="FFFFFF"/>
          </a:solidFill>
          <a:ln w="12700">
            <a:solidFill>
              <a:srgbClr val="CBD5E1"/>
            </a:solidFill>
            <a:prstDash val="solid"/>
          </a:ln>
        </p:spPr>
      </p:sp>
      <p:sp>
        <p:nvSpPr>
          <p:cNvPr id="34" name="Text 32"/>
          <p:cNvSpPr txBox="1"/>
          <p:nvPr/>
        </p:nvSpPr>
        <p:spPr>
          <a:xfrm>
            <a:off x="2468880" y="5257800"/>
            <a:ext cx="868680" cy="365760"/>
          </a:xfrm>
          <a:prstGeom prst="rect">
            <a:avLst/>
          </a:prstGeom>
          <a:noFill/>
          <a:ln/>
        </p:spPr>
        <p:txBody>
          <a:bodyPr wrap="square" lIns="0" tIns="0" rIns="0" bIns="0" rtlCol="0" anchor="ctr"/>
          <a:lstStyle/>
          <a:p>
            <a:pPr algn="ctr" indent="0" marL="0">
              <a:buNone/>
            </a:pPr>
            <a:r>
              <a:rPr lang="en-US" sz="1000" dirty="0">
                <a:solidFill>
                  <a:srgbClr val="334155"/>
                </a:solidFill>
                <a:latin typeface="Arial" pitchFamily="34" charset="0"/>
                <a:ea typeface="Arial" pitchFamily="34" charset="-122"/>
                <a:cs typeface="Arial" pitchFamily="34" charset="-120"/>
              </a:rPr>
              <a:t>PSU 2</a:t>
            </a:r>
            <a:endParaRPr lang="en-US" sz="1000" dirty="0"/>
          </a:p>
        </p:txBody>
      </p:sp>
      <p:sp>
        <p:nvSpPr>
          <p:cNvPr id="35" name="Shape 33"/>
          <p:cNvSpPr/>
          <p:nvPr/>
        </p:nvSpPr>
        <p:spPr>
          <a:xfrm>
            <a:off x="3429000" y="5257800"/>
            <a:ext cx="868680" cy="365760"/>
          </a:xfrm>
          <a:prstGeom prst="roundRect">
            <a:avLst>
              <a:gd name="adj" fmla="val 12500"/>
            </a:avLst>
          </a:prstGeom>
          <a:solidFill>
            <a:srgbClr val="FFFFFF"/>
          </a:solidFill>
          <a:ln w="12700">
            <a:solidFill>
              <a:srgbClr val="CBD5E1"/>
            </a:solidFill>
            <a:prstDash val="solid"/>
          </a:ln>
        </p:spPr>
      </p:sp>
      <p:sp>
        <p:nvSpPr>
          <p:cNvPr id="36" name="Text 34"/>
          <p:cNvSpPr txBox="1"/>
          <p:nvPr/>
        </p:nvSpPr>
        <p:spPr>
          <a:xfrm>
            <a:off x="3429000" y="5257800"/>
            <a:ext cx="868680" cy="365760"/>
          </a:xfrm>
          <a:prstGeom prst="rect">
            <a:avLst/>
          </a:prstGeom>
          <a:noFill/>
          <a:ln/>
        </p:spPr>
        <p:txBody>
          <a:bodyPr wrap="square" lIns="0" tIns="0" rIns="0" bIns="0" rtlCol="0" anchor="ctr"/>
          <a:lstStyle/>
          <a:p>
            <a:pPr algn="ctr" indent="0" marL="0">
              <a:buNone/>
            </a:pPr>
            <a:r>
              <a:rPr lang="en-US" sz="1000" dirty="0">
                <a:solidFill>
                  <a:srgbClr val="334155"/>
                </a:solidFill>
                <a:latin typeface="Arial" pitchFamily="34" charset="0"/>
                <a:ea typeface="Arial" pitchFamily="34" charset="-122"/>
                <a:cs typeface="Arial" pitchFamily="34" charset="-120"/>
              </a:rPr>
              <a:t>DMM</a:t>
            </a:r>
            <a:endParaRPr lang="en-US" sz="1000" dirty="0"/>
          </a:p>
        </p:txBody>
      </p:sp>
      <p:sp>
        <p:nvSpPr>
          <p:cNvPr id="37" name="Shape 35"/>
          <p:cNvSpPr/>
          <p:nvPr/>
        </p:nvSpPr>
        <p:spPr>
          <a:xfrm>
            <a:off x="4434840" y="5212080"/>
            <a:ext cx="411480" cy="0"/>
          </a:xfrm>
          <a:prstGeom prst="line">
            <a:avLst/>
          </a:prstGeom>
          <a:noFill/>
          <a:ln w="25400">
            <a:solidFill>
              <a:srgbClr val="14213D"/>
            </a:solidFill>
            <a:prstDash val="solid"/>
            <a:tailEnd type="triangle"/>
          </a:ln>
        </p:spPr>
      </p:sp>
      <p:sp>
        <p:nvSpPr>
          <p:cNvPr id="38" name="Shape 36"/>
          <p:cNvSpPr/>
          <p:nvPr/>
        </p:nvSpPr>
        <p:spPr>
          <a:xfrm>
            <a:off x="4892040" y="4800600"/>
            <a:ext cx="777240" cy="822960"/>
          </a:xfrm>
          <a:prstGeom prst="roundRect">
            <a:avLst>
              <a:gd name="adj" fmla="val 9412"/>
            </a:avLst>
          </a:prstGeom>
          <a:solidFill>
            <a:srgbClr val="14213D"/>
          </a:solidFill>
          <a:ln w="12700">
            <a:solidFill>
              <a:srgbClr val="14213D"/>
            </a:solidFill>
            <a:prstDash val="solid"/>
          </a:ln>
        </p:spPr>
      </p:sp>
      <p:sp>
        <p:nvSpPr>
          <p:cNvPr id="39" name="Text 37"/>
          <p:cNvSpPr txBox="1"/>
          <p:nvPr/>
        </p:nvSpPr>
        <p:spPr>
          <a:xfrm>
            <a:off x="4892040" y="4800600"/>
            <a:ext cx="777240" cy="82296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1 USB</a:t>
            </a:r>
            <a:endParaRPr lang="en-US" sz="1100" dirty="0"/>
          </a:p>
          <a:p>
            <a:pPr algn="ctr" indent="0" marL="0">
              <a:buNone/>
            </a:pPr>
            <a:r>
              <a:rPr lang="en-US" sz="1100" b="1" dirty="0">
                <a:solidFill>
                  <a:srgbClr val="FFFFFF"/>
                </a:solidFill>
                <a:latin typeface="Arial" pitchFamily="34" charset="0"/>
                <a:ea typeface="Arial" pitchFamily="34" charset="-122"/>
                <a:cs typeface="Arial" pitchFamily="34" charset="-120"/>
              </a:rPr>
              <a:t>device</a:t>
            </a:r>
            <a:endParaRPr lang="en-US" sz="1100" dirty="0"/>
          </a:p>
        </p:txBody>
      </p:sp>
      <p:sp>
        <p:nvSpPr>
          <p:cNvPr id="40" name="Text 38"/>
          <p:cNvSpPr txBox="1"/>
          <p:nvPr/>
        </p:nvSpPr>
        <p:spPr>
          <a:xfrm>
            <a:off x="6263640" y="1417320"/>
            <a:ext cx="5303520" cy="274320"/>
          </a:xfrm>
          <a:prstGeom prst="rect">
            <a:avLst/>
          </a:prstGeom>
          <a:noFill/>
          <a:ln/>
        </p:spPr>
        <p:txBody>
          <a:bodyPr wrap="square" lIns="0" tIns="0" rIns="0" bIns="0" rtlCol="0" anchor="t"/>
          <a:lstStyle/>
          <a:p>
            <a:pPr indent="0" marL="0">
              <a:buNone/>
            </a:pPr>
            <a:r>
              <a:rPr lang="en-US" sz="1200" b="1" spc="150" kern="0" dirty="0">
                <a:solidFill>
                  <a:srgbClr val="16A34A"/>
                </a:solidFill>
                <a:latin typeface="Arial" pitchFamily="34" charset="0"/>
                <a:ea typeface="Arial" pitchFamily="34" charset="-122"/>
                <a:cs typeface="Arial" pitchFamily="34" charset="-120"/>
              </a:rPr>
              <a:t>OBJECTIVES</a:t>
            </a:r>
            <a:endParaRPr lang="en-US" sz="1200" dirty="0"/>
          </a:p>
        </p:txBody>
      </p:sp>
      <p:sp>
        <p:nvSpPr>
          <p:cNvPr id="41" name="Shape 39"/>
          <p:cNvSpPr/>
          <p:nvPr/>
        </p:nvSpPr>
        <p:spPr>
          <a:xfrm>
            <a:off x="6263640" y="1828800"/>
            <a:ext cx="457200" cy="457200"/>
          </a:xfrm>
          <a:prstGeom prst="ellipse">
            <a:avLst/>
          </a:prstGeom>
          <a:solidFill>
            <a:srgbClr val="14213D"/>
          </a:solidFill>
          <a:ln w="12700">
            <a:solidFill>
              <a:srgbClr val="14213D"/>
            </a:solidFill>
            <a:prstDash val="solid"/>
          </a:ln>
        </p:spPr>
      </p:sp>
      <p:sp>
        <p:nvSpPr>
          <p:cNvPr id="42" name="Text 40"/>
          <p:cNvSpPr txBox="1"/>
          <p:nvPr/>
        </p:nvSpPr>
        <p:spPr>
          <a:xfrm>
            <a:off x="6263640" y="18288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43" name="Text 41"/>
          <p:cNvSpPr txBox="1"/>
          <p:nvPr/>
        </p:nvSpPr>
        <p:spPr>
          <a:xfrm>
            <a:off x="6903720" y="1783080"/>
            <a:ext cx="4754880" cy="594360"/>
          </a:xfrm>
          <a:prstGeom prst="rect">
            <a:avLst/>
          </a:prstGeom>
          <a:noFill/>
          <a:ln/>
        </p:spPr>
        <p:txBody>
          <a:bodyPr wrap="square" lIns="0" tIns="0" rIns="0" bIns="0" rtlCol="0" anchor="ctr"/>
          <a:lstStyle/>
          <a:p>
            <a:pPr indent="0" marL="0">
              <a:buNone/>
            </a:pPr>
            <a:r>
              <a:rPr lang="en-US" sz="1400" b="1" dirty="0">
                <a:solidFill>
                  <a:srgbClr val="1E293B"/>
                </a:solidFill>
                <a:latin typeface="Arial" pitchFamily="34" charset="0"/>
                <a:ea typeface="Arial" pitchFamily="34" charset="-122"/>
                <a:cs typeface="Arial" pitchFamily="34" charset="-120"/>
              </a:rPr>
              <a:t>Integrate </a:t>
            </a:r>
            <a:r>
              <a:rPr lang="en-US" sz="1400" dirty="0">
                <a:solidFill>
                  <a:srgbClr val="334155"/>
                </a:solidFill>
                <a:latin typeface="Arial" pitchFamily="34" charset="0"/>
                <a:ea typeface="Arial" pitchFamily="34" charset="-122"/>
                <a:cs typeface="Arial" pitchFamily="34" charset="-120"/>
              </a:rPr>
              <a:t>eight instruments into one compact, USB-connected unit</a:t>
            </a:r>
            <a:endParaRPr lang="en-US" sz="1400" dirty="0"/>
          </a:p>
        </p:txBody>
      </p:sp>
      <p:sp>
        <p:nvSpPr>
          <p:cNvPr id="44" name="Shape 42"/>
          <p:cNvSpPr/>
          <p:nvPr/>
        </p:nvSpPr>
        <p:spPr>
          <a:xfrm>
            <a:off x="6263640" y="2670048"/>
            <a:ext cx="457200" cy="457200"/>
          </a:xfrm>
          <a:prstGeom prst="ellipse">
            <a:avLst/>
          </a:prstGeom>
          <a:solidFill>
            <a:srgbClr val="14213D"/>
          </a:solidFill>
          <a:ln w="12700">
            <a:solidFill>
              <a:srgbClr val="14213D"/>
            </a:solidFill>
            <a:prstDash val="solid"/>
          </a:ln>
        </p:spPr>
      </p:sp>
      <p:sp>
        <p:nvSpPr>
          <p:cNvPr id="45" name="Text 43"/>
          <p:cNvSpPr txBox="1"/>
          <p:nvPr/>
        </p:nvSpPr>
        <p:spPr>
          <a:xfrm>
            <a:off x="6263640" y="267004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46" name="Text 44"/>
          <p:cNvSpPr txBox="1"/>
          <p:nvPr/>
        </p:nvSpPr>
        <p:spPr>
          <a:xfrm>
            <a:off x="6903720" y="2624328"/>
            <a:ext cx="4754880" cy="594360"/>
          </a:xfrm>
          <a:prstGeom prst="rect">
            <a:avLst/>
          </a:prstGeom>
          <a:noFill/>
          <a:ln/>
        </p:spPr>
        <p:txBody>
          <a:bodyPr wrap="square" lIns="0" tIns="0" rIns="0" bIns="0" rtlCol="0" anchor="ctr"/>
          <a:lstStyle/>
          <a:p>
            <a:pPr indent="0" marL="0">
              <a:buNone/>
            </a:pPr>
            <a:r>
              <a:rPr lang="en-US" sz="1400" b="1" dirty="0">
                <a:solidFill>
                  <a:srgbClr val="1E293B"/>
                </a:solidFill>
                <a:latin typeface="Arial" pitchFamily="34" charset="0"/>
                <a:ea typeface="Arial" pitchFamily="34" charset="-122"/>
                <a:cs typeface="Arial" pitchFamily="34" charset="-120"/>
              </a:rPr>
              <a:t>Design </a:t>
            </a:r>
            <a:r>
              <a:rPr lang="en-US" sz="1400" dirty="0">
                <a:solidFill>
                  <a:srgbClr val="334155"/>
                </a:solidFill>
                <a:latin typeface="Arial" pitchFamily="34" charset="0"/>
                <a:ea typeface="Arial" pitchFamily="34" charset="-122"/>
                <a:cs typeface="Arial" pitchFamily="34" charset="-120"/>
              </a:rPr>
              <a:t>an FPGA-based acquisition and signal-generation core</a:t>
            </a:r>
            <a:endParaRPr lang="en-US" sz="1400" dirty="0"/>
          </a:p>
        </p:txBody>
      </p:sp>
      <p:sp>
        <p:nvSpPr>
          <p:cNvPr id="47" name="Shape 45"/>
          <p:cNvSpPr/>
          <p:nvPr/>
        </p:nvSpPr>
        <p:spPr>
          <a:xfrm>
            <a:off x="6263640" y="3511296"/>
            <a:ext cx="457200" cy="457200"/>
          </a:xfrm>
          <a:prstGeom prst="ellipse">
            <a:avLst/>
          </a:prstGeom>
          <a:solidFill>
            <a:srgbClr val="14213D"/>
          </a:solidFill>
          <a:ln w="12700">
            <a:solidFill>
              <a:srgbClr val="14213D"/>
            </a:solidFill>
            <a:prstDash val="solid"/>
          </a:ln>
        </p:spPr>
      </p:sp>
      <p:sp>
        <p:nvSpPr>
          <p:cNvPr id="48" name="Text 46"/>
          <p:cNvSpPr txBox="1"/>
          <p:nvPr/>
        </p:nvSpPr>
        <p:spPr>
          <a:xfrm>
            <a:off x="6263640" y="3511296"/>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49" name="Text 47"/>
          <p:cNvSpPr txBox="1"/>
          <p:nvPr/>
        </p:nvSpPr>
        <p:spPr>
          <a:xfrm>
            <a:off x="6903720" y="3465576"/>
            <a:ext cx="4754880" cy="594360"/>
          </a:xfrm>
          <a:prstGeom prst="rect">
            <a:avLst/>
          </a:prstGeom>
          <a:noFill/>
          <a:ln/>
        </p:spPr>
        <p:txBody>
          <a:bodyPr wrap="square" lIns="0" tIns="0" rIns="0" bIns="0" rtlCol="0" anchor="ctr"/>
          <a:lstStyle/>
          <a:p>
            <a:pPr indent="0" marL="0">
              <a:buNone/>
            </a:pPr>
            <a:r>
              <a:rPr lang="en-US" sz="1400" b="1" dirty="0">
                <a:solidFill>
                  <a:srgbClr val="1E293B"/>
                </a:solidFill>
                <a:latin typeface="Arial" pitchFamily="34" charset="0"/>
                <a:ea typeface="Arial" pitchFamily="34" charset="-122"/>
                <a:cs typeface="Arial" pitchFamily="34" charset="-120"/>
              </a:rPr>
              <a:t>Develop </a:t>
            </a:r>
            <a:r>
              <a:rPr lang="en-US" sz="1400" dirty="0">
                <a:solidFill>
                  <a:srgbClr val="334155"/>
                </a:solidFill>
                <a:latin typeface="Arial" pitchFamily="34" charset="0"/>
                <a:ea typeface="Arial" pitchFamily="34" charset="-122"/>
                <a:cs typeface="Arial" pitchFamily="34" charset="-120"/>
              </a:rPr>
              <a:t>a single software workbench for every instrument</a:t>
            </a:r>
            <a:endParaRPr lang="en-US" sz="1400" dirty="0"/>
          </a:p>
        </p:txBody>
      </p:sp>
      <p:sp>
        <p:nvSpPr>
          <p:cNvPr id="50" name="Shape 48"/>
          <p:cNvSpPr/>
          <p:nvPr/>
        </p:nvSpPr>
        <p:spPr>
          <a:xfrm>
            <a:off x="6263640" y="4352544"/>
            <a:ext cx="457200" cy="457200"/>
          </a:xfrm>
          <a:prstGeom prst="ellipse">
            <a:avLst/>
          </a:prstGeom>
          <a:solidFill>
            <a:srgbClr val="F5B700"/>
          </a:solidFill>
          <a:ln w="12700">
            <a:solidFill>
              <a:srgbClr val="F5B700"/>
            </a:solidFill>
            <a:prstDash val="solid"/>
          </a:ln>
        </p:spPr>
      </p:sp>
      <p:sp>
        <p:nvSpPr>
          <p:cNvPr id="51" name="Text 49"/>
          <p:cNvSpPr txBox="1"/>
          <p:nvPr/>
        </p:nvSpPr>
        <p:spPr>
          <a:xfrm>
            <a:off x="6263640" y="4352544"/>
            <a:ext cx="457200" cy="457200"/>
          </a:xfrm>
          <a:prstGeom prst="rect">
            <a:avLst/>
          </a:prstGeom>
          <a:noFill/>
          <a:ln/>
        </p:spPr>
        <p:txBody>
          <a:bodyPr wrap="square" lIns="0" tIns="0" rIns="0" bIns="0" rtlCol="0" anchor="ctr"/>
          <a:lstStyle/>
          <a:p>
            <a:pPr algn="ctr" indent="0" marL="0">
              <a:buNone/>
            </a:pPr>
            <a:r>
              <a:rPr lang="en-US" sz="1500" b="1" dirty="0">
                <a:solidFill>
                  <a:srgbClr val="14213D"/>
                </a:solidFill>
                <a:latin typeface="Arial" pitchFamily="34" charset="0"/>
                <a:ea typeface="Arial" pitchFamily="34" charset="-122"/>
                <a:cs typeface="Arial" pitchFamily="34" charset="-120"/>
              </a:rPr>
              <a:t>4</a:t>
            </a:r>
            <a:endParaRPr lang="en-US" sz="1500" dirty="0"/>
          </a:p>
        </p:txBody>
      </p:sp>
      <p:sp>
        <p:nvSpPr>
          <p:cNvPr id="52" name="Text 50"/>
          <p:cNvSpPr txBox="1"/>
          <p:nvPr/>
        </p:nvSpPr>
        <p:spPr>
          <a:xfrm>
            <a:off x="6903720" y="4306824"/>
            <a:ext cx="4754880" cy="594360"/>
          </a:xfrm>
          <a:prstGeom prst="rect">
            <a:avLst/>
          </a:prstGeom>
          <a:noFill/>
          <a:ln/>
        </p:spPr>
        <p:txBody>
          <a:bodyPr wrap="square" lIns="0" tIns="0" rIns="0" bIns="0" rtlCol="0" anchor="ctr"/>
          <a:lstStyle/>
          <a:p>
            <a:pPr indent="0" marL="0">
              <a:buNone/>
            </a:pPr>
            <a:r>
              <a:rPr lang="en-US" sz="1400" b="1" dirty="0">
                <a:solidFill>
                  <a:srgbClr val="1E293B"/>
                </a:solidFill>
                <a:latin typeface="Arial" pitchFamily="34" charset="0"/>
                <a:ea typeface="Arial" pitchFamily="34" charset="-122"/>
                <a:cs typeface="Arial" pitchFamily="34" charset="-120"/>
              </a:rPr>
              <a:t>Embed Proto </a:t>
            </a:r>
            <a:r>
              <a:rPr lang="en-US" sz="1400" dirty="0">
                <a:solidFill>
                  <a:srgbClr val="334155"/>
                </a:solidFill>
                <a:latin typeface="Arial" pitchFamily="34" charset="0"/>
                <a:ea typeface="Arial" pitchFamily="34" charset="-122"/>
                <a:cs typeface="Arial" pitchFamily="34" charset="-120"/>
              </a:rPr>
              <a:t>an AI engineer that plans tests and explains results in plain language</a:t>
            </a:r>
            <a:endParaRPr lang="en-US" sz="1400" dirty="0"/>
          </a:p>
        </p:txBody>
      </p:sp>
      <p:sp>
        <p:nvSpPr>
          <p:cNvPr id="53" name="Shape 51"/>
          <p:cNvSpPr/>
          <p:nvPr/>
        </p:nvSpPr>
        <p:spPr>
          <a:xfrm>
            <a:off x="6263640" y="5193792"/>
            <a:ext cx="457200" cy="457200"/>
          </a:xfrm>
          <a:prstGeom prst="ellipse">
            <a:avLst/>
          </a:prstGeom>
          <a:solidFill>
            <a:srgbClr val="14213D"/>
          </a:solidFill>
          <a:ln w="12700">
            <a:solidFill>
              <a:srgbClr val="14213D"/>
            </a:solidFill>
            <a:prstDash val="solid"/>
          </a:ln>
        </p:spPr>
      </p:sp>
      <p:sp>
        <p:nvSpPr>
          <p:cNvPr id="54" name="Text 52"/>
          <p:cNvSpPr txBox="1"/>
          <p:nvPr/>
        </p:nvSpPr>
        <p:spPr>
          <a:xfrm>
            <a:off x="6263640" y="5193792"/>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5</a:t>
            </a:r>
            <a:endParaRPr lang="en-US" sz="1500" dirty="0"/>
          </a:p>
        </p:txBody>
      </p:sp>
      <p:sp>
        <p:nvSpPr>
          <p:cNvPr id="55" name="Text 53"/>
          <p:cNvSpPr txBox="1"/>
          <p:nvPr/>
        </p:nvSpPr>
        <p:spPr>
          <a:xfrm>
            <a:off x="6903720" y="5148072"/>
            <a:ext cx="4754880" cy="594360"/>
          </a:xfrm>
          <a:prstGeom prst="rect">
            <a:avLst/>
          </a:prstGeom>
          <a:noFill/>
          <a:ln/>
        </p:spPr>
        <p:txBody>
          <a:bodyPr wrap="square" lIns="0" tIns="0" rIns="0" bIns="0" rtlCol="0" anchor="ctr"/>
          <a:lstStyle/>
          <a:p>
            <a:pPr indent="0" marL="0">
              <a:buNone/>
            </a:pPr>
            <a:r>
              <a:rPr lang="en-US" sz="1400" b="1" dirty="0">
                <a:solidFill>
                  <a:srgbClr val="1E293B"/>
                </a:solidFill>
                <a:latin typeface="Arial" pitchFamily="34" charset="0"/>
                <a:ea typeface="Arial" pitchFamily="34" charset="-122"/>
                <a:cs typeface="Arial" pitchFamily="34" charset="-120"/>
              </a:rPr>
              <a:t>Keep it affordable </a:t>
            </a:r>
            <a:r>
              <a:rPr lang="en-US" sz="1400" dirty="0">
                <a:solidFill>
                  <a:srgbClr val="334155"/>
                </a:solidFill>
                <a:latin typeface="Arial" pitchFamily="34" charset="0"/>
                <a:ea typeface="Arial" pitchFamily="34" charset="-122"/>
                <a:cs typeface="Arial" pitchFamily="34" charset="-120"/>
              </a:rPr>
              <a:t>for student labs, with a low-cost production design</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4213D"/>
          </a:solidFill>
          <a:ln w="12700">
            <a:solidFill>
              <a:srgbClr val="14213D"/>
            </a:solidFill>
            <a:prstDash val="solid"/>
          </a:ln>
        </p:spPr>
      </p:sp>
      <p:sp>
        <p:nvSpPr>
          <p:cNvPr id="3" name="Text 1"/>
          <p:cNvSpPr txBox="1"/>
          <p:nvPr/>
        </p:nvSpPr>
        <p:spPr>
          <a:xfrm>
            <a:off x="548640" y="347472"/>
            <a:ext cx="8229600" cy="228600"/>
          </a:xfrm>
          <a:prstGeom prst="rect">
            <a:avLst/>
          </a:prstGeom>
          <a:noFill/>
          <a:ln/>
        </p:spPr>
        <p:txBody>
          <a:bodyPr wrap="square" lIns="0" tIns="0" rIns="0" bIns="0" rtlCol="0" anchor="t"/>
          <a:lstStyle/>
          <a:p>
            <a:pPr indent="0" marL="0">
              <a:buNone/>
            </a:pPr>
            <a:r>
              <a:rPr lang="en-US" sz="1100" b="1" spc="200" kern="0" dirty="0">
                <a:solidFill>
                  <a:srgbClr val="2563EB"/>
                </a:solidFill>
                <a:latin typeface="Arial" pitchFamily="34" charset="0"/>
                <a:ea typeface="Arial" pitchFamily="34" charset="-122"/>
                <a:cs typeface="Arial" pitchFamily="34" charset="-120"/>
              </a:rPr>
              <a:t>HARDWARE DESIGN</a:t>
            </a:r>
            <a:endParaRPr lang="en-US" sz="1100" dirty="0"/>
          </a:p>
        </p:txBody>
      </p:sp>
      <p:sp>
        <p:nvSpPr>
          <p:cNvPr id="4" name="Text 2"/>
          <p:cNvSpPr txBox="1"/>
          <p:nvPr/>
        </p:nvSpPr>
        <p:spPr>
          <a:xfrm>
            <a:off x="548640" y="603504"/>
            <a:ext cx="11155680" cy="594360"/>
          </a:xfrm>
          <a:prstGeom prst="rect">
            <a:avLst/>
          </a:prstGeom>
          <a:noFill/>
          <a:ln/>
        </p:spPr>
        <p:txBody>
          <a:bodyPr wrap="square" lIns="0" tIns="0" rIns="0" bIns="0" rtlCol="0" anchor="t"/>
          <a:lstStyle/>
          <a:p>
            <a:pPr indent="0" marL="0">
              <a:buNone/>
            </a:pPr>
            <a:r>
              <a:rPr lang="en-US" sz="2800" b="1" dirty="0">
                <a:solidFill>
                  <a:srgbClr val="14213D"/>
                </a:solidFill>
                <a:latin typeface="Arial" pitchFamily="34" charset="0"/>
                <a:ea typeface="Arial" pitchFamily="34" charset="-122"/>
                <a:cs typeface="Arial" pitchFamily="34" charset="-120"/>
              </a:rPr>
              <a:t>System architecture: one FPGA core, one USB link</a:t>
            </a:r>
            <a:endParaRPr lang="en-US" sz="2800" dirty="0"/>
          </a:p>
        </p:txBody>
      </p:sp>
      <p:sp>
        <p:nvSpPr>
          <p:cNvPr id="5" name="Shape 3"/>
          <p:cNvSpPr/>
          <p:nvPr/>
        </p:nvSpPr>
        <p:spPr>
          <a:xfrm>
            <a:off x="548640" y="6419088"/>
            <a:ext cx="11091672" cy="0"/>
          </a:xfrm>
          <a:prstGeom prst="line">
            <a:avLst/>
          </a:prstGeom>
          <a:noFill/>
          <a:ln w="12700">
            <a:solidFill>
              <a:srgbClr val="E2E8F0"/>
            </a:solidFill>
            <a:prstDash val="solid"/>
          </a:ln>
        </p:spPr>
      </p:sp>
      <p:sp>
        <p:nvSpPr>
          <p:cNvPr id="6" name="Text 4"/>
          <p:cNvSpPr txBox="1"/>
          <p:nvPr/>
        </p:nvSpPr>
        <p:spPr>
          <a:xfrm>
            <a:off x="548640" y="6492240"/>
            <a:ext cx="7315200" cy="228600"/>
          </a:xfrm>
          <a:prstGeom prst="rect">
            <a:avLst/>
          </a:prstGeom>
          <a:noFill/>
          <a:ln/>
        </p:spPr>
        <p:txBody>
          <a:bodyPr wrap="square" lIns="0" tIns="0" rIns="0" bIns="0" rtlCol="0" anchor="t"/>
          <a:lstStyle/>
          <a:p>
            <a:pPr indent="0" marL="0">
              <a:buNone/>
            </a:pPr>
            <a:r>
              <a:rPr lang="en-US" sz="1000" dirty="0">
                <a:solidFill>
                  <a:srgbClr val="64748B"/>
                </a:solidFill>
                <a:latin typeface="Arial" pitchFamily="34" charset="0"/>
                <a:ea typeface="Arial" pitchFamily="34" charset="-122"/>
                <a:cs typeface="Arial" pitchFamily="34" charset="-120"/>
              </a:rPr>
              <a:t>Intelligent USB-Based Electronics Platform  ·  SEC Project</a:t>
            </a:r>
            <a:endParaRPr lang="en-US" sz="1000" dirty="0"/>
          </a:p>
        </p:txBody>
      </p:sp>
      <p:sp>
        <p:nvSpPr>
          <p:cNvPr id="7" name="Text 5"/>
          <p:cNvSpPr txBox="1"/>
          <p:nvPr/>
        </p:nvSpPr>
        <p:spPr>
          <a:xfrm>
            <a:off x="10725912" y="6492240"/>
            <a:ext cx="914400" cy="228600"/>
          </a:xfrm>
          <a:prstGeom prst="rect">
            <a:avLst/>
          </a:prstGeom>
          <a:noFill/>
          <a:ln/>
        </p:spPr>
        <p:txBody>
          <a:bodyPr wrap="square" lIns="0" tIns="0" rIns="0" bIns="0" rtlCol="0" anchor="t"/>
          <a:lstStyle/>
          <a:p>
            <a:pPr algn="r" indent="0" marL="0">
              <a:buNone/>
            </a:pPr>
            <a:r>
              <a:rPr lang="en-US" sz="1000" dirty="0">
                <a:solidFill>
                  <a:srgbClr val="64748B"/>
                </a:solidFill>
                <a:latin typeface="Arial" pitchFamily="34" charset="0"/>
                <a:ea typeface="Arial" pitchFamily="34" charset="-122"/>
                <a:cs typeface="Arial" pitchFamily="34" charset="-120"/>
              </a:rPr>
              <a:t>3 / 7</a:t>
            </a:r>
            <a:endParaRPr lang="en-US" sz="1000" dirty="0"/>
          </a:p>
        </p:txBody>
      </p:sp>
      <p:sp>
        <p:nvSpPr>
          <p:cNvPr id="8" name="Shape 6"/>
          <p:cNvSpPr/>
          <p:nvPr/>
        </p:nvSpPr>
        <p:spPr>
          <a:xfrm>
            <a:off x="548640" y="1645920"/>
            <a:ext cx="1234440" cy="457200"/>
          </a:xfrm>
          <a:prstGeom prst="roundRect">
            <a:avLst>
              <a:gd name="adj" fmla="val 10000"/>
            </a:avLst>
          </a:prstGeom>
          <a:solidFill>
            <a:srgbClr val="F1F5F9"/>
          </a:solidFill>
          <a:ln w="12700">
            <a:solidFill>
              <a:srgbClr val="F1F5F9"/>
            </a:solidFill>
            <a:prstDash val="solid"/>
          </a:ln>
        </p:spPr>
      </p:sp>
      <p:sp>
        <p:nvSpPr>
          <p:cNvPr id="9" name="Text 7"/>
          <p:cNvSpPr txBox="1"/>
          <p:nvPr/>
        </p:nvSpPr>
        <p:spPr>
          <a:xfrm>
            <a:off x="548640" y="1645920"/>
            <a:ext cx="1234440" cy="457200"/>
          </a:xfrm>
          <a:prstGeom prst="rect">
            <a:avLst/>
          </a:prstGeom>
          <a:noFill/>
          <a:ln/>
        </p:spPr>
        <p:txBody>
          <a:bodyPr wrap="square" lIns="0" tIns="0" rIns="0" bIns="0" rtlCol="0" anchor="ctr"/>
          <a:lstStyle/>
          <a:p>
            <a:pPr algn="ctr" indent="0" marL="0">
              <a:buNone/>
            </a:pPr>
            <a:r>
              <a:rPr lang="en-US" sz="1100" b="1" dirty="0">
                <a:solidFill>
                  <a:srgbClr val="D97706"/>
                </a:solidFill>
                <a:latin typeface="Arial" pitchFamily="34" charset="0"/>
                <a:ea typeface="Arial" pitchFamily="34" charset="-122"/>
                <a:cs typeface="Arial" pitchFamily="34" charset="-120"/>
              </a:rPr>
              <a:t>CH1 · CH2 in</a:t>
            </a:r>
            <a:endParaRPr lang="en-US" sz="1100" dirty="0"/>
          </a:p>
        </p:txBody>
      </p:sp>
      <p:sp>
        <p:nvSpPr>
          <p:cNvPr id="10" name="Shape 8"/>
          <p:cNvSpPr/>
          <p:nvPr/>
        </p:nvSpPr>
        <p:spPr>
          <a:xfrm>
            <a:off x="1783080" y="1874520"/>
            <a:ext cx="274320" cy="0"/>
          </a:xfrm>
          <a:prstGeom prst="line">
            <a:avLst/>
          </a:prstGeom>
          <a:noFill/>
          <a:ln w="15875">
            <a:solidFill>
              <a:srgbClr val="64748B"/>
            </a:solidFill>
            <a:prstDash val="solid"/>
            <a:tailEnd type="triangle"/>
          </a:ln>
        </p:spPr>
      </p:sp>
      <p:sp>
        <p:nvSpPr>
          <p:cNvPr id="11" name="Shape 9"/>
          <p:cNvSpPr/>
          <p:nvPr/>
        </p:nvSpPr>
        <p:spPr>
          <a:xfrm>
            <a:off x="2103120" y="1463040"/>
            <a:ext cx="2331720" cy="822960"/>
          </a:xfrm>
          <a:prstGeom prst="roundRect">
            <a:avLst>
              <a:gd name="adj" fmla="val 5556"/>
            </a:avLst>
          </a:prstGeom>
          <a:solidFill>
            <a:srgbClr val="FFFFFF"/>
          </a:solidFill>
          <a:ln w="19050">
            <a:solidFill>
              <a:srgbClr val="D97706"/>
            </a:solidFill>
            <a:prstDash val="solid"/>
          </a:ln>
        </p:spPr>
      </p:sp>
      <p:sp>
        <p:nvSpPr>
          <p:cNvPr id="12" name="Text 10"/>
          <p:cNvSpPr txBox="1"/>
          <p:nvPr/>
        </p:nvSpPr>
        <p:spPr>
          <a:xfrm>
            <a:off x="2194560" y="1527048"/>
            <a:ext cx="2148840" cy="274320"/>
          </a:xfrm>
          <a:prstGeom prst="rect">
            <a:avLst/>
          </a:prstGeom>
          <a:noFill/>
          <a:ln/>
        </p:spPr>
        <p:txBody>
          <a:bodyPr wrap="square" lIns="0" tIns="0" rIns="0" bIns="0" rtlCol="0" anchor="t"/>
          <a:lstStyle/>
          <a:p>
            <a:pPr indent="0" marL="0">
              <a:buNone/>
            </a:pPr>
            <a:r>
              <a:rPr lang="en-US" sz="1250" b="1" dirty="0">
                <a:solidFill>
                  <a:srgbClr val="1E293B"/>
                </a:solidFill>
                <a:latin typeface="Arial" pitchFamily="34" charset="0"/>
                <a:ea typeface="Arial" pitchFamily="34" charset="-122"/>
                <a:cs typeface="Arial" pitchFamily="34" charset="-120"/>
              </a:rPr>
              <a:t>Analog front end</a:t>
            </a:r>
            <a:endParaRPr lang="en-US" sz="1250" dirty="0"/>
          </a:p>
        </p:txBody>
      </p:sp>
      <p:sp>
        <p:nvSpPr>
          <p:cNvPr id="13" name="Text 11"/>
          <p:cNvSpPr txBox="1"/>
          <p:nvPr/>
        </p:nvSpPr>
        <p:spPr>
          <a:xfrm>
            <a:off x="2194560" y="1810512"/>
            <a:ext cx="2148840" cy="438912"/>
          </a:xfrm>
          <a:prstGeom prst="rect">
            <a:avLst/>
          </a:prstGeom>
          <a:noFill/>
          <a:ln/>
        </p:spPr>
        <p:txBody>
          <a:bodyPr wrap="square" lIns="0" tIns="0" rIns="0" bIns="0" rtlCol="0" anchor="t"/>
          <a:lstStyle/>
          <a:p>
            <a:pPr indent="0" marL="0">
              <a:buNone/>
            </a:pPr>
            <a:r>
              <a:rPr lang="en-US" sz="1050" dirty="0">
                <a:solidFill>
                  <a:srgbClr val="334155"/>
                </a:solidFill>
                <a:latin typeface="Arial" pitchFamily="34" charset="0"/>
                <a:ea typeface="Arial" pitchFamily="34" charset="-122"/>
                <a:cs typeface="Arial" pitchFamily="34" charset="-120"/>
              </a:rPr>
              <a:t>AD8066 buffers, relay range switching</a:t>
            </a:r>
            <a:endParaRPr lang="en-US" sz="1050" dirty="0"/>
          </a:p>
        </p:txBody>
      </p:sp>
      <p:sp>
        <p:nvSpPr>
          <p:cNvPr id="14" name="Shape 12"/>
          <p:cNvSpPr/>
          <p:nvPr/>
        </p:nvSpPr>
        <p:spPr>
          <a:xfrm>
            <a:off x="4434840" y="1874520"/>
            <a:ext cx="274320" cy="0"/>
          </a:xfrm>
          <a:prstGeom prst="line">
            <a:avLst/>
          </a:prstGeom>
          <a:noFill/>
          <a:ln w="15875">
            <a:solidFill>
              <a:srgbClr val="64748B"/>
            </a:solidFill>
            <a:prstDash val="solid"/>
            <a:tailEnd type="triangle"/>
          </a:ln>
        </p:spPr>
      </p:sp>
      <p:sp>
        <p:nvSpPr>
          <p:cNvPr id="15" name="Shape 13"/>
          <p:cNvSpPr/>
          <p:nvPr/>
        </p:nvSpPr>
        <p:spPr>
          <a:xfrm>
            <a:off x="4754880" y="1463040"/>
            <a:ext cx="2240280" cy="822960"/>
          </a:xfrm>
          <a:prstGeom prst="roundRect">
            <a:avLst>
              <a:gd name="adj" fmla="val 5556"/>
            </a:avLst>
          </a:prstGeom>
          <a:solidFill>
            <a:srgbClr val="FFFFFF"/>
          </a:solidFill>
          <a:ln w="19050">
            <a:solidFill>
              <a:srgbClr val="D97706"/>
            </a:solidFill>
            <a:prstDash val="solid"/>
          </a:ln>
        </p:spPr>
      </p:sp>
      <p:sp>
        <p:nvSpPr>
          <p:cNvPr id="16" name="Text 14"/>
          <p:cNvSpPr txBox="1"/>
          <p:nvPr/>
        </p:nvSpPr>
        <p:spPr>
          <a:xfrm>
            <a:off x="4846320" y="1527048"/>
            <a:ext cx="2057400" cy="274320"/>
          </a:xfrm>
          <a:prstGeom prst="rect">
            <a:avLst/>
          </a:prstGeom>
          <a:noFill/>
          <a:ln/>
        </p:spPr>
        <p:txBody>
          <a:bodyPr wrap="square" lIns="0" tIns="0" rIns="0" bIns="0" rtlCol="0" anchor="t"/>
          <a:lstStyle/>
          <a:p>
            <a:pPr indent="0" marL="0">
              <a:buNone/>
            </a:pPr>
            <a:r>
              <a:rPr lang="en-US" sz="1250" b="1" dirty="0">
                <a:solidFill>
                  <a:srgbClr val="1E293B"/>
                </a:solidFill>
                <a:latin typeface="Arial" pitchFamily="34" charset="0"/>
                <a:ea typeface="Arial" pitchFamily="34" charset="-122"/>
                <a:cs typeface="Arial" pitchFamily="34" charset="-120"/>
              </a:rPr>
              <a:t>2× ADC</a:t>
            </a:r>
            <a:endParaRPr lang="en-US" sz="1250" dirty="0"/>
          </a:p>
        </p:txBody>
      </p:sp>
      <p:sp>
        <p:nvSpPr>
          <p:cNvPr id="17" name="Text 15"/>
          <p:cNvSpPr txBox="1"/>
          <p:nvPr/>
        </p:nvSpPr>
        <p:spPr>
          <a:xfrm>
            <a:off x="4846320" y="1810512"/>
            <a:ext cx="2057400" cy="438912"/>
          </a:xfrm>
          <a:prstGeom prst="rect">
            <a:avLst/>
          </a:prstGeom>
          <a:noFill/>
          <a:ln/>
        </p:spPr>
        <p:txBody>
          <a:bodyPr wrap="square" lIns="0" tIns="0" rIns="0" bIns="0" rtlCol="0" anchor="t"/>
          <a:lstStyle/>
          <a:p>
            <a:pPr indent="0" marL="0">
              <a:buNone/>
            </a:pPr>
            <a:r>
              <a:rPr lang="en-US" sz="1050" dirty="0">
                <a:solidFill>
                  <a:srgbClr val="334155"/>
                </a:solidFill>
                <a:latin typeface="Arial" pitchFamily="34" charset="0"/>
                <a:ea typeface="Arial" pitchFamily="34" charset="-122"/>
                <a:cs typeface="Arial" pitchFamily="34" charset="-120"/>
              </a:rPr>
              <a:t>AD9226 · 12-bit · 65 MS/s</a:t>
            </a:r>
            <a:endParaRPr lang="en-US" sz="1050" dirty="0"/>
          </a:p>
        </p:txBody>
      </p:sp>
      <p:sp>
        <p:nvSpPr>
          <p:cNvPr id="18" name="Shape 16"/>
          <p:cNvSpPr/>
          <p:nvPr/>
        </p:nvSpPr>
        <p:spPr>
          <a:xfrm>
            <a:off x="6995160" y="1874520"/>
            <a:ext cx="365760" cy="0"/>
          </a:xfrm>
          <a:prstGeom prst="line">
            <a:avLst/>
          </a:prstGeom>
          <a:noFill/>
          <a:ln w="15875">
            <a:solidFill>
              <a:srgbClr val="64748B"/>
            </a:solidFill>
            <a:prstDash val="solid"/>
            <a:tailEnd type="triangle"/>
          </a:ln>
        </p:spPr>
      </p:sp>
      <p:sp>
        <p:nvSpPr>
          <p:cNvPr id="19" name="Shape 17"/>
          <p:cNvSpPr/>
          <p:nvPr/>
        </p:nvSpPr>
        <p:spPr>
          <a:xfrm>
            <a:off x="548640" y="2606040"/>
            <a:ext cx="1234440" cy="457200"/>
          </a:xfrm>
          <a:prstGeom prst="roundRect">
            <a:avLst>
              <a:gd name="adj" fmla="val 10000"/>
            </a:avLst>
          </a:prstGeom>
          <a:solidFill>
            <a:srgbClr val="F1F5F9"/>
          </a:solidFill>
          <a:ln w="12700">
            <a:solidFill>
              <a:srgbClr val="F1F5F9"/>
            </a:solidFill>
            <a:prstDash val="solid"/>
          </a:ln>
        </p:spPr>
      </p:sp>
      <p:sp>
        <p:nvSpPr>
          <p:cNvPr id="20" name="Text 18"/>
          <p:cNvSpPr txBox="1"/>
          <p:nvPr/>
        </p:nvSpPr>
        <p:spPr>
          <a:xfrm>
            <a:off x="548640" y="2606040"/>
            <a:ext cx="1234440" cy="457200"/>
          </a:xfrm>
          <a:prstGeom prst="rect">
            <a:avLst/>
          </a:prstGeom>
          <a:noFill/>
          <a:ln/>
        </p:spPr>
        <p:txBody>
          <a:bodyPr wrap="square" lIns="0" tIns="0" rIns="0" bIns="0" rtlCol="0" anchor="ctr"/>
          <a:lstStyle/>
          <a:p>
            <a:pPr algn="ctr" indent="0" marL="0">
              <a:buNone/>
            </a:pPr>
            <a:r>
              <a:rPr lang="en-US" sz="1100" b="1" dirty="0">
                <a:solidFill>
                  <a:srgbClr val="2563EB"/>
                </a:solidFill>
                <a:latin typeface="Arial" pitchFamily="34" charset="0"/>
                <a:ea typeface="Arial" pitchFamily="34" charset="-122"/>
                <a:cs typeface="Arial" pitchFamily="34" charset="-120"/>
              </a:rPr>
              <a:t>W1 · W2 out</a:t>
            </a:r>
            <a:endParaRPr lang="en-US" sz="1100" dirty="0"/>
          </a:p>
        </p:txBody>
      </p:sp>
      <p:sp>
        <p:nvSpPr>
          <p:cNvPr id="21" name="Shape 19"/>
          <p:cNvSpPr/>
          <p:nvPr/>
        </p:nvSpPr>
        <p:spPr>
          <a:xfrm>
            <a:off x="1783080" y="2834640"/>
            <a:ext cx="274320" cy="0"/>
          </a:xfrm>
          <a:prstGeom prst="line">
            <a:avLst/>
          </a:prstGeom>
          <a:noFill/>
          <a:ln w="15875">
            <a:solidFill>
              <a:srgbClr val="64748B"/>
            </a:solidFill>
            <a:prstDash val="solid"/>
            <a:tailEnd type="triangle"/>
          </a:ln>
        </p:spPr>
      </p:sp>
      <p:sp>
        <p:nvSpPr>
          <p:cNvPr id="22" name="Shape 20"/>
          <p:cNvSpPr/>
          <p:nvPr/>
        </p:nvSpPr>
        <p:spPr>
          <a:xfrm>
            <a:off x="2103120" y="2423160"/>
            <a:ext cx="2331720" cy="822960"/>
          </a:xfrm>
          <a:prstGeom prst="roundRect">
            <a:avLst>
              <a:gd name="adj" fmla="val 5556"/>
            </a:avLst>
          </a:prstGeom>
          <a:solidFill>
            <a:srgbClr val="FFFFFF"/>
          </a:solidFill>
          <a:ln w="19050">
            <a:solidFill>
              <a:srgbClr val="2563EB"/>
            </a:solidFill>
            <a:prstDash val="solid"/>
          </a:ln>
        </p:spPr>
      </p:sp>
      <p:sp>
        <p:nvSpPr>
          <p:cNvPr id="23" name="Text 21"/>
          <p:cNvSpPr txBox="1"/>
          <p:nvPr/>
        </p:nvSpPr>
        <p:spPr>
          <a:xfrm>
            <a:off x="2194560" y="2487168"/>
            <a:ext cx="2148840" cy="274320"/>
          </a:xfrm>
          <a:prstGeom prst="rect">
            <a:avLst/>
          </a:prstGeom>
          <a:noFill/>
          <a:ln/>
        </p:spPr>
        <p:txBody>
          <a:bodyPr wrap="square" lIns="0" tIns="0" rIns="0" bIns="0" rtlCol="0" anchor="t"/>
          <a:lstStyle/>
          <a:p>
            <a:pPr indent="0" marL="0">
              <a:buNone/>
            </a:pPr>
            <a:r>
              <a:rPr lang="en-US" sz="1250" b="1" dirty="0">
                <a:solidFill>
                  <a:srgbClr val="1E293B"/>
                </a:solidFill>
                <a:latin typeface="Arial" pitchFamily="34" charset="0"/>
                <a:ea typeface="Arial" pitchFamily="34" charset="-122"/>
                <a:cs typeface="Arial" pitchFamily="34" charset="-120"/>
              </a:rPr>
              <a:t>Output stage</a:t>
            </a:r>
            <a:endParaRPr lang="en-US" sz="1250" dirty="0"/>
          </a:p>
        </p:txBody>
      </p:sp>
      <p:sp>
        <p:nvSpPr>
          <p:cNvPr id="24" name="Text 22"/>
          <p:cNvSpPr txBox="1"/>
          <p:nvPr/>
        </p:nvSpPr>
        <p:spPr>
          <a:xfrm>
            <a:off x="2194560" y="2770632"/>
            <a:ext cx="2148840" cy="438912"/>
          </a:xfrm>
          <a:prstGeom prst="rect">
            <a:avLst/>
          </a:prstGeom>
          <a:noFill/>
          <a:ln/>
        </p:spPr>
        <p:txBody>
          <a:bodyPr wrap="square" lIns="0" tIns="0" rIns="0" bIns="0" rtlCol="0" anchor="t"/>
          <a:lstStyle/>
          <a:p>
            <a:pPr indent="0" marL="0">
              <a:buNone/>
            </a:pPr>
            <a:r>
              <a:rPr lang="en-US" sz="1050" dirty="0">
                <a:solidFill>
                  <a:srgbClr val="334155"/>
                </a:solidFill>
                <a:latin typeface="Arial" pitchFamily="34" charset="0"/>
                <a:ea typeface="Arial" pitchFamily="34" charset="-122"/>
                <a:cs typeface="Arial" pitchFamily="34" charset="-120"/>
              </a:rPr>
              <a:t>buffer and level shift</a:t>
            </a:r>
            <a:endParaRPr lang="en-US" sz="1050" dirty="0"/>
          </a:p>
        </p:txBody>
      </p:sp>
      <p:sp>
        <p:nvSpPr>
          <p:cNvPr id="25" name="Shape 23"/>
          <p:cNvSpPr/>
          <p:nvPr/>
        </p:nvSpPr>
        <p:spPr>
          <a:xfrm>
            <a:off x="4434840" y="2834640"/>
            <a:ext cx="274320" cy="0"/>
          </a:xfrm>
          <a:prstGeom prst="line">
            <a:avLst/>
          </a:prstGeom>
          <a:noFill/>
          <a:ln w="15875">
            <a:solidFill>
              <a:srgbClr val="64748B"/>
            </a:solidFill>
            <a:prstDash val="solid"/>
            <a:tailEnd type="triangle"/>
          </a:ln>
        </p:spPr>
      </p:sp>
      <p:sp>
        <p:nvSpPr>
          <p:cNvPr id="26" name="Shape 24"/>
          <p:cNvSpPr/>
          <p:nvPr/>
        </p:nvSpPr>
        <p:spPr>
          <a:xfrm>
            <a:off x="4754880" y="2423160"/>
            <a:ext cx="2240280" cy="822960"/>
          </a:xfrm>
          <a:prstGeom prst="roundRect">
            <a:avLst>
              <a:gd name="adj" fmla="val 5556"/>
            </a:avLst>
          </a:prstGeom>
          <a:solidFill>
            <a:srgbClr val="FFFFFF"/>
          </a:solidFill>
          <a:ln w="19050">
            <a:solidFill>
              <a:srgbClr val="2563EB"/>
            </a:solidFill>
            <a:prstDash val="solid"/>
          </a:ln>
        </p:spPr>
      </p:sp>
      <p:sp>
        <p:nvSpPr>
          <p:cNvPr id="27" name="Text 25"/>
          <p:cNvSpPr txBox="1"/>
          <p:nvPr/>
        </p:nvSpPr>
        <p:spPr>
          <a:xfrm>
            <a:off x="4846320" y="2487168"/>
            <a:ext cx="2057400" cy="274320"/>
          </a:xfrm>
          <a:prstGeom prst="rect">
            <a:avLst/>
          </a:prstGeom>
          <a:noFill/>
          <a:ln/>
        </p:spPr>
        <p:txBody>
          <a:bodyPr wrap="square" lIns="0" tIns="0" rIns="0" bIns="0" rtlCol="0" anchor="t"/>
          <a:lstStyle/>
          <a:p>
            <a:pPr indent="0" marL="0">
              <a:buNone/>
            </a:pPr>
            <a:r>
              <a:rPr lang="en-US" sz="1250" b="1" dirty="0">
                <a:solidFill>
                  <a:srgbClr val="1E293B"/>
                </a:solidFill>
                <a:latin typeface="Arial" pitchFamily="34" charset="0"/>
                <a:ea typeface="Arial" pitchFamily="34" charset="-122"/>
                <a:cs typeface="Arial" pitchFamily="34" charset="-120"/>
              </a:rPr>
              <a:t>Dual DAC</a:t>
            </a:r>
            <a:endParaRPr lang="en-US" sz="1250" dirty="0"/>
          </a:p>
        </p:txBody>
      </p:sp>
      <p:sp>
        <p:nvSpPr>
          <p:cNvPr id="28" name="Text 26"/>
          <p:cNvSpPr txBox="1"/>
          <p:nvPr/>
        </p:nvSpPr>
        <p:spPr>
          <a:xfrm>
            <a:off x="4846320" y="2770632"/>
            <a:ext cx="2057400" cy="438912"/>
          </a:xfrm>
          <a:prstGeom prst="rect">
            <a:avLst/>
          </a:prstGeom>
          <a:noFill/>
          <a:ln/>
        </p:spPr>
        <p:txBody>
          <a:bodyPr wrap="square" lIns="0" tIns="0" rIns="0" bIns="0" rtlCol="0" anchor="t"/>
          <a:lstStyle/>
          <a:p>
            <a:pPr indent="0" marL="0">
              <a:buNone/>
            </a:pPr>
            <a:r>
              <a:rPr lang="en-US" sz="1050" dirty="0">
                <a:solidFill>
                  <a:srgbClr val="334155"/>
                </a:solidFill>
                <a:latin typeface="Arial" pitchFamily="34" charset="0"/>
                <a:ea typeface="Arial" pitchFamily="34" charset="-122"/>
                <a:cs typeface="Arial" pitchFamily="34" charset="-120"/>
              </a:rPr>
              <a:t>AN9767 · 14-bit · 125 MS/s</a:t>
            </a:r>
            <a:endParaRPr lang="en-US" sz="1050" dirty="0"/>
          </a:p>
        </p:txBody>
      </p:sp>
      <p:sp>
        <p:nvSpPr>
          <p:cNvPr id="29" name="Shape 27"/>
          <p:cNvSpPr/>
          <p:nvPr/>
        </p:nvSpPr>
        <p:spPr>
          <a:xfrm>
            <a:off x="6995160" y="2834640"/>
            <a:ext cx="365760" cy="0"/>
          </a:xfrm>
          <a:prstGeom prst="line">
            <a:avLst/>
          </a:prstGeom>
          <a:noFill/>
          <a:ln w="15875">
            <a:solidFill>
              <a:srgbClr val="64748B"/>
            </a:solidFill>
            <a:prstDash val="solid"/>
            <a:tailEnd type="triangle"/>
          </a:ln>
        </p:spPr>
      </p:sp>
      <p:sp>
        <p:nvSpPr>
          <p:cNvPr id="30" name="Shape 28"/>
          <p:cNvSpPr/>
          <p:nvPr/>
        </p:nvSpPr>
        <p:spPr>
          <a:xfrm>
            <a:off x="548640" y="3566160"/>
            <a:ext cx="1234440" cy="457200"/>
          </a:xfrm>
          <a:prstGeom prst="roundRect">
            <a:avLst>
              <a:gd name="adj" fmla="val 10000"/>
            </a:avLst>
          </a:prstGeom>
          <a:solidFill>
            <a:srgbClr val="F1F5F9"/>
          </a:solidFill>
          <a:ln w="12700">
            <a:solidFill>
              <a:srgbClr val="F1F5F9"/>
            </a:solidFill>
            <a:prstDash val="solid"/>
          </a:ln>
        </p:spPr>
      </p:sp>
      <p:sp>
        <p:nvSpPr>
          <p:cNvPr id="31" name="Text 29"/>
          <p:cNvSpPr txBox="1"/>
          <p:nvPr/>
        </p:nvSpPr>
        <p:spPr>
          <a:xfrm>
            <a:off x="548640" y="3566160"/>
            <a:ext cx="1234440" cy="457200"/>
          </a:xfrm>
          <a:prstGeom prst="rect">
            <a:avLst/>
          </a:prstGeom>
          <a:noFill/>
          <a:ln/>
        </p:spPr>
        <p:txBody>
          <a:bodyPr wrap="square" lIns="0" tIns="0" rIns="0" bIns="0" rtlCol="0" anchor="ctr"/>
          <a:lstStyle/>
          <a:p>
            <a:pPr algn="ctr" indent="0" marL="0">
              <a:buNone/>
            </a:pPr>
            <a:r>
              <a:rPr lang="en-US" sz="1100" b="1" dirty="0">
                <a:solidFill>
                  <a:srgbClr val="16A34A"/>
                </a:solidFill>
                <a:latin typeface="Arial" pitchFamily="34" charset="0"/>
                <a:ea typeface="Arial" pitchFamily="34" charset="-122"/>
                <a:cs typeface="Arial" pitchFamily="34" charset="-120"/>
              </a:rPr>
              <a:t>Logic 0–15</a:t>
            </a:r>
            <a:endParaRPr lang="en-US" sz="1100" dirty="0"/>
          </a:p>
        </p:txBody>
      </p:sp>
      <p:sp>
        <p:nvSpPr>
          <p:cNvPr id="32" name="Shape 30"/>
          <p:cNvSpPr/>
          <p:nvPr/>
        </p:nvSpPr>
        <p:spPr>
          <a:xfrm>
            <a:off x="1783080" y="3794760"/>
            <a:ext cx="274320" cy="0"/>
          </a:xfrm>
          <a:prstGeom prst="line">
            <a:avLst/>
          </a:prstGeom>
          <a:noFill/>
          <a:ln w="15875">
            <a:solidFill>
              <a:srgbClr val="64748B"/>
            </a:solidFill>
            <a:prstDash val="solid"/>
            <a:tailEnd type="triangle"/>
          </a:ln>
        </p:spPr>
      </p:sp>
      <p:sp>
        <p:nvSpPr>
          <p:cNvPr id="33" name="Shape 31"/>
          <p:cNvSpPr/>
          <p:nvPr/>
        </p:nvSpPr>
        <p:spPr>
          <a:xfrm>
            <a:off x="2103120" y="3383280"/>
            <a:ext cx="2331720" cy="822960"/>
          </a:xfrm>
          <a:prstGeom prst="roundRect">
            <a:avLst>
              <a:gd name="adj" fmla="val 5556"/>
            </a:avLst>
          </a:prstGeom>
          <a:solidFill>
            <a:srgbClr val="FFFFFF"/>
          </a:solidFill>
          <a:ln w="19050">
            <a:solidFill>
              <a:srgbClr val="16A34A"/>
            </a:solidFill>
            <a:prstDash val="solid"/>
          </a:ln>
        </p:spPr>
      </p:sp>
      <p:sp>
        <p:nvSpPr>
          <p:cNvPr id="34" name="Text 32"/>
          <p:cNvSpPr txBox="1"/>
          <p:nvPr/>
        </p:nvSpPr>
        <p:spPr>
          <a:xfrm>
            <a:off x="2194560" y="3447288"/>
            <a:ext cx="2148840" cy="274320"/>
          </a:xfrm>
          <a:prstGeom prst="rect">
            <a:avLst/>
          </a:prstGeom>
          <a:noFill/>
          <a:ln/>
        </p:spPr>
        <p:txBody>
          <a:bodyPr wrap="square" lIns="0" tIns="0" rIns="0" bIns="0" rtlCol="0" anchor="t"/>
          <a:lstStyle/>
          <a:p>
            <a:pPr indent="0" marL="0">
              <a:buNone/>
            </a:pPr>
            <a:r>
              <a:rPr lang="en-US" sz="1250" b="1" dirty="0">
                <a:solidFill>
                  <a:srgbClr val="1E293B"/>
                </a:solidFill>
                <a:latin typeface="Arial" pitchFamily="34" charset="0"/>
                <a:ea typeface="Arial" pitchFamily="34" charset="-122"/>
                <a:cs typeface="Arial" pitchFamily="34" charset="-120"/>
              </a:rPr>
              <a:t>Level shifting</a:t>
            </a:r>
            <a:endParaRPr lang="en-US" sz="1250" dirty="0"/>
          </a:p>
        </p:txBody>
      </p:sp>
      <p:sp>
        <p:nvSpPr>
          <p:cNvPr id="35" name="Text 33"/>
          <p:cNvSpPr txBox="1"/>
          <p:nvPr/>
        </p:nvSpPr>
        <p:spPr>
          <a:xfrm>
            <a:off x="2194560" y="3730752"/>
            <a:ext cx="2148840" cy="438912"/>
          </a:xfrm>
          <a:prstGeom prst="rect">
            <a:avLst/>
          </a:prstGeom>
          <a:noFill/>
          <a:ln/>
        </p:spPr>
        <p:txBody>
          <a:bodyPr wrap="square" lIns="0" tIns="0" rIns="0" bIns="0" rtlCol="0" anchor="t"/>
          <a:lstStyle/>
          <a:p>
            <a:pPr indent="0" marL="0">
              <a:buNone/>
            </a:pPr>
            <a:r>
              <a:rPr lang="en-US" sz="1050" dirty="0">
                <a:solidFill>
                  <a:srgbClr val="334155"/>
                </a:solidFill>
                <a:latin typeface="Arial" pitchFamily="34" charset="0"/>
                <a:ea typeface="Arial" pitchFamily="34" charset="-122"/>
                <a:cs typeface="Arial" pitchFamily="34" charset="-120"/>
              </a:rPr>
              <a:t>74LVC245 · 16 channels</a:t>
            </a:r>
            <a:endParaRPr lang="en-US" sz="1050" dirty="0"/>
          </a:p>
        </p:txBody>
      </p:sp>
      <p:sp>
        <p:nvSpPr>
          <p:cNvPr id="36" name="Shape 34"/>
          <p:cNvSpPr/>
          <p:nvPr/>
        </p:nvSpPr>
        <p:spPr>
          <a:xfrm>
            <a:off x="4434840" y="3794760"/>
            <a:ext cx="274320" cy="0"/>
          </a:xfrm>
          <a:prstGeom prst="line">
            <a:avLst/>
          </a:prstGeom>
          <a:noFill/>
          <a:ln w="15875">
            <a:solidFill>
              <a:srgbClr val="64748B"/>
            </a:solidFill>
            <a:prstDash val="solid"/>
            <a:tailEnd type="triangle"/>
          </a:ln>
        </p:spPr>
      </p:sp>
      <p:sp>
        <p:nvSpPr>
          <p:cNvPr id="37" name="Shape 35"/>
          <p:cNvSpPr/>
          <p:nvPr/>
        </p:nvSpPr>
        <p:spPr>
          <a:xfrm>
            <a:off x="4754880" y="3383280"/>
            <a:ext cx="2240280" cy="822960"/>
          </a:xfrm>
          <a:prstGeom prst="roundRect">
            <a:avLst>
              <a:gd name="adj" fmla="val 5556"/>
            </a:avLst>
          </a:prstGeom>
          <a:solidFill>
            <a:srgbClr val="FFFFFF"/>
          </a:solidFill>
          <a:ln w="19050">
            <a:solidFill>
              <a:srgbClr val="16A34A"/>
            </a:solidFill>
            <a:prstDash val="solid"/>
          </a:ln>
        </p:spPr>
      </p:sp>
      <p:sp>
        <p:nvSpPr>
          <p:cNvPr id="38" name="Text 36"/>
          <p:cNvSpPr txBox="1"/>
          <p:nvPr/>
        </p:nvSpPr>
        <p:spPr>
          <a:xfrm>
            <a:off x="4846320" y="3447288"/>
            <a:ext cx="2057400" cy="274320"/>
          </a:xfrm>
          <a:prstGeom prst="rect">
            <a:avLst/>
          </a:prstGeom>
          <a:noFill/>
          <a:ln/>
        </p:spPr>
        <p:txBody>
          <a:bodyPr wrap="square" lIns="0" tIns="0" rIns="0" bIns="0" rtlCol="0" anchor="t"/>
          <a:lstStyle/>
          <a:p>
            <a:pPr indent="0" marL="0">
              <a:buNone/>
            </a:pPr>
            <a:r>
              <a:rPr lang="en-US" sz="1250" b="1" dirty="0">
                <a:solidFill>
                  <a:srgbClr val="1E293B"/>
                </a:solidFill>
                <a:latin typeface="Arial" pitchFamily="34" charset="0"/>
                <a:ea typeface="Arial" pitchFamily="34" charset="-122"/>
                <a:cs typeface="Arial" pitchFamily="34" charset="-120"/>
              </a:rPr>
              <a:t>Direct I/O</a:t>
            </a:r>
            <a:endParaRPr lang="en-US" sz="1250" dirty="0"/>
          </a:p>
        </p:txBody>
      </p:sp>
      <p:sp>
        <p:nvSpPr>
          <p:cNvPr id="39" name="Text 37"/>
          <p:cNvSpPr txBox="1"/>
          <p:nvPr/>
        </p:nvSpPr>
        <p:spPr>
          <a:xfrm>
            <a:off x="4846320" y="3730752"/>
            <a:ext cx="2057400" cy="438912"/>
          </a:xfrm>
          <a:prstGeom prst="rect">
            <a:avLst/>
          </a:prstGeom>
          <a:noFill/>
          <a:ln/>
        </p:spPr>
        <p:txBody>
          <a:bodyPr wrap="square" lIns="0" tIns="0" rIns="0" bIns="0" rtlCol="0" anchor="t"/>
          <a:lstStyle/>
          <a:p>
            <a:pPr indent="0" marL="0">
              <a:buNone/>
            </a:pPr>
            <a:r>
              <a:rPr lang="en-US" sz="1050" dirty="0">
                <a:solidFill>
                  <a:srgbClr val="334155"/>
                </a:solidFill>
                <a:latin typeface="Arial" pitchFamily="34" charset="0"/>
                <a:ea typeface="Arial" pitchFamily="34" charset="-122"/>
                <a:cs typeface="Arial" pitchFamily="34" charset="-120"/>
              </a:rPr>
              <a:t>logic analyser + pattern generator</a:t>
            </a:r>
            <a:endParaRPr lang="en-US" sz="1050" dirty="0"/>
          </a:p>
        </p:txBody>
      </p:sp>
      <p:sp>
        <p:nvSpPr>
          <p:cNvPr id="40" name="Shape 38"/>
          <p:cNvSpPr/>
          <p:nvPr/>
        </p:nvSpPr>
        <p:spPr>
          <a:xfrm>
            <a:off x="6995160" y="3794760"/>
            <a:ext cx="365760" cy="0"/>
          </a:xfrm>
          <a:prstGeom prst="line">
            <a:avLst/>
          </a:prstGeom>
          <a:noFill/>
          <a:ln w="15875">
            <a:solidFill>
              <a:srgbClr val="64748B"/>
            </a:solidFill>
            <a:prstDash val="solid"/>
            <a:tailEnd type="triangle"/>
          </a:ln>
        </p:spPr>
      </p:sp>
      <p:sp>
        <p:nvSpPr>
          <p:cNvPr id="41" name="Shape 39"/>
          <p:cNvSpPr/>
          <p:nvPr/>
        </p:nvSpPr>
        <p:spPr>
          <a:xfrm>
            <a:off x="548640" y="4526280"/>
            <a:ext cx="1234440" cy="457200"/>
          </a:xfrm>
          <a:prstGeom prst="roundRect">
            <a:avLst>
              <a:gd name="adj" fmla="val 10000"/>
            </a:avLst>
          </a:prstGeom>
          <a:solidFill>
            <a:srgbClr val="F1F5F9"/>
          </a:solidFill>
          <a:ln w="12700">
            <a:solidFill>
              <a:srgbClr val="F1F5F9"/>
            </a:solidFill>
            <a:prstDash val="solid"/>
          </a:ln>
        </p:spPr>
      </p:sp>
      <p:sp>
        <p:nvSpPr>
          <p:cNvPr id="42" name="Text 40"/>
          <p:cNvSpPr txBox="1"/>
          <p:nvPr/>
        </p:nvSpPr>
        <p:spPr>
          <a:xfrm>
            <a:off x="548640" y="4526280"/>
            <a:ext cx="1234440" cy="457200"/>
          </a:xfrm>
          <a:prstGeom prst="rect">
            <a:avLst/>
          </a:prstGeom>
          <a:noFill/>
          <a:ln/>
        </p:spPr>
        <p:txBody>
          <a:bodyPr wrap="square" lIns="0" tIns="0" rIns="0" bIns="0" rtlCol="0" anchor="ctr"/>
          <a:lstStyle/>
          <a:p>
            <a:pPr algn="ctr" indent="0" marL="0">
              <a:buNone/>
            </a:pPr>
            <a:r>
              <a:rPr lang="en-US" sz="1100" b="1" dirty="0">
                <a:solidFill>
                  <a:srgbClr val="0E9F9A"/>
                </a:solidFill>
                <a:latin typeface="Arial" pitchFamily="34" charset="0"/>
                <a:ea typeface="Arial" pitchFamily="34" charset="-122"/>
                <a:cs typeface="Arial" pitchFamily="34" charset="-120"/>
              </a:rPr>
              <a:t>DMM in</a:t>
            </a:r>
            <a:endParaRPr lang="en-US" sz="1100" dirty="0"/>
          </a:p>
        </p:txBody>
      </p:sp>
      <p:sp>
        <p:nvSpPr>
          <p:cNvPr id="43" name="Shape 41"/>
          <p:cNvSpPr/>
          <p:nvPr/>
        </p:nvSpPr>
        <p:spPr>
          <a:xfrm>
            <a:off x="1783080" y="4754880"/>
            <a:ext cx="274320" cy="0"/>
          </a:xfrm>
          <a:prstGeom prst="line">
            <a:avLst/>
          </a:prstGeom>
          <a:noFill/>
          <a:ln w="15875">
            <a:solidFill>
              <a:srgbClr val="64748B"/>
            </a:solidFill>
            <a:prstDash val="solid"/>
            <a:tailEnd type="triangle"/>
          </a:ln>
        </p:spPr>
      </p:sp>
      <p:sp>
        <p:nvSpPr>
          <p:cNvPr id="44" name="Shape 42"/>
          <p:cNvSpPr/>
          <p:nvPr/>
        </p:nvSpPr>
        <p:spPr>
          <a:xfrm>
            <a:off x="2103120" y="4343400"/>
            <a:ext cx="2331720" cy="822960"/>
          </a:xfrm>
          <a:prstGeom prst="roundRect">
            <a:avLst>
              <a:gd name="adj" fmla="val 5556"/>
            </a:avLst>
          </a:prstGeom>
          <a:solidFill>
            <a:srgbClr val="FFFFFF"/>
          </a:solidFill>
          <a:ln w="19050">
            <a:solidFill>
              <a:srgbClr val="0E9F9A"/>
            </a:solidFill>
            <a:prstDash val="solid"/>
          </a:ln>
        </p:spPr>
      </p:sp>
      <p:sp>
        <p:nvSpPr>
          <p:cNvPr id="45" name="Text 43"/>
          <p:cNvSpPr txBox="1"/>
          <p:nvPr/>
        </p:nvSpPr>
        <p:spPr>
          <a:xfrm>
            <a:off x="2194560" y="4407408"/>
            <a:ext cx="2148840" cy="274320"/>
          </a:xfrm>
          <a:prstGeom prst="rect">
            <a:avLst/>
          </a:prstGeom>
          <a:noFill/>
          <a:ln/>
        </p:spPr>
        <p:txBody>
          <a:bodyPr wrap="square" lIns="0" tIns="0" rIns="0" bIns="0" rtlCol="0" anchor="t"/>
          <a:lstStyle/>
          <a:p>
            <a:pPr indent="0" marL="0">
              <a:buNone/>
            </a:pPr>
            <a:r>
              <a:rPr lang="en-US" sz="1250" b="1" dirty="0">
                <a:solidFill>
                  <a:srgbClr val="1E293B"/>
                </a:solidFill>
                <a:latin typeface="Arial" pitchFamily="34" charset="0"/>
                <a:ea typeface="Arial" pitchFamily="34" charset="-122"/>
                <a:cs typeface="Arial" pitchFamily="34" charset="-120"/>
              </a:rPr>
              <a:t>Precision input</a:t>
            </a:r>
            <a:endParaRPr lang="en-US" sz="1250" dirty="0"/>
          </a:p>
        </p:txBody>
      </p:sp>
      <p:sp>
        <p:nvSpPr>
          <p:cNvPr id="46" name="Text 44"/>
          <p:cNvSpPr txBox="1"/>
          <p:nvPr/>
        </p:nvSpPr>
        <p:spPr>
          <a:xfrm>
            <a:off x="2194560" y="4690872"/>
            <a:ext cx="2148840" cy="438912"/>
          </a:xfrm>
          <a:prstGeom prst="rect">
            <a:avLst/>
          </a:prstGeom>
          <a:noFill/>
          <a:ln/>
        </p:spPr>
        <p:txBody>
          <a:bodyPr wrap="square" lIns="0" tIns="0" rIns="0" bIns="0" rtlCol="0" anchor="t"/>
          <a:lstStyle/>
          <a:p>
            <a:pPr indent="0" marL="0">
              <a:buNone/>
            </a:pPr>
            <a:r>
              <a:rPr lang="en-US" sz="1050" dirty="0">
                <a:solidFill>
                  <a:srgbClr val="334155"/>
                </a:solidFill>
                <a:latin typeface="Arial" pitchFamily="34" charset="0"/>
                <a:ea typeface="Arial" pitchFamily="34" charset="-122"/>
                <a:cs typeface="Arial" pitchFamily="34" charset="-120"/>
              </a:rPr>
              <a:t>REF5025 reference</a:t>
            </a:r>
            <a:endParaRPr lang="en-US" sz="1050" dirty="0"/>
          </a:p>
        </p:txBody>
      </p:sp>
      <p:sp>
        <p:nvSpPr>
          <p:cNvPr id="47" name="Shape 45"/>
          <p:cNvSpPr/>
          <p:nvPr/>
        </p:nvSpPr>
        <p:spPr>
          <a:xfrm>
            <a:off x="4434840" y="4754880"/>
            <a:ext cx="274320" cy="0"/>
          </a:xfrm>
          <a:prstGeom prst="line">
            <a:avLst/>
          </a:prstGeom>
          <a:noFill/>
          <a:ln w="15875">
            <a:solidFill>
              <a:srgbClr val="64748B"/>
            </a:solidFill>
            <a:prstDash val="solid"/>
            <a:tailEnd type="triangle"/>
          </a:ln>
        </p:spPr>
      </p:sp>
      <p:sp>
        <p:nvSpPr>
          <p:cNvPr id="48" name="Shape 46"/>
          <p:cNvSpPr/>
          <p:nvPr/>
        </p:nvSpPr>
        <p:spPr>
          <a:xfrm>
            <a:off x="4754880" y="4343400"/>
            <a:ext cx="2240280" cy="822960"/>
          </a:xfrm>
          <a:prstGeom prst="roundRect">
            <a:avLst>
              <a:gd name="adj" fmla="val 5556"/>
            </a:avLst>
          </a:prstGeom>
          <a:solidFill>
            <a:srgbClr val="FFFFFF"/>
          </a:solidFill>
          <a:ln w="19050">
            <a:solidFill>
              <a:srgbClr val="0E9F9A"/>
            </a:solidFill>
            <a:prstDash val="solid"/>
          </a:ln>
        </p:spPr>
      </p:sp>
      <p:sp>
        <p:nvSpPr>
          <p:cNvPr id="49" name="Text 47"/>
          <p:cNvSpPr txBox="1"/>
          <p:nvPr/>
        </p:nvSpPr>
        <p:spPr>
          <a:xfrm>
            <a:off x="4846320" y="4407408"/>
            <a:ext cx="2057400" cy="274320"/>
          </a:xfrm>
          <a:prstGeom prst="rect">
            <a:avLst/>
          </a:prstGeom>
          <a:noFill/>
          <a:ln/>
        </p:spPr>
        <p:txBody>
          <a:bodyPr wrap="square" lIns="0" tIns="0" rIns="0" bIns="0" rtlCol="0" anchor="t"/>
          <a:lstStyle/>
          <a:p>
            <a:pPr indent="0" marL="0">
              <a:buNone/>
            </a:pPr>
            <a:r>
              <a:rPr lang="en-US" sz="1250" b="1" dirty="0">
                <a:solidFill>
                  <a:srgbClr val="1E293B"/>
                </a:solidFill>
                <a:latin typeface="Arial" pitchFamily="34" charset="0"/>
                <a:ea typeface="Arial" pitchFamily="34" charset="-122"/>
                <a:cs typeface="Arial" pitchFamily="34" charset="-120"/>
              </a:rPr>
              <a:t>24-bit ADC</a:t>
            </a:r>
            <a:endParaRPr lang="en-US" sz="1250" dirty="0"/>
          </a:p>
        </p:txBody>
      </p:sp>
      <p:sp>
        <p:nvSpPr>
          <p:cNvPr id="50" name="Text 48"/>
          <p:cNvSpPr txBox="1"/>
          <p:nvPr/>
        </p:nvSpPr>
        <p:spPr>
          <a:xfrm>
            <a:off x="4846320" y="4690872"/>
            <a:ext cx="2057400" cy="438912"/>
          </a:xfrm>
          <a:prstGeom prst="rect">
            <a:avLst/>
          </a:prstGeom>
          <a:noFill/>
          <a:ln/>
        </p:spPr>
        <p:txBody>
          <a:bodyPr wrap="square" lIns="0" tIns="0" rIns="0" bIns="0" rtlCol="0" anchor="t"/>
          <a:lstStyle/>
          <a:p>
            <a:pPr indent="0" marL="0">
              <a:buNone/>
            </a:pPr>
            <a:r>
              <a:rPr lang="en-US" sz="1050" dirty="0">
                <a:solidFill>
                  <a:srgbClr val="334155"/>
                </a:solidFill>
                <a:latin typeface="Arial" pitchFamily="34" charset="0"/>
                <a:ea typeface="Arial" pitchFamily="34" charset="-122"/>
                <a:cs typeface="Arial" pitchFamily="34" charset="-120"/>
              </a:rPr>
              <a:t>ADS1256 multimeter</a:t>
            </a:r>
            <a:endParaRPr lang="en-US" sz="1050" dirty="0"/>
          </a:p>
        </p:txBody>
      </p:sp>
      <p:sp>
        <p:nvSpPr>
          <p:cNvPr id="51" name="Shape 49"/>
          <p:cNvSpPr/>
          <p:nvPr/>
        </p:nvSpPr>
        <p:spPr>
          <a:xfrm>
            <a:off x="6995160" y="4754880"/>
            <a:ext cx="365760" cy="0"/>
          </a:xfrm>
          <a:prstGeom prst="line">
            <a:avLst/>
          </a:prstGeom>
          <a:noFill/>
          <a:ln w="15875">
            <a:solidFill>
              <a:srgbClr val="64748B"/>
            </a:solidFill>
            <a:prstDash val="solid"/>
            <a:tailEnd type="triangle"/>
          </a:ln>
        </p:spPr>
      </p:sp>
      <p:sp>
        <p:nvSpPr>
          <p:cNvPr id="52" name="Shape 50"/>
          <p:cNvSpPr/>
          <p:nvPr/>
        </p:nvSpPr>
        <p:spPr>
          <a:xfrm>
            <a:off x="548640" y="5486400"/>
            <a:ext cx="1234440" cy="457200"/>
          </a:xfrm>
          <a:prstGeom prst="roundRect">
            <a:avLst>
              <a:gd name="adj" fmla="val 10000"/>
            </a:avLst>
          </a:prstGeom>
          <a:solidFill>
            <a:srgbClr val="F1F5F9"/>
          </a:solidFill>
          <a:ln w="12700">
            <a:solidFill>
              <a:srgbClr val="F1F5F9"/>
            </a:solidFill>
            <a:prstDash val="solid"/>
          </a:ln>
        </p:spPr>
      </p:sp>
      <p:sp>
        <p:nvSpPr>
          <p:cNvPr id="53" name="Text 51"/>
          <p:cNvSpPr txBox="1"/>
          <p:nvPr/>
        </p:nvSpPr>
        <p:spPr>
          <a:xfrm>
            <a:off x="548640" y="5486400"/>
            <a:ext cx="1234440" cy="457200"/>
          </a:xfrm>
          <a:prstGeom prst="rect">
            <a:avLst/>
          </a:prstGeom>
          <a:noFill/>
          <a:ln/>
        </p:spPr>
        <p:txBody>
          <a:bodyPr wrap="square" lIns="0" tIns="0" rIns="0" bIns="0" rtlCol="0" anchor="ctr"/>
          <a:lstStyle/>
          <a:p>
            <a:pPr algn="ctr" indent="0" marL="0">
              <a:buNone/>
            </a:pPr>
            <a:r>
              <a:rPr lang="en-US" sz="1100" b="1" dirty="0">
                <a:solidFill>
                  <a:srgbClr val="DC2626"/>
                </a:solidFill>
                <a:latin typeface="Arial" pitchFamily="34" charset="0"/>
                <a:ea typeface="Arial" pitchFamily="34" charset="-122"/>
                <a:cs typeface="Arial" pitchFamily="34" charset="-120"/>
              </a:rPr>
              <a:t>V1 · V2 out</a:t>
            </a:r>
            <a:endParaRPr lang="en-US" sz="1100" dirty="0"/>
          </a:p>
        </p:txBody>
      </p:sp>
      <p:sp>
        <p:nvSpPr>
          <p:cNvPr id="54" name="Shape 52"/>
          <p:cNvSpPr/>
          <p:nvPr/>
        </p:nvSpPr>
        <p:spPr>
          <a:xfrm>
            <a:off x="1783080" y="5715000"/>
            <a:ext cx="274320" cy="0"/>
          </a:xfrm>
          <a:prstGeom prst="line">
            <a:avLst/>
          </a:prstGeom>
          <a:noFill/>
          <a:ln w="15875">
            <a:solidFill>
              <a:srgbClr val="64748B"/>
            </a:solidFill>
            <a:prstDash val="solid"/>
            <a:tailEnd type="triangle"/>
          </a:ln>
        </p:spPr>
      </p:sp>
      <p:sp>
        <p:nvSpPr>
          <p:cNvPr id="55" name="Shape 53"/>
          <p:cNvSpPr/>
          <p:nvPr/>
        </p:nvSpPr>
        <p:spPr>
          <a:xfrm>
            <a:off x="2103120" y="5303520"/>
            <a:ext cx="2331720" cy="822960"/>
          </a:xfrm>
          <a:prstGeom prst="roundRect">
            <a:avLst>
              <a:gd name="adj" fmla="val 5556"/>
            </a:avLst>
          </a:prstGeom>
          <a:solidFill>
            <a:srgbClr val="FFFFFF"/>
          </a:solidFill>
          <a:ln w="19050">
            <a:solidFill>
              <a:srgbClr val="DC2626"/>
            </a:solidFill>
            <a:prstDash val="solid"/>
          </a:ln>
        </p:spPr>
      </p:sp>
      <p:sp>
        <p:nvSpPr>
          <p:cNvPr id="56" name="Text 54"/>
          <p:cNvSpPr txBox="1"/>
          <p:nvPr/>
        </p:nvSpPr>
        <p:spPr>
          <a:xfrm>
            <a:off x="2194560" y="5367528"/>
            <a:ext cx="2148840" cy="274320"/>
          </a:xfrm>
          <a:prstGeom prst="rect">
            <a:avLst/>
          </a:prstGeom>
          <a:noFill/>
          <a:ln/>
        </p:spPr>
        <p:txBody>
          <a:bodyPr wrap="square" lIns="0" tIns="0" rIns="0" bIns="0" rtlCol="0" anchor="t"/>
          <a:lstStyle/>
          <a:p>
            <a:pPr indent="0" marL="0">
              <a:buNone/>
            </a:pPr>
            <a:r>
              <a:rPr lang="en-US" sz="1250" b="1" dirty="0">
                <a:solidFill>
                  <a:srgbClr val="1E293B"/>
                </a:solidFill>
                <a:latin typeface="Arial" pitchFamily="34" charset="0"/>
                <a:ea typeface="Arial" pitchFamily="34" charset="-122"/>
                <a:cs typeface="Arial" pitchFamily="34" charset="-120"/>
              </a:rPr>
              <a:t>Programmable supplies</a:t>
            </a:r>
            <a:endParaRPr lang="en-US" sz="1250" dirty="0"/>
          </a:p>
        </p:txBody>
      </p:sp>
      <p:sp>
        <p:nvSpPr>
          <p:cNvPr id="57" name="Text 55"/>
          <p:cNvSpPr txBox="1"/>
          <p:nvPr/>
        </p:nvSpPr>
        <p:spPr>
          <a:xfrm>
            <a:off x="2194560" y="5650992"/>
            <a:ext cx="2148840" cy="438912"/>
          </a:xfrm>
          <a:prstGeom prst="rect">
            <a:avLst/>
          </a:prstGeom>
          <a:noFill/>
          <a:ln/>
        </p:spPr>
        <p:txBody>
          <a:bodyPr wrap="square" lIns="0" tIns="0" rIns="0" bIns="0" rtlCol="0" anchor="t"/>
          <a:lstStyle/>
          <a:p>
            <a:pPr indent="0" marL="0">
              <a:buNone/>
            </a:pPr>
            <a:r>
              <a:rPr lang="en-US" sz="1050" dirty="0">
                <a:solidFill>
                  <a:srgbClr val="334155"/>
                </a:solidFill>
                <a:latin typeface="Arial" pitchFamily="34" charset="0"/>
                <a:ea typeface="Arial" pitchFamily="34" charset="-122"/>
                <a:cs typeface="Arial" pitchFamily="34" charset="-120"/>
              </a:rPr>
              <a:t>XL6009 regulators</a:t>
            </a:r>
            <a:endParaRPr lang="en-US" sz="1050" dirty="0"/>
          </a:p>
        </p:txBody>
      </p:sp>
      <p:sp>
        <p:nvSpPr>
          <p:cNvPr id="58" name="Shape 56"/>
          <p:cNvSpPr/>
          <p:nvPr/>
        </p:nvSpPr>
        <p:spPr>
          <a:xfrm>
            <a:off x="4434840" y="5715000"/>
            <a:ext cx="274320" cy="0"/>
          </a:xfrm>
          <a:prstGeom prst="line">
            <a:avLst/>
          </a:prstGeom>
          <a:noFill/>
          <a:ln w="15875">
            <a:solidFill>
              <a:srgbClr val="64748B"/>
            </a:solidFill>
            <a:prstDash val="solid"/>
            <a:tailEnd type="triangle"/>
          </a:ln>
        </p:spPr>
      </p:sp>
      <p:sp>
        <p:nvSpPr>
          <p:cNvPr id="59" name="Shape 57"/>
          <p:cNvSpPr/>
          <p:nvPr/>
        </p:nvSpPr>
        <p:spPr>
          <a:xfrm>
            <a:off x="4754880" y="5303520"/>
            <a:ext cx="2240280" cy="822960"/>
          </a:xfrm>
          <a:prstGeom prst="roundRect">
            <a:avLst>
              <a:gd name="adj" fmla="val 5556"/>
            </a:avLst>
          </a:prstGeom>
          <a:solidFill>
            <a:srgbClr val="FFFFFF"/>
          </a:solidFill>
          <a:ln w="19050">
            <a:solidFill>
              <a:srgbClr val="DC2626"/>
            </a:solidFill>
            <a:prstDash val="solid"/>
          </a:ln>
        </p:spPr>
      </p:sp>
      <p:sp>
        <p:nvSpPr>
          <p:cNvPr id="60" name="Text 58"/>
          <p:cNvSpPr txBox="1"/>
          <p:nvPr/>
        </p:nvSpPr>
        <p:spPr>
          <a:xfrm>
            <a:off x="4846320" y="5367528"/>
            <a:ext cx="2057400" cy="274320"/>
          </a:xfrm>
          <a:prstGeom prst="rect">
            <a:avLst/>
          </a:prstGeom>
          <a:noFill/>
          <a:ln/>
        </p:spPr>
        <p:txBody>
          <a:bodyPr wrap="square" lIns="0" tIns="0" rIns="0" bIns="0" rtlCol="0" anchor="t"/>
          <a:lstStyle/>
          <a:p>
            <a:pPr indent="0" marL="0">
              <a:buNone/>
            </a:pPr>
            <a:r>
              <a:rPr lang="en-US" sz="1250" b="1" dirty="0">
                <a:solidFill>
                  <a:srgbClr val="1E293B"/>
                </a:solidFill>
                <a:latin typeface="Arial" pitchFamily="34" charset="0"/>
                <a:ea typeface="Arial" pitchFamily="34" charset="-122"/>
                <a:cs typeface="Arial" pitchFamily="34" charset="-120"/>
              </a:rPr>
              <a:t>Setpoint + sense</a:t>
            </a:r>
            <a:endParaRPr lang="en-US" sz="1250" dirty="0"/>
          </a:p>
        </p:txBody>
      </p:sp>
      <p:sp>
        <p:nvSpPr>
          <p:cNvPr id="61" name="Text 59"/>
          <p:cNvSpPr txBox="1"/>
          <p:nvPr/>
        </p:nvSpPr>
        <p:spPr>
          <a:xfrm>
            <a:off x="4846320" y="5650992"/>
            <a:ext cx="2057400" cy="438912"/>
          </a:xfrm>
          <a:prstGeom prst="rect">
            <a:avLst/>
          </a:prstGeom>
          <a:noFill/>
          <a:ln/>
        </p:spPr>
        <p:txBody>
          <a:bodyPr wrap="square" lIns="0" tIns="0" rIns="0" bIns="0" rtlCol="0" anchor="t"/>
          <a:lstStyle/>
          <a:p>
            <a:pPr indent="0" marL="0">
              <a:buNone/>
            </a:pPr>
            <a:r>
              <a:rPr lang="en-US" sz="1050" dirty="0">
                <a:solidFill>
                  <a:srgbClr val="334155"/>
                </a:solidFill>
                <a:latin typeface="Arial" pitchFamily="34" charset="0"/>
                <a:ea typeface="Arial" pitchFamily="34" charset="-122"/>
                <a:cs typeface="Arial" pitchFamily="34" charset="-120"/>
              </a:rPr>
              <a:t>MCP4728 DAC · INA226 monitor</a:t>
            </a:r>
            <a:endParaRPr lang="en-US" sz="1050" dirty="0"/>
          </a:p>
        </p:txBody>
      </p:sp>
      <p:sp>
        <p:nvSpPr>
          <p:cNvPr id="62" name="Shape 60"/>
          <p:cNvSpPr/>
          <p:nvPr/>
        </p:nvSpPr>
        <p:spPr>
          <a:xfrm>
            <a:off x="6995160" y="5715000"/>
            <a:ext cx="365760" cy="0"/>
          </a:xfrm>
          <a:prstGeom prst="line">
            <a:avLst/>
          </a:prstGeom>
          <a:noFill/>
          <a:ln w="15875">
            <a:solidFill>
              <a:srgbClr val="64748B"/>
            </a:solidFill>
            <a:prstDash val="solid"/>
            <a:tailEnd type="triangle"/>
          </a:ln>
        </p:spPr>
      </p:sp>
      <p:sp>
        <p:nvSpPr>
          <p:cNvPr id="63" name="Shape 61"/>
          <p:cNvSpPr/>
          <p:nvPr/>
        </p:nvSpPr>
        <p:spPr>
          <a:xfrm>
            <a:off x="7406640" y="1463040"/>
            <a:ext cx="2103120" cy="4663440"/>
          </a:xfrm>
          <a:prstGeom prst="roundRect">
            <a:avLst>
              <a:gd name="adj" fmla="val 2174"/>
            </a:avLst>
          </a:prstGeom>
          <a:solidFill>
            <a:srgbClr val="EEF2FF"/>
          </a:solidFill>
          <a:ln w="25400">
            <a:solidFill>
              <a:srgbClr val="14213D"/>
            </a:solidFill>
            <a:prstDash val="solid"/>
          </a:ln>
        </p:spPr>
      </p:sp>
      <p:sp>
        <p:nvSpPr>
          <p:cNvPr id="64" name="Text 62"/>
          <p:cNvSpPr txBox="1"/>
          <p:nvPr/>
        </p:nvSpPr>
        <p:spPr>
          <a:xfrm>
            <a:off x="7498080" y="1572768"/>
            <a:ext cx="1920240" cy="320040"/>
          </a:xfrm>
          <a:prstGeom prst="rect">
            <a:avLst/>
          </a:prstGeom>
          <a:noFill/>
          <a:ln/>
        </p:spPr>
        <p:txBody>
          <a:bodyPr wrap="square" lIns="0" tIns="0" rIns="0" bIns="0" rtlCol="0" anchor="t"/>
          <a:lstStyle/>
          <a:p>
            <a:pPr algn="ctr" indent="0" marL="0">
              <a:buNone/>
            </a:pPr>
            <a:r>
              <a:rPr lang="en-US" sz="1500" b="1" dirty="0">
                <a:solidFill>
                  <a:srgbClr val="14213D"/>
                </a:solidFill>
                <a:latin typeface="Arial" pitchFamily="34" charset="0"/>
                <a:ea typeface="Arial" pitchFamily="34" charset="-122"/>
                <a:cs typeface="Arial" pitchFamily="34" charset="-120"/>
              </a:rPr>
              <a:t>FPGA core</a:t>
            </a:r>
            <a:endParaRPr lang="en-US" sz="1500" dirty="0"/>
          </a:p>
        </p:txBody>
      </p:sp>
      <p:sp>
        <p:nvSpPr>
          <p:cNvPr id="65" name="Text 63"/>
          <p:cNvSpPr txBox="1"/>
          <p:nvPr/>
        </p:nvSpPr>
        <p:spPr>
          <a:xfrm>
            <a:off x="7498080" y="1892808"/>
            <a:ext cx="1920240" cy="274320"/>
          </a:xfrm>
          <a:prstGeom prst="rect">
            <a:avLst/>
          </a:prstGeom>
          <a:noFill/>
          <a:ln/>
        </p:spPr>
        <p:txBody>
          <a:bodyPr wrap="square" lIns="0" tIns="0" rIns="0" bIns="0" rtlCol="0" anchor="t"/>
          <a:lstStyle/>
          <a:p>
            <a:pPr algn="ctr" indent="0" marL="0">
              <a:buNone/>
            </a:pPr>
            <a:r>
              <a:rPr lang="en-US" sz="1050" dirty="0">
                <a:solidFill>
                  <a:srgbClr val="64748B"/>
                </a:solidFill>
                <a:latin typeface="Arial" pitchFamily="34" charset="0"/>
                <a:ea typeface="Arial" pitchFamily="34" charset="-122"/>
                <a:cs typeface="Arial" pitchFamily="34" charset="-120"/>
              </a:rPr>
              <a:t>Tang Primer 20K (Gowin)</a:t>
            </a:r>
            <a:endParaRPr lang="en-US" sz="1050" dirty="0"/>
          </a:p>
        </p:txBody>
      </p:sp>
      <p:sp>
        <p:nvSpPr>
          <p:cNvPr id="66" name="Shape 64"/>
          <p:cNvSpPr/>
          <p:nvPr/>
        </p:nvSpPr>
        <p:spPr>
          <a:xfrm>
            <a:off x="7543800" y="2286000"/>
            <a:ext cx="1828800" cy="502920"/>
          </a:xfrm>
          <a:prstGeom prst="roundRect">
            <a:avLst>
              <a:gd name="adj" fmla="val 9091"/>
            </a:avLst>
          </a:prstGeom>
          <a:solidFill>
            <a:srgbClr val="FFFFFF"/>
          </a:solidFill>
          <a:ln w="12700">
            <a:solidFill>
              <a:srgbClr val="C7D2FE"/>
            </a:solidFill>
            <a:prstDash val="solid"/>
          </a:ln>
        </p:spPr>
      </p:sp>
      <p:sp>
        <p:nvSpPr>
          <p:cNvPr id="67" name="Text 65"/>
          <p:cNvSpPr txBox="1"/>
          <p:nvPr/>
        </p:nvSpPr>
        <p:spPr>
          <a:xfrm>
            <a:off x="7589520" y="2286000"/>
            <a:ext cx="1737360" cy="502920"/>
          </a:xfrm>
          <a:prstGeom prst="rect">
            <a:avLst/>
          </a:prstGeom>
          <a:noFill/>
          <a:ln/>
        </p:spPr>
        <p:txBody>
          <a:bodyPr wrap="square" lIns="0" tIns="0" rIns="0" bIns="0" rtlCol="0" anchor="ctr"/>
          <a:lstStyle/>
          <a:p>
            <a:pPr algn="ctr" indent="0" marL="0">
              <a:buNone/>
            </a:pPr>
            <a:r>
              <a:rPr lang="en-US" sz="1050" b="1" dirty="0">
                <a:solidFill>
                  <a:srgbClr val="1E293B"/>
                </a:solidFill>
                <a:latin typeface="Arial" pitchFamily="34" charset="0"/>
                <a:ea typeface="Arial" pitchFamily="34" charset="-122"/>
                <a:cs typeface="Arial" pitchFamily="34" charset="-120"/>
              </a:rPr>
              <a:t>Trigger engine</a:t>
            </a:r>
            <a:endParaRPr lang="en-US" sz="1050" dirty="0"/>
          </a:p>
        </p:txBody>
      </p:sp>
      <p:sp>
        <p:nvSpPr>
          <p:cNvPr id="68" name="Shape 66"/>
          <p:cNvSpPr/>
          <p:nvPr/>
        </p:nvSpPr>
        <p:spPr>
          <a:xfrm>
            <a:off x="7543800" y="2907792"/>
            <a:ext cx="1828800" cy="502920"/>
          </a:xfrm>
          <a:prstGeom prst="roundRect">
            <a:avLst>
              <a:gd name="adj" fmla="val 9091"/>
            </a:avLst>
          </a:prstGeom>
          <a:solidFill>
            <a:srgbClr val="FFFFFF"/>
          </a:solidFill>
          <a:ln w="12700">
            <a:solidFill>
              <a:srgbClr val="C7D2FE"/>
            </a:solidFill>
            <a:prstDash val="solid"/>
          </a:ln>
        </p:spPr>
      </p:sp>
      <p:sp>
        <p:nvSpPr>
          <p:cNvPr id="69" name="Text 67"/>
          <p:cNvSpPr txBox="1"/>
          <p:nvPr/>
        </p:nvSpPr>
        <p:spPr>
          <a:xfrm>
            <a:off x="7589520" y="2907792"/>
            <a:ext cx="1737360" cy="502920"/>
          </a:xfrm>
          <a:prstGeom prst="rect">
            <a:avLst/>
          </a:prstGeom>
          <a:noFill/>
          <a:ln/>
        </p:spPr>
        <p:txBody>
          <a:bodyPr wrap="square" lIns="0" tIns="0" rIns="0" bIns="0" rtlCol="0" anchor="ctr"/>
          <a:lstStyle/>
          <a:p>
            <a:pPr algn="ctr" indent="0" marL="0">
              <a:buNone/>
            </a:pPr>
            <a:r>
              <a:rPr lang="en-US" sz="1050" b="1" dirty="0">
                <a:solidFill>
                  <a:srgbClr val="1E293B"/>
                </a:solidFill>
                <a:latin typeface="Arial" pitchFamily="34" charset="0"/>
                <a:ea typeface="Arial" pitchFamily="34" charset="-122"/>
                <a:cs typeface="Arial" pitchFamily="34" charset="-120"/>
              </a:rPr>
              <a:t>Capture buffers</a:t>
            </a:r>
            <a:endParaRPr lang="en-US" sz="1050" dirty="0"/>
          </a:p>
        </p:txBody>
      </p:sp>
      <p:sp>
        <p:nvSpPr>
          <p:cNvPr id="70" name="Shape 68"/>
          <p:cNvSpPr/>
          <p:nvPr/>
        </p:nvSpPr>
        <p:spPr>
          <a:xfrm>
            <a:off x="7543800" y="3529584"/>
            <a:ext cx="1828800" cy="502920"/>
          </a:xfrm>
          <a:prstGeom prst="roundRect">
            <a:avLst>
              <a:gd name="adj" fmla="val 9091"/>
            </a:avLst>
          </a:prstGeom>
          <a:solidFill>
            <a:srgbClr val="FFFFFF"/>
          </a:solidFill>
          <a:ln w="12700">
            <a:solidFill>
              <a:srgbClr val="C7D2FE"/>
            </a:solidFill>
            <a:prstDash val="solid"/>
          </a:ln>
        </p:spPr>
      </p:sp>
      <p:sp>
        <p:nvSpPr>
          <p:cNvPr id="71" name="Text 69"/>
          <p:cNvSpPr txBox="1"/>
          <p:nvPr/>
        </p:nvSpPr>
        <p:spPr>
          <a:xfrm>
            <a:off x="7589520" y="3529584"/>
            <a:ext cx="1737360" cy="502920"/>
          </a:xfrm>
          <a:prstGeom prst="rect">
            <a:avLst/>
          </a:prstGeom>
          <a:noFill/>
          <a:ln/>
        </p:spPr>
        <p:txBody>
          <a:bodyPr wrap="square" lIns="0" tIns="0" rIns="0" bIns="0" rtlCol="0" anchor="ctr"/>
          <a:lstStyle/>
          <a:p>
            <a:pPr algn="ctr" indent="0" marL="0">
              <a:buNone/>
            </a:pPr>
            <a:r>
              <a:rPr lang="en-US" sz="1050" b="1" dirty="0">
                <a:solidFill>
                  <a:srgbClr val="1E293B"/>
                </a:solidFill>
                <a:latin typeface="Arial" pitchFamily="34" charset="0"/>
                <a:ea typeface="Arial" pitchFamily="34" charset="-122"/>
                <a:cs typeface="Arial" pitchFamily="34" charset="-120"/>
              </a:rPr>
              <a:t>DDS signal synthesis</a:t>
            </a:r>
            <a:endParaRPr lang="en-US" sz="1050" dirty="0"/>
          </a:p>
        </p:txBody>
      </p:sp>
      <p:sp>
        <p:nvSpPr>
          <p:cNvPr id="72" name="Shape 70"/>
          <p:cNvSpPr/>
          <p:nvPr/>
        </p:nvSpPr>
        <p:spPr>
          <a:xfrm>
            <a:off x="7543800" y="4151376"/>
            <a:ext cx="1828800" cy="502920"/>
          </a:xfrm>
          <a:prstGeom prst="roundRect">
            <a:avLst>
              <a:gd name="adj" fmla="val 9091"/>
            </a:avLst>
          </a:prstGeom>
          <a:solidFill>
            <a:srgbClr val="FFFFFF"/>
          </a:solidFill>
          <a:ln w="12700">
            <a:solidFill>
              <a:srgbClr val="C7D2FE"/>
            </a:solidFill>
            <a:prstDash val="solid"/>
          </a:ln>
        </p:spPr>
      </p:sp>
      <p:sp>
        <p:nvSpPr>
          <p:cNvPr id="73" name="Text 71"/>
          <p:cNvSpPr txBox="1"/>
          <p:nvPr/>
        </p:nvSpPr>
        <p:spPr>
          <a:xfrm>
            <a:off x="7589520" y="4151376"/>
            <a:ext cx="1737360" cy="502920"/>
          </a:xfrm>
          <a:prstGeom prst="rect">
            <a:avLst/>
          </a:prstGeom>
          <a:noFill/>
          <a:ln/>
        </p:spPr>
        <p:txBody>
          <a:bodyPr wrap="square" lIns="0" tIns="0" rIns="0" bIns="0" rtlCol="0" anchor="ctr"/>
          <a:lstStyle/>
          <a:p>
            <a:pPr algn="ctr" indent="0" marL="0">
              <a:buNone/>
            </a:pPr>
            <a:r>
              <a:rPr lang="en-US" sz="1050" b="1" dirty="0">
                <a:solidFill>
                  <a:srgbClr val="1E293B"/>
                </a:solidFill>
                <a:latin typeface="Arial" pitchFamily="34" charset="0"/>
                <a:ea typeface="Arial" pitchFamily="34" charset="-122"/>
                <a:cs typeface="Arial" pitchFamily="34" charset="-120"/>
              </a:rPr>
              <a:t>Pattern sequencer</a:t>
            </a:r>
            <a:endParaRPr lang="en-US" sz="1050" dirty="0"/>
          </a:p>
        </p:txBody>
      </p:sp>
      <p:sp>
        <p:nvSpPr>
          <p:cNvPr id="74" name="Shape 72"/>
          <p:cNvSpPr/>
          <p:nvPr/>
        </p:nvSpPr>
        <p:spPr>
          <a:xfrm>
            <a:off x="7543800" y="4773168"/>
            <a:ext cx="1828800" cy="502920"/>
          </a:xfrm>
          <a:prstGeom prst="roundRect">
            <a:avLst>
              <a:gd name="adj" fmla="val 9091"/>
            </a:avLst>
          </a:prstGeom>
          <a:solidFill>
            <a:srgbClr val="FFFFFF"/>
          </a:solidFill>
          <a:ln w="12700">
            <a:solidFill>
              <a:srgbClr val="C7D2FE"/>
            </a:solidFill>
            <a:prstDash val="solid"/>
          </a:ln>
        </p:spPr>
      </p:sp>
      <p:sp>
        <p:nvSpPr>
          <p:cNvPr id="75" name="Text 73"/>
          <p:cNvSpPr txBox="1"/>
          <p:nvPr/>
        </p:nvSpPr>
        <p:spPr>
          <a:xfrm>
            <a:off x="7589520" y="4773168"/>
            <a:ext cx="1737360" cy="502920"/>
          </a:xfrm>
          <a:prstGeom prst="rect">
            <a:avLst/>
          </a:prstGeom>
          <a:noFill/>
          <a:ln/>
        </p:spPr>
        <p:txBody>
          <a:bodyPr wrap="square" lIns="0" tIns="0" rIns="0" bIns="0" rtlCol="0" anchor="ctr"/>
          <a:lstStyle/>
          <a:p>
            <a:pPr algn="ctr" indent="0" marL="0">
              <a:buNone/>
            </a:pPr>
            <a:r>
              <a:rPr lang="en-US" sz="1050" b="1" dirty="0">
                <a:solidFill>
                  <a:srgbClr val="1E293B"/>
                </a:solidFill>
                <a:latin typeface="Arial" pitchFamily="34" charset="0"/>
                <a:ea typeface="Arial" pitchFamily="34" charset="-122"/>
                <a:cs typeface="Arial" pitchFamily="34" charset="-120"/>
              </a:rPr>
              <a:t>Protocol decode (I²C · SPI · UART)</a:t>
            </a:r>
            <a:endParaRPr lang="en-US" sz="1050" dirty="0"/>
          </a:p>
        </p:txBody>
      </p:sp>
      <p:sp>
        <p:nvSpPr>
          <p:cNvPr id="76" name="Shape 74"/>
          <p:cNvSpPr/>
          <p:nvPr/>
        </p:nvSpPr>
        <p:spPr>
          <a:xfrm>
            <a:off x="7543800" y="5394960"/>
            <a:ext cx="1828800" cy="502920"/>
          </a:xfrm>
          <a:prstGeom prst="roundRect">
            <a:avLst>
              <a:gd name="adj" fmla="val 9091"/>
            </a:avLst>
          </a:prstGeom>
          <a:solidFill>
            <a:srgbClr val="FFFFFF"/>
          </a:solidFill>
          <a:ln w="12700">
            <a:solidFill>
              <a:srgbClr val="C7D2FE"/>
            </a:solidFill>
            <a:prstDash val="solid"/>
          </a:ln>
        </p:spPr>
      </p:sp>
      <p:sp>
        <p:nvSpPr>
          <p:cNvPr id="77" name="Text 75"/>
          <p:cNvSpPr txBox="1"/>
          <p:nvPr/>
        </p:nvSpPr>
        <p:spPr>
          <a:xfrm>
            <a:off x="7589520" y="5394960"/>
            <a:ext cx="1737360" cy="502920"/>
          </a:xfrm>
          <a:prstGeom prst="rect">
            <a:avLst/>
          </a:prstGeom>
          <a:noFill/>
          <a:ln/>
        </p:spPr>
        <p:txBody>
          <a:bodyPr wrap="square" lIns="0" tIns="0" rIns="0" bIns="0" rtlCol="0" anchor="ctr"/>
          <a:lstStyle/>
          <a:p>
            <a:pPr algn="ctr" indent="0" marL="0">
              <a:buNone/>
            </a:pPr>
            <a:r>
              <a:rPr lang="en-US" sz="1050" b="1" dirty="0">
                <a:solidFill>
                  <a:srgbClr val="1E293B"/>
                </a:solidFill>
                <a:latin typeface="Arial" pitchFamily="34" charset="0"/>
                <a:ea typeface="Arial" pitchFamily="34" charset="-122"/>
                <a:cs typeface="Arial" pitchFamily="34" charset="-120"/>
              </a:rPr>
              <a:t>USB packetiser</a:t>
            </a:r>
            <a:endParaRPr lang="en-US" sz="1050" dirty="0"/>
          </a:p>
        </p:txBody>
      </p:sp>
      <p:sp>
        <p:nvSpPr>
          <p:cNvPr id="78" name="Shape 76"/>
          <p:cNvSpPr/>
          <p:nvPr/>
        </p:nvSpPr>
        <p:spPr>
          <a:xfrm>
            <a:off x="9509760" y="3794760"/>
            <a:ext cx="502920" cy="0"/>
          </a:xfrm>
          <a:prstGeom prst="line">
            <a:avLst/>
          </a:prstGeom>
          <a:noFill/>
          <a:ln w="31750">
            <a:solidFill>
              <a:srgbClr val="14213D"/>
            </a:solidFill>
            <a:prstDash val="solid"/>
            <a:tailEnd type="triangle"/>
          </a:ln>
        </p:spPr>
      </p:sp>
      <p:sp>
        <p:nvSpPr>
          <p:cNvPr id="79" name="Text 77"/>
          <p:cNvSpPr txBox="1"/>
          <p:nvPr/>
        </p:nvSpPr>
        <p:spPr>
          <a:xfrm>
            <a:off x="9464040" y="3154680"/>
            <a:ext cx="640080" cy="548640"/>
          </a:xfrm>
          <a:prstGeom prst="rect">
            <a:avLst/>
          </a:prstGeom>
          <a:noFill/>
          <a:ln/>
        </p:spPr>
        <p:txBody>
          <a:bodyPr wrap="square" lIns="0" tIns="0" rIns="0" bIns="0" rtlCol="0" anchor="t"/>
          <a:lstStyle/>
          <a:p>
            <a:pPr algn="ctr" indent="0" marL="0">
              <a:buNone/>
            </a:pPr>
            <a:r>
              <a:rPr lang="en-US" sz="950" b="1" dirty="0">
                <a:solidFill>
                  <a:srgbClr val="14213D"/>
                </a:solidFill>
                <a:latin typeface="Arial" pitchFamily="34" charset="0"/>
                <a:ea typeface="Arial" pitchFamily="34" charset="-122"/>
                <a:cs typeface="Arial" pitchFamily="34" charset="-120"/>
              </a:rPr>
              <a:t>USB 2.0</a:t>
            </a:r>
            <a:endParaRPr lang="en-US" sz="950" dirty="0"/>
          </a:p>
          <a:p>
            <a:pPr algn="ctr" indent="0" marL="0">
              <a:buNone/>
            </a:pPr>
            <a:r>
              <a:rPr lang="en-US" sz="950" b="1" dirty="0">
                <a:solidFill>
                  <a:srgbClr val="14213D"/>
                </a:solidFill>
                <a:latin typeface="Arial" pitchFamily="34" charset="0"/>
                <a:ea typeface="Arial" pitchFamily="34" charset="-122"/>
                <a:cs typeface="Arial" pitchFamily="34" charset="-120"/>
              </a:rPr>
              <a:t>High-Speed</a:t>
            </a:r>
            <a:endParaRPr lang="en-US" sz="950" dirty="0"/>
          </a:p>
        </p:txBody>
      </p:sp>
      <p:sp>
        <p:nvSpPr>
          <p:cNvPr id="80" name="Shape 78"/>
          <p:cNvSpPr/>
          <p:nvPr/>
        </p:nvSpPr>
        <p:spPr>
          <a:xfrm>
            <a:off x="10058400" y="1463040"/>
            <a:ext cx="1600200" cy="4663440"/>
          </a:xfrm>
          <a:prstGeom prst="roundRect">
            <a:avLst>
              <a:gd name="adj" fmla="val 2857"/>
            </a:avLst>
          </a:prstGeom>
          <a:solidFill>
            <a:srgbClr val="14213D"/>
          </a:solidFill>
          <a:ln w="12700">
            <a:solidFill>
              <a:srgbClr val="14213D"/>
            </a:solidFill>
            <a:prstDash val="solid"/>
          </a:ln>
        </p:spPr>
      </p:sp>
      <p:sp>
        <p:nvSpPr>
          <p:cNvPr id="81" name="Text 79"/>
          <p:cNvSpPr txBox="1"/>
          <p:nvPr/>
        </p:nvSpPr>
        <p:spPr>
          <a:xfrm>
            <a:off x="10104120" y="1600200"/>
            <a:ext cx="1508760" cy="320040"/>
          </a:xfrm>
          <a:prstGeom prst="rect">
            <a:avLst/>
          </a:prstGeom>
          <a:noFill/>
          <a:ln/>
        </p:spPr>
        <p:txBody>
          <a:bodyPr wrap="square" lIns="0" tIns="0" rIns="0" bIns="0" rtlCol="0" anchor="t"/>
          <a:lstStyle/>
          <a:p>
            <a:pPr algn="ctr" indent="0" marL="0">
              <a:buNone/>
            </a:pPr>
            <a:r>
              <a:rPr lang="en-US" sz="1300" b="1" dirty="0">
                <a:solidFill>
                  <a:srgbClr val="FFFFFF"/>
                </a:solidFill>
                <a:latin typeface="Arial" pitchFamily="34" charset="0"/>
                <a:ea typeface="Arial" pitchFamily="34" charset="-122"/>
                <a:cs typeface="Arial" pitchFamily="34" charset="-120"/>
              </a:rPr>
              <a:t>Host computer</a:t>
            </a:r>
            <a:endParaRPr lang="en-US" sz="1300" dirty="0"/>
          </a:p>
        </p:txBody>
      </p:sp>
      <p:sp>
        <p:nvSpPr>
          <p:cNvPr id="82" name="Shape 80"/>
          <p:cNvSpPr/>
          <p:nvPr/>
        </p:nvSpPr>
        <p:spPr>
          <a:xfrm>
            <a:off x="10168128" y="2103120"/>
            <a:ext cx="1371600" cy="548640"/>
          </a:xfrm>
          <a:prstGeom prst="roundRect">
            <a:avLst>
              <a:gd name="adj" fmla="val 8333"/>
            </a:avLst>
          </a:prstGeom>
          <a:solidFill>
            <a:srgbClr val="1E3A8A"/>
          </a:solidFill>
          <a:ln w="12700">
            <a:solidFill>
              <a:srgbClr val="1E3A8A"/>
            </a:solidFill>
            <a:prstDash val="solid"/>
          </a:ln>
        </p:spPr>
      </p:sp>
      <p:sp>
        <p:nvSpPr>
          <p:cNvPr id="83" name="Text 81"/>
          <p:cNvSpPr txBox="1"/>
          <p:nvPr/>
        </p:nvSpPr>
        <p:spPr>
          <a:xfrm>
            <a:off x="10168128" y="2103120"/>
            <a:ext cx="1371600" cy="548640"/>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Device driver + API</a:t>
            </a:r>
            <a:endParaRPr lang="en-US" sz="1050" dirty="0"/>
          </a:p>
        </p:txBody>
      </p:sp>
      <p:sp>
        <p:nvSpPr>
          <p:cNvPr id="84" name="Shape 82"/>
          <p:cNvSpPr/>
          <p:nvPr/>
        </p:nvSpPr>
        <p:spPr>
          <a:xfrm>
            <a:off x="10168128" y="2788920"/>
            <a:ext cx="1371600" cy="548640"/>
          </a:xfrm>
          <a:prstGeom prst="roundRect">
            <a:avLst>
              <a:gd name="adj" fmla="val 8333"/>
            </a:avLst>
          </a:prstGeom>
          <a:solidFill>
            <a:srgbClr val="1E3A8A"/>
          </a:solidFill>
          <a:ln w="12700">
            <a:solidFill>
              <a:srgbClr val="1E3A8A"/>
            </a:solidFill>
            <a:prstDash val="solid"/>
          </a:ln>
        </p:spPr>
      </p:sp>
      <p:sp>
        <p:nvSpPr>
          <p:cNvPr id="85" name="Text 83"/>
          <p:cNvSpPr txBox="1"/>
          <p:nvPr/>
        </p:nvSpPr>
        <p:spPr>
          <a:xfrm>
            <a:off x="10168128" y="2788920"/>
            <a:ext cx="1371600" cy="548640"/>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Workbench software</a:t>
            </a:r>
            <a:endParaRPr lang="en-US" sz="1050" dirty="0"/>
          </a:p>
        </p:txBody>
      </p:sp>
      <p:sp>
        <p:nvSpPr>
          <p:cNvPr id="86" name="Shape 84"/>
          <p:cNvSpPr/>
          <p:nvPr/>
        </p:nvSpPr>
        <p:spPr>
          <a:xfrm>
            <a:off x="10168128" y="3474720"/>
            <a:ext cx="1371600" cy="548640"/>
          </a:xfrm>
          <a:prstGeom prst="roundRect">
            <a:avLst>
              <a:gd name="adj" fmla="val 8333"/>
            </a:avLst>
          </a:prstGeom>
          <a:solidFill>
            <a:srgbClr val="1E3A8A"/>
          </a:solidFill>
          <a:ln w="12700">
            <a:solidFill>
              <a:srgbClr val="1E3A8A"/>
            </a:solidFill>
            <a:prstDash val="solid"/>
          </a:ln>
        </p:spPr>
      </p:sp>
      <p:sp>
        <p:nvSpPr>
          <p:cNvPr id="87" name="Text 85"/>
          <p:cNvSpPr txBox="1"/>
          <p:nvPr/>
        </p:nvSpPr>
        <p:spPr>
          <a:xfrm>
            <a:off x="10168128" y="3474720"/>
            <a:ext cx="1371600" cy="548640"/>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Data logging</a:t>
            </a:r>
            <a:endParaRPr lang="en-US" sz="1050" dirty="0"/>
          </a:p>
        </p:txBody>
      </p:sp>
      <p:sp>
        <p:nvSpPr>
          <p:cNvPr id="88" name="Shape 86"/>
          <p:cNvSpPr/>
          <p:nvPr/>
        </p:nvSpPr>
        <p:spPr>
          <a:xfrm>
            <a:off x="10168128" y="4343400"/>
            <a:ext cx="1371600" cy="1600200"/>
          </a:xfrm>
          <a:prstGeom prst="roundRect">
            <a:avLst>
              <a:gd name="adj" fmla="val 3333"/>
            </a:avLst>
          </a:prstGeom>
          <a:solidFill>
            <a:srgbClr val="F5B700"/>
          </a:solidFill>
          <a:ln w="12700">
            <a:solidFill>
              <a:srgbClr val="F5B700"/>
            </a:solidFill>
            <a:prstDash val="solid"/>
          </a:ln>
        </p:spPr>
      </p:sp>
      <p:sp>
        <p:nvSpPr>
          <p:cNvPr id="89" name="Text 87"/>
          <p:cNvSpPr txBox="1"/>
          <p:nvPr/>
        </p:nvSpPr>
        <p:spPr>
          <a:xfrm>
            <a:off x="10213848" y="4389120"/>
            <a:ext cx="1280160" cy="1508760"/>
          </a:xfrm>
          <a:prstGeom prst="rect">
            <a:avLst/>
          </a:prstGeom>
          <a:noFill/>
          <a:ln/>
        </p:spPr>
        <p:txBody>
          <a:bodyPr wrap="square" lIns="0" tIns="0" rIns="0" bIns="0" rtlCol="0" anchor="ctr"/>
          <a:lstStyle/>
          <a:p>
            <a:pPr algn="ctr" indent="0" marL="0">
              <a:buNone/>
            </a:pPr>
            <a:r>
              <a:rPr lang="en-US" sz="1500" b="1" dirty="0">
                <a:solidFill>
                  <a:srgbClr val="14213D"/>
                </a:solidFill>
                <a:latin typeface="Arial" pitchFamily="34" charset="0"/>
                <a:ea typeface="Arial" pitchFamily="34" charset="-122"/>
                <a:cs typeface="Arial" pitchFamily="34" charset="-120"/>
              </a:rPr>
              <a:t>Proto</a:t>
            </a:r>
            <a:endParaRPr lang="en-US" sz="1500" dirty="0"/>
          </a:p>
          <a:p>
            <a:pPr algn="ctr" indent="0" marL="0">
              <a:buNone/>
            </a:pPr>
            <a:r>
              <a:rPr lang="en-US" sz="1000" dirty="0">
                <a:solidFill>
                  <a:srgbClr val="14213D"/>
                </a:solidFill>
                <a:latin typeface="Arial" pitchFamily="34" charset="0"/>
                <a:ea typeface="Arial" pitchFamily="34" charset="-122"/>
                <a:cs typeface="Arial" pitchFamily="34" charset="-120"/>
              </a:rPr>
              <a:t>AI engineer: plans tests, reads results, explains</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4213D"/>
          </a:solidFill>
          <a:ln w="12700">
            <a:solidFill>
              <a:srgbClr val="14213D"/>
            </a:solidFill>
            <a:prstDash val="solid"/>
          </a:ln>
        </p:spPr>
      </p:sp>
      <p:sp>
        <p:nvSpPr>
          <p:cNvPr id="3" name="Text 1"/>
          <p:cNvSpPr txBox="1"/>
          <p:nvPr/>
        </p:nvSpPr>
        <p:spPr>
          <a:xfrm>
            <a:off x="548640" y="347472"/>
            <a:ext cx="8229600" cy="228600"/>
          </a:xfrm>
          <a:prstGeom prst="rect">
            <a:avLst/>
          </a:prstGeom>
          <a:noFill/>
          <a:ln/>
        </p:spPr>
        <p:txBody>
          <a:bodyPr wrap="square" lIns="0" tIns="0" rIns="0" bIns="0" rtlCol="0" anchor="t"/>
          <a:lstStyle/>
          <a:p>
            <a:pPr indent="0" marL="0">
              <a:buNone/>
            </a:pPr>
            <a:r>
              <a:rPr lang="en-US" sz="1100" b="1" spc="200" kern="0" dirty="0">
                <a:solidFill>
                  <a:srgbClr val="2563EB"/>
                </a:solidFill>
                <a:latin typeface="Arial" pitchFamily="34" charset="0"/>
                <a:ea typeface="Arial" pitchFamily="34" charset="-122"/>
                <a:cs typeface="Arial" pitchFamily="34" charset="-120"/>
              </a:rPr>
              <a:t>HARDWARE DESIGN</a:t>
            </a:r>
            <a:endParaRPr lang="en-US" sz="1100" dirty="0"/>
          </a:p>
        </p:txBody>
      </p:sp>
      <p:sp>
        <p:nvSpPr>
          <p:cNvPr id="4" name="Text 2"/>
          <p:cNvSpPr txBox="1"/>
          <p:nvPr/>
        </p:nvSpPr>
        <p:spPr>
          <a:xfrm>
            <a:off x="548640" y="603504"/>
            <a:ext cx="11155680" cy="594360"/>
          </a:xfrm>
          <a:prstGeom prst="rect">
            <a:avLst/>
          </a:prstGeom>
          <a:noFill/>
          <a:ln/>
        </p:spPr>
        <p:txBody>
          <a:bodyPr wrap="square" lIns="0" tIns="0" rIns="0" bIns="0" rtlCol="0" anchor="t"/>
          <a:lstStyle/>
          <a:p>
            <a:pPr indent="0" marL="0">
              <a:buNone/>
            </a:pPr>
            <a:r>
              <a:rPr lang="en-US" sz="2800" b="1" dirty="0">
                <a:solidFill>
                  <a:srgbClr val="14213D"/>
                </a:solidFill>
                <a:latin typeface="Arial" pitchFamily="34" charset="0"/>
                <a:ea typeface="Arial" pitchFamily="34" charset="-122"/>
                <a:cs typeface="Arial" pitchFamily="34" charset="-120"/>
              </a:rPr>
              <a:t>Instrument interface: the front panel and what each port does</a:t>
            </a:r>
            <a:endParaRPr lang="en-US" sz="2800" dirty="0"/>
          </a:p>
        </p:txBody>
      </p:sp>
      <p:sp>
        <p:nvSpPr>
          <p:cNvPr id="5" name="Shape 3"/>
          <p:cNvSpPr/>
          <p:nvPr/>
        </p:nvSpPr>
        <p:spPr>
          <a:xfrm>
            <a:off x="548640" y="6419088"/>
            <a:ext cx="11091672" cy="0"/>
          </a:xfrm>
          <a:prstGeom prst="line">
            <a:avLst/>
          </a:prstGeom>
          <a:noFill/>
          <a:ln w="12700">
            <a:solidFill>
              <a:srgbClr val="E2E8F0"/>
            </a:solidFill>
            <a:prstDash val="solid"/>
          </a:ln>
        </p:spPr>
      </p:sp>
      <p:sp>
        <p:nvSpPr>
          <p:cNvPr id="6" name="Text 4"/>
          <p:cNvSpPr txBox="1"/>
          <p:nvPr/>
        </p:nvSpPr>
        <p:spPr>
          <a:xfrm>
            <a:off x="548640" y="6492240"/>
            <a:ext cx="7315200" cy="228600"/>
          </a:xfrm>
          <a:prstGeom prst="rect">
            <a:avLst/>
          </a:prstGeom>
          <a:noFill/>
          <a:ln/>
        </p:spPr>
        <p:txBody>
          <a:bodyPr wrap="square" lIns="0" tIns="0" rIns="0" bIns="0" rtlCol="0" anchor="t"/>
          <a:lstStyle/>
          <a:p>
            <a:pPr indent="0" marL="0">
              <a:buNone/>
            </a:pPr>
            <a:r>
              <a:rPr lang="en-US" sz="1000" dirty="0">
                <a:solidFill>
                  <a:srgbClr val="64748B"/>
                </a:solidFill>
                <a:latin typeface="Arial" pitchFamily="34" charset="0"/>
                <a:ea typeface="Arial" pitchFamily="34" charset="-122"/>
                <a:cs typeface="Arial" pitchFamily="34" charset="-120"/>
              </a:rPr>
              <a:t>Intelligent USB-Based Electronics Platform  ·  SEC Project</a:t>
            </a:r>
            <a:endParaRPr lang="en-US" sz="1000" dirty="0"/>
          </a:p>
        </p:txBody>
      </p:sp>
      <p:sp>
        <p:nvSpPr>
          <p:cNvPr id="7" name="Text 5"/>
          <p:cNvSpPr txBox="1"/>
          <p:nvPr/>
        </p:nvSpPr>
        <p:spPr>
          <a:xfrm>
            <a:off x="10725912" y="6492240"/>
            <a:ext cx="914400" cy="228600"/>
          </a:xfrm>
          <a:prstGeom prst="rect">
            <a:avLst/>
          </a:prstGeom>
          <a:noFill/>
          <a:ln/>
        </p:spPr>
        <p:txBody>
          <a:bodyPr wrap="square" lIns="0" tIns="0" rIns="0" bIns="0" rtlCol="0" anchor="t"/>
          <a:lstStyle/>
          <a:p>
            <a:pPr algn="r" indent="0" marL="0">
              <a:buNone/>
            </a:pPr>
            <a:r>
              <a:rPr lang="en-US" sz="1000" dirty="0">
                <a:solidFill>
                  <a:srgbClr val="64748B"/>
                </a:solidFill>
                <a:latin typeface="Arial" pitchFamily="34" charset="0"/>
                <a:ea typeface="Arial" pitchFamily="34" charset="-122"/>
                <a:cs typeface="Arial" pitchFamily="34" charset="-120"/>
              </a:rPr>
              <a:t>4 / 7</a:t>
            </a:r>
            <a:endParaRPr lang="en-US" sz="1000" dirty="0"/>
          </a:p>
        </p:txBody>
      </p:sp>
      <p:sp>
        <p:nvSpPr>
          <p:cNvPr id="8" name="Shape 6"/>
          <p:cNvSpPr/>
          <p:nvPr/>
        </p:nvSpPr>
        <p:spPr>
          <a:xfrm>
            <a:off x="548640" y="1371600"/>
            <a:ext cx="11091672" cy="1920240"/>
          </a:xfrm>
          <a:prstGeom prst="roundRect">
            <a:avLst>
              <a:gd name="adj" fmla="val 2381"/>
            </a:avLst>
          </a:prstGeom>
          <a:solidFill>
            <a:srgbClr val="F8FAFC"/>
          </a:solidFill>
          <a:ln w="12700">
            <a:solidFill>
              <a:srgbClr val="E2E8F0"/>
            </a:solidFill>
            <a:prstDash val="solid"/>
          </a:ln>
        </p:spPr>
      </p:sp>
      <p:pic>
        <p:nvPicPr>
          <p:cNvPr id="9" name="Image 0" descr="/tmp/claude-0/-home-user-robowar/aee4da2e-473c-53db-a5de-8e0dc57de510/scratchpad/sec/img/front_panel.png">    </p:cNvPr>
          <p:cNvPicPr>
            <a:picLocks noChangeAspect="1"/>
          </p:cNvPicPr>
          <p:nvPr/>
        </p:nvPicPr>
        <p:blipFill>
          <a:blip r:embed="rId1"/>
          <a:stretch>
            <a:fillRect/>
          </a:stretch>
        </p:blipFill>
        <p:spPr>
          <a:xfrm>
            <a:off x="3328416" y="1426464"/>
            <a:ext cx="5532120" cy="1837944"/>
          </a:xfrm>
          <a:prstGeom prst="rect">
            <a:avLst/>
          </a:prstGeom>
        </p:spPr>
      </p:pic>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3429000"/>
          <a:ext cx="11091672" cy="914400"/>
        </p:xfrm>
        <a:graphic>
          <a:graphicData uri="http://schemas.openxmlformats.org/drawingml/2006/table">
            <a:tbl>
              <a:tblPr/>
              <a:tblGrid>
                <a:gridCol w="2377440"/>
                <a:gridCol w="1737360"/>
                <a:gridCol w="3657600"/>
                <a:gridCol w="3319272"/>
              </a:tblGrid>
              <a:tr h="347472">
                <a:tc>
                  <a:txBody>
                    <a:bodyPr/>
                    <a:lstStyle/>
                    <a:p>
                      <a:pPr indent="0" marL="0">
                        <a:buNone/>
                      </a:pPr>
                      <a:r>
                        <a:rPr lang="en-US" sz="1200" b="1" dirty="0">
                          <a:solidFill>
                            <a:srgbClr val="FFFFFF"/>
                          </a:solidFill>
                          <a:latin typeface="Arial" pitchFamily="34" charset="0"/>
                          <a:ea typeface="Arial" pitchFamily="34" charset="-122"/>
                          <a:cs typeface="Arial" pitchFamily="34" charset="-120"/>
                        </a:rPr>
                        <a:t>Instrument</a:t>
                      </a:r>
                      <a:endParaRPr lang="en-US" sz="1200" dirty="0">
                        <a:latin typeface="Arial" charset="0"/>
                        <a:ea typeface="Arial" charset="0"/>
                        <a:cs typeface="Arial" charset="0"/>
                      </a:endParaRPr>
                    </a:p>
                  </a:txBody>
                  <a:tcPr marL="101600" marR="101600" marT="25400" marB="254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14213D"/>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Port</a:t>
                      </a:r>
                      <a:endParaRPr lang="en-US" sz="1200" dirty="0">
                        <a:latin typeface="Arial" charset="0"/>
                        <a:ea typeface="Arial" charset="0"/>
                        <a:cs typeface="Arial" charset="0"/>
                      </a:endParaRPr>
                    </a:p>
                  </a:txBody>
                  <a:tcPr marL="101600" marR="101600" marT="25400" marB="254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14213D"/>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Key specification</a:t>
                      </a:r>
                      <a:endParaRPr lang="en-US" sz="1200" dirty="0">
                        <a:latin typeface="Arial" charset="0"/>
                        <a:ea typeface="Arial" charset="0"/>
                        <a:cs typeface="Arial" charset="0"/>
                      </a:endParaRPr>
                    </a:p>
                  </a:txBody>
                  <a:tcPr marL="101600" marR="101600" marT="25400" marB="254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14213D"/>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Hardware</a:t>
                      </a:r>
                      <a:endParaRPr lang="en-US" sz="1200" dirty="0">
                        <a:latin typeface="Arial" charset="0"/>
                        <a:ea typeface="Arial" charset="0"/>
                        <a:cs typeface="Arial" charset="0"/>
                      </a:endParaRPr>
                    </a:p>
                  </a:txBody>
                  <a:tcPr marL="101600" marR="101600" marT="25400" marB="254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14213D"/>
                    </a:solidFill>
                  </a:tcPr>
                </a:tc>
              </a:tr>
              <a:tr h="347472">
                <a:tc>
                  <a:txBody>
                    <a:bodyPr/>
                    <a:lstStyle/>
                    <a:p>
                      <a:pPr indent="0" marL="0">
                        <a:buNone/>
                      </a:pPr>
                      <a:r>
                        <a:rPr lang="en-US" sz="1200" b="1" dirty="0">
                          <a:solidFill>
                            <a:srgbClr val="D97706"/>
                          </a:solidFill>
                          <a:latin typeface="Arial" pitchFamily="34" charset="0"/>
                          <a:ea typeface="Arial" pitchFamily="34" charset="-122"/>
                          <a:cs typeface="Arial" pitchFamily="34" charset="-120"/>
                        </a:rPr>
                        <a:t>Oscilloscope</a:t>
                      </a:r>
                      <a:endParaRPr lang="en-US" sz="1200" dirty="0">
                        <a:latin typeface="Arial" charset="0"/>
                        <a:ea typeface="Arial" charset="0"/>
                        <a:cs typeface="Arial" charset="0"/>
                      </a:endParaRPr>
                    </a:p>
                  </a:txBody>
                  <a:tcPr marL="101600" marR="101600" marT="25400" marB="254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Arial" pitchFamily="34" charset="0"/>
                          <a:ea typeface="Arial" pitchFamily="34" charset="-122"/>
                          <a:cs typeface="Arial" pitchFamily="34" charset="-120"/>
                        </a:rPr>
                        <a:t>CH1, CH2</a:t>
                      </a:r>
                      <a:endParaRPr lang="en-US" sz="1200" dirty="0">
                        <a:latin typeface="Arial" charset="0"/>
                        <a:ea typeface="Arial" charset="0"/>
                        <a:cs typeface="Arial" charset="0"/>
                      </a:endParaRPr>
                    </a:p>
                  </a:txBody>
                  <a:tcPr marL="101600" marR="101600" marT="25400" marB="254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Arial" pitchFamily="34" charset="0"/>
                          <a:ea typeface="Arial" pitchFamily="34" charset="-122"/>
                          <a:cs typeface="Arial" pitchFamily="34" charset="-120"/>
                        </a:rPr>
                        <a:t>2 channels · 12-bit · 65 MS/s</a:t>
                      </a:r>
                      <a:endParaRPr lang="en-US" sz="1200" dirty="0">
                        <a:latin typeface="Arial" charset="0"/>
                        <a:ea typeface="Arial" charset="0"/>
                        <a:cs typeface="Arial" charset="0"/>
                      </a:endParaRPr>
                    </a:p>
                  </a:txBody>
                  <a:tcPr marL="101600" marR="101600" marT="25400" marB="254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Arial" pitchFamily="34" charset="0"/>
                          <a:ea typeface="Arial" pitchFamily="34" charset="-122"/>
                          <a:cs typeface="Arial" pitchFamily="34" charset="-120"/>
                        </a:rPr>
                        <a:t>AD8066 front end + 2× AD9226</a:t>
                      </a:r>
                      <a:endParaRPr lang="en-US" sz="1200" dirty="0">
                        <a:latin typeface="Arial" charset="0"/>
                        <a:ea typeface="Arial" charset="0"/>
                        <a:cs typeface="Arial" charset="0"/>
                      </a:endParaRPr>
                    </a:p>
                  </a:txBody>
                  <a:tcPr marL="101600" marR="101600" marT="25400" marB="254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347472">
                <a:tc>
                  <a:txBody>
                    <a:bodyPr/>
                    <a:lstStyle/>
                    <a:p>
                      <a:pPr indent="0" marL="0">
                        <a:buNone/>
                      </a:pPr>
                      <a:r>
                        <a:rPr lang="en-US" sz="1200" b="1" dirty="0">
                          <a:solidFill>
                            <a:srgbClr val="2563EB"/>
                          </a:solidFill>
                          <a:latin typeface="Arial" pitchFamily="34" charset="0"/>
                          <a:ea typeface="Arial" pitchFamily="34" charset="-122"/>
                          <a:cs typeface="Arial" pitchFamily="34" charset="-120"/>
                        </a:rPr>
                        <a:t>Waveform generator</a:t>
                      </a:r>
                      <a:endParaRPr lang="en-US" sz="1200" dirty="0">
                        <a:latin typeface="Arial" charset="0"/>
                        <a:ea typeface="Arial" charset="0"/>
                        <a:cs typeface="Arial" charset="0"/>
                      </a:endParaRPr>
                    </a:p>
                  </a:txBody>
                  <a:tcPr marL="101600" marR="101600" marT="25400" marB="254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200" dirty="0">
                          <a:solidFill>
                            <a:srgbClr val="1E293B"/>
                          </a:solidFill>
                          <a:latin typeface="Arial" pitchFamily="34" charset="0"/>
                          <a:ea typeface="Arial" pitchFamily="34" charset="-122"/>
                          <a:cs typeface="Arial" pitchFamily="34" charset="-120"/>
                        </a:rPr>
                        <a:t>W1, W2</a:t>
                      </a:r>
                      <a:endParaRPr lang="en-US" sz="1200" dirty="0">
                        <a:latin typeface="Arial" charset="0"/>
                        <a:ea typeface="Arial" charset="0"/>
                        <a:cs typeface="Arial" charset="0"/>
                      </a:endParaRPr>
                    </a:p>
                  </a:txBody>
                  <a:tcPr marL="101600" marR="101600" marT="25400" marB="254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200" dirty="0">
                          <a:solidFill>
                            <a:srgbClr val="1E293B"/>
                          </a:solidFill>
                          <a:latin typeface="Arial" pitchFamily="34" charset="0"/>
                          <a:ea typeface="Arial" pitchFamily="34" charset="-122"/>
                          <a:cs typeface="Arial" pitchFamily="34" charset="-120"/>
                        </a:rPr>
                        <a:t>2 channels · 14-bit · up to 125 MS/s</a:t>
                      </a:r>
                      <a:endParaRPr lang="en-US" sz="1200" dirty="0">
                        <a:latin typeface="Arial" charset="0"/>
                        <a:ea typeface="Arial" charset="0"/>
                        <a:cs typeface="Arial" charset="0"/>
                      </a:endParaRPr>
                    </a:p>
                  </a:txBody>
                  <a:tcPr marL="101600" marR="101600" marT="25400" marB="254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200" dirty="0">
                          <a:solidFill>
                            <a:srgbClr val="1E293B"/>
                          </a:solidFill>
                          <a:latin typeface="Arial" pitchFamily="34" charset="0"/>
                          <a:ea typeface="Arial" pitchFamily="34" charset="-122"/>
                          <a:cs typeface="Arial" pitchFamily="34" charset="-120"/>
                        </a:rPr>
                        <a:t>AN9767 dual DAC, FPGA DDS</a:t>
                      </a:r>
                      <a:endParaRPr lang="en-US" sz="1200" dirty="0">
                        <a:latin typeface="Arial" charset="0"/>
                        <a:ea typeface="Arial" charset="0"/>
                        <a:cs typeface="Arial" charset="0"/>
                      </a:endParaRPr>
                    </a:p>
                  </a:txBody>
                  <a:tcPr marL="101600" marR="101600" marT="25400" marB="254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r>
              <a:tr h="347472">
                <a:tc>
                  <a:txBody>
                    <a:bodyPr/>
                    <a:lstStyle/>
                    <a:p>
                      <a:pPr indent="0" marL="0">
                        <a:buNone/>
                      </a:pPr>
                      <a:r>
                        <a:rPr lang="en-US" sz="1200" b="1" dirty="0">
                          <a:solidFill>
                            <a:srgbClr val="16A34A"/>
                          </a:solidFill>
                          <a:latin typeface="Arial" pitchFamily="34" charset="0"/>
                          <a:ea typeface="Arial" pitchFamily="34" charset="-122"/>
                          <a:cs typeface="Arial" pitchFamily="34" charset="-120"/>
                        </a:rPr>
                        <a:t>Logic analyser</a:t>
                      </a:r>
                      <a:endParaRPr lang="en-US" sz="1200" dirty="0">
                        <a:latin typeface="Arial" charset="0"/>
                        <a:ea typeface="Arial" charset="0"/>
                        <a:cs typeface="Arial" charset="0"/>
                      </a:endParaRPr>
                    </a:p>
                  </a:txBody>
                  <a:tcPr marL="101600" marR="101600" marT="25400" marB="254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Arial" pitchFamily="34" charset="0"/>
                          <a:ea typeface="Arial" pitchFamily="34" charset="-122"/>
                          <a:cs typeface="Arial" pitchFamily="34" charset="-120"/>
                        </a:rPr>
                        <a:t>Logic 0–15</a:t>
                      </a:r>
                      <a:endParaRPr lang="en-US" sz="1200" dirty="0">
                        <a:latin typeface="Arial" charset="0"/>
                        <a:ea typeface="Arial" charset="0"/>
                        <a:cs typeface="Arial" charset="0"/>
                      </a:endParaRPr>
                    </a:p>
                  </a:txBody>
                  <a:tcPr marL="101600" marR="101600" marT="25400" marB="254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Arial" pitchFamily="34" charset="0"/>
                          <a:ea typeface="Arial" pitchFamily="34" charset="-122"/>
                          <a:cs typeface="Arial" pitchFamily="34" charset="-120"/>
                        </a:rPr>
                        <a:t>16 channels</a:t>
                      </a:r>
                      <a:endParaRPr lang="en-US" sz="1200" dirty="0">
                        <a:latin typeface="Arial" charset="0"/>
                        <a:ea typeface="Arial" charset="0"/>
                        <a:cs typeface="Arial" charset="0"/>
                      </a:endParaRPr>
                    </a:p>
                  </a:txBody>
                  <a:tcPr marL="101600" marR="101600" marT="25400" marB="254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Arial" pitchFamily="34" charset="0"/>
                          <a:ea typeface="Arial" pitchFamily="34" charset="-122"/>
                          <a:cs typeface="Arial" pitchFamily="34" charset="-120"/>
                        </a:rPr>
                        <a:t>74LVC245 + FPGA capture</a:t>
                      </a:r>
                      <a:endParaRPr lang="en-US" sz="1200" dirty="0">
                        <a:latin typeface="Arial" charset="0"/>
                        <a:ea typeface="Arial" charset="0"/>
                        <a:cs typeface="Arial" charset="0"/>
                      </a:endParaRPr>
                    </a:p>
                  </a:txBody>
                  <a:tcPr marL="101600" marR="101600" marT="25400" marB="254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347472">
                <a:tc>
                  <a:txBody>
                    <a:bodyPr/>
                    <a:lstStyle/>
                    <a:p>
                      <a:pPr indent="0" marL="0">
                        <a:buNone/>
                      </a:pPr>
                      <a:r>
                        <a:rPr lang="en-US" sz="1200" b="1" dirty="0">
                          <a:solidFill>
                            <a:srgbClr val="16A34A"/>
                          </a:solidFill>
                          <a:latin typeface="Arial" pitchFamily="34" charset="0"/>
                          <a:ea typeface="Arial" pitchFamily="34" charset="-122"/>
                          <a:cs typeface="Arial" pitchFamily="34" charset="-120"/>
                        </a:rPr>
                        <a:t>Pattern generator</a:t>
                      </a:r>
                      <a:endParaRPr lang="en-US" sz="1200" dirty="0">
                        <a:latin typeface="Arial" charset="0"/>
                        <a:ea typeface="Arial" charset="0"/>
                        <a:cs typeface="Arial" charset="0"/>
                      </a:endParaRPr>
                    </a:p>
                  </a:txBody>
                  <a:tcPr marL="101600" marR="101600" marT="25400" marB="254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200" dirty="0">
                          <a:solidFill>
                            <a:srgbClr val="1E293B"/>
                          </a:solidFill>
                          <a:latin typeface="Arial" pitchFamily="34" charset="0"/>
                          <a:ea typeface="Arial" pitchFamily="34" charset="-122"/>
                          <a:cs typeface="Arial" pitchFamily="34" charset="-120"/>
                        </a:rPr>
                        <a:t>Logic 0–15</a:t>
                      </a:r>
                      <a:endParaRPr lang="en-US" sz="1200" dirty="0">
                        <a:latin typeface="Arial" charset="0"/>
                        <a:ea typeface="Arial" charset="0"/>
                        <a:cs typeface="Arial" charset="0"/>
                      </a:endParaRPr>
                    </a:p>
                  </a:txBody>
                  <a:tcPr marL="101600" marR="101600" marT="25400" marB="254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200" dirty="0">
                          <a:solidFill>
                            <a:srgbClr val="1E293B"/>
                          </a:solidFill>
                          <a:latin typeface="Arial" pitchFamily="34" charset="0"/>
                          <a:ea typeface="Arial" pitchFamily="34" charset="-122"/>
                          <a:cs typeface="Arial" pitchFamily="34" charset="-120"/>
                        </a:rPr>
                        <a:t>16 channels, programmable sequences</a:t>
                      </a:r>
                      <a:endParaRPr lang="en-US" sz="1200" dirty="0">
                        <a:latin typeface="Arial" charset="0"/>
                        <a:ea typeface="Arial" charset="0"/>
                        <a:cs typeface="Arial" charset="0"/>
                      </a:endParaRPr>
                    </a:p>
                  </a:txBody>
                  <a:tcPr marL="101600" marR="101600" marT="25400" marB="254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200" dirty="0">
                          <a:solidFill>
                            <a:srgbClr val="1E293B"/>
                          </a:solidFill>
                          <a:latin typeface="Arial" pitchFamily="34" charset="0"/>
                          <a:ea typeface="Arial" pitchFamily="34" charset="-122"/>
                          <a:cs typeface="Arial" pitchFamily="34" charset="-120"/>
                        </a:rPr>
                        <a:t>FPGA sequencer</a:t>
                      </a:r>
                      <a:endParaRPr lang="en-US" sz="1200" dirty="0">
                        <a:latin typeface="Arial" charset="0"/>
                        <a:ea typeface="Arial" charset="0"/>
                        <a:cs typeface="Arial" charset="0"/>
                      </a:endParaRPr>
                    </a:p>
                  </a:txBody>
                  <a:tcPr marL="101600" marR="101600" marT="25400" marB="254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r>
              <a:tr h="347472">
                <a:tc>
                  <a:txBody>
                    <a:bodyPr/>
                    <a:lstStyle/>
                    <a:p>
                      <a:pPr indent="0" marL="0">
                        <a:buNone/>
                      </a:pPr>
                      <a:r>
                        <a:rPr lang="en-US" sz="1200" b="1" dirty="0">
                          <a:solidFill>
                            <a:srgbClr val="7C3AED"/>
                          </a:solidFill>
                          <a:latin typeface="Arial" pitchFamily="34" charset="0"/>
                          <a:ea typeface="Arial" pitchFamily="34" charset="-122"/>
                          <a:cs typeface="Arial" pitchFamily="34" charset="-120"/>
                        </a:rPr>
                        <a:t>Protocol decoder</a:t>
                      </a:r>
                      <a:endParaRPr lang="en-US" sz="1200" dirty="0">
                        <a:latin typeface="Arial" charset="0"/>
                        <a:ea typeface="Arial" charset="0"/>
                        <a:cs typeface="Arial" charset="0"/>
                      </a:endParaRPr>
                    </a:p>
                  </a:txBody>
                  <a:tcPr marL="101600" marR="101600" marT="25400" marB="254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Arial" pitchFamily="34" charset="0"/>
                          <a:ea typeface="Arial" pitchFamily="34" charset="-122"/>
                          <a:cs typeface="Arial" pitchFamily="34" charset="-120"/>
                        </a:rPr>
                        <a:t>Logic 0–15</a:t>
                      </a:r>
                      <a:endParaRPr lang="en-US" sz="1200" dirty="0">
                        <a:latin typeface="Arial" charset="0"/>
                        <a:ea typeface="Arial" charset="0"/>
                        <a:cs typeface="Arial" charset="0"/>
                      </a:endParaRPr>
                    </a:p>
                  </a:txBody>
                  <a:tcPr marL="101600" marR="101600" marT="25400" marB="254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Arial" pitchFamily="34" charset="0"/>
                          <a:ea typeface="Arial" pitchFamily="34" charset="-122"/>
                          <a:cs typeface="Arial" pitchFamily="34" charset="-120"/>
                        </a:rPr>
                        <a:t>I²C · SPI · UART</a:t>
                      </a:r>
                      <a:endParaRPr lang="en-US" sz="1200" dirty="0">
                        <a:latin typeface="Arial" charset="0"/>
                        <a:ea typeface="Arial" charset="0"/>
                        <a:cs typeface="Arial" charset="0"/>
                      </a:endParaRPr>
                    </a:p>
                  </a:txBody>
                  <a:tcPr marL="101600" marR="101600" marT="25400" marB="254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Arial" pitchFamily="34" charset="0"/>
                          <a:ea typeface="Arial" pitchFamily="34" charset="-122"/>
                          <a:cs typeface="Arial" pitchFamily="34" charset="-120"/>
                        </a:rPr>
                        <a:t>FPGA + host software</a:t>
                      </a:r>
                      <a:endParaRPr lang="en-US" sz="1200" dirty="0">
                        <a:latin typeface="Arial" charset="0"/>
                        <a:ea typeface="Arial" charset="0"/>
                        <a:cs typeface="Arial" charset="0"/>
                      </a:endParaRPr>
                    </a:p>
                  </a:txBody>
                  <a:tcPr marL="101600" marR="101600" marT="25400" marB="254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347472">
                <a:tc>
                  <a:txBody>
                    <a:bodyPr/>
                    <a:lstStyle/>
                    <a:p>
                      <a:pPr indent="0" marL="0">
                        <a:buNone/>
                      </a:pPr>
                      <a:r>
                        <a:rPr lang="en-US" sz="1200" b="1" dirty="0">
                          <a:solidFill>
                            <a:srgbClr val="DC2626"/>
                          </a:solidFill>
                          <a:latin typeface="Arial" pitchFamily="34" charset="0"/>
                          <a:ea typeface="Arial" pitchFamily="34" charset="-122"/>
                          <a:cs typeface="Arial" pitchFamily="34" charset="-120"/>
                        </a:rPr>
                        <a:t>Programmable supplies</a:t>
                      </a:r>
                      <a:endParaRPr lang="en-US" sz="1200" dirty="0">
                        <a:latin typeface="Arial" charset="0"/>
                        <a:ea typeface="Arial" charset="0"/>
                        <a:cs typeface="Arial" charset="0"/>
                      </a:endParaRPr>
                    </a:p>
                  </a:txBody>
                  <a:tcPr marL="101600" marR="101600" marT="25400" marB="254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200" dirty="0">
                          <a:solidFill>
                            <a:srgbClr val="1E293B"/>
                          </a:solidFill>
                          <a:latin typeface="Arial" pitchFamily="34" charset="0"/>
                          <a:ea typeface="Arial" pitchFamily="34" charset="-122"/>
                          <a:cs typeface="Arial" pitchFamily="34" charset="-120"/>
                        </a:rPr>
                        <a:t>V1, V2, COM</a:t>
                      </a:r>
                      <a:endParaRPr lang="en-US" sz="1200" dirty="0">
                        <a:latin typeface="Arial" charset="0"/>
                        <a:ea typeface="Arial" charset="0"/>
                        <a:cs typeface="Arial" charset="0"/>
                      </a:endParaRPr>
                    </a:p>
                  </a:txBody>
                  <a:tcPr marL="101600" marR="101600" marT="25400" marB="254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200" dirty="0">
                          <a:solidFill>
                            <a:srgbClr val="1E293B"/>
                          </a:solidFill>
                          <a:latin typeface="Arial" pitchFamily="34" charset="0"/>
                          <a:ea typeface="Arial" pitchFamily="34" charset="-122"/>
                          <a:cs typeface="Arial" pitchFamily="34" charset="-120"/>
                        </a:rPr>
                        <a:t>2 outputs, voltage and current monitored</a:t>
                      </a:r>
                      <a:endParaRPr lang="en-US" sz="1200" dirty="0">
                        <a:latin typeface="Arial" charset="0"/>
                        <a:ea typeface="Arial" charset="0"/>
                        <a:cs typeface="Arial" charset="0"/>
                      </a:endParaRPr>
                    </a:p>
                  </a:txBody>
                  <a:tcPr marL="101600" marR="101600" marT="25400" marB="254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200" dirty="0">
                          <a:solidFill>
                            <a:srgbClr val="1E293B"/>
                          </a:solidFill>
                          <a:latin typeface="Arial" pitchFamily="34" charset="0"/>
                          <a:ea typeface="Arial" pitchFamily="34" charset="-122"/>
                          <a:cs typeface="Arial" pitchFamily="34" charset="-120"/>
                        </a:rPr>
                        <a:t>MCP4728 + XL6009 + INA226</a:t>
                      </a:r>
                      <a:endParaRPr lang="en-US" sz="1200" dirty="0">
                        <a:latin typeface="Arial" charset="0"/>
                        <a:ea typeface="Arial" charset="0"/>
                        <a:cs typeface="Arial" charset="0"/>
                      </a:endParaRPr>
                    </a:p>
                  </a:txBody>
                  <a:tcPr marL="101600" marR="101600" marT="25400" marB="254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r>
              <a:tr h="347472">
                <a:tc>
                  <a:txBody>
                    <a:bodyPr/>
                    <a:lstStyle/>
                    <a:p>
                      <a:pPr indent="0" marL="0">
                        <a:buNone/>
                      </a:pPr>
                      <a:r>
                        <a:rPr lang="en-US" sz="1200" b="1" dirty="0">
                          <a:solidFill>
                            <a:srgbClr val="0E9F9A"/>
                          </a:solidFill>
                          <a:latin typeface="Arial" pitchFamily="34" charset="0"/>
                          <a:ea typeface="Arial" pitchFamily="34" charset="-122"/>
                          <a:cs typeface="Arial" pitchFamily="34" charset="-120"/>
                        </a:rPr>
                        <a:t>Multimeter</a:t>
                      </a:r>
                      <a:endParaRPr lang="en-US" sz="1200" dirty="0">
                        <a:latin typeface="Arial" charset="0"/>
                        <a:ea typeface="Arial" charset="0"/>
                        <a:cs typeface="Arial" charset="0"/>
                      </a:endParaRPr>
                    </a:p>
                  </a:txBody>
                  <a:tcPr marL="101600" marR="101600" marT="25400" marB="254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Arial" pitchFamily="34" charset="0"/>
                          <a:ea typeface="Arial" pitchFamily="34" charset="-122"/>
                          <a:cs typeface="Arial" pitchFamily="34" charset="-120"/>
                        </a:rPr>
                        <a:t>DMM, COM</a:t>
                      </a:r>
                      <a:endParaRPr lang="en-US" sz="1200" dirty="0">
                        <a:latin typeface="Arial" charset="0"/>
                        <a:ea typeface="Arial" charset="0"/>
                        <a:cs typeface="Arial" charset="0"/>
                      </a:endParaRPr>
                    </a:p>
                  </a:txBody>
                  <a:tcPr marL="101600" marR="101600" marT="25400" marB="254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Arial" pitchFamily="34" charset="0"/>
                          <a:ea typeface="Arial" pitchFamily="34" charset="-122"/>
                          <a:cs typeface="Arial" pitchFamily="34" charset="-120"/>
                        </a:rPr>
                        <a:t>24-bit resolution</a:t>
                      </a:r>
                      <a:endParaRPr lang="en-US" sz="1200" dirty="0">
                        <a:latin typeface="Arial" charset="0"/>
                        <a:ea typeface="Arial" charset="0"/>
                        <a:cs typeface="Arial" charset="0"/>
                      </a:endParaRPr>
                    </a:p>
                  </a:txBody>
                  <a:tcPr marL="101600" marR="101600" marT="25400" marB="254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Arial" pitchFamily="34" charset="0"/>
                          <a:ea typeface="Arial" pitchFamily="34" charset="-122"/>
                          <a:cs typeface="Arial" pitchFamily="34" charset="-120"/>
                        </a:rPr>
                        <a:t>ADS1256 + REF5025</a:t>
                      </a:r>
                      <a:endParaRPr lang="en-US" sz="1200" dirty="0">
                        <a:latin typeface="Arial" charset="0"/>
                        <a:ea typeface="Arial" charset="0"/>
                        <a:cs typeface="Arial" charset="0"/>
                      </a:endParaRPr>
                    </a:p>
                  </a:txBody>
                  <a:tcPr marL="101600" marR="101600" marT="25400" marB="254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4213D"/>
          </a:solidFill>
          <a:ln w="12700">
            <a:solidFill>
              <a:srgbClr val="14213D"/>
            </a:solidFill>
            <a:prstDash val="solid"/>
          </a:ln>
        </p:spPr>
      </p:sp>
      <p:sp>
        <p:nvSpPr>
          <p:cNvPr id="3" name="Text 1"/>
          <p:cNvSpPr txBox="1"/>
          <p:nvPr/>
        </p:nvSpPr>
        <p:spPr>
          <a:xfrm>
            <a:off x="548640" y="347472"/>
            <a:ext cx="8229600" cy="228600"/>
          </a:xfrm>
          <a:prstGeom prst="rect">
            <a:avLst/>
          </a:prstGeom>
          <a:noFill/>
          <a:ln/>
        </p:spPr>
        <p:txBody>
          <a:bodyPr wrap="square" lIns="0" tIns="0" rIns="0" bIns="0" rtlCol="0" anchor="t"/>
          <a:lstStyle/>
          <a:p>
            <a:pPr indent="0" marL="0">
              <a:buNone/>
            </a:pPr>
            <a:r>
              <a:rPr lang="en-US" sz="1100" b="1" spc="200" kern="0" dirty="0">
                <a:solidFill>
                  <a:srgbClr val="2563EB"/>
                </a:solidFill>
                <a:latin typeface="Arial" pitchFamily="34" charset="0"/>
                <a:ea typeface="Arial" pitchFamily="34" charset="-122"/>
                <a:cs typeface="Arial" pitchFamily="34" charset="-120"/>
              </a:rPr>
              <a:t>SOFTWARE DESIGN</a:t>
            </a:r>
            <a:endParaRPr lang="en-US" sz="1100" dirty="0"/>
          </a:p>
        </p:txBody>
      </p:sp>
      <p:sp>
        <p:nvSpPr>
          <p:cNvPr id="4" name="Text 2"/>
          <p:cNvSpPr txBox="1"/>
          <p:nvPr/>
        </p:nvSpPr>
        <p:spPr>
          <a:xfrm>
            <a:off x="548640" y="603504"/>
            <a:ext cx="11155680" cy="594360"/>
          </a:xfrm>
          <a:prstGeom prst="rect">
            <a:avLst/>
          </a:prstGeom>
          <a:noFill/>
          <a:ln/>
        </p:spPr>
        <p:txBody>
          <a:bodyPr wrap="square" lIns="0" tIns="0" rIns="0" bIns="0" rtlCol="0" anchor="t"/>
          <a:lstStyle/>
          <a:p>
            <a:pPr indent="0" marL="0">
              <a:buNone/>
            </a:pPr>
            <a:r>
              <a:rPr lang="en-US" sz="2800" b="1" dirty="0">
                <a:solidFill>
                  <a:srgbClr val="14213D"/>
                </a:solidFill>
                <a:latin typeface="Arial" pitchFamily="34" charset="0"/>
                <a:ea typeface="Arial" pitchFamily="34" charset="-122"/>
                <a:cs typeface="Arial" pitchFamily="34" charset="-120"/>
              </a:rPr>
              <a:t>Software interface: every instrument and Proto in one workbench</a:t>
            </a:r>
            <a:endParaRPr lang="en-US" sz="2800" dirty="0"/>
          </a:p>
        </p:txBody>
      </p:sp>
      <p:sp>
        <p:nvSpPr>
          <p:cNvPr id="5" name="Shape 3"/>
          <p:cNvSpPr/>
          <p:nvPr/>
        </p:nvSpPr>
        <p:spPr>
          <a:xfrm>
            <a:off x="548640" y="6419088"/>
            <a:ext cx="11091672" cy="0"/>
          </a:xfrm>
          <a:prstGeom prst="line">
            <a:avLst/>
          </a:prstGeom>
          <a:noFill/>
          <a:ln w="12700">
            <a:solidFill>
              <a:srgbClr val="E2E8F0"/>
            </a:solidFill>
            <a:prstDash val="solid"/>
          </a:ln>
        </p:spPr>
      </p:sp>
      <p:sp>
        <p:nvSpPr>
          <p:cNvPr id="6" name="Text 4"/>
          <p:cNvSpPr txBox="1"/>
          <p:nvPr/>
        </p:nvSpPr>
        <p:spPr>
          <a:xfrm>
            <a:off x="548640" y="6492240"/>
            <a:ext cx="7315200" cy="228600"/>
          </a:xfrm>
          <a:prstGeom prst="rect">
            <a:avLst/>
          </a:prstGeom>
          <a:noFill/>
          <a:ln/>
        </p:spPr>
        <p:txBody>
          <a:bodyPr wrap="square" lIns="0" tIns="0" rIns="0" bIns="0" rtlCol="0" anchor="t"/>
          <a:lstStyle/>
          <a:p>
            <a:pPr indent="0" marL="0">
              <a:buNone/>
            </a:pPr>
            <a:r>
              <a:rPr lang="en-US" sz="1000" dirty="0">
                <a:solidFill>
                  <a:srgbClr val="64748B"/>
                </a:solidFill>
                <a:latin typeface="Arial" pitchFamily="34" charset="0"/>
                <a:ea typeface="Arial" pitchFamily="34" charset="-122"/>
                <a:cs typeface="Arial" pitchFamily="34" charset="-120"/>
              </a:rPr>
              <a:t>Intelligent USB-Based Electronics Platform  ·  SEC Project</a:t>
            </a:r>
            <a:endParaRPr lang="en-US" sz="1000" dirty="0"/>
          </a:p>
        </p:txBody>
      </p:sp>
      <p:sp>
        <p:nvSpPr>
          <p:cNvPr id="7" name="Text 5"/>
          <p:cNvSpPr txBox="1"/>
          <p:nvPr/>
        </p:nvSpPr>
        <p:spPr>
          <a:xfrm>
            <a:off x="10725912" y="6492240"/>
            <a:ext cx="914400" cy="228600"/>
          </a:xfrm>
          <a:prstGeom prst="rect">
            <a:avLst/>
          </a:prstGeom>
          <a:noFill/>
          <a:ln/>
        </p:spPr>
        <p:txBody>
          <a:bodyPr wrap="square" lIns="0" tIns="0" rIns="0" bIns="0" rtlCol="0" anchor="t"/>
          <a:lstStyle/>
          <a:p>
            <a:pPr algn="r" indent="0" marL="0">
              <a:buNone/>
            </a:pPr>
            <a:r>
              <a:rPr lang="en-US" sz="1000" dirty="0">
                <a:solidFill>
                  <a:srgbClr val="64748B"/>
                </a:solidFill>
                <a:latin typeface="Arial" pitchFamily="34" charset="0"/>
                <a:ea typeface="Arial" pitchFamily="34" charset="-122"/>
                <a:cs typeface="Arial" pitchFamily="34" charset="-120"/>
              </a:rPr>
              <a:t>5 / 7</a:t>
            </a:r>
            <a:endParaRPr lang="en-US" sz="1000" dirty="0"/>
          </a:p>
        </p:txBody>
      </p:sp>
      <p:pic>
        <p:nvPicPr>
          <p:cNvPr id="8" name="Image 0" descr="/tmp/claude-0/-home-user-robowar/aee4da2e-473c-53db-a5de-8e0dc57de510/scratchpad/sec/img/software_ui.png">    </p:cNvPr>
          <p:cNvPicPr>
            <a:picLocks noChangeAspect="1"/>
          </p:cNvPicPr>
          <p:nvPr/>
        </p:nvPicPr>
        <p:blipFill>
          <a:blip r:embed="rId1"/>
          <a:stretch>
            <a:fillRect/>
          </a:stretch>
        </p:blipFill>
        <p:spPr>
          <a:xfrm>
            <a:off x="548640" y="1371600"/>
            <a:ext cx="8138160" cy="4577486"/>
          </a:xfrm>
          <a:prstGeom prst="rect">
            <a:avLst/>
          </a:prstGeom>
        </p:spPr>
      </p:pic>
      <p:sp>
        <p:nvSpPr>
          <p:cNvPr id="9" name="Text 6"/>
          <p:cNvSpPr txBox="1"/>
          <p:nvPr/>
        </p:nvSpPr>
        <p:spPr>
          <a:xfrm>
            <a:off x="9006840" y="1371600"/>
            <a:ext cx="2651760" cy="274320"/>
          </a:xfrm>
          <a:prstGeom prst="rect">
            <a:avLst/>
          </a:prstGeom>
          <a:noFill/>
          <a:ln/>
        </p:spPr>
        <p:txBody>
          <a:bodyPr wrap="square" lIns="0" tIns="0" rIns="0" bIns="0" rtlCol="0" anchor="t"/>
          <a:lstStyle/>
          <a:p>
            <a:pPr indent="0" marL="0">
              <a:buNone/>
            </a:pPr>
            <a:r>
              <a:rPr lang="en-US" sz="1100" b="1" spc="150" kern="0" dirty="0">
                <a:solidFill>
                  <a:srgbClr val="64748B"/>
                </a:solidFill>
                <a:latin typeface="Arial" pitchFamily="34" charset="0"/>
                <a:ea typeface="Arial" pitchFamily="34" charset="-122"/>
                <a:cs typeface="Arial" pitchFamily="34" charset="-120"/>
              </a:rPr>
              <a:t>SOFTWARE STACK</a:t>
            </a:r>
            <a:endParaRPr lang="en-US" sz="1100" dirty="0"/>
          </a:p>
        </p:txBody>
      </p:sp>
      <p:sp>
        <p:nvSpPr>
          <p:cNvPr id="10" name="Shape 7"/>
          <p:cNvSpPr/>
          <p:nvPr/>
        </p:nvSpPr>
        <p:spPr>
          <a:xfrm>
            <a:off x="9006840" y="1719072"/>
            <a:ext cx="2633472" cy="749808"/>
          </a:xfrm>
          <a:prstGeom prst="roundRect">
            <a:avLst>
              <a:gd name="adj" fmla="val 6098"/>
            </a:avLst>
          </a:prstGeom>
          <a:solidFill>
            <a:srgbClr val="F5B700"/>
          </a:solidFill>
          <a:ln w="12700">
            <a:solidFill>
              <a:srgbClr val="F5B700"/>
            </a:solidFill>
            <a:prstDash val="solid"/>
          </a:ln>
        </p:spPr>
      </p:sp>
      <p:sp>
        <p:nvSpPr>
          <p:cNvPr id="11" name="Text 8"/>
          <p:cNvSpPr txBox="1"/>
          <p:nvPr/>
        </p:nvSpPr>
        <p:spPr>
          <a:xfrm>
            <a:off x="9116568" y="1792224"/>
            <a:ext cx="2468880" cy="274320"/>
          </a:xfrm>
          <a:prstGeom prst="rect">
            <a:avLst/>
          </a:prstGeom>
          <a:noFill/>
          <a:ln/>
        </p:spPr>
        <p:txBody>
          <a:bodyPr wrap="square" lIns="0" tIns="0" rIns="0" bIns="0" rtlCol="0" anchor="t"/>
          <a:lstStyle/>
          <a:p>
            <a:pPr indent="0" marL="0">
              <a:buNone/>
            </a:pPr>
            <a:r>
              <a:rPr lang="en-US" sz="1300" b="1" dirty="0">
                <a:solidFill>
                  <a:srgbClr val="14213D"/>
                </a:solidFill>
                <a:latin typeface="Arial" pitchFamily="34" charset="0"/>
                <a:ea typeface="Arial" pitchFamily="34" charset="-122"/>
                <a:cs typeface="Arial" pitchFamily="34" charset="-120"/>
              </a:rPr>
              <a:t>Proto, AI engineer</a:t>
            </a:r>
            <a:endParaRPr lang="en-US" sz="1300" dirty="0"/>
          </a:p>
        </p:txBody>
      </p:sp>
      <p:sp>
        <p:nvSpPr>
          <p:cNvPr id="12" name="Text 9"/>
          <p:cNvSpPr txBox="1"/>
          <p:nvPr/>
        </p:nvSpPr>
        <p:spPr>
          <a:xfrm>
            <a:off x="9116568" y="2103120"/>
            <a:ext cx="2468880" cy="320040"/>
          </a:xfrm>
          <a:prstGeom prst="rect">
            <a:avLst/>
          </a:prstGeom>
          <a:noFill/>
          <a:ln/>
        </p:spPr>
        <p:txBody>
          <a:bodyPr wrap="square" lIns="0" tIns="0" rIns="0" bIns="0" rtlCol="0" anchor="t"/>
          <a:lstStyle/>
          <a:p>
            <a:pPr indent="0" marL="0">
              <a:buNone/>
            </a:pPr>
            <a:r>
              <a:rPr lang="en-US" sz="1050" dirty="0">
                <a:solidFill>
                  <a:srgbClr val="14213D"/>
                </a:solidFill>
                <a:latin typeface="Arial" pitchFamily="34" charset="0"/>
                <a:ea typeface="Arial" pitchFamily="34" charset="-122"/>
                <a:cs typeface="Arial" pitchFamily="34" charset="-120"/>
              </a:rPr>
              <a:t>plans tests, explains results</a:t>
            </a:r>
            <a:endParaRPr lang="en-US" sz="1050" dirty="0"/>
          </a:p>
        </p:txBody>
      </p:sp>
      <p:sp>
        <p:nvSpPr>
          <p:cNvPr id="13" name="Shape 10"/>
          <p:cNvSpPr/>
          <p:nvPr/>
        </p:nvSpPr>
        <p:spPr>
          <a:xfrm>
            <a:off x="9006840" y="2569464"/>
            <a:ext cx="2633472" cy="749808"/>
          </a:xfrm>
          <a:prstGeom prst="roundRect">
            <a:avLst>
              <a:gd name="adj" fmla="val 6098"/>
            </a:avLst>
          </a:prstGeom>
          <a:solidFill>
            <a:srgbClr val="2563EB"/>
          </a:solidFill>
          <a:ln w="12700">
            <a:solidFill>
              <a:srgbClr val="2563EB"/>
            </a:solidFill>
            <a:prstDash val="solid"/>
          </a:ln>
        </p:spPr>
      </p:sp>
      <p:sp>
        <p:nvSpPr>
          <p:cNvPr id="14" name="Text 11"/>
          <p:cNvSpPr txBox="1"/>
          <p:nvPr/>
        </p:nvSpPr>
        <p:spPr>
          <a:xfrm>
            <a:off x="9116568" y="2642616"/>
            <a:ext cx="2468880" cy="274320"/>
          </a:xfrm>
          <a:prstGeom prst="rect">
            <a:avLst/>
          </a:prstGeom>
          <a:noFill/>
          <a:ln/>
        </p:spPr>
        <p:txBody>
          <a:bodyPr wrap="square" lIns="0" tIns="0" rIns="0" bIns="0" rtlCol="0" anchor="t"/>
          <a:lstStyle/>
          <a:p>
            <a:pPr indent="0" marL="0">
              <a:buNone/>
            </a:pPr>
            <a:r>
              <a:rPr lang="en-US" sz="1300" b="1" dirty="0">
                <a:solidFill>
                  <a:srgbClr val="FFFFFF"/>
                </a:solidFill>
                <a:latin typeface="Arial" pitchFamily="34" charset="0"/>
                <a:ea typeface="Arial" pitchFamily="34" charset="-122"/>
                <a:cs typeface="Arial" pitchFamily="34" charset="-120"/>
              </a:rPr>
              <a:t>Workbench UI</a:t>
            </a:r>
            <a:endParaRPr lang="en-US" sz="1300" dirty="0"/>
          </a:p>
        </p:txBody>
      </p:sp>
      <p:sp>
        <p:nvSpPr>
          <p:cNvPr id="15" name="Text 12"/>
          <p:cNvSpPr txBox="1"/>
          <p:nvPr/>
        </p:nvSpPr>
        <p:spPr>
          <a:xfrm>
            <a:off x="9116568" y="2953512"/>
            <a:ext cx="2468880" cy="320040"/>
          </a:xfrm>
          <a:prstGeom prst="rect">
            <a:avLst/>
          </a:prstGeom>
          <a:noFill/>
          <a:ln/>
        </p:spPr>
        <p:txBody>
          <a:bodyPr wrap="square" lIns="0" tIns="0" rIns="0" bIns="0" rtlCol="0" anchor="t"/>
          <a:lstStyle/>
          <a:p>
            <a:pPr indent="0" marL="0">
              <a:buNone/>
            </a:pPr>
            <a:r>
              <a:rPr lang="en-US" sz="1050" dirty="0">
                <a:solidFill>
                  <a:srgbClr val="FFFFFF"/>
                </a:solidFill>
                <a:latin typeface="Arial" pitchFamily="34" charset="0"/>
                <a:ea typeface="Arial" pitchFamily="34" charset="-122"/>
                <a:cs typeface="Arial" pitchFamily="34" charset="-120"/>
              </a:rPr>
              <a:t>scope, logic, decoder, supplies, DMM views</a:t>
            </a:r>
            <a:endParaRPr lang="en-US" sz="1050" dirty="0"/>
          </a:p>
        </p:txBody>
      </p:sp>
      <p:sp>
        <p:nvSpPr>
          <p:cNvPr id="16" name="Shape 13"/>
          <p:cNvSpPr/>
          <p:nvPr/>
        </p:nvSpPr>
        <p:spPr>
          <a:xfrm>
            <a:off x="9006840" y="3419856"/>
            <a:ext cx="2633472" cy="749808"/>
          </a:xfrm>
          <a:prstGeom prst="roundRect">
            <a:avLst>
              <a:gd name="adj" fmla="val 6098"/>
            </a:avLst>
          </a:prstGeom>
          <a:solidFill>
            <a:srgbClr val="1E40AF"/>
          </a:solidFill>
          <a:ln w="12700">
            <a:solidFill>
              <a:srgbClr val="1E40AF"/>
            </a:solidFill>
            <a:prstDash val="solid"/>
          </a:ln>
        </p:spPr>
      </p:sp>
      <p:sp>
        <p:nvSpPr>
          <p:cNvPr id="17" name="Text 14"/>
          <p:cNvSpPr txBox="1"/>
          <p:nvPr/>
        </p:nvSpPr>
        <p:spPr>
          <a:xfrm>
            <a:off x="9116568" y="3493008"/>
            <a:ext cx="2468880" cy="274320"/>
          </a:xfrm>
          <a:prstGeom prst="rect">
            <a:avLst/>
          </a:prstGeom>
          <a:noFill/>
          <a:ln/>
        </p:spPr>
        <p:txBody>
          <a:bodyPr wrap="square" lIns="0" tIns="0" rIns="0" bIns="0" rtlCol="0" anchor="t"/>
          <a:lstStyle/>
          <a:p>
            <a:pPr indent="0" marL="0">
              <a:buNone/>
            </a:pPr>
            <a:r>
              <a:rPr lang="en-US" sz="1300" b="1" dirty="0">
                <a:solidFill>
                  <a:srgbClr val="FFFFFF"/>
                </a:solidFill>
                <a:latin typeface="Arial" pitchFamily="34" charset="0"/>
                <a:ea typeface="Arial" pitchFamily="34" charset="-122"/>
                <a:cs typeface="Arial" pitchFamily="34" charset="-120"/>
              </a:rPr>
              <a:t>Device API</a:t>
            </a:r>
            <a:endParaRPr lang="en-US" sz="1300" dirty="0"/>
          </a:p>
        </p:txBody>
      </p:sp>
      <p:sp>
        <p:nvSpPr>
          <p:cNvPr id="18" name="Text 15"/>
          <p:cNvSpPr txBox="1"/>
          <p:nvPr/>
        </p:nvSpPr>
        <p:spPr>
          <a:xfrm>
            <a:off x="9116568" y="3803904"/>
            <a:ext cx="2468880" cy="320040"/>
          </a:xfrm>
          <a:prstGeom prst="rect">
            <a:avLst/>
          </a:prstGeom>
          <a:noFill/>
          <a:ln/>
        </p:spPr>
        <p:txBody>
          <a:bodyPr wrap="square" lIns="0" tIns="0" rIns="0" bIns="0" rtlCol="0" anchor="t"/>
          <a:lstStyle/>
          <a:p>
            <a:pPr indent="0" marL="0">
              <a:buNone/>
            </a:pPr>
            <a:r>
              <a:rPr lang="en-US" sz="1050" dirty="0">
                <a:solidFill>
                  <a:srgbClr val="FFFFFF"/>
                </a:solidFill>
                <a:latin typeface="Arial" pitchFamily="34" charset="0"/>
                <a:ea typeface="Arial" pitchFamily="34" charset="-122"/>
                <a:cs typeface="Arial" pitchFamily="34" charset="-120"/>
              </a:rPr>
              <a:t>commands, streaming, logging</a:t>
            </a:r>
            <a:endParaRPr lang="en-US" sz="1050" dirty="0"/>
          </a:p>
        </p:txBody>
      </p:sp>
      <p:sp>
        <p:nvSpPr>
          <p:cNvPr id="19" name="Shape 16"/>
          <p:cNvSpPr/>
          <p:nvPr/>
        </p:nvSpPr>
        <p:spPr>
          <a:xfrm>
            <a:off x="9006840" y="4270248"/>
            <a:ext cx="2633472" cy="749808"/>
          </a:xfrm>
          <a:prstGeom prst="roundRect">
            <a:avLst>
              <a:gd name="adj" fmla="val 6098"/>
            </a:avLst>
          </a:prstGeom>
          <a:solidFill>
            <a:srgbClr val="1E3A8A"/>
          </a:solidFill>
          <a:ln w="12700">
            <a:solidFill>
              <a:srgbClr val="1E3A8A"/>
            </a:solidFill>
            <a:prstDash val="solid"/>
          </a:ln>
        </p:spPr>
      </p:sp>
      <p:sp>
        <p:nvSpPr>
          <p:cNvPr id="20" name="Text 17"/>
          <p:cNvSpPr txBox="1"/>
          <p:nvPr/>
        </p:nvSpPr>
        <p:spPr>
          <a:xfrm>
            <a:off x="9116568" y="4343400"/>
            <a:ext cx="2468880" cy="274320"/>
          </a:xfrm>
          <a:prstGeom prst="rect">
            <a:avLst/>
          </a:prstGeom>
          <a:noFill/>
          <a:ln/>
        </p:spPr>
        <p:txBody>
          <a:bodyPr wrap="square" lIns="0" tIns="0" rIns="0" bIns="0" rtlCol="0" anchor="t"/>
          <a:lstStyle/>
          <a:p>
            <a:pPr indent="0" marL="0">
              <a:buNone/>
            </a:pPr>
            <a:r>
              <a:rPr lang="en-US" sz="1300" b="1" dirty="0">
                <a:solidFill>
                  <a:srgbClr val="FFFFFF"/>
                </a:solidFill>
                <a:latin typeface="Arial" pitchFamily="34" charset="0"/>
                <a:ea typeface="Arial" pitchFamily="34" charset="-122"/>
                <a:cs typeface="Arial" pitchFamily="34" charset="-120"/>
              </a:rPr>
              <a:t>USB transport</a:t>
            </a:r>
            <a:endParaRPr lang="en-US" sz="1300" dirty="0"/>
          </a:p>
        </p:txBody>
      </p:sp>
      <p:sp>
        <p:nvSpPr>
          <p:cNvPr id="21" name="Text 18"/>
          <p:cNvSpPr txBox="1"/>
          <p:nvPr/>
        </p:nvSpPr>
        <p:spPr>
          <a:xfrm>
            <a:off x="9116568" y="4654296"/>
            <a:ext cx="2468880" cy="320040"/>
          </a:xfrm>
          <a:prstGeom prst="rect">
            <a:avLst/>
          </a:prstGeom>
          <a:noFill/>
          <a:ln/>
        </p:spPr>
        <p:txBody>
          <a:bodyPr wrap="square" lIns="0" tIns="0" rIns="0" bIns="0" rtlCol="0" anchor="t"/>
          <a:lstStyle/>
          <a:p>
            <a:pPr indent="0" marL="0">
              <a:buNone/>
            </a:pPr>
            <a:r>
              <a:rPr lang="en-US" sz="1050" dirty="0">
                <a:solidFill>
                  <a:srgbClr val="FFFFFF"/>
                </a:solidFill>
                <a:latin typeface="Arial" pitchFamily="34" charset="0"/>
                <a:ea typeface="Arial" pitchFamily="34" charset="-122"/>
                <a:cs typeface="Arial" pitchFamily="34" charset="-120"/>
              </a:rPr>
              <a:t>USB 2.0 high-speed data link</a:t>
            </a:r>
            <a:endParaRPr lang="en-US" sz="1050" dirty="0"/>
          </a:p>
        </p:txBody>
      </p:sp>
      <p:sp>
        <p:nvSpPr>
          <p:cNvPr id="22" name="Shape 19"/>
          <p:cNvSpPr/>
          <p:nvPr/>
        </p:nvSpPr>
        <p:spPr>
          <a:xfrm>
            <a:off x="9006840" y="5120640"/>
            <a:ext cx="2633472" cy="749808"/>
          </a:xfrm>
          <a:prstGeom prst="roundRect">
            <a:avLst>
              <a:gd name="adj" fmla="val 6098"/>
            </a:avLst>
          </a:prstGeom>
          <a:solidFill>
            <a:srgbClr val="14213D"/>
          </a:solidFill>
          <a:ln w="12700">
            <a:solidFill>
              <a:srgbClr val="14213D"/>
            </a:solidFill>
            <a:prstDash val="solid"/>
          </a:ln>
        </p:spPr>
      </p:sp>
      <p:sp>
        <p:nvSpPr>
          <p:cNvPr id="23" name="Text 20"/>
          <p:cNvSpPr txBox="1"/>
          <p:nvPr/>
        </p:nvSpPr>
        <p:spPr>
          <a:xfrm>
            <a:off x="9116568" y="5193792"/>
            <a:ext cx="2468880" cy="274320"/>
          </a:xfrm>
          <a:prstGeom prst="rect">
            <a:avLst/>
          </a:prstGeom>
          <a:noFill/>
          <a:ln/>
        </p:spPr>
        <p:txBody>
          <a:bodyPr wrap="square" lIns="0" tIns="0" rIns="0" bIns="0" rtlCol="0" anchor="t"/>
          <a:lstStyle/>
          <a:p>
            <a:pPr indent="0" marL="0">
              <a:buNone/>
            </a:pPr>
            <a:r>
              <a:rPr lang="en-US" sz="1300" b="1" dirty="0">
                <a:solidFill>
                  <a:srgbClr val="FFFFFF"/>
                </a:solidFill>
                <a:latin typeface="Arial" pitchFamily="34" charset="0"/>
                <a:ea typeface="Arial" pitchFamily="34" charset="-122"/>
                <a:cs typeface="Arial" pitchFamily="34" charset="-120"/>
              </a:rPr>
              <a:t>FPGA gateware</a:t>
            </a:r>
            <a:endParaRPr lang="en-US" sz="1300" dirty="0"/>
          </a:p>
        </p:txBody>
      </p:sp>
      <p:sp>
        <p:nvSpPr>
          <p:cNvPr id="24" name="Text 21"/>
          <p:cNvSpPr txBox="1"/>
          <p:nvPr/>
        </p:nvSpPr>
        <p:spPr>
          <a:xfrm>
            <a:off x="9116568" y="5504688"/>
            <a:ext cx="2468880" cy="320040"/>
          </a:xfrm>
          <a:prstGeom prst="rect">
            <a:avLst/>
          </a:prstGeom>
          <a:noFill/>
          <a:ln/>
        </p:spPr>
        <p:txBody>
          <a:bodyPr wrap="square" lIns="0" tIns="0" rIns="0" bIns="0" rtlCol="0" anchor="t"/>
          <a:lstStyle/>
          <a:p>
            <a:pPr indent="0" marL="0">
              <a:buNone/>
            </a:pPr>
            <a:r>
              <a:rPr lang="en-US" sz="1050" dirty="0">
                <a:solidFill>
                  <a:srgbClr val="FFFFFF"/>
                </a:solidFill>
                <a:latin typeface="Arial" pitchFamily="34" charset="0"/>
                <a:ea typeface="Arial" pitchFamily="34" charset="-122"/>
                <a:cs typeface="Arial" pitchFamily="34" charset="-120"/>
              </a:rPr>
              <a:t>trigger, capture, DDS, decode</a:t>
            </a:r>
            <a:endParaRPr lang="en-US" sz="1050" dirty="0"/>
          </a:p>
        </p:txBody>
      </p:sp>
      <p:sp>
        <p:nvSpPr>
          <p:cNvPr id="25" name="Text 22"/>
          <p:cNvSpPr txBox="1"/>
          <p:nvPr/>
        </p:nvSpPr>
        <p:spPr>
          <a:xfrm>
            <a:off x="9006840" y="5989320"/>
            <a:ext cx="2651760" cy="365760"/>
          </a:xfrm>
          <a:prstGeom prst="rect">
            <a:avLst/>
          </a:prstGeom>
          <a:noFill/>
          <a:ln/>
        </p:spPr>
        <p:txBody>
          <a:bodyPr wrap="square" lIns="0" tIns="0" rIns="0" bIns="0" rtlCol="0" anchor="t"/>
          <a:lstStyle/>
          <a:p>
            <a:pPr indent="0" marL="0">
              <a:buNone/>
            </a:pPr>
            <a:r>
              <a:rPr lang="en-US" sz="950" i="1" dirty="0">
                <a:solidFill>
                  <a:srgbClr val="64748B"/>
                </a:solidFill>
                <a:latin typeface="Arial" pitchFamily="34" charset="0"/>
                <a:ea typeface="Arial" pitchFamily="34" charset="-122"/>
                <a:cs typeface="Arial" pitchFamily="34" charset="-120"/>
              </a:rPr>
              <a:t>Top: what the user sees. Bottom: what runs on the hardware.</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4213D"/>
          </a:solidFill>
          <a:ln w="12700">
            <a:solidFill>
              <a:srgbClr val="14213D"/>
            </a:solidFill>
            <a:prstDash val="solid"/>
          </a:ln>
        </p:spPr>
      </p:sp>
      <p:sp>
        <p:nvSpPr>
          <p:cNvPr id="3" name="Text 1"/>
          <p:cNvSpPr txBox="1"/>
          <p:nvPr/>
        </p:nvSpPr>
        <p:spPr>
          <a:xfrm>
            <a:off x="548640" y="347472"/>
            <a:ext cx="8229600" cy="228600"/>
          </a:xfrm>
          <a:prstGeom prst="rect">
            <a:avLst/>
          </a:prstGeom>
          <a:noFill/>
          <a:ln/>
        </p:spPr>
        <p:txBody>
          <a:bodyPr wrap="square" lIns="0" tIns="0" rIns="0" bIns="0" rtlCol="0" anchor="t"/>
          <a:lstStyle/>
          <a:p>
            <a:pPr indent="0" marL="0">
              <a:buNone/>
            </a:pPr>
            <a:r>
              <a:rPr lang="en-US" sz="1100" b="1" spc="200" kern="0" dirty="0">
                <a:solidFill>
                  <a:srgbClr val="2563EB"/>
                </a:solidFill>
                <a:latin typeface="Arial" pitchFamily="34" charset="0"/>
                <a:ea typeface="Arial" pitchFamily="34" charset="-122"/>
                <a:cs typeface="Arial" pitchFamily="34" charset="-120"/>
              </a:rPr>
              <a:t>INTELLIGENCE AND RESULTS</a:t>
            </a:r>
            <a:endParaRPr lang="en-US" sz="1100" dirty="0"/>
          </a:p>
        </p:txBody>
      </p:sp>
      <p:sp>
        <p:nvSpPr>
          <p:cNvPr id="4" name="Text 2"/>
          <p:cNvSpPr txBox="1"/>
          <p:nvPr/>
        </p:nvSpPr>
        <p:spPr>
          <a:xfrm>
            <a:off x="548640" y="603504"/>
            <a:ext cx="11155680" cy="594360"/>
          </a:xfrm>
          <a:prstGeom prst="rect">
            <a:avLst/>
          </a:prstGeom>
          <a:noFill/>
          <a:ln/>
        </p:spPr>
        <p:txBody>
          <a:bodyPr wrap="square" lIns="0" tIns="0" rIns="0" bIns="0" rtlCol="0" anchor="t"/>
          <a:lstStyle/>
          <a:p>
            <a:pPr indent="0" marL="0">
              <a:buNone/>
            </a:pPr>
            <a:r>
              <a:rPr lang="en-US" sz="2800" b="1" dirty="0">
                <a:solidFill>
                  <a:srgbClr val="14213D"/>
                </a:solidFill>
                <a:latin typeface="Arial" pitchFamily="34" charset="0"/>
                <a:ea typeface="Arial" pitchFamily="34" charset="-122"/>
                <a:cs typeface="Arial" pitchFamily="34" charset="-120"/>
              </a:rPr>
              <a:t>Proto, the AI engineer: from a measurement to a verdict</a:t>
            </a:r>
            <a:endParaRPr lang="en-US" sz="2800" dirty="0"/>
          </a:p>
        </p:txBody>
      </p:sp>
      <p:sp>
        <p:nvSpPr>
          <p:cNvPr id="5" name="Shape 3"/>
          <p:cNvSpPr/>
          <p:nvPr/>
        </p:nvSpPr>
        <p:spPr>
          <a:xfrm>
            <a:off x="548640" y="6419088"/>
            <a:ext cx="11091672" cy="0"/>
          </a:xfrm>
          <a:prstGeom prst="line">
            <a:avLst/>
          </a:prstGeom>
          <a:noFill/>
          <a:ln w="12700">
            <a:solidFill>
              <a:srgbClr val="E2E8F0"/>
            </a:solidFill>
            <a:prstDash val="solid"/>
          </a:ln>
        </p:spPr>
      </p:sp>
      <p:sp>
        <p:nvSpPr>
          <p:cNvPr id="6" name="Text 4"/>
          <p:cNvSpPr txBox="1"/>
          <p:nvPr/>
        </p:nvSpPr>
        <p:spPr>
          <a:xfrm>
            <a:off x="548640" y="6492240"/>
            <a:ext cx="7315200" cy="228600"/>
          </a:xfrm>
          <a:prstGeom prst="rect">
            <a:avLst/>
          </a:prstGeom>
          <a:noFill/>
          <a:ln/>
        </p:spPr>
        <p:txBody>
          <a:bodyPr wrap="square" lIns="0" tIns="0" rIns="0" bIns="0" rtlCol="0" anchor="t"/>
          <a:lstStyle/>
          <a:p>
            <a:pPr indent="0" marL="0">
              <a:buNone/>
            </a:pPr>
            <a:r>
              <a:rPr lang="en-US" sz="1000" dirty="0">
                <a:solidFill>
                  <a:srgbClr val="64748B"/>
                </a:solidFill>
                <a:latin typeface="Arial" pitchFamily="34" charset="0"/>
                <a:ea typeface="Arial" pitchFamily="34" charset="-122"/>
                <a:cs typeface="Arial" pitchFamily="34" charset="-120"/>
              </a:rPr>
              <a:t>Intelligent USB-Based Electronics Platform  ·  SEC Project</a:t>
            </a:r>
            <a:endParaRPr lang="en-US" sz="1000" dirty="0"/>
          </a:p>
        </p:txBody>
      </p:sp>
      <p:sp>
        <p:nvSpPr>
          <p:cNvPr id="7" name="Text 5"/>
          <p:cNvSpPr txBox="1"/>
          <p:nvPr/>
        </p:nvSpPr>
        <p:spPr>
          <a:xfrm>
            <a:off x="10725912" y="6492240"/>
            <a:ext cx="914400" cy="228600"/>
          </a:xfrm>
          <a:prstGeom prst="rect">
            <a:avLst/>
          </a:prstGeom>
          <a:noFill/>
          <a:ln/>
        </p:spPr>
        <p:txBody>
          <a:bodyPr wrap="square" lIns="0" tIns="0" rIns="0" bIns="0" rtlCol="0" anchor="t"/>
          <a:lstStyle/>
          <a:p>
            <a:pPr algn="r" indent="0" marL="0">
              <a:buNone/>
            </a:pPr>
            <a:r>
              <a:rPr lang="en-US" sz="1000" dirty="0">
                <a:solidFill>
                  <a:srgbClr val="64748B"/>
                </a:solidFill>
                <a:latin typeface="Arial" pitchFamily="34" charset="0"/>
                <a:ea typeface="Arial" pitchFamily="34" charset="-122"/>
                <a:cs typeface="Arial" pitchFamily="34" charset="-120"/>
              </a:rPr>
              <a:t>6 / 7</a:t>
            </a:r>
            <a:endParaRPr lang="en-US" sz="1000" dirty="0"/>
          </a:p>
        </p:txBody>
      </p:sp>
      <p:sp>
        <p:nvSpPr>
          <p:cNvPr id="8" name="Text 6"/>
          <p:cNvSpPr txBox="1"/>
          <p:nvPr/>
        </p:nvSpPr>
        <p:spPr>
          <a:xfrm>
            <a:off x="548640" y="1371600"/>
            <a:ext cx="3291840" cy="274320"/>
          </a:xfrm>
          <a:prstGeom prst="rect">
            <a:avLst/>
          </a:prstGeom>
          <a:noFill/>
          <a:ln/>
        </p:spPr>
        <p:txBody>
          <a:bodyPr wrap="square" lIns="0" tIns="0" rIns="0" bIns="0" rtlCol="0" anchor="t"/>
          <a:lstStyle/>
          <a:p>
            <a:pPr indent="0" marL="0">
              <a:buNone/>
            </a:pPr>
            <a:r>
              <a:rPr lang="en-US" sz="1100" b="1" spc="150" kern="0" dirty="0">
                <a:solidFill>
                  <a:srgbClr val="64748B"/>
                </a:solidFill>
                <a:latin typeface="Arial" pitchFamily="34" charset="0"/>
                <a:ea typeface="Arial" pitchFamily="34" charset="-122"/>
                <a:cs typeface="Arial" pitchFamily="34" charset="-120"/>
              </a:rPr>
              <a:t>HOW PROTO RUNS A TEST</a:t>
            </a:r>
            <a:endParaRPr lang="en-US" sz="1100" dirty="0"/>
          </a:p>
        </p:txBody>
      </p:sp>
      <p:sp>
        <p:nvSpPr>
          <p:cNvPr id="9" name="Shape 7"/>
          <p:cNvSpPr/>
          <p:nvPr/>
        </p:nvSpPr>
        <p:spPr>
          <a:xfrm>
            <a:off x="548640" y="1755648"/>
            <a:ext cx="384048" cy="384048"/>
          </a:xfrm>
          <a:prstGeom prst="ellipse">
            <a:avLst/>
          </a:prstGeom>
          <a:solidFill>
            <a:srgbClr val="14213D"/>
          </a:solidFill>
          <a:ln w="12700">
            <a:solidFill>
              <a:srgbClr val="14213D"/>
            </a:solidFill>
            <a:prstDash val="solid"/>
          </a:ln>
        </p:spPr>
      </p:sp>
      <p:sp>
        <p:nvSpPr>
          <p:cNvPr id="10" name="Text 8"/>
          <p:cNvSpPr txBox="1"/>
          <p:nvPr/>
        </p:nvSpPr>
        <p:spPr>
          <a:xfrm>
            <a:off x="548640" y="1755648"/>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11" name="Shape 9"/>
          <p:cNvSpPr/>
          <p:nvPr/>
        </p:nvSpPr>
        <p:spPr>
          <a:xfrm>
            <a:off x="740664" y="2148840"/>
            <a:ext cx="0" cy="118872"/>
          </a:xfrm>
          <a:prstGeom prst="line">
            <a:avLst/>
          </a:prstGeom>
          <a:noFill/>
          <a:ln w="12700">
            <a:solidFill>
              <a:srgbClr val="94A3B8"/>
            </a:solidFill>
            <a:prstDash val="solid"/>
          </a:ln>
        </p:spPr>
      </p:sp>
      <p:sp>
        <p:nvSpPr>
          <p:cNvPr id="12" name="Text 10"/>
          <p:cNvSpPr txBox="1"/>
          <p:nvPr/>
        </p:nvSpPr>
        <p:spPr>
          <a:xfrm>
            <a:off x="1051560" y="1719072"/>
            <a:ext cx="2834640" cy="457200"/>
          </a:xfrm>
          <a:prstGeom prst="rect">
            <a:avLst/>
          </a:prstGeom>
          <a:noFill/>
          <a:ln/>
        </p:spPr>
        <p:txBody>
          <a:bodyPr wrap="square" lIns="0" tIns="0" rIns="0" bIns="0" rtlCol="0" anchor="ctr"/>
          <a:lstStyle/>
          <a:p>
            <a:pPr indent="0" marL="0">
              <a:buNone/>
            </a:pPr>
            <a:r>
              <a:rPr lang="en-US" sz="1300" dirty="0">
                <a:solidFill>
                  <a:srgbClr val="1E293B"/>
                </a:solidFill>
                <a:latin typeface="Arial" pitchFamily="34" charset="0"/>
                <a:ea typeface="Arial" pitchFamily="34" charset="-122"/>
                <a:cs typeface="Arial" pitchFamily="34" charset="-120"/>
              </a:rPr>
              <a:t>Connect the board</a:t>
            </a:r>
            <a:endParaRPr lang="en-US" sz="1300" dirty="0"/>
          </a:p>
        </p:txBody>
      </p:sp>
      <p:sp>
        <p:nvSpPr>
          <p:cNvPr id="13" name="Shape 11"/>
          <p:cNvSpPr/>
          <p:nvPr/>
        </p:nvSpPr>
        <p:spPr>
          <a:xfrm>
            <a:off x="548640" y="2304288"/>
            <a:ext cx="384048" cy="384048"/>
          </a:xfrm>
          <a:prstGeom prst="ellipse">
            <a:avLst/>
          </a:prstGeom>
          <a:solidFill>
            <a:srgbClr val="14213D"/>
          </a:solidFill>
          <a:ln w="12700">
            <a:solidFill>
              <a:srgbClr val="14213D"/>
            </a:solidFill>
            <a:prstDash val="solid"/>
          </a:ln>
        </p:spPr>
      </p:sp>
      <p:sp>
        <p:nvSpPr>
          <p:cNvPr id="14" name="Text 12"/>
          <p:cNvSpPr txBox="1"/>
          <p:nvPr/>
        </p:nvSpPr>
        <p:spPr>
          <a:xfrm>
            <a:off x="548640" y="2304288"/>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15" name="Shape 13"/>
          <p:cNvSpPr/>
          <p:nvPr/>
        </p:nvSpPr>
        <p:spPr>
          <a:xfrm>
            <a:off x="740664" y="2697480"/>
            <a:ext cx="0" cy="118872"/>
          </a:xfrm>
          <a:prstGeom prst="line">
            <a:avLst/>
          </a:prstGeom>
          <a:noFill/>
          <a:ln w="12700">
            <a:solidFill>
              <a:srgbClr val="94A3B8"/>
            </a:solidFill>
            <a:prstDash val="solid"/>
          </a:ln>
        </p:spPr>
      </p:sp>
      <p:sp>
        <p:nvSpPr>
          <p:cNvPr id="16" name="Text 14"/>
          <p:cNvSpPr txBox="1"/>
          <p:nvPr/>
        </p:nvSpPr>
        <p:spPr>
          <a:xfrm>
            <a:off x="1051560" y="2267712"/>
            <a:ext cx="2834640" cy="457200"/>
          </a:xfrm>
          <a:prstGeom prst="rect">
            <a:avLst/>
          </a:prstGeom>
          <a:noFill/>
          <a:ln/>
        </p:spPr>
        <p:txBody>
          <a:bodyPr wrap="square" lIns="0" tIns="0" rIns="0" bIns="0" rtlCol="0" anchor="ctr"/>
          <a:lstStyle/>
          <a:p>
            <a:pPr indent="0" marL="0">
              <a:buNone/>
            </a:pPr>
            <a:r>
              <a:rPr lang="en-US" sz="1300" dirty="0">
                <a:solidFill>
                  <a:srgbClr val="1E293B"/>
                </a:solidFill>
                <a:latin typeface="Arial" pitchFamily="34" charset="0"/>
                <a:ea typeface="Arial" pitchFamily="34" charset="-122"/>
                <a:cs typeface="Arial" pitchFamily="34" charset="-120"/>
              </a:rPr>
              <a:t>Power up, watch the current</a:t>
            </a:r>
            <a:endParaRPr lang="en-US" sz="1300" dirty="0"/>
          </a:p>
        </p:txBody>
      </p:sp>
      <p:sp>
        <p:nvSpPr>
          <p:cNvPr id="17" name="Shape 15"/>
          <p:cNvSpPr/>
          <p:nvPr/>
        </p:nvSpPr>
        <p:spPr>
          <a:xfrm>
            <a:off x="548640" y="2852928"/>
            <a:ext cx="384048" cy="384048"/>
          </a:xfrm>
          <a:prstGeom prst="ellipse">
            <a:avLst/>
          </a:prstGeom>
          <a:solidFill>
            <a:srgbClr val="14213D"/>
          </a:solidFill>
          <a:ln w="12700">
            <a:solidFill>
              <a:srgbClr val="14213D"/>
            </a:solidFill>
            <a:prstDash val="solid"/>
          </a:ln>
        </p:spPr>
      </p:sp>
      <p:sp>
        <p:nvSpPr>
          <p:cNvPr id="18" name="Text 16"/>
          <p:cNvSpPr txBox="1"/>
          <p:nvPr/>
        </p:nvSpPr>
        <p:spPr>
          <a:xfrm>
            <a:off x="548640" y="2852928"/>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19" name="Shape 17"/>
          <p:cNvSpPr/>
          <p:nvPr/>
        </p:nvSpPr>
        <p:spPr>
          <a:xfrm>
            <a:off x="740664" y="3246120"/>
            <a:ext cx="0" cy="118872"/>
          </a:xfrm>
          <a:prstGeom prst="line">
            <a:avLst/>
          </a:prstGeom>
          <a:noFill/>
          <a:ln w="12700">
            <a:solidFill>
              <a:srgbClr val="94A3B8"/>
            </a:solidFill>
            <a:prstDash val="solid"/>
          </a:ln>
        </p:spPr>
      </p:sp>
      <p:sp>
        <p:nvSpPr>
          <p:cNvPr id="20" name="Text 18"/>
          <p:cNvSpPr txBox="1"/>
          <p:nvPr/>
        </p:nvSpPr>
        <p:spPr>
          <a:xfrm>
            <a:off x="1051560" y="2816352"/>
            <a:ext cx="2834640" cy="457200"/>
          </a:xfrm>
          <a:prstGeom prst="rect">
            <a:avLst/>
          </a:prstGeom>
          <a:noFill/>
          <a:ln/>
        </p:spPr>
        <p:txBody>
          <a:bodyPr wrap="square" lIns="0" tIns="0" rIns="0" bIns="0" rtlCol="0" anchor="ctr"/>
          <a:lstStyle/>
          <a:p>
            <a:pPr indent="0" marL="0">
              <a:buNone/>
            </a:pPr>
            <a:r>
              <a:rPr lang="en-US" sz="1300" dirty="0">
                <a:solidFill>
                  <a:srgbClr val="1E293B"/>
                </a:solidFill>
                <a:latin typeface="Arial" pitchFamily="34" charset="0"/>
                <a:ea typeface="Arial" pitchFamily="34" charset="-122"/>
                <a:cs typeface="Arial" pitchFamily="34" charset="-120"/>
              </a:rPr>
              <a:t>Check every supply rail</a:t>
            </a:r>
            <a:endParaRPr lang="en-US" sz="1300" dirty="0"/>
          </a:p>
        </p:txBody>
      </p:sp>
      <p:sp>
        <p:nvSpPr>
          <p:cNvPr id="21" name="Shape 19"/>
          <p:cNvSpPr/>
          <p:nvPr/>
        </p:nvSpPr>
        <p:spPr>
          <a:xfrm>
            <a:off x="548640" y="3401568"/>
            <a:ext cx="384048" cy="384048"/>
          </a:xfrm>
          <a:prstGeom prst="ellipse">
            <a:avLst/>
          </a:prstGeom>
          <a:solidFill>
            <a:srgbClr val="14213D"/>
          </a:solidFill>
          <a:ln w="12700">
            <a:solidFill>
              <a:srgbClr val="14213D"/>
            </a:solidFill>
            <a:prstDash val="solid"/>
          </a:ln>
        </p:spPr>
      </p:sp>
      <p:sp>
        <p:nvSpPr>
          <p:cNvPr id="22" name="Text 20"/>
          <p:cNvSpPr txBox="1"/>
          <p:nvPr/>
        </p:nvSpPr>
        <p:spPr>
          <a:xfrm>
            <a:off x="548640" y="3401568"/>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4</a:t>
            </a:r>
            <a:endParaRPr lang="en-US" sz="1200" dirty="0"/>
          </a:p>
        </p:txBody>
      </p:sp>
      <p:sp>
        <p:nvSpPr>
          <p:cNvPr id="23" name="Shape 21"/>
          <p:cNvSpPr/>
          <p:nvPr/>
        </p:nvSpPr>
        <p:spPr>
          <a:xfrm>
            <a:off x="740664" y="3794760"/>
            <a:ext cx="0" cy="118872"/>
          </a:xfrm>
          <a:prstGeom prst="line">
            <a:avLst/>
          </a:prstGeom>
          <a:noFill/>
          <a:ln w="12700">
            <a:solidFill>
              <a:srgbClr val="94A3B8"/>
            </a:solidFill>
            <a:prstDash val="solid"/>
          </a:ln>
        </p:spPr>
      </p:sp>
      <p:sp>
        <p:nvSpPr>
          <p:cNvPr id="24" name="Text 22"/>
          <p:cNvSpPr txBox="1"/>
          <p:nvPr/>
        </p:nvSpPr>
        <p:spPr>
          <a:xfrm>
            <a:off x="1051560" y="3364992"/>
            <a:ext cx="2834640" cy="457200"/>
          </a:xfrm>
          <a:prstGeom prst="rect">
            <a:avLst/>
          </a:prstGeom>
          <a:noFill/>
          <a:ln/>
        </p:spPr>
        <p:txBody>
          <a:bodyPr wrap="square" lIns="0" tIns="0" rIns="0" bIns="0" rtlCol="0" anchor="ctr"/>
          <a:lstStyle/>
          <a:p>
            <a:pPr indent="0" marL="0">
              <a:buNone/>
            </a:pPr>
            <a:r>
              <a:rPr lang="en-US" sz="1300" dirty="0">
                <a:solidFill>
                  <a:srgbClr val="1E293B"/>
                </a:solidFill>
                <a:latin typeface="Arial" pitchFamily="34" charset="0"/>
                <a:ea typeface="Arial" pitchFamily="34" charset="-122"/>
                <a:cs typeface="Arial" pitchFamily="34" charset="-120"/>
              </a:rPr>
              <a:t>Drive the inputs</a:t>
            </a:r>
            <a:endParaRPr lang="en-US" sz="1300" dirty="0"/>
          </a:p>
        </p:txBody>
      </p:sp>
      <p:sp>
        <p:nvSpPr>
          <p:cNvPr id="25" name="Shape 23"/>
          <p:cNvSpPr/>
          <p:nvPr/>
        </p:nvSpPr>
        <p:spPr>
          <a:xfrm>
            <a:off x="548640" y="3950208"/>
            <a:ext cx="384048" cy="384048"/>
          </a:xfrm>
          <a:prstGeom prst="ellipse">
            <a:avLst/>
          </a:prstGeom>
          <a:solidFill>
            <a:srgbClr val="14213D"/>
          </a:solidFill>
          <a:ln w="12700">
            <a:solidFill>
              <a:srgbClr val="14213D"/>
            </a:solidFill>
            <a:prstDash val="solid"/>
          </a:ln>
        </p:spPr>
      </p:sp>
      <p:sp>
        <p:nvSpPr>
          <p:cNvPr id="26" name="Text 24"/>
          <p:cNvSpPr txBox="1"/>
          <p:nvPr/>
        </p:nvSpPr>
        <p:spPr>
          <a:xfrm>
            <a:off x="548640" y="3950208"/>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5</a:t>
            </a:r>
            <a:endParaRPr lang="en-US" sz="1200" dirty="0"/>
          </a:p>
        </p:txBody>
      </p:sp>
      <p:sp>
        <p:nvSpPr>
          <p:cNvPr id="27" name="Shape 25"/>
          <p:cNvSpPr/>
          <p:nvPr/>
        </p:nvSpPr>
        <p:spPr>
          <a:xfrm>
            <a:off x="740664" y="4343400"/>
            <a:ext cx="0" cy="118872"/>
          </a:xfrm>
          <a:prstGeom prst="line">
            <a:avLst/>
          </a:prstGeom>
          <a:noFill/>
          <a:ln w="12700">
            <a:solidFill>
              <a:srgbClr val="94A3B8"/>
            </a:solidFill>
            <a:prstDash val="solid"/>
          </a:ln>
        </p:spPr>
      </p:sp>
      <p:sp>
        <p:nvSpPr>
          <p:cNvPr id="28" name="Text 26"/>
          <p:cNvSpPr txBox="1"/>
          <p:nvPr/>
        </p:nvSpPr>
        <p:spPr>
          <a:xfrm>
            <a:off x="1051560" y="3913632"/>
            <a:ext cx="2834640" cy="457200"/>
          </a:xfrm>
          <a:prstGeom prst="rect">
            <a:avLst/>
          </a:prstGeom>
          <a:noFill/>
          <a:ln/>
        </p:spPr>
        <p:txBody>
          <a:bodyPr wrap="square" lIns="0" tIns="0" rIns="0" bIns="0" rtlCol="0" anchor="ctr"/>
          <a:lstStyle/>
          <a:p>
            <a:pPr indent="0" marL="0">
              <a:buNone/>
            </a:pPr>
            <a:r>
              <a:rPr lang="en-US" sz="1300" dirty="0">
                <a:solidFill>
                  <a:srgbClr val="1E293B"/>
                </a:solidFill>
                <a:latin typeface="Arial" pitchFamily="34" charset="0"/>
                <a:ea typeface="Arial" pitchFamily="34" charset="-122"/>
                <a:cs typeface="Arial" pitchFamily="34" charset="-120"/>
              </a:rPr>
              <a:t>Capture the outputs</a:t>
            </a:r>
            <a:endParaRPr lang="en-US" sz="1300" dirty="0"/>
          </a:p>
        </p:txBody>
      </p:sp>
      <p:sp>
        <p:nvSpPr>
          <p:cNvPr id="29" name="Shape 27"/>
          <p:cNvSpPr/>
          <p:nvPr/>
        </p:nvSpPr>
        <p:spPr>
          <a:xfrm>
            <a:off x="548640" y="4498848"/>
            <a:ext cx="384048" cy="384048"/>
          </a:xfrm>
          <a:prstGeom prst="ellipse">
            <a:avLst/>
          </a:prstGeom>
          <a:solidFill>
            <a:srgbClr val="14213D"/>
          </a:solidFill>
          <a:ln w="12700">
            <a:solidFill>
              <a:srgbClr val="14213D"/>
            </a:solidFill>
            <a:prstDash val="solid"/>
          </a:ln>
        </p:spPr>
      </p:sp>
      <p:sp>
        <p:nvSpPr>
          <p:cNvPr id="30" name="Text 28"/>
          <p:cNvSpPr txBox="1"/>
          <p:nvPr/>
        </p:nvSpPr>
        <p:spPr>
          <a:xfrm>
            <a:off x="548640" y="4498848"/>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6</a:t>
            </a:r>
            <a:endParaRPr lang="en-US" sz="1200" dirty="0"/>
          </a:p>
        </p:txBody>
      </p:sp>
      <p:sp>
        <p:nvSpPr>
          <p:cNvPr id="31" name="Shape 29"/>
          <p:cNvSpPr/>
          <p:nvPr/>
        </p:nvSpPr>
        <p:spPr>
          <a:xfrm>
            <a:off x="740664" y="4892040"/>
            <a:ext cx="0" cy="118872"/>
          </a:xfrm>
          <a:prstGeom prst="line">
            <a:avLst/>
          </a:prstGeom>
          <a:noFill/>
          <a:ln w="12700">
            <a:solidFill>
              <a:srgbClr val="94A3B8"/>
            </a:solidFill>
            <a:prstDash val="solid"/>
          </a:ln>
        </p:spPr>
      </p:sp>
      <p:sp>
        <p:nvSpPr>
          <p:cNvPr id="32" name="Text 30"/>
          <p:cNvSpPr txBox="1"/>
          <p:nvPr/>
        </p:nvSpPr>
        <p:spPr>
          <a:xfrm>
            <a:off x="1051560" y="4462272"/>
            <a:ext cx="2834640" cy="457200"/>
          </a:xfrm>
          <a:prstGeom prst="rect">
            <a:avLst/>
          </a:prstGeom>
          <a:noFill/>
          <a:ln/>
        </p:spPr>
        <p:txBody>
          <a:bodyPr wrap="square" lIns="0" tIns="0" rIns="0" bIns="0" rtlCol="0" anchor="ctr"/>
          <a:lstStyle/>
          <a:p>
            <a:pPr indent="0" marL="0">
              <a:buNone/>
            </a:pPr>
            <a:r>
              <a:rPr lang="en-US" sz="1300" dirty="0">
                <a:solidFill>
                  <a:srgbClr val="1E293B"/>
                </a:solidFill>
                <a:latin typeface="Arial" pitchFamily="34" charset="0"/>
                <a:ea typeface="Arial" pitchFamily="34" charset="-122"/>
                <a:cs typeface="Arial" pitchFamily="34" charset="-120"/>
              </a:rPr>
              <a:t>Decode the buses</a:t>
            </a:r>
            <a:endParaRPr lang="en-US" sz="1300" dirty="0"/>
          </a:p>
        </p:txBody>
      </p:sp>
      <p:sp>
        <p:nvSpPr>
          <p:cNvPr id="33" name="Shape 31"/>
          <p:cNvSpPr/>
          <p:nvPr/>
        </p:nvSpPr>
        <p:spPr>
          <a:xfrm>
            <a:off x="548640" y="5047488"/>
            <a:ext cx="384048" cy="384048"/>
          </a:xfrm>
          <a:prstGeom prst="ellipse">
            <a:avLst/>
          </a:prstGeom>
          <a:solidFill>
            <a:srgbClr val="F5B700"/>
          </a:solidFill>
          <a:ln w="12700">
            <a:solidFill>
              <a:srgbClr val="F5B700"/>
            </a:solidFill>
            <a:prstDash val="solid"/>
          </a:ln>
        </p:spPr>
      </p:sp>
      <p:sp>
        <p:nvSpPr>
          <p:cNvPr id="34" name="Text 32"/>
          <p:cNvSpPr txBox="1"/>
          <p:nvPr/>
        </p:nvSpPr>
        <p:spPr>
          <a:xfrm>
            <a:off x="548640" y="5047488"/>
            <a:ext cx="384048" cy="384048"/>
          </a:xfrm>
          <a:prstGeom prst="rect">
            <a:avLst/>
          </a:prstGeom>
          <a:noFill/>
          <a:ln/>
        </p:spPr>
        <p:txBody>
          <a:bodyPr wrap="square" lIns="0" tIns="0" rIns="0" bIns="0" rtlCol="0" anchor="ctr"/>
          <a:lstStyle/>
          <a:p>
            <a:pPr algn="ctr" indent="0" marL="0">
              <a:buNone/>
            </a:pPr>
            <a:r>
              <a:rPr lang="en-US" sz="1200" b="1" dirty="0">
                <a:solidFill>
                  <a:srgbClr val="14213D"/>
                </a:solidFill>
                <a:latin typeface="Arial" pitchFamily="34" charset="0"/>
                <a:ea typeface="Arial" pitchFamily="34" charset="-122"/>
                <a:cs typeface="Arial" pitchFamily="34" charset="-120"/>
              </a:rPr>
              <a:t>7</a:t>
            </a:r>
            <a:endParaRPr lang="en-US" sz="1200" dirty="0"/>
          </a:p>
        </p:txBody>
      </p:sp>
      <p:sp>
        <p:nvSpPr>
          <p:cNvPr id="35" name="Shape 33"/>
          <p:cNvSpPr/>
          <p:nvPr/>
        </p:nvSpPr>
        <p:spPr>
          <a:xfrm>
            <a:off x="740664" y="5440680"/>
            <a:ext cx="0" cy="118872"/>
          </a:xfrm>
          <a:prstGeom prst="line">
            <a:avLst/>
          </a:prstGeom>
          <a:noFill/>
          <a:ln w="12700">
            <a:solidFill>
              <a:srgbClr val="94A3B8"/>
            </a:solidFill>
            <a:prstDash val="solid"/>
          </a:ln>
        </p:spPr>
      </p:sp>
      <p:sp>
        <p:nvSpPr>
          <p:cNvPr id="36" name="Text 34"/>
          <p:cNvSpPr txBox="1"/>
          <p:nvPr/>
        </p:nvSpPr>
        <p:spPr>
          <a:xfrm>
            <a:off x="1051560" y="5010912"/>
            <a:ext cx="2834640" cy="457200"/>
          </a:xfrm>
          <a:prstGeom prst="rect">
            <a:avLst/>
          </a:prstGeom>
          <a:noFill/>
          <a:ln/>
        </p:spPr>
        <p:txBody>
          <a:bodyPr wrap="square" lIns="0" tIns="0" rIns="0" bIns="0" rtlCol="0" anchor="ctr"/>
          <a:lstStyle/>
          <a:p>
            <a:pPr indent="0" marL="0">
              <a:buNone/>
            </a:pPr>
            <a:r>
              <a:rPr lang="en-US" sz="1300" b="1" dirty="0">
                <a:solidFill>
                  <a:srgbClr val="1E293B"/>
                </a:solidFill>
                <a:latin typeface="Arial" pitchFamily="34" charset="0"/>
                <a:ea typeface="Arial" pitchFamily="34" charset="-122"/>
                <a:cs typeface="Arial" pitchFamily="34" charset="-120"/>
              </a:rPr>
              <a:t>Verdict in plain words</a:t>
            </a:r>
            <a:endParaRPr lang="en-US" sz="1300" dirty="0"/>
          </a:p>
        </p:txBody>
      </p:sp>
      <p:sp>
        <p:nvSpPr>
          <p:cNvPr id="37" name="Shape 35"/>
          <p:cNvSpPr/>
          <p:nvPr/>
        </p:nvSpPr>
        <p:spPr>
          <a:xfrm>
            <a:off x="548640" y="5596128"/>
            <a:ext cx="384048" cy="384048"/>
          </a:xfrm>
          <a:prstGeom prst="ellipse">
            <a:avLst/>
          </a:prstGeom>
          <a:solidFill>
            <a:srgbClr val="F5B700"/>
          </a:solidFill>
          <a:ln w="12700">
            <a:solidFill>
              <a:srgbClr val="F5B700"/>
            </a:solidFill>
            <a:prstDash val="solid"/>
          </a:ln>
        </p:spPr>
      </p:sp>
      <p:sp>
        <p:nvSpPr>
          <p:cNvPr id="38" name="Text 36"/>
          <p:cNvSpPr txBox="1"/>
          <p:nvPr/>
        </p:nvSpPr>
        <p:spPr>
          <a:xfrm>
            <a:off x="548640" y="5596128"/>
            <a:ext cx="384048" cy="384048"/>
          </a:xfrm>
          <a:prstGeom prst="rect">
            <a:avLst/>
          </a:prstGeom>
          <a:noFill/>
          <a:ln/>
        </p:spPr>
        <p:txBody>
          <a:bodyPr wrap="square" lIns="0" tIns="0" rIns="0" bIns="0" rtlCol="0" anchor="ctr"/>
          <a:lstStyle/>
          <a:p>
            <a:pPr algn="ctr" indent="0" marL="0">
              <a:buNone/>
            </a:pPr>
            <a:r>
              <a:rPr lang="en-US" sz="1200" b="1" dirty="0">
                <a:solidFill>
                  <a:srgbClr val="14213D"/>
                </a:solidFill>
                <a:latin typeface="Arial" pitchFamily="34" charset="0"/>
                <a:ea typeface="Arial" pitchFamily="34" charset="-122"/>
                <a:cs typeface="Arial" pitchFamily="34" charset="-120"/>
              </a:rPr>
              <a:t>8</a:t>
            </a:r>
            <a:endParaRPr lang="en-US" sz="1200" dirty="0"/>
          </a:p>
        </p:txBody>
      </p:sp>
      <p:sp>
        <p:nvSpPr>
          <p:cNvPr id="39" name="Text 37"/>
          <p:cNvSpPr txBox="1"/>
          <p:nvPr/>
        </p:nvSpPr>
        <p:spPr>
          <a:xfrm>
            <a:off x="1051560" y="5559552"/>
            <a:ext cx="2834640" cy="457200"/>
          </a:xfrm>
          <a:prstGeom prst="rect">
            <a:avLst/>
          </a:prstGeom>
          <a:noFill/>
          <a:ln/>
        </p:spPr>
        <p:txBody>
          <a:bodyPr wrap="square" lIns="0" tIns="0" rIns="0" bIns="0" rtlCol="0" anchor="ctr"/>
          <a:lstStyle/>
          <a:p>
            <a:pPr indent="0" marL="0">
              <a:buNone/>
            </a:pPr>
            <a:r>
              <a:rPr lang="en-US" sz="1300" b="1" dirty="0">
                <a:solidFill>
                  <a:srgbClr val="1E293B"/>
                </a:solidFill>
                <a:latin typeface="Arial" pitchFamily="34" charset="0"/>
                <a:ea typeface="Arial" pitchFamily="34" charset="-122"/>
                <a:cs typeface="Arial" pitchFamily="34" charset="-120"/>
              </a:rPr>
              <a:t>Suggest the fix</a:t>
            </a:r>
            <a:endParaRPr lang="en-US" sz="1300" dirty="0"/>
          </a:p>
        </p:txBody>
      </p:sp>
      <p:sp>
        <p:nvSpPr>
          <p:cNvPr id="40" name="Shape 38"/>
          <p:cNvSpPr/>
          <p:nvPr/>
        </p:nvSpPr>
        <p:spPr>
          <a:xfrm>
            <a:off x="4069080" y="1371600"/>
            <a:ext cx="3749040" cy="3200400"/>
          </a:xfrm>
          <a:prstGeom prst="roundRect">
            <a:avLst>
              <a:gd name="adj" fmla="val 1143"/>
            </a:avLst>
          </a:prstGeom>
          <a:solidFill>
            <a:srgbClr val="FFFFFF"/>
          </a:solidFill>
          <a:ln w="12700">
            <a:solidFill>
              <a:srgbClr val="E2E8F0"/>
            </a:solidFill>
            <a:prstDash val="solid"/>
          </a:ln>
        </p:spPr>
      </p:sp>
      <p:sp>
        <p:nvSpPr>
          <p:cNvPr id="41" name="Text 39"/>
          <p:cNvSpPr txBox="1"/>
          <p:nvPr/>
        </p:nvSpPr>
        <p:spPr>
          <a:xfrm>
            <a:off x="4206240" y="1444752"/>
            <a:ext cx="3566160" cy="274320"/>
          </a:xfrm>
          <a:prstGeom prst="rect">
            <a:avLst/>
          </a:prstGeom>
          <a:noFill/>
          <a:ln/>
        </p:spPr>
        <p:txBody>
          <a:bodyPr wrap="square" lIns="0" tIns="0" rIns="0" bIns="0" rtlCol="0" anchor="t"/>
          <a:lstStyle/>
          <a:p>
            <a:pPr indent="0" marL="0">
              <a:buNone/>
            </a:pPr>
            <a:r>
              <a:rPr lang="en-US" sz="1200" b="1" dirty="0">
                <a:solidFill>
                  <a:srgbClr val="1E293B"/>
                </a:solidFill>
                <a:latin typeface="Arial" pitchFamily="34" charset="0"/>
                <a:ea typeface="Arial" pitchFamily="34" charset="-122"/>
                <a:cs typeface="Arial" pitchFamily="34" charset="-120"/>
              </a:rPr>
              <a:t>Frequency response of an RC filter</a:t>
            </a:r>
            <a:endParaRPr lang="en-US" sz="1200" dirty="0"/>
          </a:p>
        </p:txBody>
      </p:sp>
      <p:pic>
        <p:nvPicPr>
          <p:cNvPr id="42" name="Image 0" descr="/tmp/claude-0/-home-user-robowar/aee4da2e-473c-53db-a5de-8e0dc57de510/scratchpad/sec/img/bode.png">    </p:cNvPr>
          <p:cNvPicPr>
            <a:picLocks noChangeAspect="1"/>
          </p:cNvPicPr>
          <p:nvPr/>
        </p:nvPicPr>
        <p:blipFill>
          <a:blip r:embed="rId1"/>
          <a:stretch>
            <a:fillRect/>
          </a:stretch>
        </p:blipFill>
        <p:spPr>
          <a:xfrm>
            <a:off x="4114800" y="1755648"/>
            <a:ext cx="3657600" cy="2057400"/>
          </a:xfrm>
          <a:prstGeom prst="rect">
            <a:avLst/>
          </a:prstGeom>
        </p:spPr>
      </p:pic>
      <p:sp>
        <p:nvSpPr>
          <p:cNvPr id="43" name="Text 40"/>
          <p:cNvSpPr txBox="1"/>
          <p:nvPr/>
        </p:nvSpPr>
        <p:spPr>
          <a:xfrm>
            <a:off x="4206240" y="3858768"/>
            <a:ext cx="3520440" cy="640080"/>
          </a:xfrm>
          <a:prstGeom prst="rect">
            <a:avLst/>
          </a:prstGeom>
          <a:noFill/>
          <a:ln/>
        </p:spPr>
        <p:txBody>
          <a:bodyPr wrap="square" lIns="0" tIns="0" rIns="0" bIns="0" rtlCol="0" anchor="t"/>
          <a:lstStyle/>
          <a:p>
            <a:pPr indent="0" marL="0">
              <a:buNone/>
            </a:pPr>
            <a:r>
              <a:rPr lang="en-US" sz="1050" dirty="0">
                <a:solidFill>
                  <a:srgbClr val="334155"/>
                </a:solidFill>
                <a:latin typeface="Arial" pitchFamily="34" charset="0"/>
                <a:ea typeface="Arial" pitchFamily="34" charset="-122"/>
                <a:cs typeface="Arial" pitchFamily="34" charset="-120"/>
              </a:rPr>
              <a:t>Wavegen sweeps, scope measures, Proto compares with theory: f_c = 1/(2πRC) ≈ 1.59 kHz.</a:t>
            </a:r>
            <a:endParaRPr lang="en-US" sz="1050" dirty="0"/>
          </a:p>
        </p:txBody>
      </p:sp>
      <p:sp>
        <p:nvSpPr>
          <p:cNvPr id="44" name="Shape 41"/>
          <p:cNvSpPr/>
          <p:nvPr/>
        </p:nvSpPr>
        <p:spPr>
          <a:xfrm>
            <a:off x="7909560" y="1371600"/>
            <a:ext cx="3730752" cy="3200400"/>
          </a:xfrm>
          <a:prstGeom prst="roundRect">
            <a:avLst>
              <a:gd name="adj" fmla="val 1143"/>
            </a:avLst>
          </a:prstGeom>
          <a:solidFill>
            <a:srgbClr val="FFFFFF"/>
          </a:solidFill>
          <a:ln w="12700">
            <a:solidFill>
              <a:srgbClr val="E2E8F0"/>
            </a:solidFill>
            <a:prstDash val="solid"/>
          </a:ln>
        </p:spPr>
      </p:sp>
      <p:sp>
        <p:nvSpPr>
          <p:cNvPr id="45" name="Text 42"/>
          <p:cNvSpPr txBox="1"/>
          <p:nvPr/>
        </p:nvSpPr>
        <p:spPr>
          <a:xfrm>
            <a:off x="8046720" y="1444752"/>
            <a:ext cx="3566160" cy="274320"/>
          </a:xfrm>
          <a:prstGeom prst="rect">
            <a:avLst/>
          </a:prstGeom>
          <a:noFill/>
          <a:ln/>
        </p:spPr>
        <p:txBody>
          <a:bodyPr wrap="square" lIns="0" tIns="0" rIns="0" bIns="0" rtlCol="0" anchor="t"/>
          <a:lstStyle/>
          <a:p>
            <a:pPr indent="0" marL="0">
              <a:buNone/>
            </a:pPr>
            <a:r>
              <a:rPr lang="en-US" sz="1200" b="1" dirty="0">
                <a:solidFill>
                  <a:srgbClr val="1E293B"/>
                </a:solidFill>
                <a:latin typeface="Arial" pitchFamily="34" charset="0"/>
                <a:ea typeface="Arial" pitchFamily="34" charset="-122"/>
                <a:cs typeface="Arial" pitchFamily="34" charset="-120"/>
              </a:rPr>
              <a:t>Supply-rail check with tolerance</a:t>
            </a:r>
            <a:endParaRPr lang="en-US" sz="1200" dirty="0"/>
          </a:p>
        </p:txBody>
      </p:sp>
      <p:pic>
        <p:nvPicPr>
          <p:cNvPr id="46" name="Image 1" descr="/tmp/claude-0/-home-user-robowar/aee4da2e-473c-53db-a5de-8e0dc57de510/scratchpad/sec/img/rails.png">    </p:cNvPr>
          <p:cNvPicPr>
            <a:picLocks noChangeAspect="1"/>
          </p:cNvPicPr>
          <p:nvPr/>
        </p:nvPicPr>
        <p:blipFill>
          <a:blip r:embed="rId2"/>
          <a:stretch>
            <a:fillRect/>
          </a:stretch>
        </p:blipFill>
        <p:spPr>
          <a:xfrm>
            <a:off x="7955280" y="1755648"/>
            <a:ext cx="3657600" cy="2057400"/>
          </a:xfrm>
          <a:prstGeom prst="rect">
            <a:avLst/>
          </a:prstGeom>
        </p:spPr>
      </p:pic>
      <p:sp>
        <p:nvSpPr>
          <p:cNvPr id="47" name="Text 43"/>
          <p:cNvSpPr txBox="1"/>
          <p:nvPr/>
        </p:nvSpPr>
        <p:spPr>
          <a:xfrm>
            <a:off x="8046720" y="3858768"/>
            <a:ext cx="3520440" cy="640080"/>
          </a:xfrm>
          <a:prstGeom prst="rect">
            <a:avLst/>
          </a:prstGeom>
          <a:noFill/>
          <a:ln/>
        </p:spPr>
        <p:txBody>
          <a:bodyPr wrap="square" lIns="0" tIns="0" rIns="0" bIns="0" rtlCol="0" anchor="t"/>
          <a:lstStyle/>
          <a:p>
            <a:pPr indent="0" marL="0">
              <a:buNone/>
            </a:pPr>
            <a:r>
              <a:rPr lang="en-US" sz="1050" dirty="0">
                <a:solidFill>
                  <a:srgbClr val="334155"/>
                </a:solidFill>
                <a:latin typeface="Arial" pitchFamily="34" charset="0"/>
                <a:ea typeface="Arial" pitchFamily="34" charset="-122"/>
                <a:cs typeface="Arial" pitchFamily="34" charset="-120"/>
              </a:rPr>
              <a:t>DMM and supply monitors read each rail; anything outside ±5 % is flagged.</a:t>
            </a:r>
            <a:endParaRPr lang="en-US" sz="1050" dirty="0"/>
          </a:p>
        </p:txBody>
      </p:sp>
      <p:sp>
        <p:nvSpPr>
          <p:cNvPr id="48" name="Shape 44"/>
          <p:cNvSpPr/>
          <p:nvPr/>
        </p:nvSpPr>
        <p:spPr>
          <a:xfrm>
            <a:off x="4069080" y="4754880"/>
            <a:ext cx="7571232" cy="1234440"/>
          </a:xfrm>
          <a:prstGeom prst="roundRect">
            <a:avLst>
              <a:gd name="adj" fmla="val 3704"/>
            </a:avLst>
          </a:prstGeom>
          <a:solidFill>
            <a:srgbClr val="FEF3C7"/>
          </a:solidFill>
          <a:ln w="15875">
            <a:solidFill>
              <a:srgbClr val="F5B700"/>
            </a:solidFill>
            <a:prstDash val="solid"/>
          </a:ln>
        </p:spPr>
      </p:sp>
      <p:sp>
        <p:nvSpPr>
          <p:cNvPr id="49" name="Text 45"/>
          <p:cNvSpPr txBox="1"/>
          <p:nvPr/>
        </p:nvSpPr>
        <p:spPr>
          <a:xfrm>
            <a:off x="4251960" y="4864608"/>
            <a:ext cx="3657600" cy="228600"/>
          </a:xfrm>
          <a:prstGeom prst="rect">
            <a:avLst/>
          </a:prstGeom>
          <a:noFill/>
          <a:ln/>
        </p:spPr>
        <p:txBody>
          <a:bodyPr wrap="square" lIns="0" tIns="0" rIns="0" bIns="0" rtlCol="0" anchor="t"/>
          <a:lstStyle/>
          <a:p>
            <a:pPr indent="0" marL="0">
              <a:buNone/>
            </a:pPr>
            <a:r>
              <a:rPr lang="en-US" sz="1050" b="1" spc="150" kern="0" dirty="0">
                <a:solidFill>
                  <a:srgbClr val="92400E"/>
                </a:solidFill>
                <a:latin typeface="Arial" pitchFamily="34" charset="0"/>
                <a:ea typeface="Arial" pitchFamily="34" charset="-122"/>
                <a:cs typeface="Arial" pitchFamily="34" charset="-120"/>
              </a:rPr>
              <a:t>PROTO'S VERDICT</a:t>
            </a:r>
            <a:endParaRPr lang="en-US" sz="1050" dirty="0"/>
          </a:p>
        </p:txBody>
      </p:sp>
      <p:sp>
        <p:nvSpPr>
          <p:cNvPr id="50" name="Text 46"/>
          <p:cNvSpPr txBox="1"/>
          <p:nvPr/>
        </p:nvSpPr>
        <p:spPr>
          <a:xfrm>
            <a:off x="4251960" y="5120640"/>
            <a:ext cx="7223760" cy="822960"/>
          </a:xfrm>
          <a:prstGeom prst="rect">
            <a:avLst/>
          </a:prstGeom>
          <a:noFill/>
          <a:ln/>
        </p:spPr>
        <p:txBody>
          <a:bodyPr wrap="square" lIns="0" tIns="0" rIns="0" bIns="0" rtlCol="0" anchor="t"/>
          <a:lstStyle/>
          <a:p>
            <a:pPr indent="0" marL="0">
              <a:buNone/>
            </a:pPr>
            <a:r>
              <a:rPr lang="en-US" sz="1450" i="1" dirty="0">
                <a:solidFill>
                  <a:srgbClr val="78350F"/>
                </a:solidFill>
                <a:latin typeface="Arial" pitchFamily="34" charset="0"/>
                <a:ea typeface="Arial" pitchFamily="34" charset="-122"/>
                <a:cs typeface="Arial" pitchFamily="34" charset="-120"/>
              </a:rPr>
              <a:t>“The 3V3 and 5V rails are fine, but the sensor supply is 2.71 V, 18 % low. Check the regulator enable pin and the 10 µF output capacitor, then run the test again.”</a:t>
            </a:r>
            <a:endParaRPr lang="en-US" sz="1450" dirty="0"/>
          </a:p>
        </p:txBody>
      </p:sp>
      <p:sp>
        <p:nvSpPr>
          <p:cNvPr id="51" name="Text 47"/>
          <p:cNvSpPr txBox="1"/>
          <p:nvPr/>
        </p:nvSpPr>
        <p:spPr>
          <a:xfrm>
            <a:off x="548640" y="6126480"/>
            <a:ext cx="3383280" cy="228600"/>
          </a:xfrm>
          <a:prstGeom prst="rect">
            <a:avLst/>
          </a:prstGeom>
          <a:noFill/>
          <a:ln/>
        </p:spPr>
        <p:txBody>
          <a:bodyPr wrap="square" lIns="0" tIns="0" rIns="0" bIns="0" rtlCol="0" anchor="t"/>
          <a:lstStyle/>
          <a:p>
            <a:pPr indent="0" marL="0">
              <a:buNone/>
            </a:pPr>
            <a:r>
              <a:rPr lang="en-US" sz="900" i="1" dirty="0">
                <a:solidFill>
                  <a:srgbClr val="64748B"/>
                </a:solidFill>
                <a:latin typeface="Arial" pitchFamily="34" charset="0"/>
                <a:ea typeface="Arial" pitchFamily="34" charset="-122"/>
                <a:cs typeface="Arial" pitchFamily="34" charset="-120"/>
              </a:rPr>
              <a:t>Graphs show illustrative data for the test method.</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4213D"/>
          </a:solidFill>
          <a:ln w="12700">
            <a:solidFill>
              <a:srgbClr val="14213D"/>
            </a:solidFill>
            <a:prstDash val="solid"/>
          </a:ln>
        </p:spPr>
      </p:sp>
      <p:sp>
        <p:nvSpPr>
          <p:cNvPr id="3" name="Text 1"/>
          <p:cNvSpPr txBox="1"/>
          <p:nvPr/>
        </p:nvSpPr>
        <p:spPr>
          <a:xfrm>
            <a:off x="548640" y="347472"/>
            <a:ext cx="8229600" cy="228600"/>
          </a:xfrm>
          <a:prstGeom prst="rect">
            <a:avLst/>
          </a:prstGeom>
          <a:noFill/>
          <a:ln/>
        </p:spPr>
        <p:txBody>
          <a:bodyPr wrap="square" lIns="0" tIns="0" rIns="0" bIns="0" rtlCol="0" anchor="t"/>
          <a:lstStyle/>
          <a:p>
            <a:pPr indent="0" marL="0">
              <a:buNone/>
            </a:pPr>
            <a:r>
              <a:rPr lang="en-US" sz="1100" b="1" spc="200" kern="0" dirty="0">
                <a:solidFill>
                  <a:srgbClr val="2563EB"/>
                </a:solidFill>
                <a:latin typeface="Arial" pitchFamily="34" charset="0"/>
                <a:ea typeface="Arial" pitchFamily="34" charset="-122"/>
                <a:cs typeface="Arial" pitchFamily="34" charset="-120"/>
              </a:rPr>
              <a:t>PLAN AND CONCLUSION</a:t>
            </a:r>
            <a:endParaRPr lang="en-US" sz="1100" dirty="0"/>
          </a:p>
        </p:txBody>
      </p:sp>
      <p:sp>
        <p:nvSpPr>
          <p:cNvPr id="4" name="Text 2"/>
          <p:cNvSpPr txBox="1"/>
          <p:nvPr/>
        </p:nvSpPr>
        <p:spPr>
          <a:xfrm>
            <a:off x="548640" y="603504"/>
            <a:ext cx="11155680" cy="594360"/>
          </a:xfrm>
          <a:prstGeom prst="rect">
            <a:avLst/>
          </a:prstGeom>
          <a:noFill/>
          <a:ln/>
        </p:spPr>
        <p:txBody>
          <a:bodyPr wrap="square" lIns="0" tIns="0" rIns="0" bIns="0" rtlCol="0" anchor="t"/>
          <a:lstStyle/>
          <a:p>
            <a:pPr indent="0" marL="0">
              <a:buNone/>
            </a:pPr>
            <a:r>
              <a:rPr lang="en-US" sz="2800" b="1" dirty="0">
                <a:solidFill>
                  <a:srgbClr val="14213D"/>
                </a:solidFill>
                <a:latin typeface="Arial" pitchFamily="34" charset="0"/>
                <a:ea typeface="Arial" pitchFamily="34" charset="-122"/>
                <a:cs typeface="Arial" pitchFamily="34" charset="-120"/>
              </a:rPr>
              <a:t>Methodology, outcomes and future scope</a:t>
            </a:r>
            <a:endParaRPr lang="en-US" sz="2800" dirty="0"/>
          </a:p>
        </p:txBody>
      </p:sp>
      <p:sp>
        <p:nvSpPr>
          <p:cNvPr id="5" name="Shape 3"/>
          <p:cNvSpPr/>
          <p:nvPr/>
        </p:nvSpPr>
        <p:spPr>
          <a:xfrm>
            <a:off x="548640" y="6419088"/>
            <a:ext cx="11091672" cy="0"/>
          </a:xfrm>
          <a:prstGeom prst="line">
            <a:avLst/>
          </a:prstGeom>
          <a:noFill/>
          <a:ln w="12700">
            <a:solidFill>
              <a:srgbClr val="E2E8F0"/>
            </a:solidFill>
            <a:prstDash val="solid"/>
          </a:ln>
        </p:spPr>
      </p:sp>
      <p:sp>
        <p:nvSpPr>
          <p:cNvPr id="6" name="Text 4"/>
          <p:cNvSpPr txBox="1"/>
          <p:nvPr/>
        </p:nvSpPr>
        <p:spPr>
          <a:xfrm>
            <a:off x="548640" y="6492240"/>
            <a:ext cx="7315200" cy="228600"/>
          </a:xfrm>
          <a:prstGeom prst="rect">
            <a:avLst/>
          </a:prstGeom>
          <a:noFill/>
          <a:ln/>
        </p:spPr>
        <p:txBody>
          <a:bodyPr wrap="square" lIns="0" tIns="0" rIns="0" bIns="0" rtlCol="0" anchor="t"/>
          <a:lstStyle/>
          <a:p>
            <a:pPr indent="0" marL="0">
              <a:buNone/>
            </a:pPr>
            <a:r>
              <a:rPr lang="en-US" sz="1000" dirty="0">
                <a:solidFill>
                  <a:srgbClr val="64748B"/>
                </a:solidFill>
                <a:latin typeface="Arial" pitchFamily="34" charset="0"/>
                <a:ea typeface="Arial" pitchFamily="34" charset="-122"/>
                <a:cs typeface="Arial" pitchFamily="34" charset="-120"/>
              </a:rPr>
              <a:t>Intelligent USB-Based Electronics Platform  ·  SEC Project</a:t>
            </a:r>
            <a:endParaRPr lang="en-US" sz="1000" dirty="0"/>
          </a:p>
        </p:txBody>
      </p:sp>
      <p:sp>
        <p:nvSpPr>
          <p:cNvPr id="7" name="Text 5"/>
          <p:cNvSpPr txBox="1"/>
          <p:nvPr/>
        </p:nvSpPr>
        <p:spPr>
          <a:xfrm>
            <a:off x="10725912" y="6492240"/>
            <a:ext cx="914400" cy="228600"/>
          </a:xfrm>
          <a:prstGeom prst="rect">
            <a:avLst/>
          </a:prstGeom>
          <a:noFill/>
          <a:ln/>
        </p:spPr>
        <p:txBody>
          <a:bodyPr wrap="square" lIns="0" tIns="0" rIns="0" bIns="0" rtlCol="0" anchor="t"/>
          <a:lstStyle/>
          <a:p>
            <a:pPr algn="r" indent="0" marL="0">
              <a:buNone/>
            </a:pPr>
            <a:r>
              <a:rPr lang="en-US" sz="1000" dirty="0">
                <a:solidFill>
                  <a:srgbClr val="64748B"/>
                </a:solidFill>
                <a:latin typeface="Arial" pitchFamily="34" charset="0"/>
                <a:ea typeface="Arial" pitchFamily="34" charset="-122"/>
                <a:cs typeface="Arial" pitchFamily="34" charset="-120"/>
              </a:rPr>
              <a:t>7 / 7</a:t>
            </a:r>
            <a:endParaRPr lang="en-US" sz="1000" dirty="0"/>
          </a:p>
        </p:txBody>
      </p:sp>
      <p:sp>
        <p:nvSpPr>
          <p:cNvPr id="8" name="Text 6"/>
          <p:cNvSpPr txBox="1"/>
          <p:nvPr/>
        </p:nvSpPr>
        <p:spPr>
          <a:xfrm>
            <a:off x="548640" y="1371600"/>
            <a:ext cx="7315200" cy="274320"/>
          </a:xfrm>
          <a:prstGeom prst="rect">
            <a:avLst/>
          </a:prstGeom>
          <a:noFill/>
          <a:ln/>
        </p:spPr>
        <p:txBody>
          <a:bodyPr wrap="square" lIns="0" tIns="0" rIns="0" bIns="0" rtlCol="0" anchor="t"/>
          <a:lstStyle/>
          <a:p>
            <a:pPr indent="0" marL="0">
              <a:buNone/>
            </a:pPr>
            <a:r>
              <a:rPr lang="en-US" sz="1100" b="1" spc="150" kern="0" dirty="0">
                <a:solidFill>
                  <a:srgbClr val="64748B"/>
                </a:solidFill>
                <a:latin typeface="Arial" pitchFamily="34" charset="0"/>
                <a:ea typeface="Arial" pitchFamily="34" charset="-122"/>
                <a:cs typeface="Arial" pitchFamily="34" charset="-120"/>
              </a:rPr>
              <a:t>DEVELOPMENT METHODOLOGY</a:t>
            </a:r>
            <a:endParaRPr lang="en-US" sz="1100" dirty="0"/>
          </a:p>
        </p:txBody>
      </p:sp>
      <p:sp>
        <p:nvSpPr>
          <p:cNvPr id="9" name="Shape 7"/>
          <p:cNvSpPr/>
          <p:nvPr/>
        </p:nvSpPr>
        <p:spPr>
          <a:xfrm>
            <a:off x="548640" y="1737360"/>
            <a:ext cx="1645920" cy="868680"/>
          </a:xfrm>
          <a:prstGeom prst="chevron">
            <a:avLst/>
          </a:prstGeom>
          <a:solidFill>
            <a:srgbClr val="2563EB"/>
          </a:solidFill>
          <a:ln w="19050">
            <a:solidFill>
              <a:srgbClr val="FFFFFF"/>
            </a:solidFill>
            <a:prstDash val="solid"/>
          </a:ln>
        </p:spPr>
      </p:sp>
      <p:sp>
        <p:nvSpPr>
          <p:cNvPr id="10" name="Text 8"/>
          <p:cNvSpPr txBox="1"/>
          <p:nvPr/>
        </p:nvSpPr>
        <p:spPr>
          <a:xfrm>
            <a:off x="822960" y="1737360"/>
            <a:ext cx="1097280" cy="86868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1</a:t>
            </a:r>
            <a:endParaRPr lang="en-US" sz="1800" dirty="0"/>
          </a:p>
        </p:txBody>
      </p:sp>
      <p:sp>
        <p:nvSpPr>
          <p:cNvPr id="11" name="Text 9"/>
          <p:cNvSpPr txBox="1"/>
          <p:nvPr/>
        </p:nvSpPr>
        <p:spPr>
          <a:xfrm>
            <a:off x="594360" y="2697480"/>
            <a:ext cx="1508760" cy="594360"/>
          </a:xfrm>
          <a:prstGeom prst="rect">
            <a:avLst/>
          </a:prstGeom>
          <a:noFill/>
          <a:ln/>
        </p:spPr>
        <p:txBody>
          <a:bodyPr wrap="square" lIns="0" tIns="0" rIns="0" bIns="0" rtlCol="0" anchor="t"/>
          <a:lstStyle/>
          <a:p>
            <a:pPr algn="ctr" indent="0" marL="0">
              <a:buNone/>
            </a:pPr>
            <a:r>
              <a:rPr lang="en-US" sz="1100" b="1" dirty="0">
                <a:solidFill>
                  <a:srgbClr val="1E293B"/>
                </a:solidFill>
                <a:latin typeface="Arial" pitchFamily="34" charset="0"/>
                <a:ea typeface="Arial" pitchFamily="34" charset="-122"/>
                <a:cs typeface="Arial" pitchFamily="34" charset="-120"/>
              </a:rPr>
              <a:t>Requirements and architecture</a:t>
            </a:r>
            <a:endParaRPr lang="en-US" sz="1100" dirty="0"/>
          </a:p>
        </p:txBody>
      </p:sp>
      <p:sp>
        <p:nvSpPr>
          <p:cNvPr id="12" name="Shape 10"/>
          <p:cNvSpPr/>
          <p:nvPr/>
        </p:nvSpPr>
        <p:spPr>
          <a:xfrm>
            <a:off x="2139696" y="1737360"/>
            <a:ext cx="1645920" cy="868680"/>
          </a:xfrm>
          <a:prstGeom prst="chevron">
            <a:avLst/>
          </a:prstGeom>
          <a:solidFill>
            <a:srgbClr val="2563EB"/>
          </a:solidFill>
          <a:ln w="19050">
            <a:solidFill>
              <a:srgbClr val="FFFFFF"/>
            </a:solidFill>
            <a:prstDash val="solid"/>
          </a:ln>
        </p:spPr>
      </p:sp>
      <p:sp>
        <p:nvSpPr>
          <p:cNvPr id="13" name="Text 11"/>
          <p:cNvSpPr txBox="1"/>
          <p:nvPr/>
        </p:nvSpPr>
        <p:spPr>
          <a:xfrm>
            <a:off x="2414016" y="1737360"/>
            <a:ext cx="1097280" cy="86868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2</a:t>
            </a:r>
            <a:endParaRPr lang="en-US" sz="1800" dirty="0"/>
          </a:p>
        </p:txBody>
      </p:sp>
      <p:sp>
        <p:nvSpPr>
          <p:cNvPr id="14" name="Text 12"/>
          <p:cNvSpPr txBox="1"/>
          <p:nvPr/>
        </p:nvSpPr>
        <p:spPr>
          <a:xfrm>
            <a:off x="2185416" y="2697480"/>
            <a:ext cx="1508760" cy="594360"/>
          </a:xfrm>
          <a:prstGeom prst="rect">
            <a:avLst/>
          </a:prstGeom>
          <a:noFill/>
          <a:ln/>
        </p:spPr>
        <p:txBody>
          <a:bodyPr wrap="square" lIns="0" tIns="0" rIns="0" bIns="0" rtlCol="0" anchor="t"/>
          <a:lstStyle/>
          <a:p>
            <a:pPr algn="ctr" indent="0" marL="0">
              <a:buNone/>
            </a:pPr>
            <a:r>
              <a:rPr lang="en-US" sz="1100" b="1" dirty="0">
                <a:solidFill>
                  <a:srgbClr val="1E293B"/>
                </a:solidFill>
                <a:latin typeface="Arial" pitchFamily="34" charset="0"/>
                <a:ea typeface="Arial" pitchFamily="34" charset="-122"/>
                <a:cs typeface="Arial" pitchFamily="34" charset="-120"/>
              </a:rPr>
              <a:t>Component selection and BOM</a:t>
            </a:r>
            <a:endParaRPr lang="en-US" sz="1100" dirty="0"/>
          </a:p>
        </p:txBody>
      </p:sp>
      <p:sp>
        <p:nvSpPr>
          <p:cNvPr id="15" name="Shape 13"/>
          <p:cNvSpPr/>
          <p:nvPr/>
        </p:nvSpPr>
        <p:spPr>
          <a:xfrm>
            <a:off x="3730752" y="1737360"/>
            <a:ext cx="1645920" cy="868680"/>
          </a:xfrm>
          <a:prstGeom prst="chevron">
            <a:avLst/>
          </a:prstGeom>
          <a:solidFill>
            <a:srgbClr val="0E9F9A"/>
          </a:solidFill>
          <a:ln w="19050">
            <a:solidFill>
              <a:srgbClr val="FFFFFF"/>
            </a:solidFill>
            <a:prstDash val="solid"/>
          </a:ln>
        </p:spPr>
      </p:sp>
      <p:sp>
        <p:nvSpPr>
          <p:cNvPr id="16" name="Text 14"/>
          <p:cNvSpPr txBox="1"/>
          <p:nvPr/>
        </p:nvSpPr>
        <p:spPr>
          <a:xfrm>
            <a:off x="4005072" y="1737360"/>
            <a:ext cx="1097280" cy="86868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3</a:t>
            </a:r>
            <a:endParaRPr lang="en-US" sz="1800" dirty="0"/>
          </a:p>
        </p:txBody>
      </p:sp>
      <p:sp>
        <p:nvSpPr>
          <p:cNvPr id="17" name="Text 15"/>
          <p:cNvSpPr txBox="1"/>
          <p:nvPr/>
        </p:nvSpPr>
        <p:spPr>
          <a:xfrm>
            <a:off x="3776472" y="2697480"/>
            <a:ext cx="1508760" cy="594360"/>
          </a:xfrm>
          <a:prstGeom prst="rect">
            <a:avLst/>
          </a:prstGeom>
          <a:noFill/>
          <a:ln/>
        </p:spPr>
        <p:txBody>
          <a:bodyPr wrap="square" lIns="0" tIns="0" rIns="0" bIns="0" rtlCol="0" anchor="t"/>
          <a:lstStyle/>
          <a:p>
            <a:pPr algn="ctr" indent="0" marL="0">
              <a:buNone/>
            </a:pPr>
            <a:r>
              <a:rPr lang="en-US" sz="1100" b="1" dirty="0">
                <a:solidFill>
                  <a:srgbClr val="1E293B"/>
                </a:solidFill>
                <a:latin typeface="Arial" pitchFamily="34" charset="0"/>
                <a:ea typeface="Arial" pitchFamily="34" charset="-122"/>
                <a:cs typeface="Arial" pitchFamily="34" charset="-120"/>
              </a:rPr>
              <a:t>Schematic and PCB design</a:t>
            </a:r>
            <a:endParaRPr lang="en-US" sz="1100" dirty="0"/>
          </a:p>
        </p:txBody>
      </p:sp>
      <p:sp>
        <p:nvSpPr>
          <p:cNvPr id="18" name="Shape 16"/>
          <p:cNvSpPr/>
          <p:nvPr/>
        </p:nvSpPr>
        <p:spPr>
          <a:xfrm>
            <a:off x="5321808" y="1737360"/>
            <a:ext cx="1645920" cy="868680"/>
          </a:xfrm>
          <a:prstGeom prst="chevron">
            <a:avLst/>
          </a:prstGeom>
          <a:solidFill>
            <a:srgbClr val="0E9F9A"/>
          </a:solidFill>
          <a:ln w="19050">
            <a:solidFill>
              <a:srgbClr val="FFFFFF"/>
            </a:solidFill>
            <a:prstDash val="solid"/>
          </a:ln>
        </p:spPr>
      </p:sp>
      <p:sp>
        <p:nvSpPr>
          <p:cNvPr id="19" name="Text 17"/>
          <p:cNvSpPr txBox="1"/>
          <p:nvPr/>
        </p:nvSpPr>
        <p:spPr>
          <a:xfrm>
            <a:off x="5596128" y="1737360"/>
            <a:ext cx="1097280" cy="86868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4</a:t>
            </a:r>
            <a:endParaRPr lang="en-US" sz="1800" dirty="0"/>
          </a:p>
        </p:txBody>
      </p:sp>
      <p:sp>
        <p:nvSpPr>
          <p:cNvPr id="20" name="Text 18"/>
          <p:cNvSpPr txBox="1"/>
          <p:nvPr/>
        </p:nvSpPr>
        <p:spPr>
          <a:xfrm>
            <a:off x="5367528" y="2697480"/>
            <a:ext cx="1508760" cy="594360"/>
          </a:xfrm>
          <a:prstGeom prst="rect">
            <a:avLst/>
          </a:prstGeom>
          <a:noFill/>
          <a:ln/>
        </p:spPr>
        <p:txBody>
          <a:bodyPr wrap="square" lIns="0" tIns="0" rIns="0" bIns="0" rtlCol="0" anchor="t"/>
          <a:lstStyle/>
          <a:p>
            <a:pPr algn="ctr" indent="0" marL="0">
              <a:buNone/>
            </a:pPr>
            <a:r>
              <a:rPr lang="en-US" sz="1100" b="1" dirty="0">
                <a:solidFill>
                  <a:srgbClr val="1E293B"/>
                </a:solidFill>
                <a:latin typeface="Arial" pitchFamily="34" charset="0"/>
                <a:ea typeface="Arial" pitchFamily="34" charset="-122"/>
                <a:cs typeface="Arial" pitchFamily="34" charset="-120"/>
              </a:rPr>
              <a:t>FPGA gateware</a:t>
            </a:r>
            <a:endParaRPr lang="en-US" sz="1100" dirty="0"/>
          </a:p>
        </p:txBody>
      </p:sp>
      <p:sp>
        <p:nvSpPr>
          <p:cNvPr id="21" name="Shape 19"/>
          <p:cNvSpPr/>
          <p:nvPr/>
        </p:nvSpPr>
        <p:spPr>
          <a:xfrm>
            <a:off x="6912864" y="1737360"/>
            <a:ext cx="1645920" cy="868680"/>
          </a:xfrm>
          <a:prstGeom prst="chevron">
            <a:avLst/>
          </a:prstGeom>
          <a:solidFill>
            <a:srgbClr val="7C3AED"/>
          </a:solidFill>
          <a:ln w="19050">
            <a:solidFill>
              <a:srgbClr val="FFFFFF"/>
            </a:solidFill>
            <a:prstDash val="solid"/>
          </a:ln>
        </p:spPr>
      </p:sp>
      <p:sp>
        <p:nvSpPr>
          <p:cNvPr id="22" name="Text 20"/>
          <p:cNvSpPr txBox="1"/>
          <p:nvPr/>
        </p:nvSpPr>
        <p:spPr>
          <a:xfrm>
            <a:off x="7187184" y="1737360"/>
            <a:ext cx="1097280" cy="86868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5</a:t>
            </a:r>
            <a:endParaRPr lang="en-US" sz="1800" dirty="0"/>
          </a:p>
        </p:txBody>
      </p:sp>
      <p:sp>
        <p:nvSpPr>
          <p:cNvPr id="23" name="Text 21"/>
          <p:cNvSpPr txBox="1"/>
          <p:nvPr/>
        </p:nvSpPr>
        <p:spPr>
          <a:xfrm>
            <a:off x="6958584" y="2697480"/>
            <a:ext cx="1508760" cy="594360"/>
          </a:xfrm>
          <a:prstGeom prst="rect">
            <a:avLst/>
          </a:prstGeom>
          <a:noFill/>
          <a:ln/>
        </p:spPr>
        <p:txBody>
          <a:bodyPr wrap="square" lIns="0" tIns="0" rIns="0" bIns="0" rtlCol="0" anchor="t"/>
          <a:lstStyle/>
          <a:p>
            <a:pPr algn="ctr" indent="0" marL="0">
              <a:buNone/>
            </a:pPr>
            <a:r>
              <a:rPr lang="en-US" sz="1100" b="1" dirty="0">
                <a:solidFill>
                  <a:srgbClr val="1E293B"/>
                </a:solidFill>
                <a:latin typeface="Arial" pitchFamily="34" charset="0"/>
                <a:ea typeface="Arial" pitchFamily="34" charset="-122"/>
                <a:cs typeface="Arial" pitchFamily="34" charset="-120"/>
              </a:rPr>
              <a:t>Workbench software</a:t>
            </a:r>
            <a:endParaRPr lang="en-US" sz="1100" dirty="0"/>
          </a:p>
        </p:txBody>
      </p:sp>
      <p:sp>
        <p:nvSpPr>
          <p:cNvPr id="24" name="Shape 22"/>
          <p:cNvSpPr/>
          <p:nvPr/>
        </p:nvSpPr>
        <p:spPr>
          <a:xfrm>
            <a:off x="8503920" y="1737360"/>
            <a:ext cx="1645920" cy="868680"/>
          </a:xfrm>
          <a:prstGeom prst="chevron">
            <a:avLst/>
          </a:prstGeom>
          <a:solidFill>
            <a:srgbClr val="F5B700"/>
          </a:solidFill>
          <a:ln w="19050">
            <a:solidFill>
              <a:srgbClr val="FFFFFF"/>
            </a:solidFill>
            <a:prstDash val="solid"/>
          </a:ln>
        </p:spPr>
      </p:sp>
      <p:sp>
        <p:nvSpPr>
          <p:cNvPr id="25" name="Text 23"/>
          <p:cNvSpPr txBox="1"/>
          <p:nvPr/>
        </p:nvSpPr>
        <p:spPr>
          <a:xfrm>
            <a:off x="8778240" y="1737360"/>
            <a:ext cx="1097280" cy="868680"/>
          </a:xfrm>
          <a:prstGeom prst="rect">
            <a:avLst/>
          </a:prstGeom>
          <a:noFill/>
          <a:ln/>
        </p:spPr>
        <p:txBody>
          <a:bodyPr wrap="square" lIns="0" tIns="0" rIns="0" bIns="0" rtlCol="0" anchor="ctr"/>
          <a:lstStyle/>
          <a:p>
            <a:pPr algn="ctr" indent="0" marL="0">
              <a:buNone/>
            </a:pPr>
            <a:r>
              <a:rPr lang="en-US" sz="1800" b="1" dirty="0">
                <a:solidFill>
                  <a:srgbClr val="14213D"/>
                </a:solidFill>
                <a:latin typeface="Arial" pitchFamily="34" charset="0"/>
                <a:ea typeface="Arial" pitchFamily="34" charset="-122"/>
                <a:cs typeface="Arial" pitchFamily="34" charset="-120"/>
              </a:rPr>
              <a:t>6</a:t>
            </a:r>
            <a:endParaRPr lang="en-US" sz="1800" dirty="0"/>
          </a:p>
        </p:txBody>
      </p:sp>
      <p:sp>
        <p:nvSpPr>
          <p:cNvPr id="26" name="Text 24"/>
          <p:cNvSpPr txBox="1"/>
          <p:nvPr/>
        </p:nvSpPr>
        <p:spPr>
          <a:xfrm>
            <a:off x="8549640" y="2697480"/>
            <a:ext cx="1508760" cy="594360"/>
          </a:xfrm>
          <a:prstGeom prst="rect">
            <a:avLst/>
          </a:prstGeom>
          <a:noFill/>
          <a:ln/>
        </p:spPr>
        <p:txBody>
          <a:bodyPr wrap="square" lIns="0" tIns="0" rIns="0" bIns="0" rtlCol="0" anchor="t"/>
          <a:lstStyle/>
          <a:p>
            <a:pPr algn="ctr" indent="0" marL="0">
              <a:buNone/>
            </a:pPr>
            <a:r>
              <a:rPr lang="en-US" sz="1100" b="1" dirty="0">
                <a:solidFill>
                  <a:srgbClr val="1E293B"/>
                </a:solidFill>
                <a:latin typeface="Arial" pitchFamily="34" charset="0"/>
                <a:ea typeface="Arial" pitchFamily="34" charset="-122"/>
                <a:cs typeface="Arial" pitchFamily="34" charset="-120"/>
              </a:rPr>
              <a:t>Proto integration</a:t>
            </a:r>
            <a:endParaRPr lang="en-US" sz="1100" dirty="0"/>
          </a:p>
        </p:txBody>
      </p:sp>
      <p:sp>
        <p:nvSpPr>
          <p:cNvPr id="27" name="Shape 25"/>
          <p:cNvSpPr/>
          <p:nvPr/>
        </p:nvSpPr>
        <p:spPr>
          <a:xfrm>
            <a:off x="10094976" y="1737360"/>
            <a:ext cx="1645920" cy="868680"/>
          </a:xfrm>
          <a:prstGeom prst="chevron">
            <a:avLst/>
          </a:prstGeom>
          <a:solidFill>
            <a:srgbClr val="16A34A"/>
          </a:solidFill>
          <a:ln w="19050">
            <a:solidFill>
              <a:srgbClr val="FFFFFF"/>
            </a:solidFill>
            <a:prstDash val="solid"/>
          </a:ln>
        </p:spPr>
      </p:sp>
      <p:sp>
        <p:nvSpPr>
          <p:cNvPr id="28" name="Text 26"/>
          <p:cNvSpPr txBox="1"/>
          <p:nvPr/>
        </p:nvSpPr>
        <p:spPr>
          <a:xfrm>
            <a:off x="10369296" y="1737360"/>
            <a:ext cx="1097280" cy="86868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7</a:t>
            </a:r>
            <a:endParaRPr lang="en-US" sz="1800" dirty="0"/>
          </a:p>
        </p:txBody>
      </p:sp>
      <p:sp>
        <p:nvSpPr>
          <p:cNvPr id="29" name="Text 27"/>
          <p:cNvSpPr txBox="1"/>
          <p:nvPr/>
        </p:nvSpPr>
        <p:spPr>
          <a:xfrm>
            <a:off x="10140696" y="2697480"/>
            <a:ext cx="1508760" cy="594360"/>
          </a:xfrm>
          <a:prstGeom prst="rect">
            <a:avLst/>
          </a:prstGeom>
          <a:noFill/>
          <a:ln/>
        </p:spPr>
        <p:txBody>
          <a:bodyPr wrap="square" lIns="0" tIns="0" rIns="0" bIns="0" rtlCol="0" anchor="t"/>
          <a:lstStyle/>
          <a:p>
            <a:pPr algn="ctr" indent="0" marL="0">
              <a:buNone/>
            </a:pPr>
            <a:r>
              <a:rPr lang="en-US" sz="1100" b="1" dirty="0">
                <a:solidFill>
                  <a:srgbClr val="1E293B"/>
                </a:solidFill>
                <a:latin typeface="Arial" pitchFamily="34" charset="0"/>
                <a:ea typeface="Arial" pitchFamily="34" charset="-122"/>
                <a:cs typeface="Arial" pitchFamily="34" charset="-120"/>
              </a:rPr>
              <a:t>Testing and validation</a:t>
            </a:r>
            <a:endParaRPr lang="en-US" sz="1100" dirty="0"/>
          </a:p>
        </p:txBody>
      </p:sp>
      <p:sp>
        <p:nvSpPr>
          <p:cNvPr id="30" name="Shape 28"/>
          <p:cNvSpPr/>
          <p:nvPr/>
        </p:nvSpPr>
        <p:spPr>
          <a:xfrm>
            <a:off x="548640" y="3520440"/>
            <a:ext cx="5440680" cy="2697480"/>
          </a:xfrm>
          <a:prstGeom prst="roundRect">
            <a:avLst>
              <a:gd name="adj" fmla="val 1695"/>
            </a:avLst>
          </a:prstGeom>
          <a:solidFill>
            <a:srgbClr val="F1F5F9"/>
          </a:solidFill>
          <a:ln w="12700">
            <a:solidFill>
              <a:srgbClr val="F1F5F9"/>
            </a:solidFill>
            <a:prstDash val="solid"/>
          </a:ln>
        </p:spPr>
      </p:sp>
      <p:sp>
        <p:nvSpPr>
          <p:cNvPr id="31" name="Shape 29"/>
          <p:cNvSpPr/>
          <p:nvPr/>
        </p:nvSpPr>
        <p:spPr>
          <a:xfrm>
            <a:off x="548640" y="3520440"/>
            <a:ext cx="73152" cy="2697480"/>
          </a:xfrm>
          <a:prstGeom prst="rect">
            <a:avLst/>
          </a:prstGeom>
          <a:solidFill>
            <a:srgbClr val="16A34A"/>
          </a:solidFill>
          <a:ln w="12700">
            <a:solidFill>
              <a:srgbClr val="16A34A"/>
            </a:solidFill>
            <a:prstDash val="solid"/>
          </a:ln>
        </p:spPr>
      </p:sp>
      <p:sp>
        <p:nvSpPr>
          <p:cNvPr id="32" name="Text 30"/>
          <p:cNvSpPr txBox="1"/>
          <p:nvPr/>
        </p:nvSpPr>
        <p:spPr>
          <a:xfrm>
            <a:off x="777240" y="3657600"/>
            <a:ext cx="5029200" cy="274320"/>
          </a:xfrm>
          <a:prstGeom prst="rect">
            <a:avLst/>
          </a:prstGeom>
          <a:noFill/>
          <a:ln/>
        </p:spPr>
        <p:txBody>
          <a:bodyPr wrap="square" lIns="0" tIns="0" rIns="0" bIns="0" rtlCol="0" anchor="t"/>
          <a:lstStyle/>
          <a:p>
            <a:pPr indent="0" marL="0">
              <a:buNone/>
            </a:pPr>
            <a:r>
              <a:rPr lang="en-US" sz="1100" b="1" spc="150" kern="0" dirty="0">
                <a:solidFill>
                  <a:srgbClr val="16A34A"/>
                </a:solidFill>
                <a:latin typeface="Arial" pitchFamily="34" charset="0"/>
                <a:ea typeface="Arial" pitchFamily="34" charset="-122"/>
                <a:cs typeface="Arial" pitchFamily="34" charset="-120"/>
              </a:rPr>
              <a:t>EXPECTED OUTCOMES</a:t>
            </a:r>
            <a:endParaRPr lang="en-US" sz="1100" dirty="0"/>
          </a:p>
        </p:txBody>
      </p:sp>
      <p:sp>
        <p:nvSpPr>
          <p:cNvPr id="33" name="Text 31"/>
          <p:cNvSpPr txBox="1"/>
          <p:nvPr/>
        </p:nvSpPr>
        <p:spPr>
          <a:xfrm>
            <a:off x="777240" y="4023360"/>
            <a:ext cx="5074920" cy="2103120"/>
          </a:xfrm>
          <a:prstGeom prst="rect">
            <a:avLst/>
          </a:prstGeom>
          <a:noFill/>
          <a:ln/>
        </p:spPr>
        <p:txBody>
          <a:bodyPr wrap="square" lIns="0" tIns="0" rIns="0" bIns="0" rtlCol="0" anchor="t"/>
          <a:lstStyle/>
          <a:p>
            <a:pPr marL="342900" indent="-342900">
              <a:spcAft>
                <a:spcPts val="1000"/>
              </a:spcAft>
              <a:buSzPct val="100000"/>
              <a:buChar char="•"/>
            </a:pPr>
            <a:r>
              <a:rPr lang="en-US" sz="1550" dirty="0">
                <a:solidFill>
                  <a:srgbClr val="1E293B"/>
                </a:solidFill>
                <a:latin typeface="Arial" pitchFamily="34" charset="0"/>
                <a:ea typeface="Arial" pitchFamily="34" charset="-122"/>
                <a:cs typeface="Arial" pitchFamily="34" charset="-120"/>
              </a:rPr>
              <a:t>One USB unit replaces eight bench instruments</a:t>
            </a:r>
            <a:endParaRPr lang="en-US" sz="1550" dirty="0"/>
          </a:p>
          <a:p>
            <a:pPr marL="342900" indent="-342900">
              <a:spcAft>
                <a:spcPts val="1000"/>
              </a:spcAft>
              <a:buSzPct val="100000"/>
              <a:buChar char="•"/>
            </a:pPr>
            <a:r>
              <a:rPr lang="en-US" sz="1550" dirty="0">
                <a:solidFill>
                  <a:srgbClr val="1E293B"/>
                </a:solidFill>
                <a:latin typeface="Arial" pitchFamily="34" charset="0"/>
                <a:ea typeface="Arial" pitchFamily="34" charset="-122"/>
                <a:cs typeface="Arial" pitchFamily="34" charset="-120"/>
              </a:rPr>
              <a:t>Tests run as plans, not as manual steps</a:t>
            </a:r>
            <a:endParaRPr lang="en-US" sz="1550" dirty="0"/>
          </a:p>
          <a:p>
            <a:pPr marL="342900" indent="-342900">
              <a:spcAft>
                <a:spcPts val="1000"/>
              </a:spcAft>
              <a:buSzPct val="100000"/>
              <a:buChar char="•"/>
            </a:pPr>
            <a:r>
              <a:rPr lang="en-US" sz="1550" dirty="0">
                <a:solidFill>
                  <a:srgbClr val="1E293B"/>
                </a:solidFill>
                <a:latin typeface="Arial" pitchFamily="34" charset="0"/>
                <a:ea typeface="Arial" pitchFamily="34" charset="-122"/>
                <a:cs typeface="Arial" pitchFamily="34" charset="-120"/>
              </a:rPr>
              <a:t>Measurements explained in plain language by Proto</a:t>
            </a:r>
            <a:endParaRPr lang="en-US" sz="1550" dirty="0"/>
          </a:p>
          <a:p>
            <a:pPr marL="342900" indent="-342900">
              <a:spcAft>
                <a:spcPts val="1000"/>
              </a:spcAft>
              <a:buSzPct val="100000"/>
              <a:buChar char="•"/>
            </a:pPr>
            <a:r>
              <a:rPr lang="en-US" sz="1550" dirty="0">
                <a:solidFill>
                  <a:srgbClr val="1E293B"/>
                </a:solidFill>
                <a:latin typeface="Arial" pitchFamily="34" charset="0"/>
                <a:ea typeface="Arial" pitchFamily="34" charset="-122"/>
                <a:cs typeface="Arial" pitchFamily="34" charset="-120"/>
              </a:rPr>
              <a:t>Affordable enough for every student lab bench</a:t>
            </a:r>
            <a:endParaRPr lang="en-US" sz="1550" dirty="0"/>
          </a:p>
        </p:txBody>
      </p:sp>
      <p:sp>
        <p:nvSpPr>
          <p:cNvPr id="34" name="Shape 32"/>
          <p:cNvSpPr/>
          <p:nvPr/>
        </p:nvSpPr>
        <p:spPr>
          <a:xfrm>
            <a:off x="6199632" y="3520440"/>
            <a:ext cx="5440680" cy="2697480"/>
          </a:xfrm>
          <a:prstGeom prst="roundRect">
            <a:avLst>
              <a:gd name="adj" fmla="val 1695"/>
            </a:avLst>
          </a:prstGeom>
          <a:solidFill>
            <a:srgbClr val="F1F5F9"/>
          </a:solidFill>
          <a:ln w="12700">
            <a:solidFill>
              <a:srgbClr val="F1F5F9"/>
            </a:solidFill>
            <a:prstDash val="solid"/>
          </a:ln>
        </p:spPr>
      </p:sp>
      <p:sp>
        <p:nvSpPr>
          <p:cNvPr id="35" name="Shape 33"/>
          <p:cNvSpPr/>
          <p:nvPr/>
        </p:nvSpPr>
        <p:spPr>
          <a:xfrm>
            <a:off x="6199632" y="3520440"/>
            <a:ext cx="73152" cy="2697480"/>
          </a:xfrm>
          <a:prstGeom prst="rect">
            <a:avLst/>
          </a:prstGeom>
          <a:solidFill>
            <a:srgbClr val="2563EB"/>
          </a:solidFill>
          <a:ln w="12700">
            <a:solidFill>
              <a:srgbClr val="2563EB"/>
            </a:solidFill>
            <a:prstDash val="solid"/>
          </a:ln>
        </p:spPr>
      </p:sp>
      <p:sp>
        <p:nvSpPr>
          <p:cNvPr id="36" name="Text 34"/>
          <p:cNvSpPr txBox="1"/>
          <p:nvPr/>
        </p:nvSpPr>
        <p:spPr>
          <a:xfrm>
            <a:off x="6428232" y="3657600"/>
            <a:ext cx="5029200" cy="274320"/>
          </a:xfrm>
          <a:prstGeom prst="rect">
            <a:avLst/>
          </a:prstGeom>
          <a:noFill/>
          <a:ln/>
        </p:spPr>
        <p:txBody>
          <a:bodyPr wrap="square" lIns="0" tIns="0" rIns="0" bIns="0" rtlCol="0" anchor="t"/>
          <a:lstStyle/>
          <a:p>
            <a:pPr indent="0" marL="0">
              <a:buNone/>
            </a:pPr>
            <a:r>
              <a:rPr lang="en-US" sz="1100" b="1" spc="150" kern="0" dirty="0">
                <a:solidFill>
                  <a:srgbClr val="2563EB"/>
                </a:solidFill>
                <a:latin typeface="Arial" pitchFamily="34" charset="0"/>
                <a:ea typeface="Arial" pitchFamily="34" charset="-122"/>
                <a:cs typeface="Arial" pitchFamily="34" charset="-120"/>
              </a:rPr>
              <a:t>FUTURE SCOPE</a:t>
            </a:r>
            <a:endParaRPr lang="en-US" sz="1100" dirty="0"/>
          </a:p>
        </p:txBody>
      </p:sp>
      <p:sp>
        <p:nvSpPr>
          <p:cNvPr id="37" name="Text 35"/>
          <p:cNvSpPr txBox="1"/>
          <p:nvPr/>
        </p:nvSpPr>
        <p:spPr>
          <a:xfrm>
            <a:off x="6428232" y="4023360"/>
            <a:ext cx="5074920" cy="2103120"/>
          </a:xfrm>
          <a:prstGeom prst="rect">
            <a:avLst/>
          </a:prstGeom>
          <a:noFill/>
          <a:ln/>
        </p:spPr>
        <p:txBody>
          <a:bodyPr wrap="square" lIns="0" tIns="0" rIns="0" bIns="0" rtlCol="0" anchor="t"/>
          <a:lstStyle/>
          <a:p>
            <a:pPr marL="342900" indent="-342900">
              <a:spcAft>
                <a:spcPts val="1000"/>
              </a:spcAft>
              <a:buSzPct val="100000"/>
              <a:buChar char="•"/>
            </a:pPr>
            <a:r>
              <a:rPr lang="en-US" sz="1550" dirty="0">
                <a:solidFill>
                  <a:srgbClr val="1E293B"/>
                </a:solidFill>
                <a:latin typeface="Arial" pitchFamily="34" charset="0"/>
                <a:ea typeface="Arial" pitchFamily="34" charset="-122"/>
                <a:cs typeface="Arial" pitchFamily="34" charset="-120"/>
              </a:rPr>
              <a:t>A probe fixture that reaches every net of a board automatically</a:t>
            </a:r>
            <a:endParaRPr lang="en-US" sz="1550" dirty="0"/>
          </a:p>
          <a:p>
            <a:pPr marL="342900" indent="-342900">
              <a:spcAft>
                <a:spcPts val="1000"/>
              </a:spcAft>
              <a:buSzPct val="100000"/>
              <a:buChar char="•"/>
            </a:pPr>
            <a:r>
              <a:rPr lang="en-US" sz="1550" dirty="0">
                <a:solidFill>
                  <a:srgbClr val="1E293B"/>
                </a:solidFill>
                <a:latin typeface="Arial" pitchFamily="34" charset="0"/>
                <a:ea typeface="Arial" pitchFamily="34" charset="-122"/>
                <a:cs typeface="Arial" pitchFamily="34" charset="-120"/>
              </a:rPr>
              <a:t>More protocol decoders (CAN, I²S, 1-Wire)</a:t>
            </a:r>
            <a:endParaRPr lang="en-US" sz="1550" dirty="0"/>
          </a:p>
          <a:p>
            <a:pPr marL="342900" indent="-342900">
              <a:spcAft>
                <a:spcPts val="1000"/>
              </a:spcAft>
              <a:buSzPct val="100000"/>
              <a:buChar char="•"/>
            </a:pPr>
            <a:r>
              <a:rPr lang="en-US" sz="1550" dirty="0">
                <a:solidFill>
                  <a:srgbClr val="1E293B"/>
                </a:solidFill>
                <a:latin typeface="Arial" pitchFamily="34" charset="0"/>
                <a:ea typeface="Arial" pitchFamily="34" charset="-122"/>
                <a:cs typeface="Arial" pitchFamily="34" charset="-120"/>
              </a:rPr>
              <a:t>Remote lab access over the network</a:t>
            </a:r>
            <a:endParaRPr lang="en-US" sz="1550" dirty="0"/>
          </a:p>
          <a:p>
            <a:pPr marL="342900" indent="-342900">
              <a:spcAft>
                <a:spcPts val="1000"/>
              </a:spcAft>
              <a:buSzPct val="100000"/>
              <a:buChar char="•"/>
            </a:pPr>
            <a:r>
              <a:rPr lang="en-US" sz="1550" dirty="0">
                <a:solidFill>
                  <a:srgbClr val="1E293B"/>
                </a:solidFill>
                <a:latin typeface="Arial" pitchFamily="34" charset="0"/>
                <a:ea typeface="Arial" pitchFamily="34" charset="-122"/>
                <a:cs typeface="Arial" pitchFamily="34" charset="-120"/>
              </a:rPr>
              <a:t>Proto-generated lab reports from recorded measurements</a:t>
            </a:r>
            <a:endParaRPr lang="en-US" sz="1550" dirty="0"/>
          </a:p>
        </p:txBody>
      </p:sp>
      <p:sp>
        <p:nvSpPr>
          <p:cNvPr id="38" name="Text 36"/>
          <p:cNvSpPr txBox="1"/>
          <p:nvPr/>
        </p:nvSpPr>
        <p:spPr>
          <a:xfrm>
            <a:off x="8412480" y="365760"/>
            <a:ext cx="3227832" cy="457200"/>
          </a:xfrm>
          <a:prstGeom prst="rect">
            <a:avLst/>
          </a:prstGeom>
          <a:noFill/>
          <a:ln/>
        </p:spPr>
        <p:txBody>
          <a:bodyPr wrap="square" lIns="0" tIns="0" rIns="0" bIns="0" rtlCol="0" anchor="t"/>
          <a:lstStyle/>
          <a:p>
            <a:pPr algn="r" indent="0" marL="0">
              <a:buNone/>
            </a:pPr>
            <a:r>
              <a:rPr lang="en-US" sz="2000" b="1" dirty="0">
                <a:solidFill>
                  <a:srgbClr val="2563EB"/>
                </a:solidFill>
                <a:latin typeface="Arial" pitchFamily="34" charset="0"/>
                <a:ea typeface="Arial" pitchFamily="34" charset="-122"/>
                <a:cs typeface="Arial" pitchFamily="34" charset="-120"/>
              </a:rPr>
              <a:t>Thank you</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54ACF0"/>
      </a:hlink>
      <a:folHlink>
        <a:srgbClr val="54ACF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Design and Development of an Intelligent USB-Based Electronics Platform</dc:title>
  <dc:subject>PptxGenJS Presentation</dc:subject>
  <dc:creator>Avi Prakash Jaiswal, Soham Pandit Nalawade, Harshit Saini, Anshul</dc:creator>
  <cp:lastModifiedBy>Avi Prakash Jaiswal, Soham Pandit Nalawade, Harshit Saini, Anshul</cp:lastModifiedBy>
  <cp:revision>1</cp:revision>
  <dcterms:created xsi:type="dcterms:W3CDTF">2026-10-28T02:46:38Z</dcterms:created>
  <dcterms:modified xsi:type="dcterms:W3CDTF">2026-10-28T02:46:38Z</dcterms:modified>
</cp:coreProperties>
</file>