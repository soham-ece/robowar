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ENHANCEMENT COURSE (SEC) PROJECT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58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and Development of an Intelligent USB-Based Electronics Platform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bench instruments on one USB cable, with Proto, an AI engineer that plans every test and explains every measurement.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66751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3794760"/>
            <a:ext cx="73152" cy="2331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950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TEAM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2611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Prakash Jaiswal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42611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24294917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5902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Soham Pandit Nalawade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45902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24294917002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9194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Harshit Saini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919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24294917086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2486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Anshul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24294917037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0" y="4069080"/>
            <a:ext cx="0" cy="1783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52160" y="39502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261104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G.S. Chilana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818120" y="640080"/>
            <a:ext cx="393192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0" descr="/tmp/claude-0/-home-user-robowar/aee4da2e-473c-53db-a5de-8e0dc57de510/scratchpad/sec/img/fron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005840"/>
            <a:ext cx="3657600" cy="121615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092440" y="26974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DEVICE, EIGHT INSTRUMENTS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092440" y="30175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92440" y="3017520"/>
            <a:ext cx="64008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Oscilloscope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875520" y="30175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875520" y="3017520"/>
            <a:ext cx="64008" cy="365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01268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Waveform generator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34747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092440" y="3474720"/>
            <a:ext cx="64008" cy="365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analyser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9875520" y="34747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875520" y="3474720"/>
            <a:ext cx="64008" cy="365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1268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generator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092440" y="39319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92440" y="3931920"/>
            <a:ext cx="64008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decoder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9875520" y="39319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875520" y="3931920"/>
            <a:ext cx="64008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01268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supply 1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92440" y="43891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092440" y="4389120"/>
            <a:ext cx="64008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0" y="4389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supply 2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9875520" y="438912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875520" y="4389120"/>
            <a:ext cx="64008" cy="365760"/>
          </a:xfrm>
          <a:prstGeom prst="rect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012680" y="4389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Multimeter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092440" y="4937760"/>
            <a:ext cx="34290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29600" y="500176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Proto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engineer that runs the tests and gives a verdict in plain words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 AND OBJECTIVES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one intelligent platform instead of a bench of instruments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417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120640" cy="82296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1874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Costly and bulky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17627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electronics bench needs five to eight separate instruments.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5120640" cy="82296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4320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13639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instrument has its own interface; results are hard to combine and record.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5120640" cy="82296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0332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7947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interpret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read a number but often not what it means, or what to fix.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800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08760" y="48006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508760" y="4800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Wavegen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68880" y="48006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68880" y="4800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9000" y="48006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29000" y="4800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257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508760" y="52578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08760" y="5257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PSU 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68880" y="52578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468880" y="5257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PSU 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29000" y="525780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29000" y="5257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5212080"/>
            <a:ext cx="411480" cy="0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892040" y="4800600"/>
            <a:ext cx="777240" cy="82296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480060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263640" y="1417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63640" y="18288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903720" y="178308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</a:t>
            </a: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instruments into one compact, USB-connected unit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63640" y="2670048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6903720" y="262432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</a:t>
            </a: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FPGA-based acquisition and signal-generation core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63640" y="3511296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63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903720" y="3465576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</a:t>
            </a: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software workbench for every instrument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263640" y="4352544"/>
            <a:ext cx="457200" cy="45720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63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903720" y="430682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Proto </a:t>
            </a: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engineer that plans tests and explains results in plain language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263640" y="5193792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636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903720" y="51480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affordable </a:t>
            </a: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 labs, with a low-cost production design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DESIGN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architecture: one FPGA core, one USB link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CH1 · CH2 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83080" y="187452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1463040"/>
            <a:ext cx="23317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4560" y="15270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 front end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8105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AD8066 buffers, relay range switching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34840" y="187452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54880" y="1463040"/>
            <a:ext cx="22402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5270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 ADC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81051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AD9226 · 12-bit · 65 MS/s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95160" y="1874520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260604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6060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· W2 out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783080" y="283464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103120" y="2423160"/>
            <a:ext cx="23317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9456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stage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194560" y="27706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and level shift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34840" y="283464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54880" y="2423160"/>
            <a:ext cx="22402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46320" y="24871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DAC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277063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AN9767 · 14-bit · 125 MS/s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95160" y="2834640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48640" y="356616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0–15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83080" y="379476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103120" y="3383280"/>
            <a:ext cx="23317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194560" y="34472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shifting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2194560" y="373075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74LVC245 · 16 channels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434840" y="379476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754880" y="3383280"/>
            <a:ext cx="22402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46320" y="3447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I/O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4846320" y="373075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analyser + pattern generator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995160" y="3794760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4526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526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9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DMM 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783080" y="475488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103120" y="4343400"/>
            <a:ext cx="23317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0E9F9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94560" y="44074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input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194560" y="469087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REF5025 reference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434840" y="475488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754880" y="4343400"/>
            <a:ext cx="22402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0E9F9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46320" y="440740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24-bit ADC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4846320" y="469087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ADS1256 multimeter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995160" y="4754880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48640" y="548640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486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· V2 out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783080" y="571500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103120" y="5303520"/>
            <a:ext cx="233172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194560" y="53675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Programmable supplies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2194560" y="565099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XL6009 regulators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434840" y="5715000"/>
            <a:ext cx="274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754880" y="5303520"/>
            <a:ext cx="224028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846320" y="53675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Setpoint + sense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4846320" y="5650992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MCP4728 DAC · INA226 monitor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95160" y="5715000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06640" y="1463040"/>
            <a:ext cx="2103120" cy="4663440"/>
          </a:xfrm>
          <a:prstGeom prst="roundRect">
            <a:avLst>
              <a:gd name="adj" fmla="val 2174"/>
            </a:avLst>
          </a:prstGeom>
          <a:solidFill>
            <a:srgbClr val="EEF2FF"/>
          </a:solidFill>
          <a:ln w="25400">
            <a:solidFill>
              <a:srgbClr val="14213D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498080" y="1572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core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0" y="1892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 Primer 20K (Gowin)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7543800" y="228600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589520" y="2286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engine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543800" y="2907792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589520" y="2907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buffers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7543800" y="3529584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89520" y="3529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DDS signal synthesis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7543800" y="4151376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589520" y="415137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sequencer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43800" y="4773168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89520" y="47731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decode (I²C · SPI · UART)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7543800" y="53949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589520" y="5394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packetiser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9509760" y="3794760"/>
            <a:ext cx="502920" cy="0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79" name="Text 77"/>
          <p:cNvSpPr txBox="1"/>
          <p:nvPr/>
        </p:nvSpPr>
        <p:spPr>
          <a:xfrm>
            <a:off x="9464040" y="3154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2.0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High-Speed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058400" y="1463040"/>
            <a:ext cx="1600200" cy="4663440"/>
          </a:xfrm>
          <a:prstGeom prst="roundRect">
            <a:avLst>
              <a:gd name="adj" fmla="val 285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104120" y="16002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computer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0168128" y="210312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168128" y="2103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driver + API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10168128" y="278892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0168128" y="2788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Workbench software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10168128" y="347472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168128" y="3474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logging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10168128" y="4343400"/>
            <a:ext cx="1371600" cy="1600200"/>
          </a:xfrm>
          <a:prstGeom prst="roundRect">
            <a:avLst>
              <a:gd name="adj" fmla="val 3333"/>
            </a:avLst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213848" y="4389120"/>
            <a:ext cx="1280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engineer: plans tests, reads results, explains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DESIGN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interface: the front panel and what each port does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11091672" cy="1920240"/>
          </a:xfrm>
          <a:prstGeom prst="roundRect">
            <a:avLst>
              <a:gd name="adj" fmla="val 23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0" descr="/tmp/claude-0/-home-user-robowar/aee4da2e-473c-53db-a5de-8e0dc57de510/scratchpad/sec/img/fron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8416" y="1426464"/>
            <a:ext cx="5532120" cy="1837944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3657600"/>
                <a:gridCol w="33192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Instrument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specification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Oscilloscope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CH1, CH2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channels · 12-bit · 65 MS/s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AD8066 front end + 2× AD9226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Waveform generator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W1, W2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channels · 14-bit · up to 125 MS/s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AN9767 dual DAC, FPGA DDS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 analyser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 0–15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channels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74LVC245 + FPGA capture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generator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 0–15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channels, programmable sequences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sequencer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C3AE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decoder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 0–15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I²C · SPI · UART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+ host software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Programmable supplies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V1, V2, COM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outputs, voltage and current monitored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MCP4728 + XL6009 + INA226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E9F9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Multimeter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DMM, COM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24-bit resolution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ADS1256 + REF5025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DESIGN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interface: every instrument and Proto in one workbench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1000" dirty="0"/>
          </a:p>
        </p:txBody>
      </p:sp>
      <p:pic>
        <p:nvPicPr>
          <p:cNvPr id="8" name="Image 0" descr="/tmp/claude-0/-home-user-robowar/aee4da2e-473c-53db-a5de-8e0dc57de510/scratchpad/sec/img/software_u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138160" cy="457748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0684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STACK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006840" y="1719072"/>
            <a:ext cx="2633472" cy="749808"/>
          </a:xfrm>
          <a:prstGeom prst="roundRect">
            <a:avLst>
              <a:gd name="adj" fmla="val 6098"/>
            </a:avLst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16568" y="17922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Proto, AI engineer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16568" y="2103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tests, explains results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006840" y="2569464"/>
            <a:ext cx="2633472" cy="749808"/>
          </a:xfrm>
          <a:prstGeom prst="roundRect">
            <a:avLst>
              <a:gd name="adj" fmla="val 609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16568" y="26426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Workbench UI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116568" y="29535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scope, logic, decoder, supplies, DMM views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06840" y="3419856"/>
            <a:ext cx="2633472" cy="749808"/>
          </a:xfrm>
          <a:prstGeom prst="roundRect">
            <a:avLst>
              <a:gd name="adj" fmla="val 6098"/>
            </a:avLst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16568" y="3493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API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116568" y="380390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commands, streaming, logging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006840" y="4270248"/>
            <a:ext cx="2633472" cy="749808"/>
          </a:xfrm>
          <a:prstGeom prst="roundRect">
            <a:avLst>
              <a:gd name="adj" fmla="val 6098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16568" y="4343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transport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116568" y="465429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2.0 high-speed data link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006840" y="5120640"/>
            <a:ext cx="2633472" cy="749808"/>
          </a:xfrm>
          <a:prstGeom prst="roundRect">
            <a:avLst>
              <a:gd name="adj" fmla="val 6098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16568" y="5193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gateware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9116568" y="5504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trigger, capture, DDS, decode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00684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Top: what the user sees. Bottom: what runs on the hardware.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AND RESULTS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Proto, the AI engineer: from a measurement to a verdict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PROTO RUNS A TEST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" y="214884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7190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board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30428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0664" y="269748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2267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up, watch the current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285292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0664" y="324612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560" y="28163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every supply rail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40156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" y="379476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1560" y="33649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 inputs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9502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0664" y="434340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560" y="39136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outputs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49884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0664" y="489204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1560" y="4462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the buses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047488"/>
            <a:ext cx="384048" cy="384048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40664" y="5440680"/>
            <a:ext cx="0" cy="11887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51560" y="5010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in plain words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596128"/>
            <a:ext cx="384048" cy="384048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5596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55595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 the fix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069080" y="1371600"/>
            <a:ext cx="3749040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06240" y="14447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response of an RC filter</a:t>
            </a:r>
            <a:endParaRPr lang="en-US" sz="1200" dirty="0"/>
          </a:p>
        </p:txBody>
      </p:sp>
      <p:pic>
        <p:nvPicPr>
          <p:cNvPr id="42" name="Image 0" descr="/tmp/claude-0/-home-user-robowar/aee4da2e-473c-53db-a5de-8e0dc57de510/scratchpad/sec/img/b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55648"/>
            <a:ext cx="3657600" cy="2057400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4206240" y="385876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Wavegen sweeps, scope measures, Proto compares with theory: f_c = 1/(2πRC) ≈ 1.59 kHz.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7909560" y="1371600"/>
            <a:ext cx="3730752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046720" y="14447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Supply-rail check with tolerance</a:t>
            </a:r>
            <a:endParaRPr lang="en-US" sz="1200" dirty="0"/>
          </a:p>
        </p:txBody>
      </p:sp>
      <p:pic>
        <p:nvPicPr>
          <p:cNvPr id="46" name="Image 1" descr="/tmp/claude-0/-home-user-robowar/aee4da2e-473c-53db-a5de-8e0dc57de510/scratchpad/sec/img/rai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755648"/>
            <a:ext cx="3657600" cy="205740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8046720" y="385876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DMM and supply monitors read each rail; anything outside ±5 % is flagged.</a:t>
            </a:r>
            <a:endParaRPr lang="en-US" sz="1050" dirty="0"/>
          </a:p>
        </p:txBody>
      </p:sp>
      <p:sp>
        <p:nvSpPr>
          <p:cNvPr id="48" name="Shape 44"/>
          <p:cNvSpPr/>
          <p:nvPr/>
        </p:nvSpPr>
        <p:spPr>
          <a:xfrm>
            <a:off x="4069080" y="4754880"/>
            <a:ext cx="7571232" cy="1234440"/>
          </a:xfrm>
          <a:prstGeom prst="roundRect">
            <a:avLst>
              <a:gd name="adj" fmla="val 3704"/>
            </a:avLst>
          </a:prstGeom>
          <a:solidFill>
            <a:srgbClr val="FEF3C7"/>
          </a:solidFill>
          <a:ln w="15875">
            <a:solidFill>
              <a:srgbClr val="F5B70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425196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PROTO'S VERDICT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4251960" y="512064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3V3 and 5V rails are fine, but the sensor supply is 2.71 V, 18 % low. Check the regulator enable pin and the 10 µF output capacitor, then run the test again.”</a:t>
            </a:r>
            <a:endParaRPr lang="en-US" sz="1450" dirty="0"/>
          </a:p>
        </p:txBody>
      </p:sp>
      <p:sp>
        <p:nvSpPr>
          <p:cNvPr id="51" name="Text 47"/>
          <p:cNvSpPr txBox="1"/>
          <p:nvPr/>
        </p:nvSpPr>
        <p:spPr>
          <a:xfrm>
            <a:off x="548640" y="6126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Graphs show illustrative data for the test method.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CONCLUSION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Methodology, outcomes and future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USB-Based Electronics Platform  ·  SEC Project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5912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METHODOLOGY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645920" cy="868680"/>
          </a:xfrm>
          <a:prstGeom prst="chevron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and architecture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39696" y="1737360"/>
            <a:ext cx="1645920" cy="868680"/>
          </a:xfrm>
          <a:prstGeom prst="chevron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14016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85416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selection and BOM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30752" y="1737360"/>
            <a:ext cx="1645920" cy="868680"/>
          </a:xfrm>
          <a:prstGeom prst="chevron">
            <a:avLst/>
          </a:prstGeom>
          <a:solidFill>
            <a:srgbClr val="0E9F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05072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76472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Schematic and PCB design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21808" y="1737360"/>
            <a:ext cx="1645920" cy="868680"/>
          </a:xfrm>
          <a:prstGeom prst="chevron">
            <a:avLst/>
          </a:prstGeom>
          <a:solidFill>
            <a:srgbClr val="0E9F9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96128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67528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gateware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12864" y="1737360"/>
            <a:ext cx="1645920" cy="868680"/>
          </a:xfrm>
          <a:prstGeom prst="chevron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87184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958584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Workbench software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1737360"/>
            <a:ext cx="1645920" cy="868680"/>
          </a:xfrm>
          <a:prstGeom prst="chevron">
            <a:avLst/>
          </a:prstGeom>
          <a:solidFill>
            <a:srgbClr val="F5B7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549640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 integration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94976" y="1737360"/>
            <a:ext cx="1645920" cy="868680"/>
          </a:xfrm>
          <a:prstGeom prst="chevron">
            <a:avLst/>
          </a:prstGeom>
          <a:solidFill>
            <a:srgbClr val="16A3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140696" y="269748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and validation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520440"/>
            <a:ext cx="5440680" cy="2697480"/>
          </a:xfrm>
          <a:prstGeom prst="roundRect">
            <a:avLst>
              <a:gd name="adj" fmla="val 169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520440"/>
            <a:ext cx="73152" cy="2697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OUTCOMES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023360"/>
            <a:ext cx="5074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USB unit replaces eight bench instruments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run as plans, not as manual steps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Measurements explained in plain language by Proto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Affordable enough for every student lab bench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6199632" y="3520440"/>
            <a:ext cx="5440680" cy="2697480"/>
          </a:xfrm>
          <a:prstGeom prst="roundRect">
            <a:avLst>
              <a:gd name="adj" fmla="val 169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520440"/>
            <a:ext cx="73152" cy="2697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28232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28232" y="4023360"/>
            <a:ext cx="5074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probe fixture that reaches every net of a board automatically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protocol decoders (CAN, I²S, 1-Wire)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lab access over the network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Proto-generated lab reports from recorded measurements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365760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54ACF0"/>
      </a:hlink>
      <a:folHlink>
        <a:srgbClr val="54ACF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Development of an Intelligent USB-Based Electronics Platform</dc:title>
  <dc:subject>PptxGenJS Presentation</dc:subject>
  <dc:creator>Avi Prakash Jaiswal, Soham Pandit Nalawade, Harshit Saini, Anshul</dc:creator>
  <cp:lastModifiedBy>Avi Prakash Jaiswal, Soham Pandit Nalawade, Harshit Saini, Anshul</cp:lastModifiedBy>
  <cp:revision>1</cp:revision>
  <dcterms:created xsi:type="dcterms:W3CDTF">2026-10-28T02:40:32Z</dcterms:created>
  <dcterms:modified xsi:type="dcterms:W3CDTF">2026-10-28T02:40:32Z</dcterms:modified>
</cp:coreProperties>
</file>