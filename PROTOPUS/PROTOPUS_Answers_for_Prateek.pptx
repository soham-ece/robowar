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protopus-kappa.vercel.app/#/baker" TargetMode="External"/><Relationship Id="rId3" Type="http://schemas.openxmlformats.org/officeDocument/2006/relationships/hyperlink" Target="https://protopus-kappa.vercel.app/#/mixer" TargetMode="External"/><Relationship Id="rId4" Type="http://schemas.openxmlformats.org/officeDocument/2006/relationships/hyperlink" Target="https://probe-matrix.vercel.app/" TargetMode="External"/><Relationship Id="rId5" Type="http://schemas.openxmlformats.org/officeDocument/2006/relationships/hyperlink" Target="https://protopus-kappa.vercel.app/" TargetMode="External"/><Relationship Id="rId1"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protopus-kappa.vercel.app/#/baker" TargetMode="External"/><Relationship Id="rId2" Type="http://schemas.openxmlformats.org/officeDocument/2006/relationships/hyperlink" Target="https://protopus-kappa.vercel.app/#/mixer" TargetMode="External"/><Relationship Id="rId3" Type="http://schemas.openxmlformats.org/officeDocument/2006/relationships/hyperlink" Target="https://probe-matrix.vercel.app/" TargetMode="External"/><Relationship Id="rId4" Type="http://schemas.openxmlformats.org/officeDocument/2006/relationships/hyperlink" Target="https://protopus-kappa.vercel.app/#/mixer" TargetMode="External"/><Relationship Id="rId5" Type="http://schemas.openxmlformats.org/officeDocument/2006/relationships/hyperlink" Target="https://protopus-kappa.vercel.app/#/baker" TargetMode="External"/><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protopus-kappa.vercel.app/#/baker" TargetMode="External"/><Relationship Id="rId2" Type="http://schemas.openxmlformats.org/officeDocument/2006/relationships/hyperlink" Target="https://protopus-kappa.vercel.app/#/mixer" TargetMode="External"/><Relationship Id="rId3" Type="http://schemas.openxmlformats.org/officeDocument/2006/relationships/hyperlink" Target="https://protopus-kappa.vercel.app/#/baker" TargetMode="External"/><Relationship Id="rId4" Type="http://schemas.openxmlformats.org/officeDocument/2006/relationships/hyperlink" Target="https://protopus-kappa.vercel.app/#/baker" TargetMode="External"/><Relationship Id="rId5" Type="http://schemas.openxmlformats.org/officeDocument/2006/relationships/hyperlink" Target="https://protopus-kappa.vercel.app/#/baker" TargetMode="External"/><Relationship Id="rId6" Type="http://schemas.openxmlformats.org/officeDocument/2006/relationships/hyperlink" Target="https://protopus-kappa.vercel.app/#/mixer" TargetMode="External"/><Relationship Id="rId7" Type="http://schemas.openxmlformats.org/officeDocument/2006/relationships/hyperlink" Target="https://probe-matrix.vercel.app/" TargetMode="External"/><Relationship Id="rId8" Type="http://schemas.openxmlformats.org/officeDocument/2006/relationships/hyperlink" Target="https://protopus-kappa.vercel.app/#/baker" TargetMode="External"/><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protopus-kappa.vercel.app/#/baker" TargetMode="External"/><Relationship Id="rId2" Type="http://schemas.openxmlformats.org/officeDocument/2006/relationships/hyperlink" Target="https://protopus-kappa.vercel.app/#/baker" TargetMode="External"/><Relationship Id="rId3" Type="http://schemas.openxmlformats.org/officeDocument/2006/relationships/hyperlink" Target="https://protopus-kappa.vercel.app/#/baker" TargetMode="External"/><Relationship Id="rId4" Type="http://schemas.openxmlformats.org/officeDocument/2006/relationships/hyperlink" Target="https://protopus-kappa.vercel.app/#/mixer" TargetMode="External"/><Relationship Id="rId5" Type="http://schemas.openxmlformats.org/officeDocument/2006/relationships/hyperlink" Target="https://probe-matrix.vercel.app/" TargetMode="External"/><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protopus-kappa.vercel.app/#/baker" TargetMode="External"/><Relationship Id="rId2" Type="http://schemas.openxmlformats.org/officeDocument/2006/relationships/hyperlink" Target="https://protopus-kappa.vercel.app/#/baker" TargetMode="Externa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protopus-kappa.vercel.app/#/baker" TargetMode="External"/><Relationship Id="rId2" Type="http://schemas.openxmlformats.org/officeDocument/2006/relationships/hyperlink" Target="https://protopus-kappa.vercel.app/#/baker" TargetMode="External"/><Relationship Id="rId3" Type="http://schemas.openxmlformats.org/officeDocument/2006/relationships/hyperlink" Target="https://protopus-kappa.vercel.app/#/mixer" TargetMode="External"/><Relationship Id="rId4" Type="http://schemas.openxmlformats.org/officeDocument/2006/relationships/hyperlink" Target="https://probe-matrix.vercel.app/" TargetMode="External"/><Relationship Id="rId5" Type="http://schemas.openxmlformats.org/officeDocument/2006/relationships/hyperlink" Target="https://protopus-kappa.vercel.app/#/baker" TargetMode="External"/><Relationship Id="rId6" Type="http://schemas.openxmlformats.org/officeDocument/2006/relationships/hyperlink" Target="https://protopus-kappa.vercel.app/#/mixer" TargetMode="External"/><Relationship Id="rId7" Type="http://schemas.openxmlformats.org/officeDocument/2006/relationships/hyperlink" Target="https://probe-matrix.vercel.app/" TargetMode="External"/><Relationship Id="rId8" Type="http://schemas.openxmlformats.org/officeDocument/2006/relationships/hyperlink" Target="https://protopus-kappa.vercel.app/#/baker" TargetMode="External"/><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protopus-kappa.vercel.app/#/baker" TargetMode="External"/><Relationship Id="rId2" Type="http://schemas.openxmlformats.org/officeDocument/2006/relationships/hyperlink" Target="https://protopus-kappa.vercel.app/#/mixer"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protopus-kappa.vercel.app/#/baker" TargetMode="External"/><Relationship Id="rId2" Type="http://schemas.openxmlformats.org/officeDocument/2006/relationships/hyperlink" Target="https://protopus-kappa.vercel.app/#/mixer" TargetMode="External"/><Relationship Id="rId3" Type="http://schemas.openxmlformats.org/officeDocument/2006/relationships/hyperlink" Target="https://protopus-kappa.vercel.app/#/baker" TargetMode="External"/><Relationship Id="rId4" Type="http://schemas.openxmlformats.org/officeDocument/2006/relationships/hyperlink" Target="https://protopus-kappa.vercel.app/#/mixer" TargetMode="External"/><Relationship Id="rId5" Type="http://schemas.openxmlformats.org/officeDocument/2006/relationships/hyperlink" Target="https://protopus-kappa.vercel.app/#/baker" TargetMode="External"/><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protopus-kappa.vercel.app/#/baker" TargetMode="External"/><Relationship Id="rId2" Type="http://schemas.openxmlformats.org/officeDocument/2006/relationships/hyperlink" Target="https://protopus-kappa.vercel.app/#/baker" TargetMode="External"/><Relationship Id="rId3" Type="http://schemas.openxmlformats.org/officeDocument/2006/relationships/hyperlink" Target="https://protopus-kappa.vercel.app/#/baker" TargetMode="External"/><Relationship Id="rId4" Type="http://schemas.openxmlformats.org/officeDocument/2006/relationships/hyperlink" Target="https://protopus-kappa.vercel.app/#/baker" TargetMode="External"/><Relationship Id="rId5" Type="http://schemas.openxmlformats.org/officeDocument/2006/relationships/hyperlink" Target="https://protopus-kappa.vercel.app/#/baker" TargetMode="External"/><Relationship Id="rId6" Type="http://schemas.openxmlformats.org/officeDocument/2006/relationships/hyperlink" Target="https://protopus-kappa.vercel.app/#/baker" TargetMode="External"/><Relationship Id="rId7" Type="http://schemas.openxmlformats.org/officeDocument/2006/relationships/hyperlink" Target="https://protopus-kappa.vercel.app/#/mixer" TargetMode="External"/><Relationship Id="rId8" Type="http://schemas.openxmlformats.org/officeDocument/2006/relationships/hyperlink" Target="https://protopus-kappa.vercel.app/#/baker" TargetMode="External"/><Relationship Id="rId9" Type="http://schemas.openxmlformats.org/officeDocument/2006/relationships/hyperlink" Target="https://protopus-kappa.vercel.app/#/baker" TargetMode="External"/><Relationship Id="rId10" Type="http://schemas.openxmlformats.org/officeDocument/2006/relationships/slideLayout" Target="../slideLayouts/slideLayout1.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protopus-kappa.vercel.app/#/baker" TargetMode="External"/><Relationship Id="rId2" Type="http://schemas.openxmlformats.org/officeDocument/2006/relationships/hyperlink" Target="https://protopus-kappa.vercel.app/#/baker" TargetMode="External"/><Relationship Id="rId3" Type="http://schemas.openxmlformats.org/officeDocument/2006/relationships/hyperlink" Target="https://protopus-kappa.vercel.app/#/baker" TargetMode="External"/><Relationship Id="rId4" Type="http://schemas.openxmlformats.org/officeDocument/2006/relationships/hyperlink" Target="https://protopus-kappa.vercel.app/#/baker" TargetMode="External"/><Relationship Id="rId5" Type="http://schemas.openxmlformats.org/officeDocument/2006/relationships/hyperlink" Target="https://protopus-kappa.vercel.app/#/baker" TargetMode="External"/><Relationship Id="rId6" Type="http://schemas.openxmlformats.org/officeDocument/2006/relationships/hyperlink" Target="https://protopus-kappa.vercel.app/#/baker" TargetMode="External"/><Relationship Id="rId7" Type="http://schemas.openxmlformats.org/officeDocument/2006/relationships/hyperlink" Target="https://protopus-kappa.vercel.app/#/baker" TargetMode="External"/><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protopus-kappa.vercel.app/#/baker" TargetMode="External"/><Relationship Id="rId2" Type="http://schemas.openxmlformats.org/officeDocument/2006/relationships/hyperlink" Target="https://protopus-kappa.vercel.app/#/mixer" TargetMode="External"/><Relationship Id="rId3" Type="http://schemas.openxmlformats.org/officeDocument/2006/relationships/hyperlink" Target="https://probe-matrix.vercel.app/" TargetMode="External"/><Relationship Id="rId4" Type="http://schemas.openxmlformats.org/officeDocument/2006/relationships/hyperlink" Target="https://protopus-kappa.vercel.app/#/baker" TargetMode="External"/><Relationship Id="rId5" Type="http://schemas.openxmlformats.org/officeDocument/2006/relationships/hyperlink" Target="https://protopus-kappa.vercel.app/#/mixer" TargetMode="External"/><Relationship Id="rId6" Type="http://schemas.openxmlformats.org/officeDocument/2006/relationships/hyperlink" Target="https://probe-matrix.vercel.app/" TargetMode="External"/><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protopus-kappa.vercel.app/" TargetMode="External"/><Relationship Id="rId3" Type="http://schemas.openxmlformats.org/officeDocument/2006/relationships/hyperlink" Target="https://protopus-kappa.vercel.app/#/baker" TargetMode="External"/><Relationship Id="rId4" Type="http://schemas.openxmlformats.org/officeDocument/2006/relationships/hyperlink" Target="https://protopus-kappa.vercel.app/#/mixer" TargetMode="External"/><Relationship Id="rId5" Type="http://schemas.openxmlformats.org/officeDocument/2006/relationships/hyperlink" Target="https://probe-matrix.vercel.app/" TargetMode="External"/><Relationship Id="rId1" Type="http://schemas.openxmlformats.org/officeDocument/2006/relationships/image" Target="../media/image-13-1.png"/><Relationship Id="rId6" Type="http://schemas.openxmlformats.org/officeDocument/2006/relationships/image" Target="../media/image-13-2.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216"/>
        </a:solidFill>
      </p:bgPr>
    </p:bg>
    <p:spTree>
      <p:nvGrpSpPr>
        <p:cNvPr id="1" name=""/>
        <p:cNvGrpSpPr/>
        <p:nvPr/>
      </p:nvGrpSpPr>
      <p:grpSpPr>
        <a:xfrm>
          <a:off x="0" y="0"/>
          <a:ext cx="0" cy="0"/>
          <a:chOff x="0" y="0"/>
          <a:chExt cx="0" cy="0"/>
        </a:xfrm>
      </p:grpSpPr>
      <p:pic>
        <p:nvPicPr>
          <p:cNvPr id="2" name="Image 0" descr="/tmp/claude-0/-home-user-robowar/aee4da2e-473c-53db-a5de-8e0dc57de510/scratchpad/proj/PROTOPUS_Project/08_Build_Scripts/assets/logo.png">    </p:cNvPr>
          <p:cNvPicPr>
            <a:picLocks noChangeAspect="1"/>
          </p:cNvPicPr>
          <p:nvPr/>
        </p:nvPicPr>
        <p:blipFill>
          <a:blip r:embed="rId1"/>
          <a:stretch>
            <a:fillRect/>
          </a:stretch>
        </p:blipFill>
        <p:spPr>
          <a:xfrm>
            <a:off x="411480" y="475488"/>
            <a:ext cx="1965960" cy="341986"/>
          </a:xfrm>
          <a:prstGeom prst="rect">
            <a:avLst/>
          </a:prstGeom>
        </p:spPr>
      </p:pic>
      <p:sp>
        <p:nvSpPr>
          <p:cNvPr id="3" name="Text 0"/>
          <p:cNvSpPr txBox="1"/>
          <p:nvPr/>
        </p:nvSpPr>
        <p:spPr>
          <a:xfrm>
            <a:off x="411480" y="1188720"/>
            <a:ext cx="8229600" cy="182880"/>
          </a:xfrm>
          <a:prstGeom prst="rect">
            <a:avLst/>
          </a:prstGeom>
          <a:noFill/>
          <a:ln/>
        </p:spPr>
        <p:txBody>
          <a:bodyPr wrap="square" lIns="0" tIns="0" rIns="0" bIns="0" rtlCol="0" anchor="t"/>
          <a:lstStyle/>
          <a:p>
            <a:pPr indent="0" marL="0">
              <a:buNone/>
            </a:pPr>
            <a:r>
              <a:rPr lang="en-US" sz="850" spc="250" kern="0" dirty="0">
                <a:solidFill>
                  <a:srgbClr val="CF8F4E"/>
                </a:solidFill>
                <a:latin typeface="Space Mono" pitchFamily="34" charset="0"/>
                <a:ea typeface="Space Mono" pitchFamily="34" charset="-122"/>
                <a:cs typeface="Space Mono" pitchFamily="34" charset="-120"/>
              </a:rPr>
              <a:t>MURDER BOARD · ROUND 1 · FOR PRATEEK</a:t>
            </a:r>
            <a:endParaRPr lang="en-US" sz="850" dirty="0"/>
          </a:p>
        </p:txBody>
      </p:sp>
      <p:sp>
        <p:nvSpPr>
          <p:cNvPr id="4" name="Text 1"/>
          <p:cNvSpPr txBox="1"/>
          <p:nvPr/>
        </p:nvSpPr>
        <p:spPr>
          <a:xfrm>
            <a:off x="411480" y="1463040"/>
            <a:ext cx="8412480" cy="1325880"/>
          </a:xfrm>
          <a:prstGeom prst="rect">
            <a:avLst/>
          </a:prstGeom>
          <a:noFill/>
          <a:ln/>
        </p:spPr>
        <p:txBody>
          <a:bodyPr wrap="square" lIns="0" tIns="0" rIns="0" bIns="0" rtlCol="0" anchor="t"/>
          <a:lstStyle/>
          <a:p>
            <a:pPr indent="0" marL="0">
              <a:lnSpc>
                <a:spcPct val="95000"/>
              </a:lnSpc>
              <a:buNone/>
            </a:pPr>
            <a:r>
              <a:rPr lang="en-US" sz="4200" b="1" dirty="0">
                <a:solidFill>
                  <a:srgbClr val="E8EEF2"/>
                </a:solidFill>
                <a:latin typeface="Space Mono" pitchFamily="34" charset="0"/>
                <a:ea typeface="Space Mono" pitchFamily="34" charset="-122"/>
                <a:cs typeface="Space Mono" pitchFamily="34" charset="-120"/>
              </a:rPr>
              <a:t>Your questions,</a:t>
            </a:r>
            <a:endParaRPr lang="en-US" sz="4200" dirty="0"/>
          </a:p>
          <a:p>
            <a:pPr indent="0" marL="0">
              <a:lnSpc>
                <a:spcPct val="95000"/>
              </a:lnSpc>
              <a:buNone/>
            </a:pPr>
            <a:r>
              <a:rPr lang="en-US" sz="4200" b="1" u="wavy" dirty="0">
                <a:solidFill>
                  <a:srgbClr val="E8EEF2"/>
                </a:solidFill>
                <a:uFill>
                  <a:solidFill>
                    <a:srgbClr val="54ACF0"/>
                  </a:solidFill>
                </a:uFill>
                <a:latin typeface="Space Mono" pitchFamily="34" charset="0"/>
                <a:ea typeface="Space Mono" pitchFamily="34" charset="-122"/>
                <a:cs typeface="Space Mono" pitchFamily="34" charset="-120"/>
              </a:rPr>
              <a:t>answered</a:t>
            </a:r>
            <a:r>
              <a:rPr lang="en-US" sz="4200" b="1" dirty="0">
                <a:solidFill>
                  <a:srgbClr val="E8EEF2"/>
                </a:solidFill>
                <a:latin typeface="Space Mono" pitchFamily="34" charset="0"/>
                <a:ea typeface="Space Mono" pitchFamily="34" charset="-122"/>
                <a:cs typeface="Space Mono" pitchFamily="34" charset="-120"/>
              </a:rPr>
              <a:t>.</a:t>
            </a:r>
            <a:endParaRPr lang="en-US" sz="4200" dirty="0"/>
          </a:p>
        </p:txBody>
      </p:sp>
      <p:sp>
        <p:nvSpPr>
          <p:cNvPr id="5" name="Text 2"/>
          <p:cNvSpPr txBox="1"/>
          <p:nvPr/>
        </p:nvSpPr>
        <p:spPr>
          <a:xfrm>
            <a:off x="411480" y="2706624"/>
            <a:ext cx="8595360" cy="640080"/>
          </a:xfrm>
          <a:prstGeom prst="rect">
            <a:avLst/>
          </a:prstGeom>
          <a:noFill/>
          <a:ln/>
        </p:spPr>
        <p:txBody>
          <a:bodyPr wrap="square" lIns="0" tIns="0" rIns="0" bIns="0" rtlCol="0" anchor="t"/>
          <a:lstStyle/>
          <a:p>
            <a:pPr indent="0" marL="0">
              <a:buNone/>
            </a:pPr>
            <a:r>
              <a:rPr lang="en-US" sz="3000" b="1" dirty="0">
                <a:solidFill>
                  <a:srgbClr val="9FB0BC"/>
                </a:solidFill>
                <a:latin typeface="Space Mono" pitchFamily="34" charset="0"/>
                <a:ea typeface="Space Mono" pitchFamily="34" charset="-122"/>
                <a:cs typeface="Space Mono" pitchFamily="34" charset="-120"/>
              </a:rPr>
              <a:t>One question per slide.</a:t>
            </a:r>
            <a:endParaRPr lang="en-US" sz="3000" dirty="0"/>
          </a:p>
        </p:txBody>
      </p:sp>
      <p:sp>
        <p:nvSpPr>
          <p:cNvPr id="6" name="Text 3"/>
          <p:cNvSpPr txBox="1"/>
          <p:nvPr/>
        </p:nvSpPr>
        <p:spPr>
          <a:xfrm>
            <a:off x="411480" y="3493008"/>
            <a:ext cx="8229600" cy="457200"/>
          </a:xfrm>
          <a:prstGeom prst="rect">
            <a:avLst/>
          </a:prstGeom>
          <a:noFill/>
          <a:ln/>
        </p:spPr>
        <p:txBody>
          <a:bodyPr wrap="square" lIns="0" tIns="0" rIns="0" bIns="0" rtlCol="0" anchor="t"/>
          <a:lstStyle/>
          <a:p>
            <a:pPr indent="0" marL="0">
              <a:lnSpc>
                <a:spcPct val="130000"/>
              </a:lnSpc>
              <a:buNone/>
            </a:pPr>
            <a:r>
              <a:rPr lang="en-US" sz="1050" dirty="0">
                <a:solidFill>
                  <a:srgbClr val="E8EEF2"/>
                </a:solidFill>
                <a:latin typeface="Space Mono" pitchFamily="34" charset="0"/>
                <a:ea typeface="Space Mono" pitchFamily="34" charset="-122"/>
                <a:cs typeface="Space Mono" pitchFamily="34" charset="-120"/>
              </a:rPr>
              <a:t>What you asked, how I answer it, and the numbers that justify it.</a:t>
            </a:r>
            <a:endParaRPr lang="en-US" sz="1050" dirty="0"/>
          </a:p>
          <a:p>
            <a:pPr indent="0" marL="0">
              <a:lnSpc>
                <a:spcPct val="130000"/>
              </a:lnSpc>
              <a:buNone/>
            </a:pPr>
            <a:r>
              <a:rPr lang="en-US" sz="1050" dirty="0">
                <a:solidFill>
                  <a:srgbClr val="F2C230"/>
                </a:solidFill>
                <a:latin typeface="Space Mono" pitchFamily="34" charset="0"/>
                <a:ea typeface="Space Mono" pitchFamily="34" charset="-122"/>
                <a:cs typeface="Space Mono" pitchFamily="34" charset="-120"/>
              </a:rPr>
              <a:t>proto</a:t>
            </a:r>
            <a:r>
              <a:rPr lang="en-US" sz="1050" dirty="0">
                <a:solidFill>
                  <a:srgbClr val="A3B3BE"/>
                </a:solidFill>
                <a:latin typeface="Space Mono" pitchFamily="34" charset="0"/>
                <a:ea typeface="Space Mono" pitchFamily="34" charset="-122"/>
                <a:cs typeface="Space Mono" pitchFamily="34" charset="-120"/>
              </a:rPr>
              <a:t> plans · </a:t>
            </a:r>
            <a:r>
              <a:rPr lang="en-US" sz="1050" dirty="0">
                <a:solidFill>
                  <a:srgbClr val="A3B3BE"/>
                </a:solidFill>
                <a:latin typeface="Space Mono" pitchFamily="34" charset="0"/>
                <a:ea typeface="Space Mono" pitchFamily="34" charset="-122"/>
                <a:cs typeface="Space Mono" pitchFamily="34" charset="-120"/>
              </a:rPr>
              <a:t>​</a:t>
            </a:r>
            <a:r>
              <a:rPr lang="en-US" sz="1050" u="sng" dirty="0">
                <a:solidFill>
                  <a:srgbClr val="CF8F4E"/>
                </a:solidFill>
                <a:latin typeface="Space Mono" pitchFamily="34" charset="0"/>
                <a:ea typeface="Space Mono" pitchFamily="34" charset="-122"/>
                <a:cs typeface="Space Mono" pitchFamily="34" charset="-120"/>
                <a:hlinkClick r:id="rId2"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1050" dirty="0">
                <a:solidFill>
                  <a:srgbClr val="A3B3BE"/>
                </a:solidFill>
                <a:latin typeface="Space Mono" pitchFamily="34" charset="0"/>
                <a:ea typeface="Space Mono" pitchFamily="34" charset="-122"/>
                <a:cs typeface="Space Mono" pitchFamily="34" charset="-120"/>
              </a:rPr>
              <a:t> makes · </a:t>
            </a:r>
            <a:r>
              <a:rPr lang="en-US" sz="1050" dirty="0">
                <a:solidFill>
                  <a:srgbClr val="A3B3BE"/>
                </a:solidFill>
                <a:latin typeface="Space Mono" pitchFamily="34" charset="0"/>
                <a:ea typeface="Space Mono" pitchFamily="34" charset="-122"/>
                <a:cs typeface="Space Mono" pitchFamily="34" charset="-120"/>
              </a:rPr>
              <a:t>​</a:t>
            </a:r>
            <a:r>
              <a:rPr lang="en-US" sz="1050" u="sng" dirty="0">
                <a:solidFill>
                  <a:srgbClr val="54ACF0"/>
                </a:solidFill>
                <a:latin typeface="Space Mono" pitchFamily="34" charset="0"/>
                <a:ea typeface="Space Mono" pitchFamily="34" charset="-122"/>
                <a:cs typeface="Space Mono" pitchFamily="34" charset="-120"/>
                <a:hlinkClick r:id="rId3" invalidUrl="" action="" tgtFrame="" tooltip="https://protopus-kappa.vercel.app/#/mixer" history="1" highlightClick="0" endSnd="0">
                  <a:extLst>
                    <a:ext uri="{A12FA001-AC4F-418D-AE19-62706E023703}">
                      <ahyp:hlinkClr xmlns:ahyp="http://schemas.microsoft.com/office/drawing/2018/hyperlinkcolor" val="tx"/>
                    </a:ext>
                  </a:extLst>
                </a:hlinkClick>
              </a:rPr>
              <a:t>Mixer</a:t>
            </a:r>
            <a:r>
              <a:rPr lang="en-US" sz="1050" dirty="0">
                <a:solidFill>
                  <a:srgbClr val="A3B3BE"/>
                </a:solidFill>
                <a:latin typeface="Space Mono" pitchFamily="34" charset="0"/>
                <a:ea typeface="Space Mono" pitchFamily="34" charset="-122"/>
                <a:cs typeface="Space Mono" pitchFamily="34" charset="-120"/>
              </a:rPr>
              <a:t> tests · </a:t>
            </a:r>
            <a:r>
              <a:rPr lang="en-US" sz="1050" dirty="0">
                <a:solidFill>
                  <a:srgbClr val="A3B3BE"/>
                </a:solidFill>
                <a:latin typeface="Space Mono" pitchFamily="34" charset="0"/>
                <a:ea typeface="Space Mono" pitchFamily="34" charset="-122"/>
                <a:cs typeface="Space Mono" pitchFamily="34" charset="-120"/>
              </a:rPr>
              <a:t>​</a:t>
            </a:r>
            <a:r>
              <a:rPr lang="en-US" sz="1050" u="sng" dirty="0">
                <a:solidFill>
                  <a:srgbClr val="54ACF0"/>
                </a:solidFill>
                <a:latin typeface="Space Mono" pitchFamily="34" charset="0"/>
                <a:ea typeface="Space Mono" pitchFamily="34" charset="-122"/>
                <a:cs typeface="Space Mono" pitchFamily="34" charset="-120"/>
                <a:hlinkClick r:id="rId4" invalidUrl="" action="" tgtFrame="" tooltip="https://probe-matrix.vercel.app/" history="1" highlightClick="0" endSnd="0">
                  <a:extLst>
                    <a:ext uri="{A12FA001-AC4F-418D-AE19-62706E023703}">
                      <ahyp:hlinkClr xmlns:ahyp="http://schemas.microsoft.com/office/drawing/2018/hyperlinkcolor" val="tx"/>
                    </a:ext>
                  </a:extLst>
                </a:hlinkClick>
              </a:rPr>
              <a:t>Probe Matrix</a:t>
            </a:r>
            <a:r>
              <a:rPr lang="en-US" sz="1050" dirty="0">
                <a:solidFill>
                  <a:srgbClr val="A3B3BE"/>
                </a:solidFill>
                <a:latin typeface="Space Mono" pitchFamily="34" charset="0"/>
                <a:ea typeface="Space Mono" pitchFamily="34" charset="-122"/>
                <a:cs typeface="Space Mono" pitchFamily="34" charset="-120"/>
              </a:rPr>
              <a:t> reaches every net</a:t>
            </a:r>
            <a:endParaRPr lang="en-US" sz="1050" dirty="0"/>
          </a:p>
        </p:txBody>
      </p:sp>
      <p:sp>
        <p:nvSpPr>
          <p:cNvPr id="7" name="Text 4"/>
          <p:cNvSpPr txBox="1"/>
          <p:nvPr/>
        </p:nvSpPr>
        <p:spPr>
          <a:xfrm>
            <a:off x="411480" y="4343400"/>
            <a:ext cx="5486400" cy="182880"/>
          </a:xfrm>
          <a:prstGeom prst="rect">
            <a:avLst/>
          </a:prstGeom>
          <a:noFill/>
          <a:ln/>
        </p:spPr>
        <p:txBody>
          <a:bodyPr wrap="square" lIns="0" tIns="0" rIns="0" bIns="0" rtlCol="0" anchor="t"/>
          <a:lstStyle/>
          <a:p>
            <a:pPr indent="0" marL="0">
              <a:buNone/>
            </a:pPr>
            <a:r>
              <a:rPr lang="en-US" sz="800" dirty="0">
                <a:solidFill>
                  <a:srgbClr val="6E7A83"/>
                </a:solidFill>
                <a:latin typeface="Space Mono" pitchFamily="34" charset="0"/>
                <a:ea typeface="Space Mono" pitchFamily="34" charset="-122"/>
                <a:cs typeface="Space Mono" pitchFamily="34" charset="-120"/>
              </a:rPr>
              <a:t>Soham, founder · 2 Oct 2026 · </a:t>
            </a:r>
            <a:r>
              <a:rPr lang="en-US" sz="800" u="sng" dirty="0">
                <a:solidFill>
                  <a:srgbClr val="6E7A83"/>
                </a:solidFill>
                <a:latin typeface="Space Mono" pitchFamily="34" charset="0"/>
                <a:ea typeface="Space Mono" pitchFamily="34" charset="-122"/>
                <a:cs typeface="Space Mono" pitchFamily="34" charset="-120"/>
                <a:hlinkClick r:id="rId5" invalidUrl="" action="" tgtFrame="" tooltip="https://protopus-kappa.vercel.app/" history="1" highlightClick="0" endSnd="0">
                  <a:extLst>
                    <a:ext uri="{A12FA001-AC4F-418D-AE19-62706E023703}">
                      <ahyp:hlinkClr xmlns:ahyp="http://schemas.microsoft.com/office/drawing/2018/hyperlinkcolor" val="tx"/>
                    </a:ext>
                  </a:extLst>
                </a:hlinkClick>
              </a:rPr>
              <a:t>protopus-kappa.vercel.app</a:t>
            </a:r>
            <a:endParaRPr lang="en-US" sz="800" dirty="0"/>
          </a:p>
        </p:txBody>
      </p:sp>
      <p:pic>
        <p:nvPicPr>
          <p:cNvPr id="8" name="Image 1" descr="/tmp/claude-0/-home-user-robowar/aee4da2e-473c-53db-a5de-8e0dc57de510/scratchpad/proj/PROTOPUS_Project/08_Build_Scripts/assets/mascot.png">    </p:cNvPr>
          <p:cNvPicPr>
            <a:picLocks noChangeAspect="1"/>
          </p:cNvPicPr>
          <p:nvPr/>
        </p:nvPicPr>
        <p:blipFill>
          <a:blip r:embed="rId6"/>
          <a:srcRect l="0" r="0" t="0" b="0"/>
          <a:stretch/>
        </p:blipFill>
        <p:spPr>
          <a:xfrm>
            <a:off x="7086600" y="3520440"/>
            <a:ext cx="1600200" cy="1143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216"/>
        </a:solidFill>
      </p:bgPr>
    </p:bg>
    <p:spTree>
      <p:nvGrpSpPr>
        <p:cNvPr id="1" name=""/>
        <p:cNvGrpSpPr/>
        <p:nvPr/>
      </p:nvGrpSpPr>
      <p:grpSpPr>
        <a:xfrm>
          <a:off x="0" y="0"/>
          <a:ext cx="0" cy="0"/>
          <a:chOff x="0" y="0"/>
          <a:chExt cx="0" cy="0"/>
        </a:xfrm>
      </p:grpSpPr>
      <p:sp>
        <p:nvSpPr>
          <p:cNvPr id="2" name="Text 0"/>
          <p:cNvSpPr txBox="1"/>
          <p:nvPr/>
        </p:nvSpPr>
        <p:spPr>
          <a:xfrm>
            <a:off x="411480" y="429768"/>
            <a:ext cx="8321040" cy="182880"/>
          </a:xfrm>
          <a:prstGeom prst="rect">
            <a:avLst/>
          </a:prstGeom>
          <a:noFill/>
          <a:ln/>
        </p:spPr>
        <p:txBody>
          <a:bodyPr wrap="square" lIns="0" tIns="0" rIns="0" bIns="0" rtlCol="0" anchor="t"/>
          <a:lstStyle/>
          <a:p>
            <a:pPr indent="0" marL="0">
              <a:buNone/>
            </a:pPr>
            <a:r>
              <a:rPr lang="en-US" sz="850" spc="250" kern="0" dirty="0">
                <a:solidFill>
                  <a:srgbClr val="F2C230"/>
                </a:solidFill>
                <a:latin typeface="Space Mono" pitchFamily="34" charset="0"/>
                <a:ea typeface="Space Mono" pitchFamily="34" charset="-122"/>
                <a:cs typeface="Space Mono" pitchFamily="34" charset="-120"/>
              </a:rPr>
              <a:t>BEFORE WE START</a:t>
            </a:r>
            <a:endParaRPr lang="en-US" sz="850" dirty="0"/>
          </a:p>
        </p:txBody>
      </p:sp>
      <p:sp>
        <p:nvSpPr>
          <p:cNvPr id="3" name="Text 1"/>
          <p:cNvSpPr txBox="1"/>
          <p:nvPr/>
        </p:nvSpPr>
        <p:spPr>
          <a:xfrm>
            <a:off x="411480" y="658368"/>
            <a:ext cx="8229600" cy="777240"/>
          </a:xfrm>
          <a:prstGeom prst="rect">
            <a:avLst/>
          </a:prstGeom>
          <a:noFill/>
          <a:ln/>
        </p:spPr>
        <p:txBody>
          <a:bodyPr wrap="square" lIns="0" tIns="0" rIns="0" bIns="0" rtlCol="0" anchor="t"/>
          <a:lstStyle/>
          <a:p>
            <a:pPr indent="0" marL="0">
              <a:buNone/>
            </a:pPr>
            <a:r>
              <a:rPr lang="en-US" sz="2400" b="1" dirty="0">
                <a:solidFill>
                  <a:srgbClr val="E8EEF2"/>
                </a:solidFill>
                <a:latin typeface="Space Grotesk" pitchFamily="34" charset="0"/>
                <a:ea typeface="Space Grotesk" pitchFamily="34" charset="-122"/>
                <a:cs typeface="Space Grotesk" pitchFamily="34" charset="-120"/>
              </a:rPr>
              <a:t>Sir, your feedback changed the pitch.</a:t>
            </a:r>
            <a:endParaRPr lang="en-US" sz="2400" dirty="0"/>
          </a:p>
          <a:p>
            <a:pPr indent="0" marL="0">
              <a:buNone/>
            </a:pPr>
            <a:r>
              <a:rPr lang="en-US" sz="2400" b="1" dirty="0">
                <a:solidFill>
                  <a:srgbClr val="E8EEF2"/>
                </a:solidFill>
                <a:latin typeface="Space Grotesk" pitchFamily="34" charset="0"/>
                <a:ea typeface="Space Grotesk" pitchFamily="34" charset="-122"/>
                <a:cs typeface="Space Grotesk" pitchFamily="34" charset="-120"/>
              </a:rPr>
              <a:t>Here is what is different now.</a:t>
            </a:r>
            <a:endParaRPr lang="en-US" sz="2400" dirty="0"/>
          </a:p>
        </p:txBody>
      </p:sp>
      <p:sp>
        <p:nvSpPr>
          <p:cNvPr id="4" name="Shape 2"/>
          <p:cNvSpPr/>
          <p:nvPr/>
        </p:nvSpPr>
        <p:spPr>
          <a:xfrm>
            <a:off x="411480" y="1737360"/>
            <a:ext cx="2651760" cy="36576"/>
          </a:xfrm>
          <a:prstGeom prst="rect">
            <a:avLst/>
          </a:prstGeom>
          <a:solidFill>
            <a:srgbClr val="F2C230"/>
          </a:solidFill>
          <a:ln w="12700">
            <a:solidFill>
              <a:srgbClr val="F2C230"/>
            </a:solidFill>
            <a:prstDash val="solid"/>
          </a:ln>
        </p:spPr>
      </p:sp>
      <p:sp>
        <p:nvSpPr>
          <p:cNvPr id="5" name="Text 3"/>
          <p:cNvSpPr txBox="1"/>
          <p:nvPr/>
        </p:nvSpPr>
        <p:spPr>
          <a:xfrm>
            <a:off x="411480" y="1874520"/>
            <a:ext cx="2651760" cy="182880"/>
          </a:xfrm>
          <a:prstGeom prst="rect">
            <a:avLst/>
          </a:prstGeom>
          <a:noFill/>
          <a:ln/>
        </p:spPr>
        <p:txBody>
          <a:bodyPr wrap="square" lIns="0" tIns="0" rIns="0" bIns="0" rtlCol="0" anchor="t"/>
          <a:lstStyle/>
          <a:p>
            <a:pPr indent="0" marL="0">
              <a:buNone/>
            </a:pPr>
            <a:r>
              <a:rPr lang="en-US" sz="800" spc="150" kern="0" dirty="0">
                <a:solidFill>
                  <a:srgbClr val="F2C230"/>
                </a:solidFill>
                <a:latin typeface="Space Mono" pitchFamily="34" charset="0"/>
                <a:ea typeface="Space Mono" pitchFamily="34" charset="-122"/>
                <a:cs typeface="Space Mono" pitchFamily="34" charset="-120"/>
              </a:rPr>
              <a:t>PROTO FIRST</a:t>
            </a:r>
            <a:endParaRPr lang="en-US" sz="800" dirty="0"/>
          </a:p>
        </p:txBody>
      </p:sp>
      <p:sp>
        <p:nvSpPr>
          <p:cNvPr id="6" name="Text 4"/>
          <p:cNvSpPr txBox="1"/>
          <p:nvPr/>
        </p:nvSpPr>
        <p:spPr>
          <a:xfrm>
            <a:off x="411480" y="2121408"/>
            <a:ext cx="2606040" cy="777240"/>
          </a:xfrm>
          <a:prstGeom prst="rect">
            <a:avLst/>
          </a:prstGeom>
          <a:noFill/>
          <a:ln/>
        </p:spPr>
        <p:txBody>
          <a:bodyPr wrap="square" lIns="0" tIns="0" rIns="0" bIns="0" rtlCol="0" anchor="t"/>
          <a:lstStyle/>
          <a:p>
            <a:pPr indent="0" marL="0">
              <a:buNone/>
            </a:pPr>
            <a:r>
              <a:rPr lang="en-US" sz="1200" dirty="0">
                <a:solidFill>
                  <a:srgbClr val="E8EEF2"/>
                </a:solidFill>
                <a:latin typeface="Space Grotesk" pitchFamily="34" charset="0"/>
                <a:ea typeface="Space Grotesk" pitchFamily="34" charset="-122"/>
                <a:cs typeface="Space Grotesk" pitchFamily="34" charset="-120"/>
              </a:rPr>
              <a:t>Proto is the company. </a:t>
            </a:r>
            <a:r>
              <a:rPr lang="en-US" sz="1200" u="sng" dirty="0">
                <a:solidFill>
                  <a:srgbClr val="CF8F4E"/>
                </a:solidFill>
                <a:latin typeface="Space Grotesk" pitchFamily="34" charset="0"/>
                <a:ea typeface="Space Grotesk" pitchFamily="34" charset="-122"/>
                <a:cs typeface="Space Grotesk" pitchFamily="34" charset="-120"/>
                <a:hlinkClick r:id="rId1"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1200" dirty="0">
                <a:solidFill>
                  <a:srgbClr val="E8EEF2"/>
                </a:solidFill>
                <a:latin typeface="Space Grotesk" pitchFamily="34" charset="0"/>
                <a:ea typeface="Space Grotesk" pitchFamily="34" charset="-122"/>
                <a:cs typeface="Space Grotesk" pitchFamily="34" charset="-120"/>
              </a:rPr>
              <a:t>, </a:t>
            </a:r>
            <a:r>
              <a:rPr lang="en-US" sz="1200" u="sng" dirty="0">
                <a:solidFill>
                  <a:srgbClr val="54ACF0"/>
                </a:solidFill>
                <a:latin typeface="Space Grotesk" pitchFamily="34" charset="0"/>
                <a:ea typeface="Space Grotesk" pitchFamily="34" charset="-122"/>
                <a:cs typeface="Space Grotesk" pitchFamily="34" charset="-120"/>
                <a:hlinkClick r:id="rId2" invalidUrl="" action="" tgtFrame="" tooltip="https://protopus-kappa.vercel.app/#/mixer" history="1" highlightClick="0" endSnd="0">
                  <a:extLst>
                    <a:ext uri="{A12FA001-AC4F-418D-AE19-62706E023703}">
                      <ahyp:hlinkClr xmlns:ahyp="http://schemas.microsoft.com/office/drawing/2018/hyperlinkcolor" val="tx"/>
                    </a:ext>
                  </a:extLst>
                </a:hlinkClick>
              </a:rPr>
              <a:t>Mixer</a:t>
            </a:r>
            <a:r>
              <a:rPr lang="en-US" sz="1200" dirty="0">
                <a:solidFill>
                  <a:srgbClr val="E8EEF2"/>
                </a:solidFill>
                <a:latin typeface="Space Grotesk" pitchFamily="34" charset="0"/>
                <a:ea typeface="Space Grotesk" pitchFamily="34" charset="-122"/>
                <a:cs typeface="Space Grotesk" pitchFamily="34" charset="-120"/>
              </a:rPr>
              <a:t> and the </a:t>
            </a:r>
            <a:r>
              <a:rPr lang="en-US" sz="1200" u="sng" dirty="0">
                <a:solidFill>
                  <a:srgbClr val="54ACF0"/>
                </a:solidFill>
                <a:latin typeface="Space Grotesk" pitchFamily="34" charset="0"/>
                <a:ea typeface="Space Grotesk" pitchFamily="34" charset="-122"/>
                <a:cs typeface="Space Grotesk" pitchFamily="34" charset="-120"/>
                <a:hlinkClick r:id="rId3" invalidUrl="" action="" tgtFrame="" tooltip="https://probe-matrix.vercel.app/" history="1" highlightClick="0" endSnd="0">
                  <a:extLst>
                    <a:ext uri="{A12FA001-AC4F-418D-AE19-62706E023703}">
                      <ahyp:hlinkClr xmlns:ahyp="http://schemas.microsoft.com/office/drawing/2018/hyperlinkcolor" val="tx"/>
                    </a:ext>
                  </a:extLst>
                </a:hlinkClick>
              </a:rPr>
              <a:t>Probe Matrix</a:t>
            </a:r>
            <a:r>
              <a:rPr lang="en-US" sz="1200" dirty="0">
                <a:solidFill>
                  <a:srgbClr val="E8EEF2"/>
                </a:solidFill>
                <a:latin typeface="Space Grotesk" pitchFamily="34" charset="0"/>
                <a:ea typeface="Space Grotesk" pitchFamily="34" charset="-122"/>
                <a:cs typeface="Space Grotesk" pitchFamily="34" charset="-120"/>
              </a:rPr>
              <a:t> are its hands and eyes.</a:t>
            </a:r>
            <a:endParaRPr lang="en-US" sz="1200" dirty="0"/>
          </a:p>
        </p:txBody>
      </p:sp>
      <p:sp>
        <p:nvSpPr>
          <p:cNvPr id="7" name="Shape 5"/>
          <p:cNvSpPr/>
          <p:nvPr/>
        </p:nvSpPr>
        <p:spPr>
          <a:xfrm>
            <a:off x="3218688" y="1737360"/>
            <a:ext cx="2651760" cy="36576"/>
          </a:xfrm>
          <a:prstGeom prst="rect">
            <a:avLst/>
          </a:prstGeom>
          <a:solidFill>
            <a:srgbClr val="CF8F4E"/>
          </a:solidFill>
          <a:ln w="12700">
            <a:solidFill>
              <a:srgbClr val="CF8F4E"/>
            </a:solidFill>
            <a:prstDash val="solid"/>
          </a:ln>
        </p:spPr>
      </p:sp>
      <p:sp>
        <p:nvSpPr>
          <p:cNvPr id="8" name="Text 6"/>
          <p:cNvSpPr txBox="1"/>
          <p:nvPr/>
        </p:nvSpPr>
        <p:spPr>
          <a:xfrm>
            <a:off x="3218688" y="1874520"/>
            <a:ext cx="2651760" cy="182880"/>
          </a:xfrm>
          <a:prstGeom prst="rect">
            <a:avLst/>
          </a:prstGeom>
          <a:noFill/>
          <a:ln/>
        </p:spPr>
        <p:txBody>
          <a:bodyPr wrap="square" lIns="0" tIns="0" rIns="0" bIns="0" rtlCol="0" anchor="t"/>
          <a:lstStyle/>
          <a:p>
            <a:pPr indent="0" marL="0">
              <a:buNone/>
            </a:pPr>
            <a:r>
              <a:rPr lang="en-US" sz="800" spc="150" kern="0" dirty="0">
                <a:solidFill>
                  <a:srgbClr val="CF8F4E"/>
                </a:solidFill>
                <a:latin typeface="Space Mono" pitchFamily="34" charset="0"/>
                <a:ea typeface="Space Mono" pitchFamily="34" charset="-122"/>
                <a:cs typeface="Space Mono" pitchFamily="34" charset="-120"/>
              </a:rPr>
              <a:t>PROTOTYPING, NOT PRODUCTION</a:t>
            </a:r>
            <a:endParaRPr lang="en-US" sz="800" dirty="0"/>
          </a:p>
        </p:txBody>
      </p:sp>
      <p:sp>
        <p:nvSpPr>
          <p:cNvPr id="9" name="Text 7"/>
          <p:cNvSpPr txBox="1"/>
          <p:nvPr/>
        </p:nvSpPr>
        <p:spPr>
          <a:xfrm>
            <a:off x="3218688" y="2121408"/>
            <a:ext cx="2606040" cy="777240"/>
          </a:xfrm>
          <a:prstGeom prst="rect">
            <a:avLst/>
          </a:prstGeom>
          <a:noFill/>
          <a:ln/>
        </p:spPr>
        <p:txBody>
          <a:bodyPr wrap="square" lIns="0" tIns="0" rIns="0" bIns="0" rtlCol="0" anchor="t"/>
          <a:lstStyle/>
          <a:p>
            <a:pPr indent="0" marL="0">
              <a:buNone/>
            </a:pPr>
            <a:r>
              <a:rPr lang="en-US" sz="1200" dirty="0">
                <a:solidFill>
                  <a:srgbClr val="E8EEF2"/>
                </a:solidFill>
                <a:latin typeface="Space Grotesk" pitchFamily="34" charset="0"/>
                <a:ea typeface="Space Grotesk" pitchFamily="34" charset="-122"/>
                <a:cs typeface="Space Grotesk" pitchFamily="34" charset="-120"/>
              </a:rPr>
              <a:t>The first 1–10 boards of a design. Volume still goes to a fab.</a:t>
            </a:r>
            <a:endParaRPr lang="en-US" sz="1200" dirty="0"/>
          </a:p>
        </p:txBody>
      </p:sp>
      <p:sp>
        <p:nvSpPr>
          <p:cNvPr id="10" name="Shape 8"/>
          <p:cNvSpPr/>
          <p:nvPr/>
        </p:nvSpPr>
        <p:spPr>
          <a:xfrm>
            <a:off x="6025896" y="1737360"/>
            <a:ext cx="2651760" cy="36576"/>
          </a:xfrm>
          <a:prstGeom prst="rect">
            <a:avLst/>
          </a:prstGeom>
          <a:solidFill>
            <a:srgbClr val="8FB3C9"/>
          </a:solidFill>
          <a:ln w="12700">
            <a:solidFill>
              <a:srgbClr val="8FB3C9"/>
            </a:solidFill>
            <a:prstDash val="solid"/>
          </a:ln>
        </p:spPr>
      </p:sp>
      <p:sp>
        <p:nvSpPr>
          <p:cNvPr id="11" name="Text 9"/>
          <p:cNvSpPr txBox="1"/>
          <p:nvPr/>
        </p:nvSpPr>
        <p:spPr>
          <a:xfrm>
            <a:off x="6025896" y="1874520"/>
            <a:ext cx="2651760" cy="182880"/>
          </a:xfrm>
          <a:prstGeom prst="rect">
            <a:avLst/>
          </a:prstGeom>
          <a:noFill/>
          <a:ln/>
        </p:spPr>
        <p:txBody>
          <a:bodyPr wrap="square" lIns="0" tIns="0" rIns="0" bIns="0" rtlCol="0" anchor="t"/>
          <a:lstStyle/>
          <a:p>
            <a:pPr indent="0" marL="0">
              <a:buNone/>
            </a:pPr>
            <a:r>
              <a:rPr lang="en-US" sz="800" spc="150" kern="0" dirty="0">
                <a:solidFill>
                  <a:srgbClr val="8FB3C9"/>
                </a:solidFill>
                <a:latin typeface="Space Mono" pitchFamily="34" charset="0"/>
                <a:ea typeface="Space Mono" pitchFamily="34" charset="-122"/>
                <a:cs typeface="Space Mono" pitchFamily="34" charset="-120"/>
              </a:rPr>
              <a:t>SOFTER CLAIMS</a:t>
            </a:r>
            <a:endParaRPr lang="en-US" sz="800" dirty="0"/>
          </a:p>
        </p:txBody>
      </p:sp>
      <p:sp>
        <p:nvSpPr>
          <p:cNvPr id="12" name="Text 10"/>
          <p:cNvSpPr txBox="1"/>
          <p:nvPr/>
        </p:nvSpPr>
        <p:spPr>
          <a:xfrm>
            <a:off x="6025896" y="2121408"/>
            <a:ext cx="2606040" cy="777240"/>
          </a:xfrm>
          <a:prstGeom prst="rect">
            <a:avLst/>
          </a:prstGeom>
          <a:noFill/>
          <a:ln/>
        </p:spPr>
        <p:txBody>
          <a:bodyPr wrap="square" lIns="0" tIns="0" rIns="0" bIns="0" rtlCol="0" anchor="t"/>
          <a:lstStyle/>
          <a:p>
            <a:pPr indent="0" marL="0">
              <a:buNone/>
            </a:pPr>
            <a:r>
              <a:rPr lang="en-US" sz="1200" dirty="0">
                <a:solidFill>
                  <a:srgbClr val="E8EEF2"/>
                </a:solidFill>
                <a:latin typeface="Space Grotesk" pitchFamily="34" charset="0"/>
                <a:ea typeface="Space Grotesk" pitchFamily="34" charset="-122"/>
                <a:cs typeface="Space Grotesk" pitchFamily="34" charset="-120"/>
              </a:rPr>
              <a:t>Lower cost per try, shorter lead time. Every number is marked projected.</a:t>
            </a:r>
            <a:endParaRPr lang="en-US" sz="1200" dirty="0"/>
          </a:p>
        </p:txBody>
      </p:sp>
      <p:sp>
        <p:nvSpPr>
          <p:cNvPr id="13" name="Shape 11"/>
          <p:cNvSpPr/>
          <p:nvPr/>
        </p:nvSpPr>
        <p:spPr>
          <a:xfrm>
            <a:off x="411480" y="3154680"/>
            <a:ext cx="2651760" cy="36576"/>
          </a:xfrm>
          <a:prstGeom prst="rect">
            <a:avLst/>
          </a:prstGeom>
          <a:solidFill>
            <a:srgbClr val="CF8F4E"/>
          </a:solidFill>
          <a:ln w="12700">
            <a:solidFill>
              <a:srgbClr val="CF8F4E"/>
            </a:solidFill>
            <a:prstDash val="solid"/>
          </a:ln>
        </p:spPr>
      </p:sp>
      <p:sp>
        <p:nvSpPr>
          <p:cNvPr id="14" name="Text 12"/>
          <p:cNvSpPr txBox="1"/>
          <p:nvPr/>
        </p:nvSpPr>
        <p:spPr>
          <a:xfrm>
            <a:off x="411480" y="3291840"/>
            <a:ext cx="2651760" cy="182880"/>
          </a:xfrm>
          <a:prstGeom prst="rect">
            <a:avLst/>
          </a:prstGeom>
          <a:noFill/>
          <a:ln/>
        </p:spPr>
        <p:txBody>
          <a:bodyPr wrap="square" lIns="0" tIns="0" rIns="0" bIns="0" rtlCol="0" anchor="t"/>
          <a:lstStyle/>
          <a:p>
            <a:pPr indent="0" marL="0">
              <a:buNone/>
            </a:pPr>
            <a:r>
              <a:rPr lang="en-US" sz="800" spc="150" kern="0" dirty="0">
                <a:solidFill>
                  <a:srgbClr val="CF8F4E"/>
                </a:solidFill>
                <a:latin typeface="Space Mono" pitchFamily="34" charset="0"/>
                <a:ea typeface="Space Mono" pitchFamily="34" charset="-122"/>
                <a:cs typeface="Space Mono" pitchFamily="34" charset="-120"/>
              </a:rPr>
              <a:t>BAKER FIRST</a:t>
            </a:r>
            <a:endParaRPr lang="en-US" sz="800" dirty="0"/>
          </a:p>
        </p:txBody>
      </p:sp>
      <p:sp>
        <p:nvSpPr>
          <p:cNvPr id="15" name="Text 13"/>
          <p:cNvSpPr txBox="1"/>
          <p:nvPr/>
        </p:nvSpPr>
        <p:spPr>
          <a:xfrm>
            <a:off x="411480" y="3538728"/>
            <a:ext cx="2606040" cy="777240"/>
          </a:xfrm>
          <a:prstGeom prst="rect">
            <a:avLst/>
          </a:prstGeom>
          <a:noFill/>
          <a:ln/>
        </p:spPr>
        <p:txBody>
          <a:bodyPr wrap="square" lIns="0" tIns="0" rIns="0" bIns="0" rtlCol="0" anchor="t"/>
          <a:lstStyle/>
          <a:p>
            <a:pPr indent="0" marL="0">
              <a:buNone/>
            </a:pPr>
            <a:r>
              <a:rPr lang="en-US" sz="1200" dirty="0">
                <a:solidFill>
                  <a:srgbClr val="E8EEF2"/>
                </a:solidFill>
                <a:latin typeface="Space Grotesk" pitchFamily="34" charset="0"/>
                <a:ea typeface="Space Grotesk" pitchFamily="34" charset="-122"/>
                <a:cs typeface="Space Grotesk" pitchFamily="34" charset="-120"/>
              </a:rPr>
              <a:t>₹15 lakh for nine months, or ₹10 lakh lean. </a:t>
            </a:r>
            <a:r>
              <a:rPr lang="en-US" sz="1200" u="sng" dirty="0">
                <a:solidFill>
                  <a:srgbClr val="54ACF0"/>
                </a:solidFill>
                <a:latin typeface="Space Grotesk" pitchFamily="34" charset="0"/>
                <a:ea typeface="Space Grotesk" pitchFamily="34" charset="-122"/>
                <a:cs typeface="Space Grotesk" pitchFamily="34" charset="-120"/>
                <a:hlinkClick r:id="rId4" invalidUrl="" action="" tgtFrame="" tooltip="https://protopus-kappa.vercel.app/#/mixer" history="1" highlightClick="0" endSnd="0">
                  <a:extLst>
                    <a:ext uri="{A12FA001-AC4F-418D-AE19-62706E023703}">
                      <ahyp:hlinkClr xmlns:ahyp="http://schemas.microsoft.com/office/drawing/2018/hyperlinkcolor" val="tx"/>
                    </a:ext>
                  </a:extLst>
                </a:hlinkClick>
              </a:rPr>
              <a:t>Mixer</a:t>
            </a:r>
            <a:r>
              <a:rPr lang="en-US" sz="1200" dirty="0">
                <a:solidFill>
                  <a:srgbClr val="E8EEF2"/>
                </a:solidFill>
                <a:latin typeface="Space Grotesk" pitchFamily="34" charset="0"/>
                <a:ea typeface="Space Grotesk" pitchFamily="34" charset="-122"/>
                <a:cs typeface="Space Grotesk" pitchFamily="34" charset="-120"/>
              </a:rPr>
              <a:t> waits for step 2.</a:t>
            </a:r>
            <a:endParaRPr lang="en-US" sz="1200" dirty="0"/>
          </a:p>
        </p:txBody>
      </p:sp>
      <p:sp>
        <p:nvSpPr>
          <p:cNvPr id="16" name="Shape 14"/>
          <p:cNvSpPr/>
          <p:nvPr/>
        </p:nvSpPr>
        <p:spPr>
          <a:xfrm>
            <a:off x="3218688" y="3154680"/>
            <a:ext cx="2651760" cy="36576"/>
          </a:xfrm>
          <a:prstGeom prst="rect">
            <a:avLst/>
          </a:prstGeom>
          <a:solidFill>
            <a:srgbClr val="60A05A"/>
          </a:solidFill>
          <a:ln w="12700">
            <a:solidFill>
              <a:srgbClr val="60A05A"/>
            </a:solidFill>
            <a:prstDash val="solid"/>
          </a:ln>
        </p:spPr>
      </p:sp>
      <p:sp>
        <p:nvSpPr>
          <p:cNvPr id="17" name="Text 15"/>
          <p:cNvSpPr txBox="1"/>
          <p:nvPr/>
        </p:nvSpPr>
        <p:spPr>
          <a:xfrm>
            <a:off x="3218688" y="3291840"/>
            <a:ext cx="2651760" cy="182880"/>
          </a:xfrm>
          <a:prstGeom prst="rect">
            <a:avLst/>
          </a:prstGeom>
          <a:noFill/>
          <a:ln/>
        </p:spPr>
        <p:txBody>
          <a:bodyPr wrap="square" lIns="0" tIns="0" rIns="0" bIns="0" rtlCol="0" anchor="t"/>
          <a:lstStyle/>
          <a:p>
            <a:pPr indent="0" marL="0">
              <a:buNone/>
            </a:pPr>
            <a:r>
              <a:rPr lang="en-US" sz="800" spc="150" kern="0" dirty="0">
                <a:solidFill>
                  <a:srgbClr val="60A05A"/>
                </a:solidFill>
                <a:latin typeface="Space Mono" pitchFamily="34" charset="0"/>
                <a:ea typeface="Space Mono" pitchFamily="34" charset="-122"/>
                <a:cs typeface="Space Mono" pitchFamily="34" charset="-120"/>
              </a:rPr>
              <a:t>PAYBACK</a:t>
            </a:r>
            <a:endParaRPr lang="en-US" sz="800" dirty="0"/>
          </a:p>
        </p:txBody>
      </p:sp>
      <p:sp>
        <p:nvSpPr>
          <p:cNvPr id="18" name="Text 16"/>
          <p:cNvSpPr txBox="1"/>
          <p:nvPr/>
        </p:nvSpPr>
        <p:spPr>
          <a:xfrm>
            <a:off x="3218688" y="3538728"/>
            <a:ext cx="2606040" cy="777240"/>
          </a:xfrm>
          <a:prstGeom prst="rect">
            <a:avLst/>
          </a:prstGeom>
          <a:noFill/>
          <a:ln/>
        </p:spPr>
        <p:txBody>
          <a:bodyPr wrap="square" lIns="0" tIns="0" rIns="0" bIns="0" rtlCol="0" anchor="t"/>
          <a:lstStyle/>
          <a:p>
            <a:pPr indent="0" marL="0">
              <a:buNone/>
            </a:pPr>
            <a:r>
              <a:rPr lang="en-US" sz="1200" dirty="0">
                <a:solidFill>
                  <a:srgbClr val="E8EEF2"/>
                </a:solidFill>
                <a:latin typeface="Space Grotesk" pitchFamily="34" charset="0"/>
                <a:ea typeface="Space Grotesk" pitchFamily="34" charset="-122"/>
                <a:cs typeface="Space Grotesk" pitchFamily="34" charset="-120"/>
              </a:rPr>
              <a:t>47 boards against JLCPCB: about six months for a startup.</a:t>
            </a:r>
            <a:endParaRPr lang="en-US" sz="1200" dirty="0"/>
          </a:p>
        </p:txBody>
      </p:sp>
      <p:sp>
        <p:nvSpPr>
          <p:cNvPr id="19" name="Shape 17"/>
          <p:cNvSpPr/>
          <p:nvPr/>
        </p:nvSpPr>
        <p:spPr>
          <a:xfrm>
            <a:off x="6025896" y="3154680"/>
            <a:ext cx="2651760" cy="36576"/>
          </a:xfrm>
          <a:prstGeom prst="rect">
            <a:avLst/>
          </a:prstGeom>
          <a:solidFill>
            <a:srgbClr val="54ACF0"/>
          </a:solidFill>
          <a:ln w="12700">
            <a:solidFill>
              <a:srgbClr val="54ACF0"/>
            </a:solidFill>
            <a:prstDash val="solid"/>
          </a:ln>
        </p:spPr>
      </p:sp>
      <p:sp>
        <p:nvSpPr>
          <p:cNvPr id="20" name="Text 18"/>
          <p:cNvSpPr txBox="1"/>
          <p:nvPr/>
        </p:nvSpPr>
        <p:spPr>
          <a:xfrm>
            <a:off x="6025896" y="3291840"/>
            <a:ext cx="2651760" cy="182880"/>
          </a:xfrm>
          <a:prstGeom prst="rect">
            <a:avLst/>
          </a:prstGeom>
          <a:noFill/>
          <a:ln/>
        </p:spPr>
        <p:txBody>
          <a:bodyPr wrap="square" lIns="0" tIns="0" rIns="0" bIns="0" rtlCol="0" anchor="t"/>
          <a:lstStyle/>
          <a:p>
            <a:pPr indent="0" marL="0">
              <a:buNone/>
            </a:pPr>
            <a:r>
              <a:rPr lang="en-US" sz="800" spc="150" kern="0" dirty="0">
                <a:solidFill>
                  <a:srgbClr val="54ACF0"/>
                </a:solidFill>
                <a:latin typeface="Space Mono" pitchFamily="34" charset="0"/>
                <a:ea typeface="Space Mono" pitchFamily="34" charset="-122"/>
                <a:cs typeface="Space Mono" pitchFamily="34" charset="-120"/>
              </a:rPr>
              <a:t>HONEST SCALE</a:t>
            </a:r>
            <a:endParaRPr lang="en-US" sz="800" dirty="0"/>
          </a:p>
        </p:txBody>
      </p:sp>
      <p:sp>
        <p:nvSpPr>
          <p:cNvPr id="21" name="Text 19"/>
          <p:cNvSpPr txBox="1"/>
          <p:nvPr/>
        </p:nvSpPr>
        <p:spPr>
          <a:xfrm>
            <a:off x="6025896" y="3538728"/>
            <a:ext cx="2606040" cy="777240"/>
          </a:xfrm>
          <a:prstGeom prst="rect">
            <a:avLst/>
          </a:prstGeom>
          <a:noFill/>
          <a:ln/>
        </p:spPr>
        <p:txBody>
          <a:bodyPr wrap="square" lIns="0" tIns="0" rIns="0" bIns="0" rtlCol="0" anchor="t"/>
          <a:lstStyle/>
          <a:p>
            <a:pPr indent="0" marL="0">
              <a:buNone/>
            </a:pPr>
            <a:r>
              <a:rPr lang="en-US" sz="1200" dirty="0">
                <a:solidFill>
                  <a:srgbClr val="E8EEF2"/>
                </a:solidFill>
                <a:latin typeface="Space Grotesk" pitchFamily="34" charset="0"/>
                <a:ea typeface="Space Grotesk" pitchFamily="34" charset="-122"/>
                <a:cs typeface="Space Grotesk" pitchFamily="34" charset="-120"/>
              </a:rPr>
              <a:t>750–1,250 boards a year per </a:t>
            </a:r>
            <a:r>
              <a:rPr lang="en-US" sz="1200" u="sng" dirty="0">
                <a:solidFill>
                  <a:srgbClr val="CF8F4E"/>
                </a:solidFill>
                <a:latin typeface="Space Grotesk" pitchFamily="34" charset="0"/>
                <a:ea typeface="Space Grotesk" pitchFamily="34" charset="-122"/>
                <a:cs typeface="Space Grotesk" pitchFamily="34" charset="-120"/>
                <a:hlinkClick r:id="rId5"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1200" dirty="0">
                <a:solidFill>
                  <a:srgbClr val="E8EEF2"/>
                </a:solidFill>
                <a:latin typeface="Space Grotesk" pitchFamily="34" charset="0"/>
                <a:ea typeface="Space Grotesk" pitchFamily="34" charset="-122"/>
                <a:cs typeface="Space Grotesk" pitchFamily="34" charset="-120"/>
              </a:rPr>
              <a:t>. Beyond that, a fab is the right tool.</a:t>
            </a:r>
            <a:endParaRPr lang="en-US" sz="1200" dirty="0"/>
          </a:p>
        </p:txBody>
      </p:sp>
      <p:sp>
        <p:nvSpPr>
          <p:cNvPr id="22" name="Text 20"/>
          <p:cNvSpPr txBox="1"/>
          <p:nvPr/>
        </p:nvSpPr>
        <p:spPr>
          <a:xfrm>
            <a:off x="411480" y="4709160"/>
            <a:ext cx="8321040" cy="182880"/>
          </a:xfrm>
          <a:prstGeom prst="rect">
            <a:avLst/>
          </a:prstGeom>
          <a:noFill/>
          <a:ln/>
        </p:spPr>
        <p:txBody>
          <a:bodyPr wrap="square" lIns="0" tIns="0" rIns="0" bIns="0" rtlCol="0" anchor="t"/>
          <a:lstStyle/>
          <a:p>
            <a:pPr indent="0" marL="0">
              <a:buNone/>
            </a:pPr>
            <a:r>
              <a:rPr lang="en-US" sz="650" dirty="0">
                <a:solidFill>
                  <a:srgbClr val="6E7A83"/>
                </a:solidFill>
                <a:latin typeface="Space Mono" pitchFamily="34" charset="0"/>
                <a:ea typeface="Space Mono" pitchFamily="34" charset="-122"/>
                <a:cs typeface="Space Mono" pitchFamily="34" charset="-120"/>
              </a:rPr>
              <a:t>Numbers: PROTOPUS Economics Model and BOM &amp; Costing workbook, 2 Oct 2026. Prices projected; cycle times are engineering targets that the proof of concept measures.</a:t>
            </a:r>
            <a:endParaRPr lang="en-US" sz="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216"/>
        </a:solidFill>
      </p:bgPr>
    </p:bg>
    <p:spTree>
      <p:nvGrpSpPr>
        <p:cNvPr id="1" name=""/>
        <p:cNvGrpSpPr/>
        <p:nvPr/>
      </p:nvGrpSpPr>
      <p:grpSpPr>
        <a:xfrm>
          <a:off x="0" y="0"/>
          <a:ext cx="0" cy="0"/>
          <a:chOff x="0" y="0"/>
          <a:chExt cx="0" cy="0"/>
        </a:xfrm>
      </p:grpSpPr>
      <p:sp>
        <p:nvSpPr>
          <p:cNvPr id="2" name="Text 0"/>
          <p:cNvSpPr txBox="1"/>
          <p:nvPr/>
        </p:nvSpPr>
        <p:spPr>
          <a:xfrm>
            <a:off x="411480" y="347472"/>
            <a:ext cx="8321040" cy="182880"/>
          </a:xfrm>
          <a:prstGeom prst="rect">
            <a:avLst/>
          </a:prstGeom>
          <a:noFill/>
          <a:ln/>
        </p:spPr>
        <p:txBody>
          <a:bodyPr wrap="square" lIns="0" tIns="0" rIns="0" bIns="0" rtlCol="0" anchor="t"/>
          <a:lstStyle/>
          <a:p>
            <a:pPr indent="0" marL="0">
              <a:buNone/>
            </a:pPr>
            <a:r>
              <a:rPr lang="en-US" sz="850" spc="250" kern="0" dirty="0">
                <a:solidFill>
                  <a:srgbClr val="F2C230"/>
                </a:solidFill>
                <a:latin typeface="Space Mono" pitchFamily="34" charset="0"/>
                <a:ea typeface="Space Mono" pitchFamily="34" charset="-122"/>
                <a:cs typeface="Space Mono" pitchFamily="34" charset="-120"/>
              </a:rPr>
              <a:t>QUESTION 01 · PROTO IS THE MOAT</a:t>
            </a:r>
            <a:endParaRPr lang="en-US" sz="850" dirty="0"/>
          </a:p>
        </p:txBody>
      </p:sp>
      <p:sp>
        <p:nvSpPr>
          <p:cNvPr id="3" name="Text 1"/>
          <p:cNvSpPr txBox="1"/>
          <p:nvPr/>
        </p:nvSpPr>
        <p:spPr>
          <a:xfrm>
            <a:off x="411480" y="713232"/>
            <a:ext cx="3749040" cy="164592"/>
          </a:xfrm>
          <a:prstGeom prst="rect">
            <a:avLst/>
          </a:prstGeom>
          <a:noFill/>
          <a:ln/>
        </p:spPr>
        <p:txBody>
          <a:bodyPr wrap="square" lIns="0" tIns="0" rIns="0" bIns="0" rtlCol="0" anchor="t"/>
          <a:lstStyle/>
          <a:p>
            <a:pPr indent="0" marL="0">
              <a:buNone/>
            </a:pPr>
            <a:r>
              <a:rPr lang="en-US" sz="750" spc="200" kern="0" dirty="0">
                <a:solidFill>
                  <a:srgbClr val="6E7A83"/>
                </a:solidFill>
                <a:latin typeface="Space Mono" pitchFamily="34" charset="0"/>
                <a:ea typeface="Space Mono" pitchFamily="34" charset="-122"/>
                <a:cs typeface="Space Mono" pitchFamily="34" charset="-120"/>
              </a:rPr>
              <a:t>SIR, YOU ASKED</a:t>
            </a:r>
            <a:endParaRPr lang="en-US" sz="750" dirty="0"/>
          </a:p>
        </p:txBody>
      </p:sp>
      <p:sp>
        <p:nvSpPr>
          <p:cNvPr id="4" name="Shape 2"/>
          <p:cNvSpPr/>
          <p:nvPr/>
        </p:nvSpPr>
        <p:spPr>
          <a:xfrm>
            <a:off x="411480" y="941832"/>
            <a:ext cx="32004" cy="1051560"/>
          </a:xfrm>
          <a:prstGeom prst="rect">
            <a:avLst/>
          </a:prstGeom>
          <a:solidFill>
            <a:srgbClr val="F2C230"/>
          </a:solidFill>
          <a:ln w="12700">
            <a:solidFill>
              <a:srgbClr val="F2C230"/>
            </a:solidFill>
            <a:prstDash val="solid"/>
          </a:ln>
        </p:spPr>
      </p:sp>
      <p:sp>
        <p:nvSpPr>
          <p:cNvPr id="5" name="Text 3"/>
          <p:cNvSpPr txBox="1"/>
          <p:nvPr/>
        </p:nvSpPr>
        <p:spPr>
          <a:xfrm>
            <a:off x="548640" y="914400"/>
            <a:ext cx="3611880" cy="1051560"/>
          </a:xfrm>
          <a:prstGeom prst="rect">
            <a:avLst/>
          </a:prstGeom>
          <a:noFill/>
          <a:ln/>
        </p:spPr>
        <p:txBody>
          <a:bodyPr wrap="square" lIns="0" tIns="0" rIns="0" bIns="0" rtlCol="0" anchor="t"/>
          <a:lstStyle/>
          <a:p>
            <a:pPr indent="0" marL="0">
              <a:lnSpc>
                <a:spcPct val="105000"/>
              </a:lnSpc>
              <a:buNone/>
            </a:pPr>
            <a:r>
              <a:rPr lang="en-US" sz="1100" i="1" dirty="0">
                <a:solidFill>
                  <a:srgbClr val="8FB3C9"/>
                </a:solidFill>
                <a:latin typeface="Space Grotesk" pitchFamily="34" charset="0"/>
                <a:ea typeface="Space Grotesk" pitchFamily="34" charset="-122"/>
                <a:cs typeface="Space Grotesk" pitchFamily="34" charset="-120"/>
              </a:rPr>
              <a:t>“The strongest moat is hidden in the idea. If I were the founder, I would pitch Proto instead of two hardware robots. And don’t project it as a desktop PCB mill; that has a rough history.”</a:t>
            </a:r>
            <a:endParaRPr lang="en-US" sz="1100" dirty="0"/>
          </a:p>
        </p:txBody>
      </p:sp>
      <p:sp>
        <p:nvSpPr>
          <p:cNvPr id="6" name="Text 4"/>
          <p:cNvSpPr txBox="1"/>
          <p:nvPr/>
        </p:nvSpPr>
        <p:spPr>
          <a:xfrm>
            <a:off x="411480" y="2103120"/>
            <a:ext cx="3749040" cy="164592"/>
          </a:xfrm>
          <a:prstGeom prst="rect">
            <a:avLst/>
          </a:prstGeom>
          <a:noFill/>
          <a:ln/>
        </p:spPr>
        <p:txBody>
          <a:bodyPr wrap="square" lIns="0" tIns="0" rIns="0" bIns="0" rtlCol="0" anchor="t"/>
          <a:lstStyle/>
          <a:p>
            <a:pPr indent="0" marL="0">
              <a:buNone/>
            </a:pPr>
            <a:r>
              <a:rPr lang="en-US" sz="750" spc="200" kern="0" dirty="0">
                <a:solidFill>
                  <a:srgbClr val="F2C230"/>
                </a:solidFill>
                <a:latin typeface="Space Mono" pitchFamily="34" charset="0"/>
                <a:ea typeface="Space Mono" pitchFamily="34" charset="-122"/>
                <a:cs typeface="Space Mono" pitchFamily="34" charset="-120"/>
              </a:rPr>
              <a:t>I CAN ANSWER</a:t>
            </a:r>
            <a:endParaRPr lang="en-US" sz="750" dirty="0"/>
          </a:p>
        </p:txBody>
      </p:sp>
      <p:sp>
        <p:nvSpPr>
          <p:cNvPr id="7" name="Text 5"/>
          <p:cNvSpPr txBox="1"/>
          <p:nvPr/>
        </p:nvSpPr>
        <p:spPr>
          <a:xfrm>
            <a:off x="411480" y="2340864"/>
            <a:ext cx="3794760" cy="2231136"/>
          </a:xfrm>
          <a:prstGeom prst="rect">
            <a:avLst/>
          </a:prstGeom>
          <a:noFill/>
          <a:ln/>
        </p:spPr>
        <p:txBody>
          <a:bodyPr wrap="square" lIns="0" tIns="0" rIns="0" bIns="0" rtlCol="0" anchor="t"/>
          <a:lstStyle/>
          <a:p>
            <a:pPr indent="0" marL="0">
              <a:lnSpc>
                <a:spcPct val="108000"/>
              </a:lnSpc>
              <a:buNone/>
            </a:pPr>
            <a:r>
              <a:rPr lang="en-US" sz="1250" dirty="0">
                <a:solidFill>
                  <a:srgbClr val="E8EEF2"/>
                </a:solidFill>
                <a:latin typeface="Space Grotesk" pitchFamily="34" charset="0"/>
                <a:ea typeface="Space Grotesk" pitchFamily="34" charset="-122"/>
                <a:cs typeface="Space Grotesk" pitchFamily="34" charset="-120"/>
              </a:rPr>
              <a:t>You’re right, sir: Proto is the company. But an AI can only build hardware if it has hands and eyes in the real world. Software AI reaches every tool through APIs. Hardware has no API, so </a:t>
            </a:r>
            <a:r>
              <a:rPr lang="en-US" sz="1250" u="sng" dirty="0">
                <a:solidFill>
                  <a:srgbClr val="CF8F4E"/>
                </a:solidFill>
                <a:latin typeface="Space Grotesk" pitchFamily="34" charset="0"/>
                <a:ea typeface="Space Grotesk" pitchFamily="34" charset="-122"/>
                <a:cs typeface="Space Grotesk" pitchFamily="34" charset="-120"/>
                <a:hlinkClick r:id="rId1"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1250" dirty="0">
                <a:solidFill>
                  <a:srgbClr val="E8EEF2"/>
                </a:solidFill>
                <a:latin typeface="Space Grotesk" pitchFamily="34" charset="0"/>
                <a:ea typeface="Space Grotesk" pitchFamily="34" charset="-122"/>
                <a:cs typeface="Space Grotesk" pitchFamily="34" charset="-120"/>
              </a:rPr>
              <a:t> and </a:t>
            </a:r>
            <a:r>
              <a:rPr lang="en-US" sz="1250" u="sng" dirty="0">
                <a:solidFill>
                  <a:srgbClr val="54ACF0"/>
                </a:solidFill>
                <a:latin typeface="Space Grotesk" pitchFamily="34" charset="0"/>
                <a:ea typeface="Space Grotesk" pitchFamily="34" charset="-122"/>
                <a:cs typeface="Space Grotesk" pitchFamily="34" charset="-120"/>
                <a:hlinkClick r:id="rId2" invalidUrl="" action="" tgtFrame="" tooltip="https://protopus-kappa.vercel.app/#/mixer" history="1" highlightClick="0" endSnd="0">
                  <a:extLst>
                    <a:ext uri="{A12FA001-AC4F-418D-AE19-62706E023703}">
                      <ahyp:hlinkClr xmlns:ahyp="http://schemas.microsoft.com/office/drawing/2018/hyperlinkcolor" val="tx"/>
                    </a:ext>
                  </a:extLst>
                </a:hlinkClick>
              </a:rPr>
              <a:t>Mixer</a:t>
            </a:r>
            <a:r>
              <a:rPr lang="en-US" sz="1250" dirty="0">
                <a:solidFill>
                  <a:srgbClr val="E8EEF2"/>
                </a:solidFill>
                <a:latin typeface="Space Grotesk" pitchFamily="34" charset="0"/>
                <a:ea typeface="Space Grotesk" pitchFamily="34" charset="-122"/>
                <a:cs typeface="Space Grotesk" pitchFamily="34" charset="-120"/>
              </a:rPr>
              <a:t> are that API. And </a:t>
            </a:r>
            <a:r>
              <a:rPr lang="en-US" sz="1250" u="sng" dirty="0">
                <a:solidFill>
                  <a:srgbClr val="CF8F4E"/>
                </a:solidFill>
                <a:latin typeface="Space Grotesk" pitchFamily="34" charset="0"/>
                <a:ea typeface="Space Grotesk" pitchFamily="34" charset="-122"/>
                <a:cs typeface="Space Grotesk" pitchFamily="34" charset="-120"/>
                <a:hlinkClick r:id="rId3"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1250" dirty="0">
                <a:solidFill>
                  <a:srgbClr val="E8EEF2"/>
                </a:solidFill>
                <a:latin typeface="Space Grotesk" pitchFamily="34" charset="0"/>
                <a:ea typeface="Space Grotesk" pitchFamily="34" charset="-122"/>
                <a:cs typeface="Space Grotesk" pitchFamily="34" charset="-120"/>
              </a:rPr>
              <a:t> isn’t a mill: a mill does one step for experts. </a:t>
            </a:r>
            <a:r>
              <a:rPr lang="en-US" sz="1250" u="sng" dirty="0">
                <a:solidFill>
                  <a:srgbClr val="CF8F4E"/>
                </a:solidFill>
                <a:latin typeface="Space Grotesk" pitchFamily="34" charset="0"/>
                <a:ea typeface="Space Grotesk" pitchFamily="34" charset="-122"/>
                <a:cs typeface="Space Grotesk" pitchFamily="34" charset="-120"/>
                <a:hlinkClick r:id="rId4"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1250" dirty="0">
                <a:solidFill>
                  <a:srgbClr val="E8EEF2"/>
                </a:solidFill>
                <a:latin typeface="Space Grotesk" pitchFamily="34" charset="0"/>
                <a:ea typeface="Space Grotesk" pitchFamily="34" charset="-122"/>
                <a:cs typeface="Space Grotesk" pitchFamily="34" charset="-120"/>
              </a:rPr>
              <a:t> runs fifteen, with Proto guiding a first-timer.</a:t>
            </a:r>
            <a:endParaRPr lang="en-US" sz="1250" dirty="0"/>
          </a:p>
        </p:txBody>
      </p:sp>
      <p:sp>
        <p:nvSpPr>
          <p:cNvPr id="8" name="Shape 6"/>
          <p:cNvSpPr/>
          <p:nvPr/>
        </p:nvSpPr>
        <p:spPr>
          <a:xfrm>
            <a:off x="4407408" y="731520"/>
            <a:ext cx="0" cy="3886200"/>
          </a:xfrm>
          <a:prstGeom prst="line">
            <a:avLst/>
          </a:prstGeom>
          <a:noFill/>
          <a:ln w="9525">
            <a:solidFill>
              <a:srgbClr val="1F2A32"/>
            </a:solidFill>
            <a:prstDash val="solid"/>
          </a:ln>
        </p:spPr>
      </p:sp>
      <p:sp>
        <p:nvSpPr>
          <p:cNvPr id="9" name="Text 7"/>
          <p:cNvSpPr txBox="1"/>
          <p:nvPr/>
        </p:nvSpPr>
        <p:spPr>
          <a:xfrm>
            <a:off x="4572000" y="713232"/>
            <a:ext cx="4114800" cy="164592"/>
          </a:xfrm>
          <a:prstGeom prst="rect">
            <a:avLst/>
          </a:prstGeom>
          <a:noFill/>
          <a:ln/>
        </p:spPr>
        <p:txBody>
          <a:bodyPr wrap="square" lIns="0" tIns="0" rIns="0" bIns="0" rtlCol="0" anchor="t"/>
          <a:lstStyle/>
          <a:p>
            <a:pPr indent="0" marL="0">
              <a:buNone/>
            </a:pPr>
            <a:r>
              <a:rPr lang="en-US" sz="750" spc="200" kern="0" dirty="0">
                <a:solidFill>
                  <a:srgbClr val="CF8F4E"/>
                </a:solidFill>
                <a:latin typeface="Space Mono" pitchFamily="34" charset="0"/>
                <a:ea typeface="Space Mono" pitchFamily="34" charset="-122"/>
                <a:cs typeface="Space Mono" pitchFamily="34" charset="-120"/>
              </a:rPr>
              <a:t>TO JUSTIFY</a:t>
            </a:r>
            <a:endParaRPr lang="en-US" sz="750" dirty="0"/>
          </a:p>
        </p:txBody>
      </p:sp>
      <p:sp>
        <p:nvSpPr>
          <p:cNvPr id="10" name="Shape 8"/>
          <p:cNvSpPr/>
          <p:nvPr/>
        </p:nvSpPr>
        <p:spPr>
          <a:xfrm>
            <a:off x="4572000" y="1005840"/>
            <a:ext cx="713232" cy="329184"/>
          </a:xfrm>
          <a:prstGeom prst="rect">
            <a:avLst/>
          </a:prstGeom>
          <a:solidFill>
            <a:srgbClr val="0E1216"/>
          </a:solidFill>
          <a:ln w="9525">
            <a:solidFill>
              <a:srgbClr val="424A51"/>
            </a:solidFill>
            <a:prstDash val="solid"/>
          </a:ln>
        </p:spPr>
      </p:sp>
      <p:sp>
        <p:nvSpPr>
          <p:cNvPr id="11" name="Text 9"/>
          <p:cNvSpPr txBox="1"/>
          <p:nvPr/>
        </p:nvSpPr>
        <p:spPr>
          <a:xfrm>
            <a:off x="4572000" y="1005840"/>
            <a:ext cx="713232" cy="329184"/>
          </a:xfrm>
          <a:prstGeom prst="rect">
            <a:avLst/>
          </a:prstGeom>
          <a:noFill/>
          <a:ln/>
        </p:spPr>
        <p:txBody>
          <a:bodyPr wrap="square" lIns="0" tIns="0" rIns="0" bIns="0" rtlCol="0" anchor="ctr"/>
          <a:lstStyle/>
          <a:p>
            <a:pPr algn="ctr" indent="0" marL="0">
              <a:buNone/>
            </a:pPr>
            <a:r>
              <a:rPr lang="en-US" sz="850" dirty="0">
                <a:solidFill>
                  <a:srgbClr val="A3B3BE"/>
                </a:solidFill>
                <a:latin typeface="Space Mono" pitchFamily="34" charset="0"/>
                <a:ea typeface="Space Mono" pitchFamily="34" charset="-122"/>
                <a:cs typeface="Space Mono" pitchFamily="34" charset="-120"/>
              </a:rPr>
              <a:t>idea</a:t>
            </a:r>
            <a:endParaRPr lang="en-US" sz="850" dirty="0"/>
          </a:p>
        </p:txBody>
      </p:sp>
      <p:sp>
        <p:nvSpPr>
          <p:cNvPr id="12" name="Shape 10"/>
          <p:cNvSpPr/>
          <p:nvPr/>
        </p:nvSpPr>
        <p:spPr>
          <a:xfrm>
            <a:off x="5285232" y="1170432"/>
            <a:ext cx="128016" cy="0"/>
          </a:xfrm>
          <a:prstGeom prst="line">
            <a:avLst/>
          </a:prstGeom>
          <a:noFill/>
          <a:ln w="9525">
            <a:solidFill>
              <a:srgbClr val="424A51"/>
            </a:solidFill>
            <a:prstDash val="solid"/>
            <a:tailEnd type="triangle"/>
          </a:ln>
        </p:spPr>
      </p:sp>
      <p:sp>
        <p:nvSpPr>
          <p:cNvPr id="13" name="Shape 11"/>
          <p:cNvSpPr/>
          <p:nvPr/>
        </p:nvSpPr>
        <p:spPr>
          <a:xfrm>
            <a:off x="5413248" y="1005840"/>
            <a:ext cx="713232" cy="329184"/>
          </a:xfrm>
          <a:prstGeom prst="rect">
            <a:avLst/>
          </a:prstGeom>
          <a:solidFill>
            <a:srgbClr val="0E1216"/>
          </a:solidFill>
          <a:ln w="9525">
            <a:solidFill>
              <a:srgbClr val="424A51"/>
            </a:solidFill>
            <a:prstDash val="solid"/>
          </a:ln>
        </p:spPr>
      </p:sp>
      <p:sp>
        <p:nvSpPr>
          <p:cNvPr id="14" name="Text 12"/>
          <p:cNvSpPr txBox="1"/>
          <p:nvPr/>
        </p:nvSpPr>
        <p:spPr>
          <a:xfrm>
            <a:off x="5413248" y="1005840"/>
            <a:ext cx="713232" cy="329184"/>
          </a:xfrm>
          <a:prstGeom prst="rect">
            <a:avLst/>
          </a:prstGeom>
          <a:noFill/>
          <a:ln/>
        </p:spPr>
        <p:txBody>
          <a:bodyPr wrap="square" lIns="0" tIns="0" rIns="0" bIns="0" rtlCol="0" anchor="ctr"/>
          <a:lstStyle/>
          <a:p>
            <a:pPr algn="ctr" indent="0" marL="0">
              <a:buNone/>
            </a:pPr>
            <a:r>
              <a:rPr lang="en-US" sz="850" dirty="0">
                <a:solidFill>
                  <a:srgbClr val="A3B3BE"/>
                </a:solidFill>
                <a:latin typeface="Space Mono" pitchFamily="34" charset="0"/>
                <a:ea typeface="Space Mono" pitchFamily="34" charset="-122"/>
                <a:cs typeface="Space Mono" pitchFamily="34" charset="-120"/>
              </a:rPr>
              <a:t>files</a:t>
            </a:r>
            <a:endParaRPr lang="en-US" sz="850" dirty="0"/>
          </a:p>
        </p:txBody>
      </p:sp>
      <p:sp>
        <p:nvSpPr>
          <p:cNvPr id="15" name="Shape 13"/>
          <p:cNvSpPr/>
          <p:nvPr/>
        </p:nvSpPr>
        <p:spPr>
          <a:xfrm>
            <a:off x="6126480" y="1170432"/>
            <a:ext cx="128016" cy="0"/>
          </a:xfrm>
          <a:prstGeom prst="line">
            <a:avLst/>
          </a:prstGeom>
          <a:noFill/>
          <a:ln w="9525">
            <a:solidFill>
              <a:srgbClr val="424A51"/>
            </a:solidFill>
            <a:prstDash val="solid"/>
            <a:tailEnd type="triangle"/>
          </a:ln>
        </p:spPr>
      </p:sp>
      <p:sp>
        <p:nvSpPr>
          <p:cNvPr id="16" name="Shape 14"/>
          <p:cNvSpPr/>
          <p:nvPr/>
        </p:nvSpPr>
        <p:spPr>
          <a:xfrm>
            <a:off x="6254496" y="1005840"/>
            <a:ext cx="713232" cy="329184"/>
          </a:xfrm>
          <a:prstGeom prst="rect">
            <a:avLst/>
          </a:prstGeom>
          <a:solidFill>
            <a:srgbClr val="0E1216"/>
          </a:solidFill>
          <a:ln w="9525">
            <a:solidFill>
              <a:srgbClr val="CF8F4E"/>
            </a:solidFill>
            <a:prstDash val="solid"/>
          </a:ln>
        </p:spPr>
      </p:sp>
      <p:sp>
        <p:nvSpPr>
          <p:cNvPr id="17" name="Text 15"/>
          <p:cNvSpPr txBox="1"/>
          <p:nvPr/>
        </p:nvSpPr>
        <p:spPr>
          <a:xfrm>
            <a:off x="6254496" y="1005840"/>
            <a:ext cx="713232" cy="329184"/>
          </a:xfrm>
          <a:prstGeom prst="rect">
            <a:avLst/>
          </a:prstGeom>
          <a:noFill/>
          <a:ln/>
        </p:spPr>
        <p:txBody>
          <a:bodyPr wrap="square" lIns="0" tIns="0" rIns="0" bIns="0" rtlCol="0" anchor="ctr"/>
          <a:lstStyle/>
          <a:p>
            <a:pPr algn="ctr" indent="0" marL="0">
              <a:buNone/>
            </a:pPr>
            <a:r>
              <a:rPr lang="en-US" sz="850" dirty="0">
                <a:solidFill>
                  <a:srgbClr val="CF8F4E"/>
                </a:solidFill>
                <a:latin typeface="Space Mono" pitchFamily="34" charset="0"/>
                <a:ea typeface="Space Mono" pitchFamily="34" charset="-122"/>
                <a:cs typeface="Space Mono" pitchFamily="34" charset="-120"/>
              </a:rPr>
              <a:t>board</a:t>
            </a:r>
            <a:endParaRPr lang="en-US" sz="850" dirty="0"/>
          </a:p>
        </p:txBody>
      </p:sp>
      <p:sp>
        <p:nvSpPr>
          <p:cNvPr id="18" name="Shape 16"/>
          <p:cNvSpPr/>
          <p:nvPr/>
        </p:nvSpPr>
        <p:spPr>
          <a:xfrm>
            <a:off x="6967728" y="1170432"/>
            <a:ext cx="128016" cy="0"/>
          </a:xfrm>
          <a:prstGeom prst="line">
            <a:avLst/>
          </a:prstGeom>
          <a:noFill/>
          <a:ln w="9525">
            <a:solidFill>
              <a:srgbClr val="424A51"/>
            </a:solidFill>
            <a:prstDash val="solid"/>
            <a:tailEnd type="triangle"/>
          </a:ln>
        </p:spPr>
      </p:sp>
      <p:sp>
        <p:nvSpPr>
          <p:cNvPr id="19" name="Shape 17"/>
          <p:cNvSpPr/>
          <p:nvPr/>
        </p:nvSpPr>
        <p:spPr>
          <a:xfrm>
            <a:off x="7095744" y="1005840"/>
            <a:ext cx="713232" cy="329184"/>
          </a:xfrm>
          <a:prstGeom prst="rect">
            <a:avLst/>
          </a:prstGeom>
          <a:solidFill>
            <a:srgbClr val="0E1216"/>
          </a:solidFill>
          <a:ln w="9525">
            <a:solidFill>
              <a:srgbClr val="54ACF0"/>
            </a:solidFill>
            <a:prstDash val="solid"/>
          </a:ln>
        </p:spPr>
      </p:sp>
      <p:sp>
        <p:nvSpPr>
          <p:cNvPr id="20" name="Text 18"/>
          <p:cNvSpPr txBox="1"/>
          <p:nvPr/>
        </p:nvSpPr>
        <p:spPr>
          <a:xfrm>
            <a:off x="7095744" y="1005840"/>
            <a:ext cx="713232" cy="329184"/>
          </a:xfrm>
          <a:prstGeom prst="rect">
            <a:avLst/>
          </a:prstGeom>
          <a:noFill/>
          <a:ln/>
        </p:spPr>
        <p:txBody>
          <a:bodyPr wrap="square" lIns="0" tIns="0" rIns="0" bIns="0" rtlCol="0" anchor="ctr"/>
          <a:lstStyle/>
          <a:p>
            <a:pPr algn="ctr" indent="0" marL="0">
              <a:buNone/>
            </a:pPr>
            <a:r>
              <a:rPr lang="en-US" sz="850" dirty="0">
                <a:solidFill>
                  <a:srgbClr val="54ACF0"/>
                </a:solidFill>
                <a:latin typeface="Space Mono" pitchFamily="34" charset="0"/>
                <a:ea typeface="Space Mono" pitchFamily="34" charset="-122"/>
                <a:cs typeface="Space Mono" pitchFamily="34" charset="-120"/>
              </a:rPr>
              <a:t>test</a:t>
            </a:r>
            <a:endParaRPr lang="en-US" sz="850" dirty="0"/>
          </a:p>
        </p:txBody>
      </p:sp>
      <p:sp>
        <p:nvSpPr>
          <p:cNvPr id="21" name="Shape 19"/>
          <p:cNvSpPr/>
          <p:nvPr/>
        </p:nvSpPr>
        <p:spPr>
          <a:xfrm>
            <a:off x="7808976" y="1170432"/>
            <a:ext cx="128016" cy="0"/>
          </a:xfrm>
          <a:prstGeom prst="line">
            <a:avLst/>
          </a:prstGeom>
          <a:noFill/>
          <a:ln w="9525">
            <a:solidFill>
              <a:srgbClr val="424A51"/>
            </a:solidFill>
            <a:prstDash val="solid"/>
            <a:tailEnd type="triangle"/>
          </a:ln>
        </p:spPr>
      </p:sp>
      <p:sp>
        <p:nvSpPr>
          <p:cNvPr id="22" name="Shape 20"/>
          <p:cNvSpPr/>
          <p:nvPr/>
        </p:nvSpPr>
        <p:spPr>
          <a:xfrm>
            <a:off x="7936992" y="1005840"/>
            <a:ext cx="713232" cy="329184"/>
          </a:xfrm>
          <a:prstGeom prst="rect">
            <a:avLst/>
          </a:prstGeom>
          <a:solidFill>
            <a:srgbClr val="0E1216"/>
          </a:solidFill>
          <a:ln w="9525">
            <a:solidFill>
              <a:srgbClr val="F2C230"/>
            </a:solidFill>
            <a:prstDash val="solid"/>
          </a:ln>
        </p:spPr>
      </p:sp>
      <p:sp>
        <p:nvSpPr>
          <p:cNvPr id="23" name="Text 21"/>
          <p:cNvSpPr txBox="1"/>
          <p:nvPr/>
        </p:nvSpPr>
        <p:spPr>
          <a:xfrm>
            <a:off x="7936992" y="1005840"/>
            <a:ext cx="713232" cy="329184"/>
          </a:xfrm>
          <a:prstGeom prst="rect">
            <a:avLst/>
          </a:prstGeom>
          <a:noFill/>
          <a:ln/>
        </p:spPr>
        <p:txBody>
          <a:bodyPr wrap="square" lIns="0" tIns="0" rIns="0" bIns="0" rtlCol="0" anchor="ctr"/>
          <a:lstStyle/>
          <a:p>
            <a:pPr algn="ctr" indent="0" marL="0">
              <a:buNone/>
            </a:pPr>
            <a:r>
              <a:rPr lang="en-US" sz="850" dirty="0">
                <a:solidFill>
                  <a:srgbClr val="F2C230"/>
                </a:solidFill>
                <a:latin typeface="Space Mono" pitchFamily="34" charset="0"/>
                <a:ea typeface="Space Mono" pitchFamily="34" charset="-122"/>
                <a:cs typeface="Space Mono" pitchFamily="34" charset="-120"/>
              </a:rPr>
              <a:t>verdict</a:t>
            </a:r>
            <a:endParaRPr lang="en-US" sz="850" dirty="0"/>
          </a:p>
        </p:txBody>
      </p:sp>
      <p:sp>
        <p:nvSpPr>
          <p:cNvPr id="24" name="Shape 22"/>
          <p:cNvSpPr/>
          <p:nvPr/>
        </p:nvSpPr>
        <p:spPr>
          <a:xfrm>
            <a:off x="6272784" y="914400"/>
            <a:ext cx="0" cy="548640"/>
          </a:xfrm>
          <a:prstGeom prst="line">
            <a:avLst/>
          </a:prstGeom>
          <a:noFill/>
          <a:ln w="9525">
            <a:solidFill>
              <a:srgbClr val="F2C230"/>
            </a:solidFill>
            <a:prstDash val="dash"/>
          </a:ln>
        </p:spPr>
      </p:sp>
      <p:sp>
        <p:nvSpPr>
          <p:cNvPr id="25" name="Text 23"/>
          <p:cNvSpPr txBox="1"/>
          <p:nvPr/>
        </p:nvSpPr>
        <p:spPr>
          <a:xfrm>
            <a:off x="4572000" y="1389888"/>
            <a:ext cx="1691640" cy="292608"/>
          </a:xfrm>
          <a:prstGeom prst="rect">
            <a:avLst/>
          </a:prstGeom>
          <a:noFill/>
          <a:ln/>
        </p:spPr>
        <p:txBody>
          <a:bodyPr wrap="square" lIns="0" tIns="0" rIns="0" bIns="0" rtlCol="0" anchor="t"/>
          <a:lstStyle/>
          <a:p>
            <a:pPr indent="0" marL="0">
              <a:buNone/>
            </a:pPr>
            <a:r>
              <a:rPr lang="en-US" sz="650" dirty="0">
                <a:solidFill>
                  <a:srgbClr val="6E7A83"/>
                </a:solidFill>
                <a:latin typeface="Space Mono" pitchFamily="34" charset="0"/>
                <a:ea typeface="Space Mono" pitchFamily="34" charset="-122"/>
                <a:cs typeface="Space Mono" pitchFamily="34" charset="-120"/>
              </a:rPr>
              <a:t>AI today: Flux gives Gerbers, Claude drives Fusion</a:t>
            </a:r>
            <a:endParaRPr lang="en-US" sz="650" dirty="0"/>
          </a:p>
        </p:txBody>
      </p:sp>
      <p:sp>
        <p:nvSpPr>
          <p:cNvPr id="26" name="Text 24"/>
          <p:cNvSpPr txBox="1"/>
          <p:nvPr/>
        </p:nvSpPr>
        <p:spPr>
          <a:xfrm>
            <a:off x="6355080" y="1389888"/>
            <a:ext cx="2377440" cy="182880"/>
          </a:xfrm>
          <a:prstGeom prst="rect">
            <a:avLst/>
          </a:prstGeom>
          <a:noFill/>
          <a:ln/>
        </p:spPr>
        <p:txBody>
          <a:bodyPr wrap="square" lIns="0" tIns="0" rIns="0" bIns="0" rtlCol="0" anchor="t"/>
          <a:lstStyle/>
          <a:p>
            <a:pPr algn="ctr" indent="0" marL="0">
              <a:buNone/>
            </a:pPr>
            <a:r>
              <a:rPr lang="en-US" sz="700" dirty="0">
                <a:solidFill>
                  <a:srgbClr val="F2C230"/>
                </a:solidFill>
                <a:latin typeface="Space Mono" pitchFamily="34" charset="0"/>
                <a:ea typeface="Space Mono" pitchFamily="34" charset="-122"/>
                <a:cs typeface="Space Mono" pitchFamily="34" charset="-120"/>
              </a:rPr>
              <a:t>protopus: the AI’s hands and eyes</a:t>
            </a:r>
            <a:endParaRPr lang="en-US" sz="700" dirty="0"/>
          </a:p>
        </p:txBody>
      </p:sp>
      <p:sp>
        <p:nvSpPr>
          <p:cNvPr id="27" name="Shape 25"/>
          <p:cNvSpPr/>
          <p:nvPr/>
        </p:nvSpPr>
        <p:spPr>
          <a:xfrm>
            <a:off x="4572000" y="1828800"/>
            <a:ext cx="1298448" cy="36576"/>
          </a:xfrm>
          <a:prstGeom prst="rect">
            <a:avLst/>
          </a:prstGeom>
          <a:solidFill>
            <a:srgbClr val="CF8F4E"/>
          </a:solidFill>
          <a:ln w="12700">
            <a:solidFill>
              <a:srgbClr val="CF8F4E"/>
            </a:solidFill>
            <a:prstDash val="solid"/>
          </a:ln>
        </p:spPr>
      </p:sp>
      <p:sp>
        <p:nvSpPr>
          <p:cNvPr id="28" name="Text 26"/>
          <p:cNvSpPr txBox="1"/>
          <p:nvPr/>
        </p:nvSpPr>
        <p:spPr>
          <a:xfrm>
            <a:off x="4572000" y="1920240"/>
            <a:ext cx="1298448" cy="164592"/>
          </a:xfrm>
          <a:prstGeom prst="rect">
            <a:avLst/>
          </a:prstGeom>
          <a:noFill/>
          <a:ln/>
        </p:spPr>
        <p:txBody>
          <a:bodyPr wrap="square" lIns="0" tIns="0" rIns="0" bIns="0" rtlCol="0" anchor="t"/>
          <a:lstStyle/>
          <a:p>
            <a:pPr indent="0" marL="0">
              <a:buNone/>
            </a:pPr>
            <a:r>
              <a:rPr lang="en-US" sz="680" spc="120" kern="0" dirty="0">
                <a:solidFill>
                  <a:srgbClr val="6E7A83"/>
                </a:solidFill>
                <a:latin typeface="Space Mono" pitchFamily="34" charset="0"/>
                <a:ea typeface="Space Mono" pitchFamily="34" charset="-122"/>
                <a:cs typeface="Space Mono" pitchFamily="34" charset="-120"/>
              </a:rPr>
              <a:t>THE HANDS</a:t>
            </a:r>
            <a:endParaRPr lang="en-US" sz="680" dirty="0"/>
          </a:p>
        </p:txBody>
      </p:sp>
      <p:sp>
        <p:nvSpPr>
          <p:cNvPr id="29" name="Text 27"/>
          <p:cNvSpPr txBox="1"/>
          <p:nvPr/>
        </p:nvSpPr>
        <p:spPr>
          <a:xfrm>
            <a:off x="4572000" y="2103120"/>
            <a:ext cx="1298448" cy="228600"/>
          </a:xfrm>
          <a:prstGeom prst="rect">
            <a:avLst/>
          </a:prstGeom>
          <a:noFill/>
          <a:ln/>
        </p:spPr>
        <p:txBody>
          <a:bodyPr wrap="square" lIns="0" tIns="0" rIns="0" bIns="0" rtlCol="0" anchor="t"/>
          <a:lstStyle/>
          <a:p>
            <a:pPr indent="0" marL="0">
              <a:buNone/>
            </a:pPr>
            <a:r>
              <a:rPr lang="en-US" sz="1200" b="1" dirty="0">
                <a:solidFill>
                  <a:srgbClr val="CF8F4E"/>
                </a:solidFill>
                <a:latin typeface="Space Grotesk" pitchFamily="34" charset="0"/>
                <a:ea typeface="Space Grotesk" pitchFamily="34" charset="-122"/>
                <a:cs typeface="Space Grotesk" pitchFamily="34" charset="-120"/>
              </a:rPr>
              <a:t>​</a:t>
            </a:r>
            <a:r>
              <a:rPr lang="en-US" sz="1200" b="1" u="sng" dirty="0">
                <a:solidFill>
                  <a:srgbClr val="CF8F4E"/>
                </a:solidFill>
                <a:latin typeface="Space Grotesk" pitchFamily="34" charset="0"/>
                <a:ea typeface="Space Grotesk" pitchFamily="34" charset="-122"/>
                <a:cs typeface="Space Grotesk" pitchFamily="34" charset="-120"/>
                <a:hlinkClick r:id="rId5" invalidUrl="" action="" tgtFrame="" tooltip="https://protopus-kappa.vercel.app/#/baker" history="1" highlightClick="0" endSnd="0">
                  <a:extLst>
                    <a:ext uri="{A12FA001-AC4F-418D-AE19-62706E023703}">
                      <ahyp:hlinkClr xmlns:ahyp="http://schemas.microsoft.com/office/drawing/2018/hyperlinkcolor" val="tx"/>
                    </a:ext>
                  </a:extLst>
                </a:hlinkClick>
              </a:rPr>
              <a:t>Baker</a:t>
            </a:r>
            <a:endParaRPr lang="en-US" sz="1200" dirty="0"/>
          </a:p>
        </p:txBody>
      </p:sp>
      <p:sp>
        <p:nvSpPr>
          <p:cNvPr id="30" name="Text 28"/>
          <p:cNvSpPr txBox="1"/>
          <p:nvPr/>
        </p:nvSpPr>
        <p:spPr>
          <a:xfrm>
            <a:off x="4572000" y="2359152"/>
            <a:ext cx="1298448" cy="566928"/>
          </a:xfrm>
          <a:prstGeom prst="rect">
            <a:avLst/>
          </a:prstGeom>
          <a:noFill/>
          <a:ln/>
        </p:spPr>
        <p:txBody>
          <a:bodyPr wrap="square" lIns="0" tIns="0" rIns="0" bIns="0" rtlCol="0" anchor="t"/>
          <a:lstStyle/>
          <a:p>
            <a:pPr indent="0" marL="0">
              <a:buNone/>
            </a:pPr>
            <a:r>
              <a:rPr lang="en-US" sz="730" dirty="0">
                <a:solidFill>
                  <a:srgbClr val="A3B3BE"/>
                </a:solidFill>
                <a:latin typeface="Space Mono" pitchFamily="34" charset="0"/>
                <a:ea typeface="Space Mono" pitchFamily="34" charset="-122"/>
                <a:cs typeface="Space Mono" pitchFamily="34" charset="-120"/>
              </a:rPr>
              <a:t>makes the board: mill, mask, stencil, paste, reflow</a:t>
            </a:r>
            <a:endParaRPr lang="en-US" sz="730" dirty="0"/>
          </a:p>
        </p:txBody>
      </p:sp>
      <p:sp>
        <p:nvSpPr>
          <p:cNvPr id="31" name="Shape 29"/>
          <p:cNvSpPr/>
          <p:nvPr/>
        </p:nvSpPr>
        <p:spPr>
          <a:xfrm>
            <a:off x="5971032" y="1828800"/>
            <a:ext cx="1298448" cy="36576"/>
          </a:xfrm>
          <a:prstGeom prst="rect">
            <a:avLst/>
          </a:prstGeom>
          <a:solidFill>
            <a:srgbClr val="54ACF0"/>
          </a:solidFill>
          <a:ln w="12700">
            <a:solidFill>
              <a:srgbClr val="54ACF0"/>
            </a:solidFill>
            <a:prstDash val="solid"/>
          </a:ln>
        </p:spPr>
      </p:sp>
      <p:sp>
        <p:nvSpPr>
          <p:cNvPr id="32" name="Text 30"/>
          <p:cNvSpPr txBox="1"/>
          <p:nvPr/>
        </p:nvSpPr>
        <p:spPr>
          <a:xfrm>
            <a:off x="5971032" y="1920240"/>
            <a:ext cx="1298448" cy="164592"/>
          </a:xfrm>
          <a:prstGeom prst="rect">
            <a:avLst/>
          </a:prstGeom>
          <a:noFill/>
          <a:ln/>
        </p:spPr>
        <p:txBody>
          <a:bodyPr wrap="square" lIns="0" tIns="0" rIns="0" bIns="0" rtlCol="0" anchor="t"/>
          <a:lstStyle/>
          <a:p>
            <a:pPr indent="0" marL="0">
              <a:buNone/>
            </a:pPr>
            <a:r>
              <a:rPr lang="en-US" sz="680" spc="120" kern="0" dirty="0">
                <a:solidFill>
                  <a:srgbClr val="6E7A83"/>
                </a:solidFill>
                <a:latin typeface="Space Mono" pitchFamily="34" charset="0"/>
                <a:ea typeface="Space Mono" pitchFamily="34" charset="-122"/>
                <a:cs typeface="Space Mono" pitchFamily="34" charset="-120"/>
              </a:rPr>
              <a:t>THE EYES</a:t>
            </a:r>
            <a:endParaRPr lang="en-US" sz="680" dirty="0"/>
          </a:p>
        </p:txBody>
      </p:sp>
      <p:sp>
        <p:nvSpPr>
          <p:cNvPr id="33" name="Text 31"/>
          <p:cNvSpPr txBox="1"/>
          <p:nvPr/>
        </p:nvSpPr>
        <p:spPr>
          <a:xfrm>
            <a:off x="5971032" y="2103120"/>
            <a:ext cx="1298448" cy="228600"/>
          </a:xfrm>
          <a:prstGeom prst="rect">
            <a:avLst/>
          </a:prstGeom>
          <a:noFill/>
          <a:ln/>
        </p:spPr>
        <p:txBody>
          <a:bodyPr wrap="square" lIns="0" tIns="0" rIns="0" bIns="0" rtlCol="0" anchor="t"/>
          <a:lstStyle/>
          <a:p>
            <a:pPr indent="0" marL="0">
              <a:buNone/>
            </a:pPr>
            <a:r>
              <a:rPr lang="en-US" sz="1200" b="1" dirty="0">
                <a:solidFill>
                  <a:srgbClr val="54ACF0"/>
                </a:solidFill>
                <a:latin typeface="Space Grotesk" pitchFamily="34" charset="0"/>
                <a:ea typeface="Space Grotesk" pitchFamily="34" charset="-122"/>
                <a:cs typeface="Space Grotesk" pitchFamily="34" charset="-120"/>
              </a:rPr>
              <a:t>​</a:t>
            </a:r>
            <a:r>
              <a:rPr lang="en-US" sz="1200" b="1" u="sng" dirty="0">
                <a:solidFill>
                  <a:srgbClr val="54ACF0"/>
                </a:solidFill>
                <a:latin typeface="Space Grotesk" pitchFamily="34" charset="0"/>
                <a:ea typeface="Space Grotesk" pitchFamily="34" charset="-122"/>
                <a:cs typeface="Space Grotesk" pitchFamily="34" charset="-120"/>
                <a:hlinkClick r:id="rId6" invalidUrl="" action="" tgtFrame="" tooltip="https://protopus-kappa.vercel.app/#/mixer" history="1" highlightClick="0" endSnd="0">
                  <a:extLst>
                    <a:ext uri="{A12FA001-AC4F-418D-AE19-62706E023703}">
                      <ahyp:hlinkClr xmlns:ahyp="http://schemas.microsoft.com/office/drawing/2018/hyperlinkcolor" val="tx"/>
                    </a:ext>
                  </a:extLst>
                </a:hlinkClick>
              </a:rPr>
              <a:t>Mixer</a:t>
            </a:r>
            <a:endParaRPr lang="en-US" sz="1200" dirty="0"/>
          </a:p>
        </p:txBody>
      </p:sp>
      <p:sp>
        <p:nvSpPr>
          <p:cNvPr id="34" name="Text 32"/>
          <p:cNvSpPr txBox="1"/>
          <p:nvPr/>
        </p:nvSpPr>
        <p:spPr>
          <a:xfrm>
            <a:off x="5971032" y="2359152"/>
            <a:ext cx="1298448" cy="566928"/>
          </a:xfrm>
          <a:prstGeom prst="rect">
            <a:avLst/>
          </a:prstGeom>
          <a:noFill/>
          <a:ln/>
        </p:spPr>
        <p:txBody>
          <a:bodyPr wrap="square" lIns="0" tIns="0" rIns="0" bIns="0" rtlCol="0" anchor="t"/>
          <a:lstStyle/>
          <a:p>
            <a:pPr indent="0" marL="0">
              <a:buNone/>
            </a:pPr>
            <a:r>
              <a:rPr lang="en-US" sz="730" dirty="0">
                <a:solidFill>
                  <a:srgbClr val="A3B3BE"/>
                </a:solidFill>
                <a:latin typeface="Space Mono" pitchFamily="34" charset="0"/>
                <a:ea typeface="Space Mono" pitchFamily="34" charset="-122"/>
                <a:cs typeface="Space Mono" pitchFamily="34" charset="-120"/>
              </a:rPr>
              <a:t>signal generator + analysers; replays real sensor faults</a:t>
            </a:r>
            <a:endParaRPr lang="en-US" sz="730" dirty="0"/>
          </a:p>
        </p:txBody>
      </p:sp>
      <p:sp>
        <p:nvSpPr>
          <p:cNvPr id="35" name="Shape 33"/>
          <p:cNvSpPr/>
          <p:nvPr/>
        </p:nvSpPr>
        <p:spPr>
          <a:xfrm>
            <a:off x="7370064" y="1828800"/>
            <a:ext cx="1298448" cy="36576"/>
          </a:xfrm>
          <a:prstGeom prst="rect">
            <a:avLst/>
          </a:prstGeom>
          <a:solidFill>
            <a:srgbClr val="8FB3C9"/>
          </a:solidFill>
          <a:ln w="12700">
            <a:solidFill>
              <a:srgbClr val="8FB3C9"/>
            </a:solidFill>
            <a:prstDash val="solid"/>
          </a:ln>
        </p:spPr>
      </p:sp>
      <p:sp>
        <p:nvSpPr>
          <p:cNvPr id="36" name="Text 34"/>
          <p:cNvSpPr txBox="1"/>
          <p:nvPr/>
        </p:nvSpPr>
        <p:spPr>
          <a:xfrm>
            <a:off x="7370064" y="1920240"/>
            <a:ext cx="1298448" cy="164592"/>
          </a:xfrm>
          <a:prstGeom prst="rect">
            <a:avLst/>
          </a:prstGeom>
          <a:noFill/>
          <a:ln/>
        </p:spPr>
        <p:txBody>
          <a:bodyPr wrap="square" lIns="0" tIns="0" rIns="0" bIns="0" rtlCol="0" anchor="t"/>
          <a:lstStyle/>
          <a:p>
            <a:pPr indent="0" marL="0">
              <a:buNone/>
            </a:pPr>
            <a:r>
              <a:rPr lang="en-US" sz="680" spc="120" kern="0" dirty="0">
                <a:solidFill>
                  <a:srgbClr val="6E7A83"/>
                </a:solidFill>
                <a:latin typeface="Space Mono" pitchFamily="34" charset="0"/>
                <a:ea typeface="Space Mono" pitchFamily="34" charset="-122"/>
                <a:cs typeface="Space Mono" pitchFamily="34" charset="-120"/>
              </a:rPr>
              <a:t>THE FINGERS</a:t>
            </a:r>
            <a:endParaRPr lang="en-US" sz="680" dirty="0"/>
          </a:p>
        </p:txBody>
      </p:sp>
      <p:sp>
        <p:nvSpPr>
          <p:cNvPr id="37" name="Text 35"/>
          <p:cNvSpPr txBox="1"/>
          <p:nvPr/>
        </p:nvSpPr>
        <p:spPr>
          <a:xfrm>
            <a:off x="7370064" y="2103120"/>
            <a:ext cx="1298448" cy="228600"/>
          </a:xfrm>
          <a:prstGeom prst="rect">
            <a:avLst/>
          </a:prstGeom>
          <a:noFill/>
          <a:ln/>
        </p:spPr>
        <p:txBody>
          <a:bodyPr wrap="square" lIns="0" tIns="0" rIns="0" bIns="0" rtlCol="0" anchor="t"/>
          <a:lstStyle/>
          <a:p>
            <a:pPr indent="0" marL="0">
              <a:buNone/>
            </a:pPr>
            <a:r>
              <a:rPr lang="en-US" sz="1200" b="1" dirty="0">
                <a:solidFill>
                  <a:srgbClr val="8FB3C9"/>
                </a:solidFill>
                <a:latin typeface="Space Grotesk" pitchFamily="34" charset="0"/>
                <a:ea typeface="Space Grotesk" pitchFamily="34" charset="-122"/>
                <a:cs typeface="Space Grotesk" pitchFamily="34" charset="-120"/>
              </a:rPr>
              <a:t>​</a:t>
            </a:r>
            <a:r>
              <a:rPr lang="en-US" sz="1200" b="1" u="sng" dirty="0">
                <a:solidFill>
                  <a:srgbClr val="54ACF0"/>
                </a:solidFill>
                <a:latin typeface="Space Grotesk" pitchFamily="34" charset="0"/>
                <a:ea typeface="Space Grotesk" pitchFamily="34" charset="-122"/>
                <a:cs typeface="Space Grotesk" pitchFamily="34" charset="-120"/>
                <a:hlinkClick r:id="rId7" invalidUrl="" action="" tgtFrame="" tooltip="https://probe-matrix.vercel.app/" history="1" highlightClick="0" endSnd="0">
                  <a:extLst>
                    <a:ext uri="{A12FA001-AC4F-418D-AE19-62706E023703}">
                      <ahyp:hlinkClr xmlns:ahyp="http://schemas.microsoft.com/office/drawing/2018/hyperlinkcolor" val="tx"/>
                    </a:ext>
                  </a:extLst>
                </a:hlinkClick>
              </a:rPr>
              <a:t>Probe Matrix</a:t>
            </a:r>
            <a:endParaRPr lang="en-US" sz="1200" dirty="0"/>
          </a:p>
        </p:txBody>
      </p:sp>
      <p:sp>
        <p:nvSpPr>
          <p:cNvPr id="38" name="Text 36"/>
          <p:cNvSpPr txBox="1"/>
          <p:nvPr/>
        </p:nvSpPr>
        <p:spPr>
          <a:xfrm>
            <a:off x="7370064" y="2359152"/>
            <a:ext cx="1298448" cy="566928"/>
          </a:xfrm>
          <a:prstGeom prst="rect">
            <a:avLst/>
          </a:prstGeom>
          <a:noFill/>
          <a:ln/>
        </p:spPr>
        <p:txBody>
          <a:bodyPr wrap="square" lIns="0" tIns="0" rIns="0" bIns="0" rtlCol="0" anchor="t"/>
          <a:lstStyle/>
          <a:p>
            <a:pPr indent="0" marL="0">
              <a:buNone/>
            </a:pPr>
            <a:r>
              <a:rPr lang="en-US" sz="730" dirty="0">
                <a:solidFill>
                  <a:srgbClr val="A3B3BE"/>
                </a:solidFill>
                <a:latin typeface="Space Mono" pitchFamily="34" charset="0"/>
                <a:ea typeface="Space Mono" pitchFamily="34" charset="-122"/>
                <a:cs typeface="Space Mono" pitchFamily="34" charset="-120"/>
              </a:rPr>
              <a:t>probes every net, so Proto can test and program</a:t>
            </a:r>
            <a:endParaRPr lang="en-US" sz="730" dirty="0"/>
          </a:p>
        </p:txBody>
      </p:sp>
      <p:sp>
        <p:nvSpPr>
          <p:cNvPr id="39" name="Shape 37"/>
          <p:cNvSpPr/>
          <p:nvPr/>
        </p:nvSpPr>
        <p:spPr>
          <a:xfrm>
            <a:off x="4572000" y="3063240"/>
            <a:ext cx="4160520" cy="621792"/>
          </a:xfrm>
          <a:prstGeom prst="rect">
            <a:avLst/>
          </a:prstGeom>
          <a:solidFill>
            <a:srgbClr val="121A21"/>
          </a:solidFill>
          <a:ln w="9525">
            <a:solidFill>
              <a:srgbClr val="1F2A32"/>
            </a:solidFill>
            <a:prstDash val="solid"/>
          </a:ln>
        </p:spPr>
      </p:sp>
      <p:sp>
        <p:nvSpPr>
          <p:cNvPr id="40" name="Text 38"/>
          <p:cNvSpPr txBox="1"/>
          <p:nvPr/>
        </p:nvSpPr>
        <p:spPr>
          <a:xfrm>
            <a:off x="4681728" y="3063240"/>
            <a:ext cx="3977640" cy="621792"/>
          </a:xfrm>
          <a:prstGeom prst="rect">
            <a:avLst/>
          </a:prstGeom>
          <a:noFill/>
          <a:ln/>
        </p:spPr>
        <p:txBody>
          <a:bodyPr wrap="square" lIns="0" tIns="0" rIns="0" bIns="0" rtlCol="0" anchor="ctr"/>
          <a:lstStyle/>
          <a:p>
            <a:pPr indent="0" marL="0">
              <a:buNone/>
            </a:pPr>
            <a:r>
              <a:rPr lang="en-US" sz="780" b="1" dirty="0">
                <a:solidFill>
                  <a:srgbClr val="F2C230"/>
                </a:solidFill>
                <a:latin typeface="Space Mono" pitchFamily="34" charset="0"/>
                <a:ea typeface="Space Mono" pitchFamily="34" charset="-122"/>
                <a:cs typeface="Space Mono" pitchFamily="34" charset="-120"/>
              </a:rPr>
              <a:t>THE MOAT IS THE DATA  </a:t>
            </a:r>
            <a:r>
              <a:rPr lang="en-US" sz="780" dirty="0">
                <a:solidFill>
                  <a:srgbClr val="E8EEF2"/>
                </a:solidFill>
                <a:latin typeface="Space Mono" pitchFamily="34" charset="0"/>
                <a:ea typeface="Space Mono" pitchFamily="34" charset="-122"/>
                <a:cs typeface="Space Mono" pitchFamily="34" charset="-120"/>
              </a:rPr>
              <a:t>every run logs design → machine settings → measurement → outcome. A file-only AI never sees the real board, so it can never collect this.</a:t>
            </a:r>
            <a:endParaRPr lang="en-US" sz="780" dirty="0"/>
          </a:p>
        </p:txBody>
      </p:sp>
      <p:sp>
        <p:nvSpPr>
          <p:cNvPr id="41" name="Shape 39"/>
          <p:cNvSpPr/>
          <p:nvPr/>
        </p:nvSpPr>
        <p:spPr>
          <a:xfrm>
            <a:off x="4572000" y="3794760"/>
            <a:ext cx="4160520" cy="749808"/>
          </a:xfrm>
          <a:prstGeom prst="rect">
            <a:avLst/>
          </a:prstGeom>
          <a:solidFill>
            <a:srgbClr val="121A21"/>
          </a:solidFill>
          <a:ln w="9525">
            <a:solidFill>
              <a:srgbClr val="CF8F4E"/>
            </a:solidFill>
            <a:prstDash val="solid"/>
          </a:ln>
        </p:spPr>
      </p:sp>
      <p:sp>
        <p:nvSpPr>
          <p:cNvPr id="42" name="Text 40"/>
          <p:cNvSpPr txBox="1"/>
          <p:nvPr/>
        </p:nvSpPr>
        <p:spPr>
          <a:xfrm>
            <a:off x="4681728" y="3794760"/>
            <a:ext cx="3977640" cy="749808"/>
          </a:xfrm>
          <a:prstGeom prst="rect">
            <a:avLst/>
          </a:prstGeom>
          <a:noFill/>
          <a:ln/>
        </p:spPr>
        <p:txBody>
          <a:bodyPr wrap="square" lIns="0" tIns="0" rIns="0" bIns="0" rtlCol="0" anchor="ctr"/>
          <a:lstStyle/>
          <a:p>
            <a:pPr indent="0" marL="0">
              <a:buNone/>
            </a:pPr>
            <a:r>
              <a:rPr lang="en-US" sz="780" b="1" dirty="0">
                <a:solidFill>
                  <a:srgbClr val="CF8F4E"/>
                </a:solidFill>
                <a:latin typeface="Space Mono" pitchFamily="34" charset="0"/>
                <a:ea typeface="Space Mono" pitchFamily="34" charset="-122"/>
                <a:cs typeface="Space Mono" pitchFamily="34" charset="-120"/>
              </a:rPr>
              <a:t>NOT A DESKTOP MILL  </a:t>
            </a:r>
            <a:r>
              <a:rPr lang="en-US" sz="780" dirty="0">
                <a:solidFill>
                  <a:srgbClr val="E8EEF2"/>
                </a:solidFill>
                <a:latin typeface="Space Mono" pitchFamily="34" charset="0"/>
                <a:ea typeface="Space Mono" pitchFamily="34" charset="-122"/>
                <a:cs typeface="Space Mono" pitchFamily="34" charset="-120"/>
              </a:rPr>
              <a:t>A mill automates one step for people who are already experts. Bantam Tools stopped selling its PCB mill in 2025. </a:t>
            </a:r>
            <a:r>
              <a:rPr lang="en-US" sz="780" dirty="0">
                <a:solidFill>
                  <a:srgbClr val="E8EEF2"/>
                </a:solidFill>
                <a:latin typeface="Space Mono" pitchFamily="34" charset="0"/>
                <a:ea typeface="Space Mono" pitchFamily="34" charset="-122"/>
                <a:cs typeface="Space Mono" pitchFamily="34" charset="-120"/>
              </a:rPr>
              <a:t>​</a:t>
            </a:r>
            <a:r>
              <a:rPr lang="en-US" sz="780" u="sng" dirty="0">
                <a:solidFill>
                  <a:srgbClr val="CF8F4E"/>
                </a:solidFill>
                <a:latin typeface="Space Mono" pitchFamily="34" charset="0"/>
                <a:ea typeface="Space Mono" pitchFamily="34" charset="-122"/>
                <a:cs typeface="Space Mono" pitchFamily="34" charset="-120"/>
                <a:hlinkClick r:id="rId8"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780" dirty="0">
                <a:solidFill>
                  <a:srgbClr val="E8EEF2"/>
                </a:solidFill>
                <a:latin typeface="Space Mono" pitchFamily="34" charset="0"/>
                <a:ea typeface="Space Mono" pitchFamily="34" charset="-122"/>
                <a:cs typeface="Space Mono" pitchFamily="34" charset="-120"/>
              </a:rPr>
              <a:t> runs 15 steps in one frame, from bare FR4 to a reflowed board, and Proto plans each one.</a:t>
            </a:r>
            <a:endParaRPr lang="en-US" sz="780" dirty="0"/>
          </a:p>
        </p:txBody>
      </p:sp>
      <p:sp>
        <p:nvSpPr>
          <p:cNvPr id="43" name="Text 41"/>
          <p:cNvSpPr txBox="1"/>
          <p:nvPr/>
        </p:nvSpPr>
        <p:spPr>
          <a:xfrm>
            <a:off x="411480" y="4773168"/>
            <a:ext cx="8321040" cy="182880"/>
          </a:xfrm>
          <a:prstGeom prst="rect">
            <a:avLst/>
          </a:prstGeom>
          <a:noFill/>
          <a:ln/>
        </p:spPr>
        <p:txBody>
          <a:bodyPr wrap="square" lIns="0" tIns="0" rIns="0" bIns="0" rtlCol="0" anchor="t"/>
          <a:lstStyle/>
          <a:p>
            <a:pPr indent="0" marL="0">
              <a:buNone/>
            </a:pPr>
            <a:r>
              <a:rPr lang="en-US" sz="650" dirty="0">
                <a:solidFill>
                  <a:srgbClr val="6E7A83"/>
                </a:solidFill>
                <a:latin typeface="Space Mono" pitchFamily="34" charset="0"/>
                <a:ea typeface="Space Mono" pitchFamily="34" charset="-122"/>
                <a:cs typeface="Space Mono" pitchFamily="34" charset="-120"/>
              </a:rPr>
              <a:t>Flux $49M (SiliconANGLE, Feb 2026) · Claude for Creative Work: Fusion and Blender connectors (Anthropic, Apr 2026) · Bantam Tools: ToolGuyd, 11 Nov 2025.</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216"/>
        </a:solidFill>
      </p:bgPr>
    </p:bg>
    <p:spTree>
      <p:nvGrpSpPr>
        <p:cNvPr id="1" name=""/>
        <p:cNvGrpSpPr/>
        <p:nvPr/>
      </p:nvGrpSpPr>
      <p:grpSpPr>
        <a:xfrm>
          <a:off x="0" y="0"/>
          <a:ext cx="0" cy="0"/>
          <a:chOff x="0" y="0"/>
          <a:chExt cx="0" cy="0"/>
        </a:xfrm>
      </p:grpSpPr>
      <p:sp>
        <p:nvSpPr>
          <p:cNvPr id="2" name="Text 0"/>
          <p:cNvSpPr txBox="1"/>
          <p:nvPr/>
        </p:nvSpPr>
        <p:spPr>
          <a:xfrm>
            <a:off x="411480" y="347472"/>
            <a:ext cx="8321040" cy="182880"/>
          </a:xfrm>
          <a:prstGeom prst="rect">
            <a:avLst/>
          </a:prstGeom>
          <a:noFill/>
          <a:ln/>
        </p:spPr>
        <p:txBody>
          <a:bodyPr wrap="square" lIns="0" tIns="0" rIns="0" bIns="0" rtlCol="0" anchor="t"/>
          <a:lstStyle/>
          <a:p>
            <a:pPr indent="0" marL="0">
              <a:buNone/>
            </a:pPr>
            <a:r>
              <a:rPr lang="en-US" sz="850" spc="250" kern="0" dirty="0">
                <a:solidFill>
                  <a:srgbClr val="F2C230"/>
                </a:solidFill>
                <a:latin typeface="Space Mono" pitchFamily="34" charset="0"/>
                <a:ea typeface="Space Mono" pitchFamily="34" charset="-122"/>
                <a:cs typeface="Space Mono" pitchFamily="34" charset="-120"/>
              </a:rPr>
              <a:t>QUESTION 01 · PROTO IS THE MOAT</a:t>
            </a:r>
            <a:endParaRPr lang="en-US" sz="850" dirty="0"/>
          </a:p>
        </p:txBody>
      </p:sp>
      <p:sp>
        <p:nvSpPr>
          <p:cNvPr id="3" name="Text 1"/>
          <p:cNvSpPr txBox="1"/>
          <p:nvPr/>
        </p:nvSpPr>
        <p:spPr>
          <a:xfrm>
            <a:off x="411480" y="713232"/>
            <a:ext cx="3749040" cy="164592"/>
          </a:xfrm>
          <a:prstGeom prst="rect">
            <a:avLst/>
          </a:prstGeom>
          <a:noFill/>
          <a:ln/>
        </p:spPr>
        <p:txBody>
          <a:bodyPr wrap="square" lIns="0" tIns="0" rIns="0" bIns="0" rtlCol="0" anchor="t"/>
          <a:lstStyle/>
          <a:p>
            <a:pPr indent="0" marL="0">
              <a:buNone/>
            </a:pPr>
            <a:r>
              <a:rPr lang="en-US" sz="750" spc="200" kern="0" dirty="0">
                <a:solidFill>
                  <a:srgbClr val="6E7A83"/>
                </a:solidFill>
                <a:latin typeface="Space Mono" pitchFamily="34" charset="0"/>
                <a:ea typeface="Space Mono" pitchFamily="34" charset="-122"/>
                <a:cs typeface="Space Mono" pitchFamily="34" charset="-120"/>
              </a:rPr>
              <a:t>SIR, YOU ASKED (CONTINUED)</a:t>
            </a:r>
            <a:endParaRPr lang="en-US" sz="750" dirty="0"/>
          </a:p>
        </p:txBody>
      </p:sp>
      <p:sp>
        <p:nvSpPr>
          <p:cNvPr id="4" name="Shape 2"/>
          <p:cNvSpPr/>
          <p:nvPr/>
        </p:nvSpPr>
        <p:spPr>
          <a:xfrm>
            <a:off x="411480" y="941832"/>
            <a:ext cx="32004" cy="457200"/>
          </a:xfrm>
          <a:prstGeom prst="rect">
            <a:avLst/>
          </a:prstGeom>
          <a:solidFill>
            <a:srgbClr val="F2C230"/>
          </a:solidFill>
          <a:ln w="12700">
            <a:solidFill>
              <a:srgbClr val="F2C230"/>
            </a:solidFill>
            <a:prstDash val="solid"/>
          </a:ln>
        </p:spPr>
      </p:sp>
      <p:sp>
        <p:nvSpPr>
          <p:cNvPr id="5" name="Text 3"/>
          <p:cNvSpPr txBox="1"/>
          <p:nvPr/>
        </p:nvSpPr>
        <p:spPr>
          <a:xfrm>
            <a:off x="548640" y="914400"/>
            <a:ext cx="3611880" cy="457200"/>
          </a:xfrm>
          <a:prstGeom prst="rect">
            <a:avLst/>
          </a:prstGeom>
          <a:noFill/>
          <a:ln/>
        </p:spPr>
        <p:txBody>
          <a:bodyPr wrap="square" lIns="0" tIns="0" rIns="0" bIns="0" rtlCol="0" anchor="t"/>
          <a:lstStyle/>
          <a:p>
            <a:pPr indent="0" marL="0">
              <a:lnSpc>
                <a:spcPct val="105000"/>
              </a:lnSpc>
              <a:buNone/>
            </a:pPr>
            <a:r>
              <a:rPr lang="en-US" sz="1200" i="1" dirty="0">
                <a:solidFill>
                  <a:srgbClr val="8FB3C9"/>
                </a:solidFill>
                <a:latin typeface="Space Grotesk" pitchFamily="34" charset="0"/>
                <a:ea typeface="Space Grotesk" pitchFamily="34" charset="-122"/>
                <a:cs typeface="Space Grotesk" pitchFamily="34" charset="-120"/>
              </a:rPr>
              <a:t>“Why is Proto the moat, and not the machines?”</a:t>
            </a:r>
            <a:endParaRPr lang="en-US" sz="1200" dirty="0"/>
          </a:p>
        </p:txBody>
      </p:sp>
      <p:sp>
        <p:nvSpPr>
          <p:cNvPr id="6" name="Text 4"/>
          <p:cNvSpPr txBox="1"/>
          <p:nvPr/>
        </p:nvSpPr>
        <p:spPr>
          <a:xfrm>
            <a:off x="411480" y="1508760"/>
            <a:ext cx="3749040" cy="164592"/>
          </a:xfrm>
          <a:prstGeom prst="rect">
            <a:avLst/>
          </a:prstGeom>
          <a:noFill/>
          <a:ln/>
        </p:spPr>
        <p:txBody>
          <a:bodyPr wrap="square" lIns="0" tIns="0" rIns="0" bIns="0" rtlCol="0" anchor="t"/>
          <a:lstStyle/>
          <a:p>
            <a:pPr indent="0" marL="0">
              <a:buNone/>
            </a:pPr>
            <a:r>
              <a:rPr lang="en-US" sz="750" spc="200" kern="0" dirty="0">
                <a:solidFill>
                  <a:srgbClr val="F2C230"/>
                </a:solidFill>
                <a:latin typeface="Space Mono" pitchFamily="34" charset="0"/>
                <a:ea typeface="Space Mono" pitchFamily="34" charset="-122"/>
                <a:cs typeface="Space Mono" pitchFamily="34" charset="-120"/>
              </a:rPr>
              <a:t>I CAN ANSWER</a:t>
            </a:r>
            <a:endParaRPr lang="en-US" sz="750" dirty="0"/>
          </a:p>
        </p:txBody>
      </p:sp>
      <p:sp>
        <p:nvSpPr>
          <p:cNvPr id="7" name="Text 5"/>
          <p:cNvSpPr txBox="1"/>
          <p:nvPr/>
        </p:nvSpPr>
        <p:spPr>
          <a:xfrm>
            <a:off x="411480" y="1746504"/>
            <a:ext cx="3794760" cy="2825496"/>
          </a:xfrm>
          <a:prstGeom prst="rect">
            <a:avLst/>
          </a:prstGeom>
          <a:noFill/>
          <a:ln/>
        </p:spPr>
        <p:txBody>
          <a:bodyPr wrap="square" lIns="0" tIns="0" rIns="0" bIns="0" rtlCol="0" anchor="t"/>
          <a:lstStyle/>
          <a:p>
            <a:pPr indent="0" marL="0">
              <a:lnSpc>
                <a:spcPct val="108000"/>
              </a:lnSpc>
              <a:buNone/>
            </a:pPr>
            <a:r>
              <a:rPr lang="en-US" sz="1250" dirty="0">
                <a:solidFill>
                  <a:srgbClr val="E8EEF2"/>
                </a:solidFill>
                <a:latin typeface="Space Grotesk" pitchFamily="34" charset="0"/>
                <a:ea typeface="Space Grotesk" pitchFamily="34" charset="-122"/>
                <a:cs typeface="Space Grotesk" pitchFamily="34" charset="-120"/>
              </a:rPr>
              <a:t>Because ease is the market, sir. People learn hardware by doing: try, look, adjust. The faster that loop turns, the faster they learn. Today every rung of hardware knowledge loses people. Proto takes rungs away, and each rung we remove brings in a new crowd: students, designers, first-time founders.</a:t>
            </a:r>
            <a:endParaRPr lang="en-US" sz="1250" dirty="0"/>
          </a:p>
        </p:txBody>
      </p:sp>
      <p:sp>
        <p:nvSpPr>
          <p:cNvPr id="8" name="Shape 6"/>
          <p:cNvSpPr/>
          <p:nvPr/>
        </p:nvSpPr>
        <p:spPr>
          <a:xfrm>
            <a:off x="4407408" y="731520"/>
            <a:ext cx="0" cy="3886200"/>
          </a:xfrm>
          <a:prstGeom prst="line">
            <a:avLst/>
          </a:prstGeom>
          <a:noFill/>
          <a:ln w="9525">
            <a:solidFill>
              <a:srgbClr val="1F2A32"/>
            </a:solidFill>
            <a:prstDash val="solid"/>
          </a:ln>
        </p:spPr>
      </p:sp>
      <p:sp>
        <p:nvSpPr>
          <p:cNvPr id="9" name="Text 7"/>
          <p:cNvSpPr txBox="1"/>
          <p:nvPr/>
        </p:nvSpPr>
        <p:spPr>
          <a:xfrm>
            <a:off x="4572000" y="713232"/>
            <a:ext cx="4114800" cy="164592"/>
          </a:xfrm>
          <a:prstGeom prst="rect">
            <a:avLst/>
          </a:prstGeom>
          <a:noFill/>
          <a:ln/>
        </p:spPr>
        <p:txBody>
          <a:bodyPr wrap="square" lIns="0" tIns="0" rIns="0" bIns="0" rtlCol="0" anchor="t"/>
          <a:lstStyle/>
          <a:p>
            <a:pPr indent="0" marL="0">
              <a:buNone/>
            </a:pPr>
            <a:r>
              <a:rPr lang="en-US" sz="750" spc="200" kern="0" dirty="0">
                <a:solidFill>
                  <a:srgbClr val="CF8F4E"/>
                </a:solidFill>
                <a:latin typeface="Space Mono" pitchFamily="34" charset="0"/>
                <a:ea typeface="Space Mono" pitchFamily="34" charset="-122"/>
                <a:cs typeface="Space Mono" pitchFamily="34" charset="-120"/>
              </a:rPr>
              <a:t>TO JUSTIFY</a:t>
            </a:r>
            <a:endParaRPr lang="en-US" sz="750" dirty="0"/>
          </a:p>
        </p:txBody>
      </p:sp>
      <p:sp>
        <p:nvSpPr>
          <p:cNvPr id="10" name="Text 8"/>
          <p:cNvSpPr txBox="1"/>
          <p:nvPr/>
        </p:nvSpPr>
        <p:spPr>
          <a:xfrm>
            <a:off x="411480" y="3886200"/>
            <a:ext cx="1828800" cy="365760"/>
          </a:xfrm>
          <a:prstGeom prst="rect">
            <a:avLst/>
          </a:prstGeom>
          <a:noFill/>
          <a:ln/>
        </p:spPr>
        <p:txBody>
          <a:bodyPr wrap="square" lIns="0" tIns="0" rIns="0" bIns="0" rtlCol="0" anchor="t"/>
          <a:lstStyle/>
          <a:p>
            <a:pPr indent="0" marL="0">
              <a:buNone/>
            </a:pPr>
            <a:r>
              <a:rPr lang="en-US" sz="1900" b="1" dirty="0">
                <a:solidFill>
                  <a:srgbClr val="CF8F4E"/>
                </a:solidFill>
                <a:latin typeface="Space Grotesk" pitchFamily="34" charset="0"/>
                <a:ea typeface="Space Grotesk" pitchFamily="34" charset="-122"/>
                <a:cs typeface="Space Grotesk" pitchFamily="34" charset="-120"/>
              </a:rPr>
              <a:t>7–20 days</a:t>
            </a:r>
            <a:endParaRPr lang="en-US" sz="1900" dirty="0"/>
          </a:p>
        </p:txBody>
      </p:sp>
      <p:sp>
        <p:nvSpPr>
          <p:cNvPr id="11" name="Text 9"/>
          <p:cNvSpPr txBox="1"/>
          <p:nvPr/>
        </p:nvSpPr>
        <p:spPr>
          <a:xfrm>
            <a:off x="411480" y="4251960"/>
            <a:ext cx="1828800" cy="274320"/>
          </a:xfrm>
          <a:prstGeom prst="rect">
            <a:avLst/>
          </a:prstGeom>
          <a:noFill/>
          <a:ln/>
        </p:spPr>
        <p:txBody>
          <a:bodyPr wrap="square" lIns="0" tIns="0" rIns="0" bIns="0" rtlCol="0" anchor="t"/>
          <a:lstStyle/>
          <a:p>
            <a:pPr indent="0" marL="0">
              <a:buNone/>
            </a:pPr>
            <a:r>
              <a:rPr lang="en-US" sz="700" dirty="0">
                <a:solidFill>
                  <a:srgbClr val="6E7A83"/>
                </a:solidFill>
                <a:latin typeface="Space Mono" pitchFamily="34" charset="0"/>
                <a:ea typeface="Space Mono" pitchFamily="34" charset="-122"/>
                <a:cs typeface="Space Mono" pitchFamily="34" charset="-120"/>
              </a:rPr>
              <a:t>per try today, by JLCPCB to India</a:t>
            </a:r>
            <a:endParaRPr lang="en-US" sz="700" dirty="0"/>
          </a:p>
        </p:txBody>
      </p:sp>
      <p:sp>
        <p:nvSpPr>
          <p:cNvPr id="12" name="Text 10"/>
          <p:cNvSpPr txBox="1"/>
          <p:nvPr/>
        </p:nvSpPr>
        <p:spPr>
          <a:xfrm>
            <a:off x="2331720" y="3886200"/>
            <a:ext cx="1828800" cy="365760"/>
          </a:xfrm>
          <a:prstGeom prst="rect">
            <a:avLst/>
          </a:prstGeom>
          <a:noFill/>
          <a:ln/>
        </p:spPr>
        <p:txBody>
          <a:bodyPr wrap="square" lIns="0" tIns="0" rIns="0" bIns="0" rtlCol="0" anchor="t"/>
          <a:lstStyle/>
          <a:p>
            <a:pPr indent="0" marL="0">
              <a:buNone/>
            </a:pPr>
            <a:r>
              <a:rPr lang="en-US" sz="1900" b="1" dirty="0">
                <a:solidFill>
                  <a:srgbClr val="F2C230"/>
                </a:solidFill>
                <a:latin typeface="Space Grotesk" pitchFamily="34" charset="0"/>
                <a:ea typeface="Space Grotesk" pitchFamily="34" charset="-122"/>
                <a:cs typeface="Space Grotesk" pitchFamily="34" charset="-120"/>
              </a:rPr>
              <a:t>≈2 hours</a:t>
            </a:r>
            <a:endParaRPr lang="en-US" sz="1900" dirty="0"/>
          </a:p>
        </p:txBody>
      </p:sp>
      <p:sp>
        <p:nvSpPr>
          <p:cNvPr id="13" name="Text 11"/>
          <p:cNvSpPr txBox="1"/>
          <p:nvPr/>
        </p:nvSpPr>
        <p:spPr>
          <a:xfrm>
            <a:off x="2331720" y="4251960"/>
            <a:ext cx="1828800" cy="274320"/>
          </a:xfrm>
          <a:prstGeom prst="rect">
            <a:avLst/>
          </a:prstGeom>
          <a:noFill/>
          <a:ln/>
        </p:spPr>
        <p:txBody>
          <a:bodyPr wrap="square" lIns="0" tIns="0" rIns="0" bIns="0" rtlCol="0" anchor="t"/>
          <a:lstStyle/>
          <a:p>
            <a:pPr indent="0" marL="0">
              <a:buNone/>
            </a:pPr>
            <a:r>
              <a:rPr lang="en-US" sz="700" dirty="0">
                <a:solidFill>
                  <a:srgbClr val="6E7A83"/>
                </a:solidFill>
                <a:latin typeface="Space Mono" pitchFamily="34" charset="0"/>
                <a:ea typeface="Space Mono" pitchFamily="34" charset="-122"/>
                <a:cs typeface="Space Mono" pitchFamily="34" charset="-120"/>
              </a:rPr>
              <a:t>per try on Baker (target)</a:t>
            </a:r>
            <a:endParaRPr lang="en-US" sz="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0" y="960120"/>
          <a:ext cx="4160520" cy="914400"/>
        </p:xfrm>
        <a:graphic>
          <a:graphicData uri="http://schemas.openxmlformats.org/drawingml/2006/table">
            <a:tbl>
              <a:tblPr/>
              <a:tblGrid>
                <a:gridCol w="960120"/>
                <a:gridCol w="1691640"/>
                <a:gridCol w="1508760"/>
              </a:tblGrid>
              <a:tr h="329184">
                <a:tc>
                  <a:txBody>
                    <a:bodyPr/>
                    <a:lstStyle/>
                    <a:p>
                      <a:pPr indent="0" marL="0">
                        <a:buNone/>
                      </a:pPr>
                      <a:r>
                        <a:rPr lang="en-US" sz="760" spc="100" kern="0" dirty="0">
                          <a:solidFill>
                            <a:srgbClr val="6E7A83"/>
                          </a:solidFill>
                          <a:latin typeface="Space Mono" pitchFamily="34" charset="0"/>
                          <a:ea typeface="Space Mono" pitchFamily="34" charset="-122"/>
                          <a:cs typeface="Space Mono" pitchFamily="34" charset="-120"/>
                        </a:rPr>
                        <a:t>RUNG</a:t>
                      </a:r>
                      <a:endParaRPr lang="en-US" sz="7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11430" cap="flat" cmpd="sng" algn="ctr">
                      <a:solidFill>
                        <a:srgbClr val="E8EEF2"/>
                      </a:solidFill>
                      <a:prstDash val="solid"/>
                      <a:round/>
                      <a:headEnd type="none" w="med" len="med"/>
                      <a:tailEnd type="none" w="med" len="med"/>
                    </a:lnB>
                  </a:tcPr>
                </a:tc>
                <a:tc>
                  <a:txBody>
                    <a:bodyPr/>
                    <a:lstStyle/>
                    <a:p>
                      <a:pPr indent="0" marL="0">
                        <a:buNone/>
                      </a:pPr>
                      <a:r>
                        <a:rPr lang="en-US" sz="760" spc="100" kern="0" dirty="0">
                          <a:solidFill>
                            <a:srgbClr val="6E7A83"/>
                          </a:solidFill>
                          <a:latin typeface="Space Mono" pitchFamily="34" charset="0"/>
                          <a:ea typeface="Space Mono" pitchFamily="34" charset="-122"/>
                          <a:cs typeface="Space Mono" pitchFamily="34" charset="-120"/>
                        </a:rPr>
                        <a:t>WHERE PEOPLE GET STUCK</a:t>
                      </a:r>
                      <a:endParaRPr lang="en-US" sz="7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11430" cap="flat" cmpd="sng" algn="ctr">
                      <a:solidFill>
                        <a:srgbClr val="E8EEF2"/>
                      </a:solidFill>
                      <a:prstDash val="solid"/>
                      <a:round/>
                      <a:headEnd type="none" w="med" len="med"/>
                      <a:tailEnd type="none" w="med" len="med"/>
                    </a:lnB>
                  </a:tcPr>
                </a:tc>
                <a:tc>
                  <a:txBody>
                    <a:bodyPr/>
                    <a:lstStyle/>
                    <a:p>
                      <a:pPr indent="0" marL="0">
                        <a:buNone/>
                      </a:pPr>
                      <a:r>
                        <a:rPr lang="en-US" sz="760" spc="100" kern="0" dirty="0">
                          <a:solidFill>
                            <a:srgbClr val="6E7A83"/>
                          </a:solidFill>
                          <a:latin typeface="Space Mono" pitchFamily="34" charset="0"/>
                          <a:ea typeface="Space Mono" pitchFamily="34" charset="-122"/>
                          <a:cs typeface="Space Mono" pitchFamily="34" charset="-120"/>
                        </a:rPr>
                        <a:t>WHO CARRIES IT NOW</a:t>
                      </a:r>
                      <a:endParaRPr lang="en-US" sz="7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11430" cap="flat" cmpd="sng" algn="ctr">
                      <a:solidFill>
                        <a:srgbClr val="E8EEF2"/>
                      </a:solidFill>
                      <a:prstDash val="solid"/>
                      <a:round/>
                      <a:headEnd type="none" w="med" len="med"/>
                      <a:tailEnd type="none" w="med" len="med"/>
                    </a:lnB>
                  </a:tcPr>
                </a:tc>
              </a:tr>
              <a:tr h="329184">
                <a:tc>
                  <a:txBody>
                    <a:bodyPr/>
                    <a:lstStyle/>
                    <a:p>
                      <a:pPr indent="0" marL="0">
                        <a:buNone/>
                      </a:pPr>
                      <a:r>
                        <a:rPr lang="en-US" sz="760" dirty="0">
                          <a:solidFill>
                            <a:srgbClr val="E8EEF2"/>
                          </a:solidFill>
                          <a:latin typeface="Space Mono" pitchFamily="34" charset="0"/>
                          <a:ea typeface="Space Mono" pitchFamily="34" charset="-122"/>
                          <a:cs typeface="Space Mono" pitchFamily="34" charset="-120"/>
                        </a:rPr>
                        <a:t>1 idea → spec</a:t>
                      </a:r>
                      <a:endParaRPr lang="en-US" sz="7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60" dirty="0">
                          <a:solidFill>
                            <a:srgbClr val="A3B3BE"/>
                          </a:solidFill>
                          <a:latin typeface="Space Mono" pitchFamily="34" charset="0"/>
                          <a:ea typeface="Space Mono" pitchFamily="34" charset="-122"/>
                          <a:cs typeface="Space Mono" pitchFamily="34" charset="-120"/>
                        </a:rPr>
                        <a:t>vague goals, scope creep</a:t>
                      </a:r>
                      <a:endParaRPr lang="en-US" sz="7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60" dirty="0">
                          <a:solidFill>
                            <a:srgbClr val="F2C230"/>
                          </a:solidFill>
                          <a:latin typeface="Space Mono" pitchFamily="34" charset="0"/>
                          <a:ea typeface="Space Mono" pitchFamily="34" charset="-122"/>
                          <a:cs typeface="Space Mono" pitchFamily="34" charset="-120"/>
                        </a:rPr>
                        <a:t>Proto asks, then writes the spec</a:t>
                      </a:r>
                      <a:endParaRPr lang="en-US" sz="7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r h="329184">
                <a:tc>
                  <a:txBody>
                    <a:bodyPr/>
                    <a:lstStyle/>
                    <a:p>
                      <a:pPr indent="0" marL="0">
                        <a:buNone/>
                      </a:pPr>
                      <a:r>
                        <a:rPr lang="en-US" sz="760" dirty="0">
                          <a:solidFill>
                            <a:srgbClr val="E8EEF2"/>
                          </a:solidFill>
                          <a:latin typeface="Space Mono" pitchFamily="34" charset="0"/>
                          <a:ea typeface="Space Mono" pitchFamily="34" charset="-122"/>
                          <a:cs typeface="Space Mono" pitchFamily="34" charset="-120"/>
                        </a:rPr>
                        <a:t>2 parts</a:t>
                      </a:r>
                      <a:endParaRPr lang="en-US" sz="7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60" dirty="0">
                          <a:solidFill>
                            <a:srgbClr val="A3B3BE"/>
                          </a:solidFill>
                          <a:latin typeface="Space Mono" pitchFamily="34" charset="0"/>
                          <a:ea typeface="Space Mono" pitchFamily="34" charset="-122"/>
                          <a:cs typeface="Space Mono" pitchFamily="34" charset="-120"/>
                        </a:rPr>
                        <a:t>hours of datasheets; stock runs out</a:t>
                      </a:r>
                      <a:endParaRPr lang="en-US" sz="7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60" dirty="0">
                          <a:solidFill>
                            <a:srgbClr val="F2C230"/>
                          </a:solidFill>
                          <a:latin typeface="Space Mono" pitchFamily="34" charset="0"/>
                          <a:ea typeface="Space Mono" pitchFamily="34" charset="-122"/>
                          <a:cs typeface="Space Mono" pitchFamily="34" charset="-120"/>
                        </a:rPr>
                        <a:t>Proto picks in-stock parts</a:t>
                      </a:r>
                      <a:endParaRPr lang="en-US" sz="7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r h="329184">
                <a:tc>
                  <a:txBody>
                    <a:bodyPr/>
                    <a:lstStyle/>
                    <a:p>
                      <a:pPr indent="0" marL="0">
                        <a:buNone/>
                      </a:pPr>
                      <a:r>
                        <a:rPr lang="en-US" sz="760" dirty="0">
                          <a:solidFill>
                            <a:srgbClr val="E8EEF2"/>
                          </a:solidFill>
                          <a:latin typeface="Space Mono" pitchFamily="34" charset="0"/>
                          <a:ea typeface="Space Mono" pitchFamily="34" charset="-122"/>
                          <a:cs typeface="Space Mono" pitchFamily="34" charset="-120"/>
                        </a:rPr>
                        <a:t>3 schematic</a:t>
                      </a:r>
                      <a:endParaRPr lang="en-US" sz="7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60" dirty="0">
                          <a:solidFill>
                            <a:srgbClr val="A3B3BE"/>
                          </a:solidFill>
                          <a:latin typeface="Space Mono" pitchFamily="34" charset="0"/>
                          <a:ea typeface="Space Mono" pitchFamily="34" charset="-122"/>
                          <a:cs typeface="Space Mono" pitchFamily="34" charset="-120"/>
                        </a:rPr>
                        <a:t>errors that only show on the bench</a:t>
                      </a:r>
                      <a:endParaRPr lang="en-US" sz="7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60" dirty="0">
                          <a:solidFill>
                            <a:srgbClr val="F2C230"/>
                          </a:solidFill>
                          <a:latin typeface="Space Mono" pitchFamily="34" charset="0"/>
                          <a:ea typeface="Space Mono" pitchFamily="34" charset="-122"/>
                          <a:cs typeface="Space Mono" pitchFamily="34" charset="-120"/>
                        </a:rPr>
                        <a:t>Proto + Flux check it</a:t>
                      </a:r>
                      <a:endParaRPr lang="en-US" sz="7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r h="329184">
                <a:tc>
                  <a:txBody>
                    <a:bodyPr/>
                    <a:lstStyle/>
                    <a:p>
                      <a:pPr indent="0" marL="0">
                        <a:buNone/>
                      </a:pPr>
                      <a:r>
                        <a:rPr lang="en-US" sz="760" dirty="0">
                          <a:solidFill>
                            <a:srgbClr val="E8EEF2"/>
                          </a:solidFill>
                          <a:latin typeface="Space Mono" pitchFamily="34" charset="0"/>
                          <a:ea typeface="Space Mono" pitchFamily="34" charset="-122"/>
                          <a:cs typeface="Space Mono" pitchFamily="34" charset="-120"/>
                        </a:rPr>
                        <a:t>4 layout</a:t>
                      </a:r>
                      <a:endParaRPr lang="en-US" sz="7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60" dirty="0">
                          <a:solidFill>
                            <a:srgbClr val="A3B3BE"/>
                          </a:solidFill>
                          <a:latin typeface="Space Mono" pitchFamily="34" charset="0"/>
                          <a:ea typeface="Space Mono" pitchFamily="34" charset="-122"/>
                          <a:cs typeface="Space Mono" pitchFamily="34" charset="-120"/>
                        </a:rPr>
                        <a:t>weeks to learn an EDA tool</a:t>
                      </a:r>
                      <a:endParaRPr lang="en-US" sz="7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60" dirty="0">
                          <a:solidFill>
                            <a:srgbClr val="F2C230"/>
                          </a:solidFill>
                          <a:latin typeface="Space Mono" pitchFamily="34" charset="0"/>
                          <a:ea typeface="Space Mono" pitchFamily="34" charset="-122"/>
                          <a:cs typeface="Space Mono" pitchFamily="34" charset="-120"/>
                        </a:rPr>
                        <a:t>Proto fixes it (</a:t>
                      </a:r>
                      <a:r>
                        <a:rPr lang="en-US" sz="760" u="sng" dirty="0">
                          <a:solidFill>
                            <a:srgbClr val="CF8F4E"/>
                          </a:solidFill>
                          <a:latin typeface="Space Mono" pitchFamily="34" charset="0"/>
                          <a:ea typeface="Space Mono" pitchFamily="34" charset="-122"/>
                          <a:cs typeface="Space Mono" pitchFamily="34" charset="-120"/>
                          <a:hlinkClick r:id="rId1"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760" dirty="0">
                          <a:solidFill>
                            <a:srgbClr val="F2C230"/>
                          </a:solidFill>
                          <a:latin typeface="Space Mono" pitchFamily="34" charset="0"/>
                          <a:ea typeface="Space Mono" pitchFamily="34" charset="-122"/>
                          <a:cs typeface="Space Mono" pitchFamily="34" charset="-120"/>
                        </a:rPr>
                        <a:t> rules)</a:t>
                      </a:r>
                      <a:endParaRPr lang="en-US" sz="7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r h="329184">
                <a:tc>
                  <a:txBody>
                    <a:bodyPr/>
                    <a:lstStyle/>
                    <a:p>
                      <a:pPr indent="0" marL="0">
                        <a:buNone/>
                      </a:pPr>
                      <a:r>
                        <a:rPr lang="en-US" sz="760" dirty="0">
                          <a:solidFill>
                            <a:srgbClr val="E8EEF2"/>
                          </a:solidFill>
                          <a:latin typeface="Space Mono" pitchFamily="34" charset="0"/>
                          <a:ea typeface="Space Mono" pitchFamily="34" charset="-122"/>
                          <a:cs typeface="Space Mono" pitchFamily="34" charset="-120"/>
                        </a:rPr>
                        <a:t>5 fabrication</a:t>
                      </a:r>
                      <a:endParaRPr lang="en-US" sz="7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60" dirty="0">
                          <a:solidFill>
                            <a:srgbClr val="A3B3BE"/>
                          </a:solidFill>
                          <a:latin typeface="Space Mono" pitchFamily="34" charset="0"/>
                          <a:ea typeface="Space Mono" pitchFamily="34" charset="-122"/>
                          <a:cs typeface="Space Mono" pitchFamily="34" charset="-120"/>
                        </a:rPr>
                        <a:t>7–20 days to India per try</a:t>
                      </a:r>
                      <a:endParaRPr lang="en-US" sz="7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60" dirty="0">
                          <a:solidFill>
                            <a:srgbClr val="F2C230"/>
                          </a:solidFill>
                          <a:latin typeface="Space Mono" pitchFamily="34" charset="0"/>
                          <a:ea typeface="Space Mono" pitchFamily="34" charset="-122"/>
                          <a:cs typeface="Space Mono" pitchFamily="34" charset="-120"/>
                        </a:rPr>
                        <a:t>​</a:t>
                      </a:r>
                      <a:r>
                        <a:rPr lang="en-US" sz="760" u="sng" dirty="0">
                          <a:solidFill>
                            <a:srgbClr val="CF8F4E"/>
                          </a:solidFill>
                          <a:latin typeface="Space Mono" pitchFamily="34" charset="0"/>
                          <a:ea typeface="Space Mono" pitchFamily="34" charset="-122"/>
                          <a:cs typeface="Space Mono" pitchFamily="34" charset="-120"/>
                          <a:hlinkClick r:id="rId2"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760" dirty="0">
                          <a:solidFill>
                            <a:srgbClr val="F2C230"/>
                          </a:solidFill>
                          <a:latin typeface="Space Mono" pitchFamily="34" charset="0"/>
                          <a:ea typeface="Space Mono" pitchFamily="34" charset="-122"/>
                          <a:cs typeface="Space Mono" pitchFamily="34" charset="-120"/>
                        </a:rPr>
                        <a:t>, in hours</a:t>
                      </a:r>
                      <a:endParaRPr lang="en-US" sz="7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r h="329184">
                <a:tc>
                  <a:txBody>
                    <a:bodyPr/>
                    <a:lstStyle/>
                    <a:p>
                      <a:pPr indent="0" marL="0">
                        <a:buNone/>
                      </a:pPr>
                      <a:r>
                        <a:rPr lang="en-US" sz="760" dirty="0">
                          <a:solidFill>
                            <a:srgbClr val="E8EEF2"/>
                          </a:solidFill>
                          <a:latin typeface="Space Mono" pitchFamily="34" charset="0"/>
                          <a:ea typeface="Space Mono" pitchFamily="34" charset="-122"/>
                          <a:cs typeface="Space Mono" pitchFamily="34" charset="-120"/>
                        </a:rPr>
                        <a:t>6 assembly</a:t>
                      </a:r>
                      <a:endParaRPr lang="en-US" sz="7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60" dirty="0">
                          <a:solidFill>
                            <a:srgbClr val="A3B3BE"/>
                          </a:solidFill>
                          <a:latin typeface="Space Mono" pitchFamily="34" charset="0"/>
                          <a:ea typeface="Space Mono" pitchFamily="34" charset="-122"/>
                          <a:cs typeface="Space Mono" pitchFamily="34" charset="-120"/>
                        </a:rPr>
                        <a:t>SMD soldering, stencils, reflow</a:t>
                      </a:r>
                      <a:endParaRPr lang="en-US" sz="7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60" dirty="0">
                          <a:solidFill>
                            <a:srgbClr val="F2C230"/>
                          </a:solidFill>
                          <a:latin typeface="Space Mono" pitchFamily="34" charset="0"/>
                          <a:ea typeface="Space Mono" pitchFamily="34" charset="-122"/>
                          <a:cs typeface="Space Mono" pitchFamily="34" charset="-120"/>
                        </a:rPr>
                        <a:t>​</a:t>
                      </a:r>
                      <a:r>
                        <a:rPr lang="en-US" sz="760" u="sng" dirty="0">
                          <a:solidFill>
                            <a:srgbClr val="CF8F4E"/>
                          </a:solidFill>
                          <a:latin typeface="Space Mono" pitchFamily="34" charset="0"/>
                          <a:ea typeface="Space Mono" pitchFamily="34" charset="-122"/>
                          <a:cs typeface="Space Mono" pitchFamily="34" charset="-120"/>
                          <a:hlinkClick r:id="rId3"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760" dirty="0">
                          <a:solidFill>
                            <a:srgbClr val="F2C230"/>
                          </a:solidFill>
                          <a:latin typeface="Space Mono" pitchFamily="34" charset="0"/>
                          <a:ea typeface="Space Mono" pitchFamily="34" charset="-122"/>
                          <a:cs typeface="Space Mono" pitchFamily="34" charset="-120"/>
                        </a:rPr>
                        <a:t> + a printed jig</a:t>
                      </a:r>
                      <a:endParaRPr lang="en-US" sz="7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r h="329184">
                <a:tc>
                  <a:txBody>
                    <a:bodyPr/>
                    <a:lstStyle/>
                    <a:p>
                      <a:pPr indent="0" marL="0">
                        <a:buNone/>
                      </a:pPr>
                      <a:r>
                        <a:rPr lang="en-US" sz="760" dirty="0">
                          <a:solidFill>
                            <a:srgbClr val="E8EEF2"/>
                          </a:solidFill>
                          <a:latin typeface="Space Mono" pitchFamily="34" charset="0"/>
                          <a:ea typeface="Space Mono" pitchFamily="34" charset="-122"/>
                          <a:cs typeface="Space Mono" pitchFamily="34" charset="-120"/>
                        </a:rPr>
                        <a:t>7 bring-up</a:t>
                      </a:r>
                      <a:endParaRPr lang="en-US" sz="7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60" dirty="0">
                          <a:solidFill>
                            <a:srgbClr val="A3B3BE"/>
                          </a:solidFill>
                          <a:latin typeface="Space Mono" pitchFamily="34" charset="0"/>
                          <a:ea typeface="Space Mono" pitchFamily="34" charset="-122"/>
                          <a:cs typeface="Space Mono" pitchFamily="34" charset="-120"/>
                        </a:rPr>
                        <a:t>you can’t tell what’s wrong</a:t>
                      </a:r>
                      <a:endParaRPr lang="en-US" sz="7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60" dirty="0">
                          <a:solidFill>
                            <a:srgbClr val="F2C230"/>
                          </a:solidFill>
                          <a:latin typeface="Space Mono" pitchFamily="34" charset="0"/>
                          <a:ea typeface="Space Mono" pitchFamily="34" charset="-122"/>
                          <a:cs typeface="Space Mono" pitchFamily="34" charset="-120"/>
                        </a:rPr>
                        <a:t>​</a:t>
                      </a:r>
                      <a:r>
                        <a:rPr lang="en-US" sz="760" u="sng" dirty="0">
                          <a:solidFill>
                            <a:srgbClr val="54ACF0"/>
                          </a:solidFill>
                          <a:latin typeface="Space Mono" pitchFamily="34" charset="0"/>
                          <a:ea typeface="Space Mono" pitchFamily="34" charset="-122"/>
                          <a:cs typeface="Space Mono" pitchFamily="34" charset="-120"/>
                          <a:hlinkClick r:id="rId4" invalidUrl="" action="" tgtFrame="" tooltip="https://protopus-kappa.vercel.app/#/mixer" history="1" highlightClick="0" endSnd="0">
                            <a:extLst>
                              <a:ext uri="{A12FA001-AC4F-418D-AE19-62706E023703}">
                                <ahyp:hlinkClr xmlns:ahyp="http://schemas.microsoft.com/office/drawing/2018/hyperlinkcolor" val="tx"/>
                              </a:ext>
                            </a:extLst>
                          </a:hlinkClick>
                        </a:rPr>
                        <a:t>Mixer</a:t>
                      </a:r>
                      <a:r>
                        <a:rPr lang="en-US" sz="760" dirty="0">
                          <a:solidFill>
                            <a:srgbClr val="F2C230"/>
                          </a:solidFill>
                          <a:latin typeface="Space Mono" pitchFamily="34" charset="0"/>
                          <a:ea typeface="Space Mono" pitchFamily="34" charset="-122"/>
                          <a:cs typeface="Space Mono" pitchFamily="34" charset="-120"/>
                        </a:rPr>
                        <a:t> + </a:t>
                      </a:r>
                      <a:r>
                        <a:rPr lang="en-US" sz="760" u="sng" dirty="0">
                          <a:solidFill>
                            <a:srgbClr val="54ACF0"/>
                          </a:solidFill>
                          <a:latin typeface="Space Mono" pitchFamily="34" charset="0"/>
                          <a:ea typeface="Space Mono" pitchFamily="34" charset="-122"/>
                          <a:cs typeface="Space Mono" pitchFamily="34" charset="-120"/>
                          <a:hlinkClick r:id="rId5" invalidUrl="" action="" tgtFrame="" tooltip="https://probe-matrix.vercel.app/" history="1" highlightClick="0" endSnd="0">
                            <a:extLst>
                              <a:ext uri="{A12FA001-AC4F-418D-AE19-62706E023703}">
                                <ahyp:hlinkClr xmlns:ahyp="http://schemas.microsoft.com/office/drawing/2018/hyperlinkcolor" val="tx"/>
                              </a:ext>
                            </a:extLst>
                          </a:hlinkClick>
                        </a:rPr>
                        <a:t>Probe Matrix</a:t>
                      </a:r>
                      <a:r>
                        <a:rPr lang="en-US" sz="760" dirty="0">
                          <a:solidFill>
                            <a:srgbClr val="F2C230"/>
                          </a:solidFill>
                          <a:latin typeface="Space Mono" pitchFamily="34" charset="0"/>
                          <a:ea typeface="Space Mono" pitchFamily="34" charset="-122"/>
                          <a:cs typeface="Space Mono" pitchFamily="34" charset="-120"/>
                        </a:rPr>
                        <a:t> (step 2)</a:t>
                      </a:r>
                      <a:endParaRPr lang="en-US" sz="7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r h="329184">
                <a:tc>
                  <a:txBody>
                    <a:bodyPr/>
                    <a:lstStyle/>
                    <a:p>
                      <a:pPr indent="0" marL="0">
                        <a:buNone/>
                      </a:pPr>
                      <a:r>
                        <a:rPr lang="en-US" sz="760" dirty="0">
                          <a:solidFill>
                            <a:srgbClr val="E8EEF2"/>
                          </a:solidFill>
                          <a:latin typeface="Space Mono" pitchFamily="34" charset="0"/>
                          <a:ea typeface="Space Mono" pitchFamily="34" charset="-122"/>
                          <a:cs typeface="Space Mono" pitchFamily="34" charset="-120"/>
                        </a:rPr>
                        <a:t>8 iterate</a:t>
                      </a:r>
                      <a:endParaRPr lang="en-US" sz="7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60" dirty="0">
                          <a:solidFill>
                            <a:srgbClr val="A3B3BE"/>
                          </a:solidFill>
                          <a:latin typeface="Space Mono" pitchFamily="34" charset="0"/>
                          <a:ea typeface="Space Mono" pitchFamily="34" charset="-122"/>
                          <a:cs typeface="Space Mono" pitchFamily="34" charset="-120"/>
                        </a:rPr>
                        <a:t>slow loops, fewer attempts</a:t>
                      </a:r>
                      <a:endParaRPr lang="en-US" sz="7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60" dirty="0">
                          <a:solidFill>
                            <a:srgbClr val="F2C230"/>
                          </a:solidFill>
                          <a:latin typeface="Space Mono" pitchFamily="34" charset="0"/>
                          <a:ea typeface="Space Mono" pitchFamily="34" charset="-122"/>
                          <a:cs typeface="Space Mono" pitchFamily="34" charset="-120"/>
                        </a:rPr>
                        <a:t>Proto explains the fix</a:t>
                      </a:r>
                      <a:endParaRPr lang="en-US" sz="76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bl>
          </a:graphicData>
        </a:graphic>
      </p:graphicFrame>
      <p:sp>
        <p:nvSpPr>
          <p:cNvPr id="15" name="Text 12"/>
          <p:cNvSpPr txBox="1"/>
          <p:nvPr/>
        </p:nvSpPr>
        <p:spPr>
          <a:xfrm>
            <a:off x="4572000" y="4069080"/>
            <a:ext cx="4160520" cy="502920"/>
          </a:xfrm>
          <a:prstGeom prst="rect">
            <a:avLst/>
          </a:prstGeom>
          <a:noFill/>
          <a:ln/>
        </p:spPr>
        <p:txBody>
          <a:bodyPr wrap="square" lIns="0" tIns="0" rIns="0" bIns="0" rtlCol="0" anchor="t"/>
          <a:lstStyle/>
          <a:p>
            <a:pPr indent="0" marL="0">
              <a:buNone/>
            </a:pPr>
            <a:r>
              <a:rPr lang="en-US" sz="730" dirty="0">
                <a:solidFill>
                  <a:srgbClr val="6E7A83"/>
                </a:solidFill>
                <a:latin typeface="Space Mono" pitchFamily="34" charset="0"/>
                <a:ea typeface="Space Mono" pitchFamily="34" charset="-122"/>
                <a:cs typeface="Space Mono" pitchFamily="34" charset="-120"/>
              </a:rPr>
              <a:t>Rungs 1–4 are already being solved in software. Rungs 5–8 are physical, which is why AI-only tools stop at the file. Lovable reached $100M ARR in 8 months by removing the coding rung.</a:t>
            </a:r>
            <a:endParaRPr lang="en-US" sz="730" dirty="0"/>
          </a:p>
        </p:txBody>
      </p:sp>
      <p:sp>
        <p:nvSpPr>
          <p:cNvPr id="16" name="Text 13"/>
          <p:cNvSpPr txBox="1"/>
          <p:nvPr/>
        </p:nvSpPr>
        <p:spPr>
          <a:xfrm>
            <a:off x="411480" y="4773168"/>
            <a:ext cx="8321040" cy="182880"/>
          </a:xfrm>
          <a:prstGeom prst="rect">
            <a:avLst/>
          </a:prstGeom>
          <a:noFill/>
          <a:ln/>
        </p:spPr>
        <p:txBody>
          <a:bodyPr wrap="square" lIns="0" tIns="0" rIns="0" bIns="0" rtlCol="0" anchor="t"/>
          <a:lstStyle/>
          <a:p>
            <a:pPr indent="0" marL="0">
              <a:buNone/>
            </a:pPr>
            <a:r>
              <a:rPr lang="en-US" sz="650" dirty="0">
                <a:solidFill>
                  <a:srgbClr val="6E7A83"/>
                </a:solidFill>
                <a:latin typeface="Space Mono" pitchFamily="34" charset="0"/>
                <a:ea typeface="Space Mono" pitchFamily="34" charset="-122"/>
                <a:cs typeface="Space Mono" pitchFamily="34" charset="-120"/>
              </a:rPr>
              <a:t>Kolb’s experiential learning cycle · TechCrunch, 23 Jul 2025 (Lovable) · JLCPCB + DHL + customs to India: zbotic.in.</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216"/>
        </a:solidFill>
      </p:bgPr>
    </p:bg>
    <p:spTree>
      <p:nvGrpSpPr>
        <p:cNvPr id="1" name=""/>
        <p:cNvGrpSpPr/>
        <p:nvPr/>
      </p:nvGrpSpPr>
      <p:grpSpPr>
        <a:xfrm>
          <a:off x="0" y="0"/>
          <a:ext cx="0" cy="0"/>
          <a:chOff x="0" y="0"/>
          <a:chExt cx="0" cy="0"/>
        </a:xfrm>
      </p:grpSpPr>
      <p:sp>
        <p:nvSpPr>
          <p:cNvPr id="2" name="Text 0"/>
          <p:cNvSpPr txBox="1"/>
          <p:nvPr/>
        </p:nvSpPr>
        <p:spPr>
          <a:xfrm>
            <a:off x="411480" y="347472"/>
            <a:ext cx="8321040" cy="182880"/>
          </a:xfrm>
          <a:prstGeom prst="rect">
            <a:avLst/>
          </a:prstGeom>
          <a:noFill/>
          <a:ln/>
        </p:spPr>
        <p:txBody>
          <a:bodyPr wrap="square" lIns="0" tIns="0" rIns="0" bIns="0" rtlCol="0" anchor="t"/>
          <a:lstStyle/>
          <a:p>
            <a:pPr indent="0" marL="0">
              <a:buNone/>
            </a:pPr>
            <a:r>
              <a:rPr lang="en-US" sz="850" spc="250" kern="0" dirty="0">
                <a:solidFill>
                  <a:srgbClr val="CF8F4E"/>
                </a:solidFill>
                <a:latin typeface="Space Mono" pitchFamily="34" charset="0"/>
                <a:ea typeface="Space Mono" pitchFamily="34" charset="-122"/>
                <a:cs typeface="Space Mono" pitchFamily="34" charset="-120"/>
              </a:rPr>
              <a:t>QUESTION 02 · SOFTER CLAIMS</a:t>
            </a:r>
            <a:endParaRPr lang="en-US" sz="850" dirty="0"/>
          </a:p>
        </p:txBody>
      </p:sp>
      <p:sp>
        <p:nvSpPr>
          <p:cNvPr id="3" name="Text 1"/>
          <p:cNvSpPr txBox="1"/>
          <p:nvPr/>
        </p:nvSpPr>
        <p:spPr>
          <a:xfrm>
            <a:off x="411480" y="713232"/>
            <a:ext cx="3749040" cy="164592"/>
          </a:xfrm>
          <a:prstGeom prst="rect">
            <a:avLst/>
          </a:prstGeom>
          <a:noFill/>
          <a:ln/>
        </p:spPr>
        <p:txBody>
          <a:bodyPr wrap="square" lIns="0" tIns="0" rIns="0" bIns="0" rtlCol="0" anchor="t"/>
          <a:lstStyle/>
          <a:p>
            <a:pPr indent="0" marL="0">
              <a:buNone/>
            </a:pPr>
            <a:r>
              <a:rPr lang="en-US" sz="750" spc="200" kern="0" dirty="0">
                <a:solidFill>
                  <a:srgbClr val="6E7A83"/>
                </a:solidFill>
                <a:latin typeface="Space Mono" pitchFamily="34" charset="0"/>
                <a:ea typeface="Space Mono" pitchFamily="34" charset="-122"/>
                <a:cs typeface="Space Mono" pitchFamily="34" charset="-120"/>
              </a:rPr>
              <a:t>SIR, YOU ASKED</a:t>
            </a:r>
            <a:endParaRPr lang="en-US" sz="750" dirty="0"/>
          </a:p>
        </p:txBody>
      </p:sp>
      <p:sp>
        <p:nvSpPr>
          <p:cNvPr id="4" name="Shape 2"/>
          <p:cNvSpPr/>
          <p:nvPr/>
        </p:nvSpPr>
        <p:spPr>
          <a:xfrm>
            <a:off x="411480" y="941832"/>
            <a:ext cx="32004" cy="1051560"/>
          </a:xfrm>
          <a:prstGeom prst="rect">
            <a:avLst/>
          </a:prstGeom>
          <a:solidFill>
            <a:srgbClr val="F2C230"/>
          </a:solidFill>
          <a:ln w="12700">
            <a:solidFill>
              <a:srgbClr val="F2C230"/>
            </a:solidFill>
            <a:prstDash val="solid"/>
          </a:ln>
        </p:spPr>
      </p:sp>
      <p:sp>
        <p:nvSpPr>
          <p:cNvPr id="5" name="Text 3"/>
          <p:cNvSpPr txBox="1"/>
          <p:nvPr/>
        </p:nvSpPr>
        <p:spPr>
          <a:xfrm>
            <a:off x="548640" y="914400"/>
            <a:ext cx="3611880" cy="1051560"/>
          </a:xfrm>
          <a:prstGeom prst="rect">
            <a:avLst/>
          </a:prstGeom>
          <a:noFill/>
          <a:ln/>
        </p:spPr>
        <p:txBody>
          <a:bodyPr wrap="square" lIns="0" tIns="0" rIns="0" bIns="0" rtlCol="0" anchor="t"/>
          <a:lstStyle/>
          <a:p>
            <a:pPr indent="0" marL="0">
              <a:lnSpc>
                <a:spcPct val="105000"/>
              </a:lnSpc>
              <a:buNone/>
            </a:pPr>
            <a:r>
              <a:rPr lang="en-US" sz="1100" i="1" dirty="0">
                <a:solidFill>
                  <a:srgbClr val="8FB3C9"/>
                </a:solidFill>
                <a:latin typeface="Space Grotesk" pitchFamily="34" charset="0"/>
                <a:ea typeface="Space Grotesk" pitchFamily="34" charset="-122"/>
                <a:cs typeface="Space Grotesk" pitchFamily="34" charset="-120"/>
              </a:rPr>
              <a:t>“Avoid strong claims like “replaces a fabrication order”. An investor who has invested in hardware manufacturing: how would he take it? Softer claims are better, like lower cost and faster lead time.”</a:t>
            </a:r>
            <a:endParaRPr lang="en-US" sz="1100" dirty="0"/>
          </a:p>
        </p:txBody>
      </p:sp>
      <p:sp>
        <p:nvSpPr>
          <p:cNvPr id="6" name="Text 4"/>
          <p:cNvSpPr txBox="1"/>
          <p:nvPr/>
        </p:nvSpPr>
        <p:spPr>
          <a:xfrm>
            <a:off x="411480" y="2103120"/>
            <a:ext cx="3749040" cy="164592"/>
          </a:xfrm>
          <a:prstGeom prst="rect">
            <a:avLst/>
          </a:prstGeom>
          <a:noFill/>
          <a:ln/>
        </p:spPr>
        <p:txBody>
          <a:bodyPr wrap="square" lIns="0" tIns="0" rIns="0" bIns="0" rtlCol="0" anchor="t"/>
          <a:lstStyle/>
          <a:p>
            <a:pPr indent="0" marL="0">
              <a:buNone/>
            </a:pPr>
            <a:r>
              <a:rPr lang="en-US" sz="750" spc="200" kern="0" dirty="0">
                <a:solidFill>
                  <a:srgbClr val="F2C230"/>
                </a:solidFill>
                <a:latin typeface="Space Mono" pitchFamily="34" charset="0"/>
                <a:ea typeface="Space Mono" pitchFamily="34" charset="-122"/>
                <a:cs typeface="Space Mono" pitchFamily="34" charset="-120"/>
              </a:rPr>
              <a:t>I CAN ANSWER</a:t>
            </a:r>
            <a:endParaRPr lang="en-US" sz="750" dirty="0"/>
          </a:p>
        </p:txBody>
      </p:sp>
      <p:sp>
        <p:nvSpPr>
          <p:cNvPr id="7" name="Text 5"/>
          <p:cNvSpPr txBox="1"/>
          <p:nvPr/>
        </p:nvSpPr>
        <p:spPr>
          <a:xfrm>
            <a:off x="411480" y="2340864"/>
            <a:ext cx="3794760" cy="2231136"/>
          </a:xfrm>
          <a:prstGeom prst="rect">
            <a:avLst/>
          </a:prstGeom>
          <a:noFill/>
          <a:ln/>
        </p:spPr>
        <p:txBody>
          <a:bodyPr wrap="square" lIns="0" tIns="0" rIns="0" bIns="0" rtlCol="0" anchor="t"/>
          <a:lstStyle/>
          <a:p>
            <a:pPr indent="0" marL="0">
              <a:lnSpc>
                <a:spcPct val="108000"/>
              </a:lnSpc>
              <a:buNone/>
            </a:pPr>
            <a:r>
              <a:rPr lang="en-US" sz="1200" dirty="0">
                <a:solidFill>
                  <a:srgbClr val="E8EEF2"/>
                </a:solidFill>
                <a:latin typeface="Space Grotesk" pitchFamily="34" charset="0"/>
                <a:ea typeface="Space Grotesk" pitchFamily="34" charset="-122"/>
                <a:cs typeface="Space Grotesk" pitchFamily="34" charset="-120"/>
              </a:rPr>
              <a:t>Fair point, sir, and we have changed it. We never meant to replace fabs. We fill the gap between a finished design and a board you can actually test. It’s like 3D-printing a bottle before you pay for the injection mould: </a:t>
            </a:r>
            <a:r>
              <a:rPr lang="en-US" sz="1200" u="sng" dirty="0">
                <a:solidFill>
                  <a:srgbClr val="CF8F4E"/>
                </a:solidFill>
                <a:latin typeface="Space Grotesk" pitchFamily="34" charset="0"/>
                <a:ea typeface="Space Grotesk" pitchFamily="34" charset="-122"/>
                <a:cs typeface="Space Grotesk" pitchFamily="34" charset="-120"/>
                <a:hlinkClick r:id="rId1"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1200" dirty="0">
                <a:solidFill>
                  <a:srgbClr val="E8EEF2"/>
                </a:solidFill>
                <a:latin typeface="Space Grotesk" pitchFamily="34" charset="0"/>
                <a:ea typeface="Space Grotesk" pitchFamily="34" charset="-122"/>
                <a:cs typeface="Space Grotesk" pitchFamily="34" charset="-120"/>
              </a:rPr>
              <a:t> makes the first few boards, and the fab still makes the thousands. It also gets files that have already worked on a real board.</a:t>
            </a:r>
            <a:endParaRPr lang="en-US" sz="1200" dirty="0"/>
          </a:p>
        </p:txBody>
      </p:sp>
      <p:sp>
        <p:nvSpPr>
          <p:cNvPr id="8" name="Shape 6"/>
          <p:cNvSpPr/>
          <p:nvPr/>
        </p:nvSpPr>
        <p:spPr>
          <a:xfrm>
            <a:off x="4407408" y="731520"/>
            <a:ext cx="0" cy="3886200"/>
          </a:xfrm>
          <a:prstGeom prst="line">
            <a:avLst/>
          </a:prstGeom>
          <a:noFill/>
          <a:ln w="9525">
            <a:solidFill>
              <a:srgbClr val="1F2A32"/>
            </a:solidFill>
            <a:prstDash val="solid"/>
          </a:ln>
        </p:spPr>
      </p:sp>
      <p:sp>
        <p:nvSpPr>
          <p:cNvPr id="9" name="Text 7"/>
          <p:cNvSpPr txBox="1"/>
          <p:nvPr/>
        </p:nvSpPr>
        <p:spPr>
          <a:xfrm>
            <a:off x="4572000" y="713232"/>
            <a:ext cx="4114800" cy="164592"/>
          </a:xfrm>
          <a:prstGeom prst="rect">
            <a:avLst/>
          </a:prstGeom>
          <a:noFill/>
          <a:ln/>
        </p:spPr>
        <p:txBody>
          <a:bodyPr wrap="square" lIns="0" tIns="0" rIns="0" bIns="0" rtlCol="0" anchor="t"/>
          <a:lstStyle/>
          <a:p>
            <a:pPr indent="0" marL="0">
              <a:buNone/>
            </a:pPr>
            <a:r>
              <a:rPr lang="en-US" sz="750" spc="200" kern="0" dirty="0">
                <a:solidFill>
                  <a:srgbClr val="CF8F4E"/>
                </a:solidFill>
                <a:latin typeface="Space Mono" pitchFamily="34" charset="0"/>
                <a:ea typeface="Space Mono" pitchFamily="34" charset="-122"/>
                <a:cs typeface="Space Mono" pitchFamily="34" charset="-120"/>
              </a:rPr>
              <a:t>TO JUSTIFY</a:t>
            </a:r>
            <a:endParaRPr lang="en-US" sz="7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0" y="960120"/>
          <a:ext cx="4160520" cy="914400"/>
        </p:xfrm>
        <a:graphic>
          <a:graphicData uri="http://schemas.openxmlformats.org/drawingml/2006/table">
            <a:tbl>
              <a:tblPr/>
              <a:tblGrid>
                <a:gridCol w="1691640"/>
                <a:gridCol w="2468880"/>
              </a:tblGrid>
              <a:tr h="384048">
                <a:tc>
                  <a:txBody>
                    <a:bodyPr/>
                    <a:lstStyle/>
                    <a:p>
                      <a:pPr indent="0" marL="0">
                        <a:buNone/>
                      </a:pPr>
                      <a:r>
                        <a:rPr lang="en-US" sz="780" spc="100" kern="0" dirty="0">
                          <a:solidFill>
                            <a:srgbClr val="6E7A83"/>
                          </a:solidFill>
                          <a:latin typeface="Space Mono" pitchFamily="34" charset="0"/>
                          <a:ea typeface="Space Mono" pitchFamily="34" charset="-122"/>
                          <a:cs typeface="Space Mono" pitchFamily="34" charset="-120"/>
                        </a:rPr>
                        <a:t>WE USED TO SAY</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11430" cap="flat" cmpd="sng" algn="ctr">
                      <a:solidFill>
                        <a:srgbClr val="E8EEF2"/>
                      </a:solidFill>
                      <a:prstDash val="solid"/>
                      <a:round/>
                      <a:headEnd type="none" w="med" len="med"/>
                      <a:tailEnd type="none" w="med" len="med"/>
                    </a:lnB>
                  </a:tcPr>
                </a:tc>
                <a:tc>
                  <a:txBody>
                    <a:bodyPr/>
                    <a:lstStyle/>
                    <a:p>
                      <a:pPr indent="0" marL="0">
                        <a:buNone/>
                      </a:pPr>
                      <a:r>
                        <a:rPr lang="en-US" sz="780" spc="100" kern="0" dirty="0">
                          <a:solidFill>
                            <a:srgbClr val="6E7A83"/>
                          </a:solidFill>
                          <a:latin typeface="Space Mono" pitchFamily="34" charset="0"/>
                          <a:ea typeface="Space Mono" pitchFamily="34" charset="-122"/>
                          <a:cs typeface="Space Mono" pitchFamily="34" charset="-120"/>
                        </a:rPr>
                        <a:t>NOW WE SAY</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11430" cap="flat" cmpd="sng" algn="ctr">
                      <a:solidFill>
                        <a:srgbClr val="E8EEF2"/>
                      </a:solidFill>
                      <a:prstDash val="solid"/>
                      <a:round/>
                      <a:headEnd type="none" w="med" len="med"/>
                      <a:tailEnd type="none" w="med" len="med"/>
                    </a:lnB>
                  </a:tcPr>
                </a:tc>
              </a:tr>
              <a:tr h="384048">
                <a:tc>
                  <a:txBody>
                    <a:bodyPr/>
                    <a:lstStyle/>
                    <a:p>
                      <a:pPr indent="0" marL="0">
                        <a:buNone/>
                      </a:pPr>
                      <a:r>
                        <a:rPr lang="en-US" sz="780" dirty="0">
                          <a:solidFill>
                            <a:srgbClr val="6E7A83"/>
                          </a:solidFill>
                          <a:latin typeface="Space Mono" pitchFamily="34" charset="0"/>
                          <a:ea typeface="Space Mono" pitchFamily="34" charset="-122"/>
                          <a:cs typeface="Space Mono" pitchFamily="34" charset="-120"/>
                        </a:rPr>
                        <a:t>“replaces a fabrication order”</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80" dirty="0">
                          <a:solidFill>
                            <a:srgbClr val="E8EEF2"/>
                          </a:solidFill>
                          <a:latin typeface="Space Mono" pitchFamily="34" charset="0"/>
                          <a:ea typeface="Space Mono" pitchFamily="34" charset="-122"/>
                          <a:cs typeface="Space Mono" pitchFamily="34" charset="-120"/>
                        </a:rPr>
                        <a:t>lower cost per try and same-day lead time for the first 1–10 boards</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r h="384048">
                <a:tc>
                  <a:txBody>
                    <a:bodyPr/>
                    <a:lstStyle/>
                    <a:p>
                      <a:pPr indent="0" marL="0">
                        <a:buNone/>
                      </a:pPr>
                      <a:r>
                        <a:rPr lang="en-US" sz="780" dirty="0">
                          <a:solidFill>
                            <a:srgbClr val="6E7A83"/>
                          </a:solidFill>
                          <a:latin typeface="Space Mono" pitchFamily="34" charset="0"/>
                          <a:ea typeface="Space Mono" pitchFamily="34" charset="-122"/>
                          <a:cs typeface="Space Mono" pitchFamily="34" charset="-120"/>
                        </a:rPr>
                        <a:t>“send it at night, pick it up in the morning”</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80" dirty="0">
                          <a:solidFill>
                            <a:srgbClr val="E8EEF2"/>
                          </a:solidFill>
                          <a:latin typeface="Space Mono" pitchFamily="34" charset="0"/>
                          <a:ea typeface="Space Mono" pitchFamily="34" charset="-122"/>
                          <a:cs typeface="Space Mono" pitchFamily="34" charset="-120"/>
                        </a:rPr>
                        <a:t>about 2 hours per board, 15–20 minutes hands-on (target)</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r h="384048">
                <a:tc>
                  <a:txBody>
                    <a:bodyPr/>
                    <a:lstStyle/>
                    <a:p>
                      <a:pPr indent="0" marL="0">
                        <a:buNone/>
                      </a:pPr>
                      <a:r>
                        <a:rPr lang="en-US" sz="780" dirty="0">
                          <a:solidFill>
                            <a:srgbClr val="6E7A83"/>
                          </a:solidFill>
                          <a:latin typeface="Space Mono" pitchFamily="34" charset="0"/>
                          <a:ea typeface="Space Mono" pitchFamily="34" charset="-122"/>
                          <a:cs typeface="Space Mono" pitchFamily="34" charset="-120"/>
                        </a:rPr>
                        <a:t>“fully automatic”</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80" dirty="0">
                          <a:solidFill>
                            <a:srgbClr val="E8EEF2"/>
                          </a:solidFill>
                          <a:latin typeface="Space Mono" pitchFamily="34" charset="0"/>
                          <a:ea typeface="Space Mono" pitchFamily="34" charset="-122"/>
                          <a:cs typeface="Space Mono" pitchFamily="34" charset="-120"/>
                        </a:rPr>
                        <a:t>steps 1–12 automatic; you place parts and start the reflow</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r h="384048">
                <a:tc>
                  <a:txBody>
                    <a:bodyPr/>
                    <a:lstStyle/>
                    <a:p>
                      <a:pPr indent="0" marL="0">
                        <a:buNone/>
                      </a:pPr>
                      <a:r>
                        <a:rPr lang="en-US" sz="780" dirty="0">
                          <a:solidFill>
                            <a:srgbClr val="6E7A83"/>
                          </a:solidFill>
                          <a:latin typeface="Space Mono" pitchFamily="34" charset="0"/>
                          <a:ea typeface="Space Mono" pitchFamily="34" charset="-122"/>
                          <a:cs typeface="Space Mono" pitchFamily="34" charset="-120"/>
                        </a:rPr>
                        <a:t>“replaces your bench”</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80" dirty="0">
                          <a:solidFill>
                            <a:srgbClr val="E8EEF2"/>
                          </a:solidFill>
                          <a:latin typeface="Space Mono" pitchFamily="34" charset="0"/>
                          <a:ea typeface="Space Mono" pitchFamily="34" charset="-122"/>
                          <a:cs typeface="Space Mono" pitchFamily="34" charset="-120"/>
                        </a:rPr>
                        <a:t>Analog Discovery 3-class test, run by Proto (step 2)</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bl>
          </a:graphicData>
        </a:graphic>
      </p:graphicFrame>
      <p:sp>
        <p:nvSpPr>
          <p:cNvPr id="11" name="Text 8"/>
          <p:cNvSpPr txBox="1"/>
          <p:nvPr/>
        </p:nvSpPr>
        <p:spPr>
          <a:xfrm>
            <a:off x="4572000" y="3063240"/>
            <a:ext cx="4114800" cy="164592"/>
          </a:xfrm>
          <a:prstGeom prst="rect">
            <a:avLst/>
          </a:prstGeom>
          <a:noFill/>
          <a:ln/>
        </p:spPr>
        <p:txBody>
          <a:bodyPr wrap="square" lIns="0" tIns="0" rIns="0" bIns="0" rtlCol="0" anchor="t"/>
          <a:lstStyle/>
          <a:p>
            <a:pPr indent="0" marL="0">
              <a:buNone/>
            </a:pPr>
            <a:r>
              <a:rPr lang="en-US" sz="700" spc="150" kern="0" dirty="0">
                <a:solidFill>
                  <a:srgbClr val="6E7A83"/>
                </a:solidFill>
                <a:latin typeface="Space Mono" pitchFamily="34" charset="0"/>
                <a:ea typeface="Space Mono" pitchFamily="34" charset="-122"/>
                <a:cs typeface="Space Mono" pitchFamily="34" charset="-120"/>
              </a:rPr>
              <a:t>THE PATH FROM IDEA TO 1,000s</a:t>
            </a:r>
            <a:endParaRPr lang="en-US" sz="700" dirty="0"/>
          </a:p>
        </p:txBody>
      </p:sp>
      <p:sp>
        <p:nvSpPr>
          <p:cNvPr id="12" name="Text 9"/>
          <p:cNvSpPr txBox="1"/>
          <p:nvPr/>
        </p:nvSpPr>
        <p:spPr>
          <a:xfrm>
            <a:off x="4572000" y="3291840"/>
            <a:ext cx="1371600" cy="329184"/>
          </a:xfrm>
          <a:prstGeom prst="rect">
            <a:avLst/>
          </a:prstGeom>
          <a:noFill/>
          <a:ln/>
        </p:spPr>
        <p:txBody>
          <a:bodyPr wrap="square" lIns="0" tIns="0" rIns="0" bIns="0" rtlCol="0" anchor="ctr"/>
          <a:lstStyle/>
          <a:p>
            <a:pPr indent="0" marL="0">
              <a:buNone/>
            </a:pPr>
            <a:r>
              <a:rPr lang="en-US" sz="850" b="1" dirty="0">
                <a:solidFill>
                  <a:srgbClr val="E8EEF2"/>
                </a:solidFill>
                <a:latin typeface="Space Grotesk" pitchFamily="34" charset="0"/>
                <a:ea typeface="Space Grotesk" pitchFamily="34" charset="-122"/>
                <a:cs typeface="Space Grotesk" pitchFamily="34" charset="-120"/>
              </a:rPr>
              <a:t>a plastic bottle</a:t>
            </a:r>
            <a:endParaRPr lang="en-US" sz="850" dirty="0"/>
          </a:p>
        </p:txBody>
      </p:sp>
      <p:sp>
        <p:nvSpPr>
          <p:cNvPr id="13" name="Shape 10"/>
          <p:cNvSpPr/>
          <p:nvPr/>
        </p:nvSpPr>
        <p:spPr>
          <a:xfrm>
            <a:off x="5943600" y="3291840"/>
            <a:ext cx="1417320" cy="329184"/>
          </a:xfrm>
          <a:prstGeom prst="rect">
            <a:avLst/>
          </a:prstGeom>
          <a:solidFill>
            <a:srgbClr val="0E1216"/>
          </a:solidFill>
          <a:ln w="9525">
            <a:solidFill>
              <a:srgbClr val="424A51"/>
            </a:solidFill>
            <a:prstDash val="solid"/>
          </a:ln>
        </p:spPr>
      </p:sp>
      <p:sp>
        <p:nvSpPr>
          <p:cNvPr id="14" name="Text 11"/>
          <p:cNvSpPr txBox="1"/>
          <p:nvPr/>
        </p:nvSpPr>
        <p:spPr>
          <a:xfrm>
            <a:off x="5989320" y="3291840"/>
            <a:ext cx="1325880" cy="329184"/>
          </a:xfrm>
          <a:prstGeom prst="rect">
            <a:avLst/>
          </a:prstGeom>
          <a:noFill/>
          <a:ln/>
        </p:spPr>
        <p:txBody>
          <a:bodyPr wrap="square" lIns="0" tIns="0" rIns="0" bIns="0" rtlCol="0" anchor="ctr"/>
          <a:lstStyle/>
          <a:p>
            <a:pPr indent="0" marL="0">
              <a:buNone/>
            </a:pPr>
            <a:r>
              <a:rPr lang="en-US" sz="730" dirty="0">
                <a:solidFill>
                  <a:srgbClr val="E8EEF2"/>
                </a:solidFill>
                <a:latin typeface="Space Mono" pitchFamily="34" charset="0"/>
                <a:ea typeface="Space Mono" pitchFamily="34" charset="-122"/>
                <a:cs typeface="Space Mono" pitchFamily="34" charset="-120"/>
              </a:rPr>
              <a:t>desktop 3D print</a:t>
            </a:r>
            <a:endParaRPr lang="en-US" sz="730" dirty="0"/>
          </a:p>
        </p:txBody>
      </p:sp>
      <p:sp>
        <p:nvSpPr>
          <p:cNvPr id="15" name="Shape 12"/>
          <p:cNvSpPr/>
          <p:nvPr/>
        </p:nvSpPr>
        <p:spPr>
          <a:xfrm>
            <a:off x="7360920" y="3456432"/>
            <a:ext cx="109728" cy="0"/>
          </a:xfrm>
          <a:prstGeom prst="line">
            <a:avLst/>
          </a:prstGeom>
          <a:noFill/>
          <a:ln w="9525">
            <a:solidFill>
              <a:srgbClr val="424A51"/>
            </a:solidFill>
            <a:prstDash val="solid"/>
            <a:tailEnd type="triangle"/>
          </a:ln>
        </p:spPr>
      </p:sp>
      <p:sp>
        <p:nvSpPr>
          <p:cNvPr id="16" name="Shape 13"/>
          <p:cNvSpPr/>
          <p:nvPr/>
        </p:nvSpPr>
        <p:spPr>
          <a:xfrm>
            <a:off x="7470648" y="3291840"/>
            <a:ext cx="1261872" cy="329184"/>
          </a:xfrm>
          <a:prstGeom prst="rect">
            <a:avLst/>
          </a:prstGeom>
          <a:solidFill>
            <a:srgbClr val="121A21"/>
          </a:solidFill>
          <a:ln w="9525">
            <a:solidFill>
              <a:srgbClr val="1F2A32"/>
            </a:solidFill>
            <a:prstDash val="solid"/>
          </a:ln>
        </p:spPr>
      </p:sp>
      <p:sp>
        <p:nvSpPr>
          <p:cNvPr id="17" name="Text 14"/>
          <p:cNvSpPr txBox="1"/>
          <p:nvPr/>
        </p:nvSpPr>
        <p:spPr>
          <a:xfrm>
            <a:off x="7516368" y="3291840"/>
            <a:ext cx="1188720" cy="329184"/>
          </a:xfrm>
          <a:prstGeom prst="rect">
            <a:avLst/>
          </a:prstGeom>
          <a:noFill/>
          <a:ln/>
        </p:spPr>
        <p:txBody>
          <a:bodyPr wrap="square" lIns="0" tIns="0" rIns="0" bIns="0" rtlCol="0" anchor="ctr"/>
          <a:lstStyle/>
          <a:p>
            <a:pPr indent="0" marL="0">
              <a:buNone/>
            </a:pPr>
            <a:r>
              <a:rPr lang="en-US" sz="730" dirty="0">
                <a:solidFill>
                  <a:srgbClr val="A3B3BE"/>
                </a:solidFill>
                <a:latin typeface="Space Mono" pitchFamily="34" charset="0"/>
                <a:ea typeface="Space Mono" pitchFamily="34" charset="-122"/>
                <a:cs typeface="Space Mono" pitchFamily="34" charset="-120"/>
              </a:rPr>
              <a:t>injection mould</a:t>
            </a:r>
            <a:endParaRPr lang="en-US" sz="730" dirty="0"/>
          </a:p>
        </p:txBody>
      </p:sp>
      <p:sp>
        <p:nvSpPr>
          <p:cNvPr id="18" name="Text 15"/>
          <p:cNvSpPr txBox="1"/>
          <p:nvPr/>
        </p:nvSpPr>
        <p:spPr>
          <a:xfrm>
            <a:off x="4572000" y="3694176"/>
            <a:ext cx="1371600" cy="329184"/>
          </a:xfrm>
          <a:prstGeom prst="rect">
            <a:avLst/>
          </a:prstGeom>
          <a:noFill/>
          <a:ln/>
        </p:spPr>
        <p:txBody>
          <a:bodyPr wrap="square" lIns="0" tIns="0" rIns="0" bIns="0" rtlCol="0" anchor="ctr"/>
          <a:lstStyle/>
          <a:p>
            <a:pPr indent="0" marL="0">
              <a:buNone/>
            </a:pPr>
            <a:r>
              <a:rPr lang="en-US" sz="850" b="1" dirty="0">
                <a:solidFill>
                  <a:srgbClr val="A3B3BE"/>
                </a:solidFill>
                <a:latin typeface="Space Grotesk" pitchFamily="34" charset="0"/>
                <a:ea typeface="Space Grotesk" pitchFamily="34" charset="-122"/>
                <a:cs typeface="Space Grotesk" pitchFamily="34" charset="-120"/>
              </a:rPr>
              <a:t>a circuit board, today</a:t>
            </a:r>
            <a:endParaRPr lang="en-US" sz="850" dirty="0"/>
          </a:p>
        </p:txBody>
      </p:sp>
      <p:sp>
        <p:nvSpPr>
          <p:cNvPr id="19" name="Shape 16"/>
          <p:cNvSpPr/>
          <p:nvPr/>
        </p:nvSpPr>
        <p:spPr>
          <a:xfrm>
            <a:off x="5943600" y="3694176"/>
            <a:ext cx="1417320" cy="329184"/>
          </a:xfrm>
          <a:prstGeom prst="rect">
            <a:avLst/>
          </a:prstGeom>
          <a:solidFill>
            <a:srgbClr val="0E1216"/>
          </a:solidFill>
          <a:ln w="9525">
            <a:solidFill>
              <a:srgbClr val="424A51"/>
            </a:solidFill>
            <a:prstDash val="solid"/>
          </a:ln>
        </p:spPr>
      </p:sp>
      <p:sp>
        <p:nvSpPr>
          <p:cNvPr id="20" name="Text 17"/>
          <p:cNvSpPr txBox="1"/>
          <p:nvPr/>
        </p:nvSpPr>
        <p:spPr>
          <a:xfrm>
            <a:off x="5989320" y="3694176"/>
            <a:ext cx="1325880" cy="329184"/>
          </a:xfrm>
          <a:prstGeom prst="rect">
            <a:avLst/>
          </a:prstGeom>
          <a:noFill/>
          <a:ln/>
        </p:spPr>
        <p:txBody>
          <a:bodyPr wrap="square" lIns="0" tIns="0" rIns="0" bIns="0" rtlCol="0" anchor="ctr"/>
          <a:lstStyle/>
          <a:p>
            <a:pPr indent="0" marL="0">
              <a:buNone/>
            </a:pPr>
            <a:r>
              <a:rPr lang="en-US" sz="730" dirty="0">
                <a:solidFill>
                  <a:srgbClr val="E8EEF2"/>
                </a:solidFill>
                <a:latin typeface="Space Mono" pitchFamily="34" charset="0"/>
                <a:ea typeface="Space Mono" pitchFamily="34" charset="-122"/>
                <a:cs typeface="Space Mono" pitchFamily="34" charset="-120"/>
              </a:rPr>
              <a:t>fab order + hand assembly</a:t>
            </a:r>
            <a:endParaRPr lang="en-US" sz="730" dirty="0"/>
          </a:p>
        </p:txBody>
      </p:sp>
      <p:sp>
        <p:nvSpPr>
          <p:cNvPr id="21" name="Shape 18"/>
          <p:cNvSpPr/>
          <p:nvPr/>
        </p:nvSpPr>
        <p:spPr>
          <a:xfrm>
            <a:off x="7360920" y="3858768"/>
            <a:ext cx="109728" cy="0"/>
          </a:xfrm>
          <a:prstGeom prst="line">
            <a:avLst/>
          </a:prstGeom>
          <a:noFill/>
          <a:ln w="9525">
            <a:solidFill>
              <a:srgbClr val="424A51"/>
            </a:solidFill>
            <a:prstDash val="solid"/>
            <a:tailEnd type="triangle"/>
          </a:ln>
        </p:spPr>
      </p:sp>
      <p:sp>
        <p:nvSpPr>
          <p:cNvPr id="22" name="Shape 19"/>
          <p:cNvSpPr/>
          <p:nvPr/>
        </p:nvSpPr>
        <p:spPr>
          <a:xfrm>
            <a:off x="7470648" y="3694176"/>
            <a:ext cx="1261872" cy="329184"/>
          </a:xfrm>
          <a:prstGeom prst="rect">
            <a:avLst/>
          </a:prstGeom>
          <a:solidFill>
            <a:srgbClr val="121A21"/>
          </a:solidFill>
          <a:ln w="9525">
            <a:solidFill>
              <a:srgbClr val="1F2A32"/>
            </a:solidFill>
            <a:prstDash val="solid"/>
          </a:ln>
        </p:spPr>
      </p:sp>
      <p:sp>
        <p:nvSpPr>
          <p:cNvPr id="23" name="Text 20"/>
          <p:cNvSpPr txBox="1"/>
          <p:nvPr/>
        </p:nvSpPr>
        <p:spPr>
          <a:xfrm>
            <a:off x="7516368" y="3694176"/>
            <a:ext cx="1188720" cy="329184"/>
          </a:xfrm>
          <a:prstGeom prst="rect">
            <a:avLst/>
          </a:prstGeom>
          <a:noFill/>
          <a:ln/>
        </p:spPr>
        <p:txBody>
          <a:bodyPr wrap="square" lIns="0" tIns="0" rIns="0" bIns="0" rtlCol="0" anchor="ctr"/>
          <a:lstStyle/>
          <a:p>
            <a:pPr indent="0" marL="0">
              <a:buNone/>
            </a:pPr>
            <a:r>
              <a:rPr lang="en-US" sz="730" dirty="0">
                <a:solidFill>
                  <a:srgbClr val="A3B3BE"/>
                </a:solidFill>
                <a:latin typeface="Space Mono" pitchFamily="34" charset="0"/>
                <a:ea typeface="Space Mono" pitchFamily="34" charset="-122"/>
                <a:cs typeface="Space Mono" pitchFamily="34" charset="-120"/>
              </a:rPr>
              <a:t>fab / EMS</a:t>
            </a:r>
            <a:endParaRPr lang="en-US" sz="730" dirty="0"/>
          </a:p>
        </p:txBody>
      </p:sp>
      <p:sp>
        <p:nvSpPr>
          <p:cNvPr id="24" name="Text 21"/>
          <p:cNvSpPr txBox="1"/>
          <p:nvPr/>
        </p:nvSpPr>
        <p:spPr>
          <a:xfrm>
            <a:off x="4572000" y="4096512"/>
            <a:ext cx="1371600" cy="329184"/>
          </a:xfrm>
          <a:prstGeom prst="rect">
            <a:avLst/>
          </a:prstGeom>
          <a:noFill/>
          <a:ln/>
        </p:spPr>
        <p:txBody>
          <a:bodyPr wrap="square" lIns="0" tIns="0" rIns="0" bIns="0" rtlCol="0" anchor="ctr"/>
          <a:lstStyle/>
          <a:p>
            <a:pPr indent="0" marL="0">
              <a:buNone/>
            </a:pPr>
            <a:r>
              <a:rPr lang="en-US" sz="850" b="1" dirty="0">
                <a:solidFill>
                  <a:srgbClr val="F2C230"/>
                </a:solidFill>
                <a:latin typeface="Space Grotesk" pitchFamily="34" charset="0"/>
                <a:ea typeface="Space Grotesk" pitchFamily="34" charset="-122"/>
                <a:cs typeface="Space Grotesk" pitchFamily="34" charset="-120"/>
              </a:rPr>
              <a:t>a circuit board, with us</a:t>
            </a:r>
            <a:endParaRPr lang="en-US" sz="850" dirty="0"/>
          </a:p>
        </p:txBody>
      </p:sp>
      <p:sp>
        <p:nvSpPr>
          <p:cNvPr id="25" name="Shape 22"/>
          <p:cNvSpPr/>
          <p:nvPr/>
        </p:nvSpPr>
        <p:spPr>
          <a:xfrm>
            <a:off x="5943600" y="4096512"/>
            <a:ext cx="1417320" cy="329184"/>
          </a:xfrm>
          <a:prstGeom prst="rect">
            <a:avLst/>
          </a:prstGeom>
          <a:solidFill>
            <a:srgbClr val="0E1216"/>
          </a:solidFill>
          <a:ln w="9525">
            <a:solidFill>
              <a:srgbClr val="F2C230"/>
            </a:solidFill>
            <a:prstDash val="solid"/>
          </a:ln>
        </p:spPr>
      </p:sp>
      <p:sp>
        <p:nvSpPr>
          <p:cNvPr id="26" name="Text 23"/>
          <p:cNvSpPr txBox="1"/>
          <p:nvPr/>
        </p:nvSpPr>
        <p:spPr>
          <a:xfrm>
            <a:off x="5989320" y="4096512"/>
            <a:ext cx="1325880" cy="329184"/>
          </a:xfrm>
          <a:prstGeom prst="rect">
            <a:avLst/>
          </a:prstGeom>
          <a:noFill/>
          <a:ln/>
        </p:spPr>
        <p:txBody>
          <a:bodyPr wrap="square" lIns="0" tIns="0" rIns="0" bIns="0" rtlCol="0" anchor="ctr"/>
          <a:lstStyle/>
          <a:p>
            <a:pPr indent="0" marL="0">
              <a:buNone/>
            </a:pPr>
            <a:r>
              <a:rPr lang="en-US" sz="730" dirty="0">
                <a:solidFill>
                  <a:srgbClr val="E8EEF2"/>
                </a:solidFill>
                <a:latin typeface="Space Mono" pitchFamily="34" charset="0"/>
                <a:ea typeface="Space Mono" pitchFamily="34" charset="-122"/>
                <a:cs typeface="Space Mono" pitchFamily="34" charset="-120"/>
              </a:rPr>
              <a:t>Proto + </a:t>
            </a:r>
            <a:r>
              <a:rPr lang="en-US" sz="730" u="sng" dirty="0">
                <a:solidFill>
                  <a:srgbClr val="CF8F4E"/>
                </a:solidFill>
                <a:latin typeface="Space Mono" pitchFamily="34" charset="0"/>
                <a:ea typeface="Space Mono" pitchFamily="34" charset="-122"/>
                <a:cs typeface="Space Mono" pitchFamily="34" charset="-120"/>
                <a:hlinkClick r:id="rId2"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730" dirty="0">
                <a:solidFill>
                  <a:srgbClr val="E8EEF2"/>
                </a:solidFill>
                <a:latin typeface="Space Mono" pitchFamily="34" charset="0"/>
                <a:ea typeface="Space Mono" pitchFamily="34" charset="-122"/>
                <a:cs typeface="Space Mono" pitchFamily="34" charset="-120"/>
              </a:rPr>
              <a:t>, on the desk</a:t>
            </a:r>
            <a:endParaRPr lang="en-US" sz="730" dirty="0"/>
          </a:p>
        </p:txBody>
      </p:sp>
      <p:sp>
        <p:nvSpPr>
          <p:cNvPr id="27" name="Shape 24"/>
          <p:cNvSpPr/>
          <p:nvPr/>
        </p:nvSpPr>
        <p:spPr>
          <a:xfrm>
            <a:off x="7360920" y="4261104"/>
            <a:ext cx="109728" cy="0"/>
          </a:xfrm>
          <a:prstGeom prst="line">
            <a:avLst/>
          </a:prstGeom>
          <a:noFill/>
          <a:ln w="9525">
            <a:solidFill>
              <a:srgbClr val="424A51"/>
            </a:solidFill>
            <a:prstDash val="solid"/>
            <a:tailEnd type="triangle"/>
          </a:ln>
        </p:spPr>
      </p:sp>
      <p:sp>
        <p:nvSpPr>
          <p:cNvPr id="28" name="Shape 25"/>
          <p:cNvSpPr/>
          <p:nvPr/>
        </p:nvSpPr>
        <p:spPr>
          <a:xfrm>
            <a:off x="7470648" y="4096512"/>
            <a:ext cx="1261872" cy="329184"/>
          </a:xfrm>
          <a:prstGeom prst="rect">
            <a:avLst/>
          </a:prstGeom>
          <a:solidFill>
            <a:srgbClr val="121A21"/>
          </a:solidFill>
          <a:ln w="9525">
            <a:solidFill>
              <a:srgbClr val="1F2A32"/>
            </a:solidFill>
            <a:prstDash val="solid"/>
          </a:ln>
        </p:spPr>
      </p:sp>
      <p:sp>
        <p:nvSpPr>
          <p:cNvPr id="29" name="Text 26"/>
          <p:cNvSpPr txBox="1"/>
          <p:nvPr/>
        </p:nvSpPr>
        <p:spPr>
          <a:xfrm>
            <a:off x="7516368" y="4096512"/>
            <a:ext cx="1188720" cy="329184"/>
          </a:xfrm>
          <a:prstGeom prst="rect">
            <a:avLst/>
          </a:prstGeom>
          <a:noFill/>
          <a:ln/>
        </p:spPr>
        <p:txBody>
          <a:bodyPr wrap="square" lIns="0" tIns="0" rIns="0" bIns="0" rtlCol="0" anchor="ctr"/>
          <a:lstStyle/>
          <a:p>
            <a:pPr indent="0" marL="0">
              <a:buNone/>
            </a:pPr>
            <a:r>
              <a:rPr lang="en-US" sz="730" dirty="0">
                <a:solidFill>
                  <a:srgbClr val="A3B3BE"/>
                </a:solidFill>
                <a:latin typeface="Space Mono" pitchFamily="34" charset="0"/>
                <a:ea typeface="Space Mono" pitchFamily="34" charset="-122"/>
                <a:cs typeface="Space Mono" pitchFamily="34" charset="-120"/>
              </a:rPr>
              <a:t>fab, with checked files</a:t>
            </a:r>
            <a:endParaRPr lang="en-US" sz="730" dirty="0"/>
          </a:p>
        </p:txBody>
      </p:sp>
      <p:sp>
        <p:nvSpPr>
          <p:cNvPr id="30" name="Text 27"/>
          <p:cNvSpPr txBox="1"/>
          <p:nvPr/>
        </p:nvSpPr>
        <p:spPr>
          <a:xfrm>
            <a:off x="411480" y="4773168"/>
            <a:ext cx="8321040" cy="182880"/>
          </a:xfrm>
          <a:prstGeom prst="rect">
            <a:avLst/>
          </a:prstGeom>
          <a:noFill/>
          <a:ln/>
        </p:spPr>
        <p:txBody>
          <a:bodyPr wrap="square" lIns="0" tIns="0" rIns="0" bIns="0" rtlCol="0" anchor="t"/>
          <a:lstStyle/>
          <a:p>
            <a:pPr indent="0" marL="0">
              <a:buNone/>
            </a:pPr>
            <a:r>
              <a:rPr lang="en-US" sz="650" dirty="0">
                <a:solidFill>
                  <a:srgbClr val="6E7A83"/>
                </a:solidFill>
                <a:latin typeface="Space Mono" pitchFamily="34" charset="0"/>
                <a:ea typeface="Space Mono" pitchFamily="34" charset="-122"/>
                <a:cs typeface="Space Mono" pitchFamily="34" charset="-120"/>
              </a:rPr>
              <a:t>Every motor speed, processing time and jig-print time is a projected engineering estimate. The proof of concept measures them.</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216"/>
        </a:solidFill>
      </p:bgPr>
    </p:bg>
    <p:spTree>
      <p:nvGrpSpPr>
        <p:cNvPr id="1" name=""/>
        <p:cNvGrpSpPr/>
        <p:nvPr/>
      </p:nvGrpSpPr>
      <p:grpSpPr>
        <a:xfrm>
          <a:off x="0" y="0"/>
          <a:ext cx="0" cy="0"/>
          <a:chOff x="0" y="0"/>
          <a:chExt cx="0" cy="0"/>
        </a:xfrm>
      </p:grpSpPr>
      <p:sp>
        <p:nvSpPr>
          <p:cNvPr id="2" name="Text 0"/>
          <p:cNvSpPr txBox="1"/>
          <p:nvPr/>
        </p:nvSpPr>
        <p:spPr>
          <a:xfrm>
            <a:off x="411480" y="347472"/>
            <a:ext cx="8321040" cy="182880"/>
          </a:xfrm>
          <a:prstGeom prst="rect">
            <a:avLst/>
          </a:prstGeom>
          <a:noFill/>
          <a:ln/>
        </p:spPr>
        <p:txBody>
          <a:bodyPr wrap="square" lIns="0" tIns="0" rIns="0" bIns="0" rtlCol="0" anchor="t"/>
          <a:lstStyle/>
          <a:p>
            <a:pPr indent="0" marL="0">
              <a:buNone/>
            </a:pPr>
            <a:r>
              <a:rPr lang="en-US" sz="850" spc="250" kern="0" dirty="0">
                <a:solidFill>
                  <a:srgbClr val="CF8F4E"/>
                </a:solidFill>
                <a:latin typeface="Space Mono" pitchFamily="34" charset="0"/>
                <a:ea typeface="Space Mono" pitchFamily="34" charset="-122"/>
                <a:cs typeface="Space Mono" pitchFamily="34" charset="-120"/>
              </a:rPr>
              <a:t>QUESTION 03 · ONE PRODUCT AT A TIME</a:t>
            </a:r>
            <a:endParaRPr lang="en-US" sz="850" dirty="0"/>
          </a:p>
        </p:txBody>
      </p:sp>
      <p:sp>
        <p:nvSpPr>
          <p:cNvPr id="3" name="Text 1"/>
          <p:cNvSpPr txBox="1"/>
          <p:nvPr/>
        </p:nvSpPr>
        <p:spPr>
          <a:xfrm>
            <a:off x="411480" y="713232"/>
            <a:ext cx="3749040" cy="164592"/>
          </a:xfrm>
          <a:prstGeom prst="rect">
            <a:avLst/>
          </a:prstGeom>
          <a:noFill/>
          <a:ln/>
        </p:spPr>
        <p:txBody>
          <a:bodyPr wrap="square" lIns="0" tIns="0" rIns="0" bIns="0" rtlCol="0" anchor="t"/>
          <a:lstStyle/>
          <a:p>
            <a:pPr indent="0" marL="0">
              <a:buNone/>
            </a:pPr>
            <a:r>
              <a:rPr lang="en-US" sz="750" spc="200" kern="0" dirty="0">
                <a:solidFill>
                  <a:srgbClr val="6E7A83"/>
                </a:solidFill>
                <a:latin typeface="Space Mono" pitchFamily="34" charset="0"/>
                <a:ea typeface="Space Mono" pitchFamily="34" charset="-122"/>
                <a:cs typeface="Space Mono" pitchFamily="34" charset="-120"/>
              </a:rPr>
              <a:t>SIR, YOU ASKED</a:t>
            </a:r>
            <a:endParaRPr lang="en-US" sz="750" dirty="0"/>
          </a:p>
        </p:txBody>
      </p:sp>
      <p:sp>
        <p:nvSpPr>
          <p:cNvPr id="4" name="Shape 2"/>
          <p:cNvSpPr/>
          <p:nvPr/>
        </p:nvSpPr>
        <p:spPr>
          <a:xfrm>
            <a:off x="411480" y="941832"/>
            <a:ext cx="32004" cy="731520"/>
          </a:xfrm>
          <a:prstGeom prst="rect">
            <a:avLst/>
          </a:prstGeom>
          <a:solidFill>
            <a:srgbClr val="F2C230"/>
          </a:solidFill>
          <a:ln w="12700">
            <a:solidFill>
              <a:srgbClr val="F2C230"/>
            </a:solidFill>
            <a:prstDash val="solid"/>
          </a:ln>
        </p:spPr>
      </p:sp>
      <p:sp>
        <p:nvSpPr>
          <p:cNvPr id="5" name="Text 3"/>
          <p:cNvSpPr txBox="1"/>
          <p:nvPr/>
        </p:nvSpPr>
        <p:spPr>
          <a:xfrm>
            <a:off x="548640" y="914400"/>
            <a:ext cx="3611880" cy="731520"/>
          </a:xfrm>
          <a:prstGeom prst="rect">
            <a:avLst/>
          </a:prstGeom>
          <a:noFill/>
          <a:ln/>
        </p:spPr>
        <p:txBody>
          <a:bodyPr wrap="square" lIns="0" tIns="0" rIns="0" bIns="0" rtlCol="0" anchor="t"/>
          <a:lstStyle/>
          <a:p>
            <a:pPr indent="0" marL="0">
              <a:lnSpc>
                <a:spcPct val="105000"/>
              </a:lnSpc>
              <a:buNone/>
            </a:pPr>
            <a:r>
              <a:rPr lang="en-US" sz="1100" i="1" dirty="0">
                <a:solidFill>
                  <a:srgbClr val="8FB3C9"/>
                </a:solidFill>
                <a:latin typeface="Space Grotesk" pitchFamily="34" charset="0"/>
                <a:ea typeface="Space Grotesk" pitchFamily="34" charset="-122"/>
                <a:cs typeface="Space Grotesk" pitchFamily="34" charset="-120"/>
              </a:rPr>
              <a:t>“Two products for a first-shot raise of ₹10L is a bit aggressive. We should go step by step. Maybe start with Baker first?”</a:t>
            </a:r>
            <a:endParaRPr lang="en-US" sz="1100" dirty="0"/>
          </a:p>
        </p:txBody>
      </p:sp>
      <p:sp>
        <p:nvSpPr>
          <p:cNvPr id="6" name="Text 4"/>
          <p:cNvSpPr txBox="1"/>
          <p:nvPr/>
        </p:nvSpPr>
        <p:spPr>
          <a:xfrm>
            <a:off x="411480" y="1783080"/>
            <a:ext cx="3749040" cy="164592"/>
          </a:xfrm>
          <a:prstGeom prst="rect">
            <a:avLst/>
          </a:prstGeom>
          <a:noFill/>
          <a:ln/>
        </p:spPr>
        <p:txBody>
          <a:bodyPr wrap="square" lIns="0" tIns="0" rIns="0" bIns="0" rtlCol="0" anchor="t"/>
          <a:lstStyle/>
          <a:p>
            <a:pPr indent="0" marL="0">
              <a:buNone/>
            </a:pPr>
            <a:r>
              <a:rPr lang="en-US" sz="750" spc="200" kern="0" dirty="0">
                <a:solidFill>
                  <a:srgbClr val="F2C230"/>
                </a:solidFill>
                <a:latin typeface="Space Mono" pitchFamily="34" charset="0"/>
                <a:ea typeface="Space Mono" pitchFamily="34" charset="-122"/>
                <a:cs typeface="Space Mono" pitchFamily="34" charset="-120"/>
              </a:rPr>
              <a:t>I CAN ANSWER</a:t>
            </a:r>
            <a:endParaRPr lang="en-US" sz="750" dirty="0"/>
          </a:p>
        </p:txBody>
      </p:sp>
      <p:sp>
        <p:nvSpPr>
          <p:cNvPr id="7" name="Text 5"/>
          <p:cNvSpPr txBox="1"/>
          <p:nvPr/>
        </p:nvSpPr>
        <p:spPr>
          <a:xfrm>
            <a:off x="411480" y="2020824"/>
            <a:ext cx="3794760" cy="2551176"/>
          </a:xfrm>
          <a:prstGeom prst="rect">
            <a:avLst/>
          </a:prstGeom>
          <a:noFill/>
          <a:ln/>
        </p:spPr>
        <p:txBody>
          <a:bodyPr wrap="square" lIns="0" tIns="0" rIns="0" bIns="0" rtlCol="0" anchor="t"/>
          <a:lstStyle/>
          <a:p>
            <a:pPr indent="0" marL="0">
              <a:lnSpc>
                <a:spcPct val="108000"/>
              </a:lnSpc>
              <a:buNone/>
            </a:pPr>
            <a:r>
              <a:rPr lang="en-US" sz="1250" dirty="0">
                <a:solidFill>
                  <a:srgbClr val="E8EEF2"/>
                </a:solidFill>
                <a:latin typeface="Space Grotesk" pitchFamily="34" charset="0"/>
                <a:ea typeface="Space Grotesk" pitchFamily="34" charset="-122"/>
                <a:cs typeface="Space Grotesk" pitchFamily="34" charset="-120"/>
              </a:rPr>
              <a:t>Agreed, sir. We go one product at a time, starting with </a:t>
            </a:r>
            <a:r>
              <a:rPr lang="en-US" sz="1250" u="sng" dirty="0">
                <a:solidFill>
                  <a:srgbClr val="CF8F4E"/>
                </a:solidFill>
                <a:latin typeface="Space Grotesk" pitchFamily="34" charset="0"/>
                <a:ea typeface="Space Grotesk" pitchFamily="34" charset="-122"/>
                <a:cs typeface="Space Grotesk" pitchFamily="34" charset="-120"/>
                <a:hlinkClick r:id="rId1"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1250" dirty="0">
                <a:solidFill>
                  <a:srgbClr val="E8EEF2"/>
                </a:solidFill>
                <a:latin typeface="Space Grotesk" pitchFamily="34" charset="0"/>
                <a:ea typeface="Space Grotesk" pitchFamily="34" charset="-122"/>
                <a:cs typeface="Space Grotesk" pitchFamily="34" charset="-120"/>
              </a:rPr>
              <a:t> and Proto. The two machines stay in the vision: one makes the hardware, the other tests it, programs it and feeds back to Proto. But the money we raise now builds only </a:t>
            </a:r>
            <a:r>
              <a:rPr lang="en-US" sz="1250" u="sng" dirty="0">
                <a:solidFill>
                  <a:srgbClr val="CF8F4E"/>
                </a:solidFill>
                <a:latin typeface="Space Grotesk" pitchFamily="34" charset="0"/>
                <a:ea typeface="Space Grotesk" pitchFamily="34" charset="-122"/>
                <a:cs typeface="Space Grotesk" pitchFamily="34" charset="-120"/>
                <a:hlinkClick r:id="rId2"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1250" dirty="0">
                <a:solidFill>
                  <a:srgbClr val="E8EEF2"/>
                </a:solidFill>
                <a:latin typeface="Space Grotesk" pitchFamily="34" charset="0"/>
                <a:ea typeface="Space Grotesk" pitchFamily="34" charset="-122"/>
                <a:cs typeface="Space Grotesk" pitchFamily="34" charset="-120"/>
              </a:rPr>
              <a:t>. </a:t>
            </a:r>
            <a:r>
              <a:rPr lang="en-US" sz="1250" u="sng" dirty="0">
                <a:solidFill>
                  <a:srgbClr val="54ACF0"/>
                </a:solidFill>
                <a:latin typeface="Space Grotesk" pitchFamily="34" charset="0"/>
                <a:ea typeface="Space Grotesk" pitchFamily="34" charset="-122"/>
                <a:cs typeface="Space Grotesk" pitchFamily="34" charset="-120"/>
                <a:hlinkClick r:id="rId3" invalidUrl="" action="" tgtFrame="" tooltip="https://protopus-kappa.vercel.app/#/mixer" history="1" highlightClick="0" endSnd="0">
                  <a:extLst>
                    <a:ext uri="{A12FA001-AC4F-418D-AE19-62706E023703}">
                      <ahyp:hlinkClr xmlns:ahyp="http://schemas.microsoft.com/office/drawing/2018/hyperlinkcolor" val="tx"/>
                    </a:ext>
                  </a:extLst>
                </a:hlinkClick>
              </a:rPr>
              <a:t>Mixer</a:t>
            </a:r>
            <a:r>
              <a:rPr lang="en-US" sz="1250" dirty="0">
                <a:solidFill>
                  <a:srgbClr val="E8EEF2"/>
                </a:solidFill>
                <a:latin typeface="Space Grotesk" pitchFamily="34" charset="0"/>
                <a:ea typeface="Space Grotesk" pitchFamily="34" charset="-122"/>
                <a:cs typeface="Space Grotesk" pitchFamily="34" charset="-120"/>
              </a:rPr>
              <a:t> and the </a:t>
            </a:r>
            <a:r>
              <a:rPr lang="en-US" sz="1250" u="sng" dirty="0">
                <a:solidFill>
                  <a:srgbClr val="54ACF0"/>
                </a:solidFill>
                <a:latin typeface="Space Grotesk" pitchFamily="34" charset="0"/>
                <a:ea typeface="Space Grotesk" pitchFamily="34" charset="-122"/>
                <a:cs typeface="Space Grotesk" pitchFamily="34" charset="-120"/>
                <a:hlinkClick r:id="rId4" invalidUrl="" action="" tgtFrame="" tooltip="https://probe-matrix.vercel.app/" history="1" highlightClick="0" endSnd="0">
                  <a:extLst>
                    <a:ext uri="{A12FA001-AC4F-418D-AE19-62706E023703}">
                      <ahyp:hlinkClr xmlns:ahyp="http://schemas.microsoft.com/office/drawing/2018/hyperlinkcolor" val="tx"/>
                    </a:ext>
                  </a:extLst>
                </a:hlinkClick>
              </a:rPr>
              <a:t>Probe Matrix</a:t>
            </a:r>
            <a:r>
              <a:rPr lang="en-US" sz="1250" dirty="0">
                <a:solidFill>
                  <a:srgbClr val="E8EEF2"/>
                </a:solidFill>
                <a:latin typeface="Space Grotesk" pitchFamily="34" charset="0"/>
                <a:ea typeface="Space Grotesk" pitchFamily="34" charset="-122"/>
                <a:cs typeface="Space Grotesk" pitchFamily="34" charset="-120"/>
              </a:rPr>
              <a:t> come in step 2, after the proof of concept.</a:t>
            </a:r>
            <a:endParaRPr lang="en-US" sz="1250" dirty="0"/>
          </a:p>
        </p:txBody>
      </p:sp>
      <p:sp>
        <p:nvSpPr>
          <p:cNvPr id="8" name="Shape 6"/>
          <p:cNvSpPr/>
          <p:nvPr/>
        </p:nvSpPr>
        <p:spPr>
          <a:xfrm>
            <a:off x="4407408" y="731520"/>
            <a:ext cx="0" cy="3886200"/>
          </a:xfrm>
          <a:prstGeom prst="line">
            <a:avLst/>
          </a:prstGeom>
          <a:noFill/>
          <a:ln w="9525">
            <a:solidFill>
              <a:srgbClr val="1F2A32"/>
            </a:solidFill>
            <a:prstDash val="solid"/>
          </a:ln>
        </p:spPr>
      </p:sp>
      <p:sp>
        <p:nvSpPr>
          <p:cNvPr id="9" name="Text 7"/>
          <p:cNvSpPr txBox="1"/>
          <p:nvPr/>
        </p:nvSpPr>
        <p:spPr>
          <a:xfrm>
            <a:off x="4572000" y="713232"/>
            <a:ext cx="4114800" cy="164592"/>
          </a:xfrm>
          <a:prstGeom prst="rect">
            <a:avLst/>
          </a:prstGeom>
          <a:noFill/>
          <a:ln/>
        </p:spPr>
        <p:txBody>
          <a:bodyPr wrap="square" lIns="0" tIns="0" rIns="0" bIns="0" rtlCol="0" anchor="t"/>
          <a:lstStyle/>
          <a:p>
            <a:pPr indent="0" marL="0">
              <a:buNone/>
            </a:pPr>
            <a:r>
              <a:rPr lang="en-US" sz="750" spc="200" kern="0" dirty="0">
                <a:solidFill>
                  <a:srgbClr val="CF8F4E"/>
                </a:solidFill>
                <a:latin typeface="Space Mono" pitchFamily="34" charset="0"/>
                <a:ea typeface="Space Mono" pitchFamily="34" charset="-122"/>
                <a:cs typeface="Space Mono" pitchFamily="34" charset="-120"/>
              </a:rPr>
              <a:t>TO JUSTIFY</a:t>
            </a:r>
            <a:endParaRPr lang="en-US" sz="750" dirty="0"/>
          </a:p>
        </p:txBody>
      </p:sp>
      <p:sp>
        <p:nvSpPr>
          <p:cNvPr id="10" name="Shape 8"/>
          <p:cNvSpPr/>
          <p:nvPr/>
        </p:nvSpPr>
        <p:spPr>
          <a:xfrm>
            <a:off x="4572000" y="987552"/>
            <a:ext cx="1298448" cy="36576"/>
          </a:xfrm>
          <a:prstGeom prst="rect">
            <a:avLst/>
          </a:prstGeom>
          <a:solidFill>
            <a:srgbClr val="CF8F4E"/>
          </a:solidFill>
          <a:ln w="12700">
            <a:solidFill>
              <a:srgbClr val="CF8F4E"/>
            </a:solidFill>
            <a:prstDash val="solid"/>
          </a:ln>
        </p:spPr>
      </p:sp>
      <p:sp>
        <p:nvSpPr>
          <p:cNvPr id="11" name="Text 9"/>
          <p:cNvSpPr txBox="1"/>
          <p:nvPr/>
        </p:nvSpPr>
        <p:spPr>
          <a:xfrm>
            <a:off x="4572000" y="1069848"/>
            <a:ext cx="1325880" cy="164592"/>
          </a:xfrm>
          <a:prstGeom prst="rect">
            <a:avLst/>
          </a:prstGeom>
          <a:noFill/>
          <a:ln/>
        </p:spPr>
        <p:txBody>
          <a:bodyPr wrap="square" lIns="0" tIns="0" rIns="0" bIns="0" rtlCol="0" anchor="t"/>
          <a:lstStyle/>
          <a:p>
            <a:pPr indent="0" marL="0">
              <a:buNone/>
            </a:pPr>
            <a:r>
              <a:rPr lang="en-US" sz="630" spc="80" kern="0" dirty="0">
                <a:solidFill>
                  <a:srgbClr val="CF8F4E"/>
                </a:solidFill>
                <a:latin typeface="Space Mono" pitchFamily="34" charset="0"/>
                <a:ea typeface="Space Mono" pitchFamily="34" charset="-122"/>
                <a:cs typeface="Space Mono" pitchFamily="34" charset="-120"/>
              </a:rPr>
              <a:t>STEP 1 · NOW · </a:t>
            </a:r>
            <a:r>
              <a:rPr lang="en-US" sz="630" spc="80" kern="0" dirty="0">
                <a:solidFill>
                  <a:srgbClr val="CF8F4E"/>
                </a:solidFill>
                <a:latin typeface="Space Grotesk" pitchFamily="34" charset="0"/>
                <a:ea typeface="Space Grotesk" pitchFamily="34" charset="-122"/>
                <a:cs typeface="Space Grotesk" pitchFamily="34" charset="-120"/>
              </a:rPr>
              <a:t>₹</a:t>
            </a:r>
            <a:r>
              <a:rPr lang="en-US" sz="630" spc="80" kern="0" dirty="0">
                <a:solidFill>
                  <a:srgbClr val="CF8F4E"/>
                </a:solidFill>
                <a:latin typeface="Space Mono" pitchFamily="34" charset="0"/>
                <a:ea typeface="Space Mono" pitchFamily="34" charset="-122"/>
                <a:cs typeface="Space Mono" pitchFamily="34" charset="-120"/>
              </a:rPr>
              <a:t>15L</a:t>
            </a:r>
            <a:endParaRPr lang="en-US" sz="630" dirty="0"/>
          </a:p>
        </p:txBody>
      </p:sp>
      <p:sp>
        <p:nvSpPr>
          <p:cNvPr id="12" name="Text 10"/>
          <p:cNvSpPr txBox="1"/>
          <p:nvPr/>
        </p:nvSpPr>
        <p:spPr>
          <a:xfrm>
            <a:off x="4572000" y="1261872"/>
            <a:ext cx="1325880" cy="228600"/>
          </a:xfrm>
          <a:prstGeom prst="rect">
            <a:avLst/>
          </a:prstGeom>
          <a:noFill/>
          <a:ln/>
        </p:spPr>
        <p:txBody>
          <a:bodyPr wrap="square" lIns="0" tIns="0" rIns="0" bIns="0" rtlCol="0" anchor="t"/>
          <a:lstStyle/>
          <a:p>
            <a:pPr indent="0" marL="0">
              <a:buNone/>
            </a:pPr>
            <a:r>
              <a:rPr lang="en-US" sz="1050" b="1" dirty="0">
                <a:solidFill>
                  <a:srgbClr val="E8EEF2"/>
                </a:solidFill>
                <a:latin typeface="Space Grotesk" pitchFamily="34" charset="0"/>
                <a:ea typeface="Space Grotesk" pitchFamily="34" charset="-122"/>
                <a:cs typeface="Space Grotesk" pitchFamily="34" charset="-120"/>
              </a:rPr>
              <a:t>Proto + </a:t>
            </a:r>
            <a:r>
              <a:rPr lang="en-US" sz="1050" b="1" u="sng" dirty="0">
                <a:solidFill>
                  <a:srgbClr val="CF8F4E"/>
                </a:solidFill>
                <a:latin typeface="Space Grotesk" pitchFamily="34" charset="0"/>
                <a:ea typeface="Space Grotesk" pitchFamily="34" charset="-122"/>
                <a:cs typeface="Space Grotesk" pitchFamily="34" charset="-120"/>
                <a:hlinkClick r:id="rId5" invalidUrl="" action="" tgtFrame="" tooltip="https://protopus-kappa.vercel.app/#/baker" history="1" highlightClick="0" endSnd="0">
                  <a:extLst>
                    <a:ext uri="{A12FA001-AC4F-418D-AE19-62706E023703}">
                      <ahyp:hlinkClr xmlns:ahyp="http://schemas.microsoft.com/office/drawing/2018/hyperlinkcolor" val="tx"/>
                    </a:ext>
                  </a:extLst>
                </a:hlinkClick>
              </a:rPr>
              <a:t>Baker</a:t>
            </a:r>
            <a:endParaRPr lang="en-US" sz="1050" dirty="0"/>
          </a:p>
        </p:txBody>
      </p:sp>
      <p:sp>
        <p:nvSpPr>
          <p:cNvPr id="13" name="Text 11"/>
          <p:cNvSpPr txBox="1"/>
          <p:nvPr/>
        </p:nvSpPr>
        <p:spPr>
          <a:xfrm>
            <a:off x="4572000" y="1508760"/>
            <a:ext cx="1298448" cy="320040"/>
          </a:xfrm>
          <a:prstGeom prst="rect">
            <a:avLst/>
          </a:prstGeom>
          <a:noFill/>
          <a:ln/>
        </p:spPr>
        <p:txBody>
          <a:bodyPr wrap="square" lIns="0" tIns="0" rIns="0" bIns="0" rtlCol="0" anchor="t"/>
          <a:lstStyle/>
          <a:p>
            <a:pPr indent="0" marL="0">
              <a:buNone/>
            </a:pPr>
            <a:r>
              <a:rPr lang="en-US" sz="700" dirty="0">
                <a:solidFill>
                  <a:srgbClr val="A3B3BE"/>
                </a:solidFill>
                <a:latin typeface="Space Mono" pitchFamily="34" charset="0"/>
                <a:ea typeface="Space Mono" pitchFamily="34" charset="-122"/>
                <a:cs typeface="Space Mono" pitchFamily="34" charset="-120"/>
              </a:rPr>
              <a:t>20 boards, cycle time measured</a:t>
            </a:r>
            <a:endParaRPr lang="en-US" sz="700" dirty="0"/>
          </a:p>
        </p:txBody>
      </p:sp>
      <p:sp>
        <p:nvSpPr>
          <p:cNvPr id="14" name="Shape 12"/>
          <p:cNvSpPr/>
          <p:nvPr/>
        </p:nvSpPr>
        <p:spPr>
          <a:xfrm>
            <a:off x="5971032" y="987552"/>
            <a:ext cx="1298448" cy="36576"/>
          </a:xfrm>
          <a:prstGeom prst="rect">
            <a:avLst/>
          </a:prstGeom>
          <a:solidFill>
            <a:srgbClr val="54ACF0"/>
          </a:solidFill>
          <a:ln w="12700">
            <a:solidFill>
              <a:srgbClr val="54ACF0"/>
            </a:solidFill>
            <a:prstDash val="solid"/>
          </a:ln>
        </p:spPr>
      </p:sp>
      <p:sp>
        <p:nvSpPr>
          <p:cNvPr id="15" name="Text 13"/>
          <p:cNvSpPr txBox="1"/>
          <p:nvPr/>
        </p:nvSpPr>
        <p:spPr>
          <a:xfrm>
            <a:off x="5971032" y="1069848"/>
            <a:ext cx="1325880" cy="164592"/>
          </a:xfrm>
          <a:prstGeom prst="rect">
            <a:avLst/>
          </a:prstGeom>
          <a:noFill/>
          <a:ln/>
        </p:spPr>
        <p:txBody>
          <a:bodyPr wrap="square" lIns="0" tIns="0" rIns="0" bIns="0" rtlCol="0" anchor="t"/>
          <a:lstStyle/>
          <a:p>
            <a:pPr indent="0" marL="0">
              <a:buNone/>
            </a:pPr>
            <a:r>
              <a:rPr lang="en-US" sz="630" spc="80" kern="0" dirty="0">
                <a:solidFill>
                  <a:srgbClr val="54ACF0"/>
                </a:solidFill>
                <a:latin typeface="Space Mono" pitchFamily="34" charset="0"/>
                <a:ea typeface="Space Mono" pitchFamily="34" charset="-122"/>
                <a:cs typeface="Space Mono" pitchFamily="34" charset="-120"/>
              </a:rPr>
              <a:t>STEP 2 · SEED</a:t>
            </a:r>
            <a:endParaRPr lang="en-US" sz="630" dirty="0"/>
          </a:p>
        </p:txBody>
      </p:sp>
      <p:sp>
        <p:nvSpPr>
          <p:cNvPr id="16" name="Text 14"/>
          <p:cNvSpPr txBox="1"/>
          <p:nvPr/>
        </p:nvSpPr>
        <p:spPr>
          <a:xfrm>
            <a:off x="5971032" y="1261872"/>
            <a:ext cx="1325880" cy="228600"/>
          </a:xfrm>
          <a:prstGeom prst="rect">
            <a:avLst/>
          </a:prstGeom>
          <a:noFill/>
          <a:ln/>
        </p:spPr>
        <p:txBody>
          <a:bodyPr wrap="square" lIns="0" tIns="0" rIns="0" bIns="0" rtlCol="0" anchor="t"/>
          <a:lstStyle/>
          <a:p>
            <a:pPr indent="0" marL="0">
              <a:buNone/>
            </a:pPr>
            <a:r>
              <a:rPr lang="en-US" sz="1050" b="1" dirty="0">
                <a:solidFill>
                  <a:srgbClr val="E8EEF2"/>
                </a:solidFill>
                <a:latin typeface="Space Grotesk" pitchFamily="34" charset="0"/>
                <a:ea typeface="Space Grotesk" pitchFamily="34" charset="-122"/>
                <a:cs typeface="Space Grotesk" pitchFamily="34" charset="-120"/>
              </a:rPr>
              <a:t>​</a:t>
            </a:r>
            <a:r>
              <a:rPr lang="en-US" sz="1050" b="1" u="sng" dirty="0">
                <a:solidFill>
                  <a:srgbClr val="54ACF0"/>
                </a:solidFill>
                <a:latin typeface="Space Grotesk" pitchFamily="34" charset="0"/>
                <a:ea typeface="Space Grotesk" pitchFamily="34" charset="-122"/>
                <a:cs typeface="Space Grotesk" pitchFamily="34" charset="-120"/>
                <a:hlinkClick r:id="rId6" invalidUrl="" action="" tgtFrame="" tooltip="https://protopus-kappa.vercel.app/#/mixer" history="1" highlightClick="0" endSnd="0">
                  <a:extLst>
                    <a:ext uri="{A12FA001-AC4F-418D-AE19-62706E023703}">
                      <ahyp:hlinkClr xmlns:ahyp="http://schemas.microsoft.com/office/drawing/2018/hyperlinkcolor" val="tx"/>
                    </a:ext>
                  </a:extLst>
                </a:hlinkClick>
              </a:rPr>
              <a:t>Mixer</a:t>
            </a:r>
            <a:r>
              <a:rPr lang="en-US" sz="1050" b="1" dirty="0">
                <a:solidFill>
                  <a:srgbClr val="E8EEF2"/>
                </a:solidFill>
                <a:latin typeface="Space Grotesk" pitchFamily="34" charset="0"/>
                <a:ea typeface="Space Grotesk" pitchFamily="34" charset="-122"/>
                <a:cs typeface="Space Grotesk" pitchFamily="34" charset="-120"/>
              </a:rPr>
              <a:t> + </a:t>
            </a:r>
            <a:r>
              <a:rPr lang="en-US" sz="1050" b="1" u="sng" dirty="0">
                <a:solidFill>
                  <a:srgbClr val="54ACF0"/>
                </a:solidFill>
                <a:latin typeface="Space Grotesk" pitchFamily="34" charset="0"/>
                <a:ea typeface="Space Grotesk" pitchFamily="34" charset="-122"/>
                <a:cs typeface="Space Grotesk" pitchFamily="34" charset="-120"/>
                <a:hlinkClick r:id="rId7" invalidUrl="" action="" tgtFrame="" tooltip="https://probe-matrix.vercel.app/" history="1" highlightClick="0" endSnd="0">
                  <a:extLst>
                    <a:ext uri="{A12FA001-AC4F-418D-AE19-62706E023703}">
                      <ahyp:hlinkClr xmlns:ahyp="http://schemas.microsoft.com/office/drawing/2018/hyperlinkcolor" val="tx"/>
                    </a:ext>
                  </a:extLst>
                </a:hlinkClick>
              </a:rPr>
              <a:t>Probe Matrix</a:t>
            </a:r>
            <a:endParaRPr lang="en-US" sz="1050" dirty="0"/>
          </a:p>
        </p:txBody>
      </p:sp>
      <p:sp>
        <p:nvSpPr>
          <p:cNvPr id="17" name="Text 15"/>
          <p:cNvSpPr txBox="1"/>
          <p:nvPr/>
        </p:nvSpPr>
        <p:spPr>
          <a:xfrm>
            <a:off x="5971032" y="1508760"/>
            <a:ext cx="1298448" cy="320040"/>
          </a:xfrm>
          <a:prstGeom prst="rect">
            <a:avLst/>
          </a:prstGeom>
          <a:noFill/>
          <a:ln/>
        </p:spPr>
        <p:txBody>
          <a:bodyPr wrap="square" lIns="0" tIns="0" rIns="0" bIns="0" rtlCol="0" anchor="t"/>
          <a:lstStyle/>
          <a:p>
            <a:pPr indent="0" marL="0">
              <a:buNone/>
            </a:pPr>
            <a:r>
              <a:rPr lang="en-US" sz="700" dirty="0">
                <a:solidFill>
                  <a:srgbClr val="A3B3BE"/>
                </a:solidFill>
                <a:latin typeface="Space Mono" pitchFamily="34" charset="0"/>
                <a:ea typeface="Space Mono" pitchFamily="34" charset="-122"/>
                <a:cs typeface="Space Mono" pitchFamily="34" charset="-120"/>
              </a:rPr>
              <a:t>~</a:t>
            </a:r>
            <a:r>
              <a:rPr lang="en-US" sz="700" dirty="0">
                <a:solidFill>
                  <a:srgbClr val="A3B3BE"/>
                </a:solidFill>
                <a:latin typeface="Space Grotesk" pitchFamily="34" charset="0"/>
                <a:ea typeface="Space Grotesk" pitchFamily="34" charset="-122"/>
                <a:cs typeface="Space Grotesk" pitchFamily="34" charset="-120"/>
              </a:rPr>
              <a:t>₹</a:t>
            </a:r>
            <a:r>
              <a:rPr lang="en-US" sz="700" dirty="0">
                <a:solidFill>
                  <a:srgbClr val="A3B3BE"/>
                </a:solidFill>
                <a:latin typeface="Space Mono" pitchFamily="34" charset="0"/>
                <a:ea typeface="Space Mono" pitchFamily="34" charset="-122"/>
                <a:cs typeface="Space Mono" pitchFamily="34" charset="-120"/>
              </a:rPr>
              <a:t>1.5 Cr seed; pilots built turnkey in China</a:t>
            </a:r>
            <a:endParaRPr lang="en-US" sz="700" dirty="0"/>
          </a:p>
        </p:txBody>
      </p:sp>
      <p:sp>
        <p:nvSpPr>
          <p:cNvPr id="18" name="Shape 16"/>
          <p:cNvSpPr/>
          <p:nvPr/>
        </p:nvSpPr>
        <p:spPr>
          <a:xfrm>
            <a:off x="7370064" y="987552"/>
            <a:ext cx="1298448" cy="36576"/>
          </a:xfrm>
          <a:prstGeom prst="rect">
            <a:avLst/>
          </a:prstGeom>
          <a:solidFill>
            <a:srgbClr val="F2C230"/>
          </a:solidFill>
          <a:ln w="12700">
            <a:solidFill>
              <a:srgbClr val="F2C230"/>
            </a:solidFill>
            <a:prstDash val="solid"/>
          </a:ln>
        </p:spPr>
      </p:sp>
      <p:sp>
        <p:nvSpPr>
          <p:cNvPr id="19" name="Text 17"/>
          <p:cNvSpPr txBox="1"/>
          <p:nvPr/>
        </p:nvSpPr>
        <p:spPr>
          <a:xfrm>
            <a:off x="7370064" y="1069848"/>
            <a:ext cx="1325880" cy="164592"/>
          </a:xfrm>
          <a:prstGeom prst="rect">
            <a:avLst/>
          </a:prstGeom>
          <a:noFill/>
          <a:ln/>
        </p:spPr>
        <p:txBody>
          <a:bodyPr wrap="square" lIns="0" tIns="0" rIns="0" bIns="0" rtlCol="0" anchor="t"/>
          <a:lstStyle/>
          <a:p>
            <a:pPr indent="0" marL="0">
              <a:buNone/>
            </a:pPr>
            <a:r>
              <a:rPr lang="en-US" sz="630" spc="80" kern="0" dirty="0">
                <a:solidFill>
                  <a:srgbClr val="F2C230"/>
                </a:solidFill>
                <a:latin typeface="Space Mono" pitchFamily="34" charset="0"/>
                <a:ea typeface="Space Mono" pitchFamily="34" charset="-122"/>
                <a:cs typeface="Space Mono" pitchFamily="34" charset="-120"/>
              </a:rPr>
              <a:t>STEP 3 · ECOSYSTEM</a:t>
            </a:r>
            <a:endParaRPr lang="en-US" sz="630" dirty="0"/>
          </a:p>
        </p:txBody>
      </p:sp>
      <p:sp>
        <p:nvSpPr>
          <p:cNvPr id="20" name="Text 18"/>
          <p:cNvSpPr txBox="1"/>
          <p:nvPr/>
        </p:nvSpPr>
        <p:spPr>
          <a:xfrm>
            <a:off x="7370064" y="1261872"/>
            <a:ext cx="1325880" cy="228600"/>
          </a:xfrm>
          <a:prstGeom prst="rect">
            <a:avLst/>
          </a:prstGeom>
          <a:noFill/>
          <a:ln/>
        </p:spPr>
        <p:txBody>
          <a:bodyPr wrap="square" lIns="0" tIns="0" rIns="0" bIns="0" rtlCol="0" anchor="t"/>
          <a:lstStyle/>
          <a:p>
            <a:pPr indent="0" marL="0">
              <a:buNone/>
            </a:pPr>
            <a:r>
              <a:rPr lang="en-US" sz="1050" b="1" dirty="0">
                <a:solidFill>
                  <a:srgbClr val="E8EEF2"/>
                </a:solidFill>
                <a:latin typeface="Space Grotesk" pitchFamily="34" charset="0"/>
                <a:ea typeface="Space Grotesk" pitchFamily="34" charset="-122"/>
                <a:cs typeface="Space Grotesk" pitchFamily="34" charset="-120"/>
              </a:rPr>
              <a:t>Proto runs it all</a:t>
            </a:r>
            <a:endParaRPr lang="en-US" sz="1050" dirty="0"/>
          </a:p>
        </p:txBody>
      </p:sp>
      <p:sp>
        <p:nvSpPr>
          <p:cNvPr id="21" name="Text 19"/>
          <p:cNvSpPr txBox="1"/>
          <p:nvPr/>
        </p:nvSpPr>
        <p:spPr>
          <a:xfrm>
            <a:off x="7370064" y="1508760"/>
            <a:ext cx="1298448" cy="320040"/>
          </a:xfrm>
          <a:prstGeom prst="rect">
            <a:avLst/>
          </a:prstGeom>
          <a:noFill/>
          <a:ln/>
        </p:spPr>
        <p:txBody>
          <a:bodyPr wrap="square" lIns="0" tIns="0" rIns="0" bIns="0" rtlCol="0" anchor="t"/>
          <a:lstStyle/>
          <a:p>
            <a:pPr indent="0" marL="0">
              <a:buNone/>
            </a:pPr>
            <a:r>
              <a:rPr lang="en-US" sz="700" dirty="0">
                <a:solidFill>
                  <a:srgbClr val="A3B3BE"/>
                </a:solidFill>
                <a:latin typeface="Space Mono" pitchFamily="34" charset="0"/>
                <a:ea typeface="Space Mono" pitchFamily="34" charset="-122"/>
                <a:cs typeface="Space Mono" pitchFamily="34" charset="-120"/>
              </a:rPr>
              <a:t>plus any 3D printer</a:t>
            </a:r>
            <a:endParaRPr lang="en-US" sz="700" dirty="0"/>
          </a:p>
        </p:txBody>
      </p:sp>
      <p:sp>
        <p:nvSpPr>
          <p:cNvPr id="22" name="Text 20"/>
          <p:cNvSpPr txBox="1"/>
          <p:nvPr/>
        </p:nvSpPr>
        <p:spPr>
          <a:xfrm>
            <a:off x="4572000" y="2011680"/>
            <a:ext cx="4160520" cy="164592"/>
          </a:xfrm>
          <a:prstGeom prst="rect">
            <a:avLst/>
          </a:prstGeom>
          <a:noFill/>
          <a:ln/>
        </p:spPr>
        <p:txBody>
          <a:bodyPr wrap="square" lIns="0" tIns="0" rIns="0" bIns="0" rtlCol="0" anchor="t"/>
          <a:lstStyle/>
          <a:p>
            <a:pPr indent="0" marL="0">
              <a:buNone/>
            </a:pPr>
            <a:r>
              <a:rPr lang="en-US" sz="700" spc="150" kern="0" dirty="0">
                <a:solidFill>
                  <a:srgbClr val="6E7A83"/>
                </a:solidFill>
                <a:latin typeface="Space Mono" pitchFamily="34" charset="0"/>
                <a:ea typeface="Space Mono" pitchFamily="34" charset="-122"/>
                <a:cs typeface="Space Mono" pitchFamily="34" charset="-120"/>
              </a:rPr>
              <a:t>WHERE </a:t>
            </a:r>
            <a:r>
              <a:rPr lang="en-US" sz="700" spc="150" kern="0" dirty="0">
                <a:solidFill>
                  <a:srgbClr val="6E7A83"/>
                </a:solidFill>
                <a:latin typeface="Space Grotesk" pitchFamily="34" charset="0"/>
                <a:ea typeface="Space Grotesk" pitchFamily="34" charset="-122"/>
                <a:cs typeface="Space Grotesk" pitchFamily="34" charset="-120"/>
              </a:rPr>
              <a:t>₹</a:t>
            </a:r>
            <a:r>
              <a:rPr lang="en-US" sz="700" spc="150" kern="0" dirty="0">
                <a:solidFill>
                  <a:srgbClr val="6E7A83"/>
                </a:solidFill>
                <a:latin typeface="Space Mono" pitchFamily="34" charset="0"/>
                <a:ea typeface="Space Mono" pitchFamily="34" charset="-122"/>
                <a:cs typeface="Space Mono" pitchFamily="34" charset="-120"/>
              </a:rPr>
              <a:t>15,00,000 GOES · 9 MONTHS · NO FOUNDER SALARY</a:t>
            </a:r>
            <a:endParaRPr lang="en-US" sz="700" dirty="0"/>
          </a:p>
        </p:txBody>
      </p:sp>
      <p:sp>
        <p:nvSpPr>
          <p:cNvPr id="23" name="Shape 21"/>
          <p:cNvSpPr/>
          <p:nvPr/>
        </p:nvSpPr>
        <p:spPr>
          <a:xfrm>
            <a:off x="4572000" y="2240280"/>
            <a:ext cx="1017454" cy="201168"/>
          </a:xfrm>
          <a:prstGeom prst="rect">
            <a:avLst/>
          </a:prstGeom>
          <a:solidFill>
            <a:srgbClr val="8A5F31"/>
          </a:solidFill>
          <a:ln w="12700">
            <a:solidFill>
              <a:srgbClr val="8A5F31"/>
            </a:solidFill>
            <a:prstDash val="solid"/>
          </a:ln>
        </p:spPr>
      </p:sp>
      <p:sp>
        <p:nvSpPr>
          <p:cNvPr id="24" name="Shape 22"/>
          <p:cNvSpPr/>
          <p:nvPr/>
        </p:nvSpPr>
        <p:spPr>
          <a:xfrm>
            <a:off x="5607742" y="2240280"/>
            <a:ext cx="425501" cy="201168"/>
          </a:xfrm>
          <a:prstGeom prst="rect">
            <a:avLst/>
          </a:prstGeom>
          <a:solidFill>
            <a:srgbClr val="1B64A8"/>
          </a:solidFill>
          <a:ln w="12700">
            <a:solidFill>
              <a:srgbClr val="1B64A8"/>
            </a:solidFill>
            <a:prstDash val="solid"/>
          </a:ln>
        </p:spPr>
      </p:sp>
      <p:sp>
        <p:nvSpPr>
          <p:cNvPr id="25" name="Shape 23"/>
          <p:cNvSpPr/>
          <p:nvPr/>
        </p:nvSpPr>
        <p:spPr>
          <a:xfrm>
            <a:off x="6051531" y="2240280"/>
            <a:ext cx="1229868" cy="201168"/>
          </a:xfrm>
          <a:prstGeom prst="rect">
            <a:avLst/>
          </a:prstGeom>
          <a:solidFill>
            <a:srgbClr val="D9D2C5"/>
          </a:solidFill>
          <a:ln w="12700">
            <a:solidFill>
              <a:srgbClr val="D9D2C5"/>
            </a:solidFill>
            <a:prstDash val="solid"/>
          </a:ln>
        </p:spPr>
      </p:sp>
      <p:sp>
        <p:nvSpPr>
          <p:cNvPr id="26" name="Shape 24"/>
          <p:cNvSpPr/>
          <p:nvPr/>
        </p:nvSpPr>
        <p:spPr>
          <a:xfrm>
            <a:off x="7299687" y="2240280"/>
            <a:ext cx="356159" cy="201168"/>
          </a:xfrm>
          <a:prstGeom prst="rect">
            <a:avLst/>
          </a:prstGeom>
          <a:solidFill>
            <a:srgbClr val="C08A12"/>
          </a:solidFill>
          <a:ln w="12700">
            <a:solidFill>
              <a:srgbClr val="C08A12"/>
            </a:solidFill>
            <a:prstDash val="solid"/>
          </a:ln>
        </p:spPr>
      </p:sp>
      <p:sp>
        <p:nvSpPr>
          <p:cNvPr id="27" name="Shape 25"/>
          <p:cNvSpPr/>
          <p:nvPr/>
        </p:nvSpPr>
        <p:spPr>
          <a:xfrm>
            <a:off x="7674134" y="2240280"/>
            <a:ext cx="397764" cy="201168"/>
          </a:xfrm>
          <a:prstGeom prst="rect">
            <a:avLst/>
          </a:prstGeom>
          <a:solidFill>
            <a:srgbClr val="9C8F7C"/>
          </a:solidFill>
          <a:ln w="12700">
            <a:solidFill>
              <a:srgbClr val="9C8F7C"/>
            </a:solidFill>
            <a:prstDash val="solid"/>
          </a:ln>
        </p:spPr>
      </p:sp>
      <p:sp>
        <p:nvSpPr>
          <p:cNvPr id="28" name="Shape 26"/>
          <p:cNvSpPr/>
          <p:nvPr/>
        </p:nvSpPr>
        <p:spPr>
          <a:xfrm>
            <a:off x="8090186" y="2240280"/>
            <a:ext cx="624046" cy="201168"/>
          </a:xfrm>
          <a:prstGeom prst="rect">
            <a:avLst/>
          </a:prstGeom>
          <a:solidFill>
            <a:srgbClr val="60A05A"/>
          </a:solidFill>
          <a:ln w="12700">
            <a:solidFill>
              <a:srgbClr val="60A05A"/>
            </a:solidFill>
            <a:prstDash val="solid"/>
          </a:ln>
        </p:spPr>
      </p:sp>
      <p:sp>
        <p:nvSpPr>
          <p:cNvPr id="29" name="Shape 27"/>
          <p:cNvSpPr/>
          <p:nvPr/>
        </p:nvSpPr>
        <p:spPr>
          <a:xfrm>
            <a:off x="4572000" y="2615184"/>
            <a:ext cx="109728" cy="109728"/>
          </a:xfrm>
          <a:prstGeom prst="rect">
            <a:avLst/>
          </a:prstGeom>
          <a:solidFill>
            <a:srgbClr val="8A5F31"/>
          </a:solidFill>
          <a:ln w="12700">
            <a:solidFill>
              <a:srgbClr val="8A5F31"/>
            </a:solidFill>
            <a:prstDash val="solid"/>
          </a:ln>
        </p:spPr>
      </p:sp>
      <p:sp>
        <p:nvSpPr>
          <p:cNvPr id="30" name="Text 28"/>
          <p:cNvSpPr txBox="1"/>
          <p:nvPr/>
        </p:nvSpPr>
        <p:spPr>
          <a:xfrm>
            <a:off x="4754880" y="2560320"/>
            <a:ext cx="2743200" cy="219456"/>
          </a:xfrm>
          <a:prstGeom prst="rect">
            <a:avLst/>
          </a:prstGeom>
          <a:noFill/>
          <a:ln/>
        </p:spPr>
        <p:txBody>
          <a:bodyPr wrap="square" lIns="0" tIns="0" rIns="0" bIns="0" rtlCol="0" anchor="ctr"/>
          <a:lstStyle/>
          <a:p>
            <a:pPr indent="0" marL="0">
              <a:buNone/>
            </a:pPr>
            <a:r>
              <a:rPr lang="en-US" sz="780" dirty="0">
                <a:solidFill>
                  <a:srgbClr val="A3B3BE"/>
                </a:solidFill>
                <a:latin typeface="Space Mono" pitchFamily="34" charset="0"/>
                <a:ea typeface="Space Mono" pitchFamily="34" charset="-122"/>
                <a:cs typeface="Space Mono" pitchFamily="34" charset="-120"/>
              </a:rPr>
              <a:t>Baker build, costed line by line</a:t>
            </a:r>
            <a:endParaRPr lang="en-US" sz="780" dirty="0"/>
          </a:p>
        </p:txBody>
      </p:sp>
      <p:sp>
        <p:nvSpPr>
          <p:cNvPr id="31" name="Text 29"/>
          <p:cNvSpPr txBox="1"/>
          <p:nvPr/>
        </p:nvSpPr>
        <p:spPr>
          <a:xfrm>
            <a:off x="7680960" y="2560320"/>
            <a:ext cx="1051560" cy="219456"/>
          </a:xfrm>
          <a:prstGeom prst="rect">
            <a:avLst/>
          </a:prstGeom>
          <a:noFill/>
          <a:ln/>
        </p:spPr>
        <p:txBody>
          <a:bodyPr wrap="square" lIns="0" tIns="0" rIns="0" bIns="0" rtlCol="0" anchor="ctr"/>
          <a:lstStyle/>
          <a:p>
            <a:pPr algn="r" indent="0" marL="0">
              <a:buNone/>
            </a:pPr>
            <a:r>
              <a:rPr lang="en-US" sz="900" b="1" dirty="0">
                <a:solidFill>
                  <a:srgbClr val="E8EEF2"/>
                </a:solidFill>
                <a:latin typeface="Space Grotesk" pitchFamily="34" charset="0"/>
                <a:ea typeface="Space Grotesk" pitchFamily="34" charset="-122"/>
                <a:cs typeface="Space Grotesk" pitchFamily="34" charset="-120"/>
              </a:rPr>
              <a:t>₹3.73L</a:t>
            </a:r>
            <a:endParaRPr lang="en-US" sz="900" dirty="0"/>
          </a:p>
        </p:txBody>
      </p:sp>
      <p:sp>
        <p:nvSpPr>
          <p:cNvPr id="32" name="Shape 30"/>
          <p:cNvSpPr/>
          <p:nvPr/>
        </p:nvSpPr>
        <p:spPr>
          <a:xfrm>
            <a:off x="4572000" y="2843784"/>
            <a:ext cx="109728" cy="109728"/>
          </a:xfrm>
          <a:prstGeom prst="rect">
            <a:avLst/>
          </a:prstGeom>
          <a:solidFill>
            <a:srgbClr val="1B64A8"/>
          </a:solidFill>
          <a:ln w="12700">
            <a:solidFill>
              <a:srgbClr val="1B64A8"/>
            </a:solidFill>
            <a:prstDash val="solid"/>
          </a:ln>
        </p:spPr>
      </p:sp>
      <p:sp>
        <p:nvSpPr>
          <p:cNvPr id="33" name="Text 31"/>
          <p:cNvSpPr txBox="1"/>
          <p:nvPr/>
        </p:nvSpPr>
        <p:spPr>
          <a:xfrm>
            <a:off x="4754880" y="2788920"/>
            <a:ext cx="2743200" cy="219456"/>
          </a:xfrm>
          <a:prstGeom prst="rect">
            <a:avLst/>
          </a:prstGeom>
          <a:noFill/>
          <a:ln/>
        </p:spPr>
        <p:txBody>
          <a:bodyPr wrap="square" lIns="0" tIns="0" rIns="0" bIns="0" rtlCol="0" anchor="ctr"/>
          <a:lstStyle/>
          <a:p>
            <a:pPr indent="0" marL="0">
              <a:buNone/>
            </a:pPr>
            <a:r>
              <a:rPr lang="en-US" sz="780" dirty="0">
                <a:solidFill>
                  <a:srgbClr val="A3B3BE"/>
                </a:solidFill>
                <a:latin typeface="Space Mono" pitchFamily="34" charset="0"/>
                <a:ea typeface="Space Mono" pitchFamily="34" charset="-122"/>
                <a:cs typeface="Space Mono" pitchFamily="34" charset="-120"/>
              </a:rPr>
              <a:t>Rev B + ~150 test boards</a:t>
            </a:r>
            <a:endParaRPr lang="en-US" sz="780" dirty="0"/>
          </a:p>
        </p:txBody>
      </p:sp>
      <p:sp>
        <p:nvSpPr>
          <p:cNvPr id="34" name="Text 32"/>
          <p:cNvSpPr txBox="1"/>
          <p:nvPr/>
        </p:nvSpPr>
        <p:spPr>
          <a:xfrm>
            <a:off x="7680960" y="2788920"/>
            <a:ext cx="1051560" cy="219456"/>
          </a:xfrm>
          <a:prstGeom prst="rect">
            <a:avLst/>
          </a:prstGeom>
          <a:noFill/>
          <a:ln/>
        </p:spPr>
        <p:txBody>
          <a:bodyPr wrap="square" lIns="0" tIns="0" rIns="0" bIns="0" rtlCol="0" anchor="ctr"/>
          <a:lstStyle/>
          <a:p>
            <a:pPr algn="r" indent="0" marL="0">
              <a:buNone/>
            </a:pPr>
            <a:r>
              <a:rPr lang="en-US" sz="900" b="1" dirty="0">
                <a:solidFill>
                  <a:srgbClr val="E8EEF2"/>
                </a:solidFill>
                <a:latin typeface="Space Grotesk" pitchFamily="34" charset="0"/>
                <a:ea typeface="Space Grotesk" pitchFamily="34" charset="-122"/>
                <a:cs typeface="Space Grotesk" pitchFamily="34" charset="-120"/>
              </a:rPr>
              <a:t>₹1.60L</a:t>
            </a:r>
            <a:endParaRPr lang="en-US" sz="900" dirty="0"/>
          </a:p>
        </p:txBody>
      </p:sp>
      <p:sp>
        <p:nvSpPr>
          <p:cNvPr id="35" name="Shape 33"/>
          <p:cNvSpPr/>
          <p:nvPr/>
        </p:nvSpPr>
        <p:spPr>
          <a:xfrm>
            <a:off x="4572000" y="3072384"/>
            <a:ext cx="109728" cy="109728"/>
          </a:xfrm>
          <a:prstGeom prst="rect">
            <a:avLst/>
          </a:prstGeom>
          <a:solidFill>
            <a:srgbClr val="D9D2C5"/>
          </a:solidFill>
          <a:ln w="12700">
            <a:solidFill>
              <a:srgbClr val="D9D2C5"/>
            </a:solidFill>
            <a:prstDash val="solid"/>
          </a:ln>
        </p:spPr>
      </p:sp>
      <p:sp>
        <p:nvSpPr>
          <p:cNvPr id="36" name="Text 34"/>
          <p:cNvSpPr txBox="1"/>
          <p:nvPr/>
        </p:nvSpPr>
        <p:spPr>
          <a:xfrm>
            <a:off x="4754880" y="3017520"/>
            <a:ext cx="2743200" cy="219456"/>
          </a:xfrm>
          <a:prstGeom prst="rect">
            <a:avLst/>
          </a:prstGeom>
          <a:noFill/>
          <a:ln/>
        </p:spPr>
        <p:txBody>
          <a:bodyPr wrap="square" lIns="0" tIns="0" rIns="0" bIns="0" rtlCol="0" anchor="ctr"/>
          <a:lstStyle/>
          <a:p>
            <a:pPr indent="0" marL="0">
              <a:buNone/>
            </a:pPr>
            <a:r>
              <a:rPr lang="en-US" sz="780" dirty="0">
                <a:solidFill>
                  <a:srgbClr val="A3B3BE"/>
                </a:solidFill>
                <a:latin typeface="Space Mono" pitchFamily="34" charset="0"/>
                <a:ea typeface="Space Mono" pitchFamily="34" charset="-122"/>
                <a:cs typeface="Space Mono" pitchFamily="34" charset="-120"/>
              </a:rPr>
              <a:t>software + firmware engineer</a:t>
            </a:r>
            <a:endParaRPr lang="en-US" sz="780" dirty="0"/>
          </a:p>
        </p:txBody>
      </p:sp>
      <p:sp>
        <p:nvSpPr>
          <p:cNvPr id="37" name="Text 35"/>
          <p:cNvSpPr txBox="1"/>
          <p:nvPr/>
        </p:nvSpPr>
        <p:spPr>
          <a:xfrm>
            <a:off x="7680960" y="3017520"/>
            <a:ext cx="1051560" cy="219456"/>
          </a:xfrm>
          <a:prstGeom prst="rect">
            <a:avLst/>
          </a:prstGeom>
          <a:noFill/>
          <a:ln/>
        </p:spPr>
        <p:txBody>
          <a:bodyPr wrap="square" lIns="0" tIns="0" rIns="0" bIns="0" rtlCol="0" anchor="ctr"/>
          <a:lstStyle/>
          <a:p>
            <a:pPr algn="r" indent="0" marL="0">
              <a:buNone/>
            </a:pPr>
            <a:r>
              <a:rPr lang="en-US" sz="900" b="1" dirty="0">
                <a:solidFill>
                  <a:srgbClr val="E8EEF2"/>
                </a:solidFill>
                <a:latin typeface="Space Grotesk" pitchFamily="34" charset="0"/>
                <a:ea typeface="Space Grotesk" pitchFamily="34" charset="-122"/>
                <a:cs typeface="Space Grotesk" pitchFamily="34" charset="-120"/>
              </a:rPr>
              <a:t>₹4.50L</a:t>
            </a:r>
            <a:endParaRPr lang="en-US" sz="900" dirty="0"/>
          </a:p>
        </p:txBody>
      </p:sp>
      <p:sp>
        <p:nvSpPr>
          <p:cNvPr id="38" name="Shape 36"/>
          <p:cNvSpPr/>
          <p:nvPr/>
        </p:nvSpPr>
        <p:spPr>
          <a:xfrm>
            <a:off x="4572000" y="3300984"/>
            <a:ext cx="109728" cy="109728"/>
          </a:xfrm>
          <a:prstGeom prst="rect">
            <a:avLst/>
          </a:prstGeom>
          <a:solidFill>
            <a:srgbClr val="C08A12"/>
          </a:solidFill>
          <a:ln w="12700">
            <a:solidFill>
              <a:srgbClr val="C08A12"/>
            </a:solidFill>
            <a:prstDash val="solid"/>
          </a:ln>
        </p:spPr>
      </p:sp>
      <p:sp>
        <p:nvSpPr>
          <p:cNvPr id="39" name="Text 37"/>
          <p:cNvSpPr txBox="1"/>
          <p:nvPr/>
        </p:nvSpPr>
        <p:spPr>
          <a:xfrm>
            <a:off x="4754880" y="3246120"/>
            <a:ext cx="2743200" cy="219456"/>
          </a:xfrm>
          <a:prstGeom prst="rect">
            <a:avLst/>
          </a:prstGeom>
          <a:noFill/>
          <a:ln/>
        </p:spPr>
        <p:txBody>
          <a:bodyPr wrap="square" lIns="0" tIns="0" rIns="0" bIns="0" rtlCol="0" anchor="ctr"/>
          <a:lstStyle/>
          <a:p>
            <a:pPr indent="0" marL="0">
              <a:buNone/>
            </a:pPr>
            <a:r>
              <a:rPr lang="en-US" sz="780" dirty="0">
                <a:solidFill>
                  <a:srgbClr val="A3B3BE"/>
                </a:solidFill>
                <a:latin typeface="Space Mono" pitchFamily="34" charset="0"/>
                <a:ea typeface="Space Mono" pitchFamily="34" charset="-122"/>
                <a:cs typeface="Space Mono" pitchFamily="34" charset="-120"/>
              </a:rPr>
              <a:t>Proto software + compute</a:t>
            </a:r>
            <a:endParaRPr lang="en-US" sz="780" dirty="0"/>
          </a:p>
        </p:txBody>
      </p:sp>
      <p:sp>
        <p:nvSpPr>
          <p:cNvPr id="40" name="Text 38"/>
          <p:cNvSpPr txBox="1"/>
          <p:nvPr/>
        </p:nvSpPr>
        <p:spPr>
          <a:xfrm>
            <a:off x="7680960" y="3246120"/>
            <a:ext cx="1051560" cy="219456"/>
          </a:xfrm>
          <a:prstGeom prst="rect">
            <a:avLst/>
          </a:prstGeom>
          <a:noFill/>
          <a:ln/>
        </p:spPr>
        <p:txBody>
          <a:bodyPr wrap="square" lIns="0" tIns="0" rIns="0" bIns="0" rtlCol="0" anchor="ctr"/>
          <a:lstStyle/>
          <a:p>
            <a:pPr algn="r" indent="0" marL="0">
              <a:buNone/>
            </a:pPr>
            <a:r>
              <a:rPr lang="en-US" sz="900" b="1" dirty="0">
                <a:solidFill>
                  <a:srgbClr val="E8EEF2"/>
                </a:solidFill>
                <a:latin typeface="Space Grotesk" pitchFamily="34" charset="0"/>
                <a:ea typeface="Space Grotesk" pitchFamily="34" charset="-122"/>
                <a:cs typeface="Space Grotesk" pitchFamily="34" charset="-120"/>
              </a:rPr>
              <a:t>₹1.35L</a:t>
            </a:r>
            <a:endParaRPr lang="en-US" sz="900" dirty="0"/>
          </a:p>
        </p:txBody>
      </p:sp>
      <p:sp>
        <p:nvSpPr>
          <p:cNvPr id="41" name="Shape 39"/>
          <p:cNvSpPr/>
          <p:nvPr/>
        </p:nvSpPr>
        <p:spPr>
          <a:xfrm>
            <a:off x="4572000" y="3529584"/>
            <a:ext cx="109728" cy="109728"/>
          </a:xfrm>
          <a:prstGeom prst="rect">
            <a:avLst/>
          </a:prstGeom>
          <a:solidFill>
            <a:srgbClr val="9C8F7C"/>
          </a:solidFill>
          <a:ln w="12700">
            <a:solidFill>
              <a:srgbClr val="9C8F7C"/>
            </a:solidFill>
            <a:prstDash val="solid"/>
          </a:ln>
        </p:spPr>
      </p:sp>
      <p:sp>
        <p:nvSpPr>
          <p:cNvPr id="42" name="Text 40"/>
          <p:cNvSpPr txBox="1"/>
          <p:nvPr/>
        </p:nvSpPr>
        <p:spPr>
          <a:xfrm>
            <a:off x="4754880" y="3474720"/>
            <a:ext cx="2743200" cy="219456"/>
          </a:xfrm>
          <a:prstGeom prst="rect">
            <a:avLst/>
          </a:prstGeom>
          <a:noFill/>
          <a:ln/>
        </p:spPr>
        <p:txBody>
          <a:bodyPr wrap="square" lIns="0" tIns="0" rIns="0" bIns="0" rtlCol="0" anchor="ctr"/>
          <a:lstStyle/>
          <a:p>
            <a:pPr indent="0" marL="0">
              <a:buNone/>
            </a:pPr>
            <a:r>
              <a:rPr lang="en-US" sz="780" dirty="0">
                <a:solidFill>
                  <a:srgbClr val="A3B3BE"/>
                </a:solidFill>
                <a:latin typeface="Space Mono" pitchFamily="34" charset="0"/>
                <a:ea typeface="Space Mono" pitchFamily="34" charset="-122"/>
                <a:cs typeface="Space Mono" pitchFamily="34" charset="-120"/>
              </a:rPr>
              <a:t>testing, tooling, lab safety</a:t>
            </a:r>
            <a:endParaRPr lang="en-US" sz="780" dirty="0"/>
          </a:p>
        </p:txBody>
      </p:sp>
      <p:sp>
        <p:nvSpPr>
          <p:cNvPr id="43" name="Text 41"/>
          <p:cNvSpPr txBox="1"/>
          <p:nvPr/>
        </p:nvSpPr>
        <p:spPr>
          <a:xfrm>
            <a:off x="7680960" y="3474720"/>
            <a:ext cx="1051560" cy="219456"/>
          </a:xfrm>
          <a:prstGeom prst="rect">
            <a:avLst/>
          </a:prstGeom>
          <a:noFill/>
          <a:ln/>
        </p:spPr>
        <p:txBody>
          <a:bodyPr wrap="square" lIns="0" tIns="0" rIns="0" bIns="0" rtlCol="0" anchor="ctr"/>
          <a:lstStyle/>
          <a:p>
            <a:pPr algn="r" indent="0" marL="0">
              <a:buNone/>
            </a:pPr>
            <a:r>
              <a:rPr lang="en-US" sz="900" b="1" dirty="0">
                <a:solidFill>
                  <a:srgbClr val="E8EEF2"/>
                </a:solidFill>
                <a:latin typeface="Space Grotesk" pitchFamily="34" charset="0"/>
                <a:ea typeface="Space Grotesk" pitchFamily="34" charset="-122"/>
                <a:cs typeface="Space Grotesk" pitchFamily="34" charset="-120"/>
              </a:rPr>
              <a:t>₹1.50L</a:t>
            </a:r>
            <a:endParaRPr lang="en-US" sz="900" dirty="0"/>
          </a:p>
        </p:txBody>
      </p:sp>
      <p:sp>
        <p:nvSpPr>
          <p:cNvPr id="44" name="Shape 42"/>
          <p:cNvSpPr/>
          <p:nvPr/>
        </p:nvSpPr>
        <p:spPr>
          <a:xfrm>
            <a:off x="4572000" y="3758184"/>
            <a:ext cx="109728" cy="109728"/>
          </a:xfrm>
          <a:prstGeom prst="rect">
            <a:avLst/>
          </a:prstGeom>
          <a:solidFill>
            <a:srgbClr val="60A05A"/>
          </a:solidFill>
          <a:ln w="12700">
            <a:solidFill>
              <a:srgbClr val="60A05A"/>
            </a:solidFill>
            <a:prstDash val="solid"/>
          </a:ln>
        </p:spPr>
      </p:sp>
      <p:sp>
        <p:nvSpPr>
          <p:cNvPr id="45" name="Text 43"/>
          <p:cNvSpPr txBox="1"/>
          <p:nvPr/>
        </p:nvSpPr>
        <p:spPr>
          <a:xfrm>
            <a:off x="4754880" y="3703320"/>
            <a:ext cx="2743200" cy="219456"/>
          </a:xfrm>
          <a:prstGeom prst="rect">
            <a:avLst/>
          </a:prstGeom>
          <a:noFill/>
          <a:ln/>
        </p:spPr>
        <p:txBody>
          <a:bodyPr wrap="square" lIns="0" tIns="0" rIns="0" bIns="0" rtlCol="0" anchor="ctr"/>
          <a:lstStyle/>
          <a:p>
            <a:pPr indent="0" marL="0">
              <a:buNone/>
            </a:pPr>
            <a:r>
              <a:rPr lang="en-US" sz="780" dirty="0">
                <a:solidFill>
                  <a:srgbClr val="A3B3BE"/>
                </a:solidFill>
                <a:latin typeface="Space Mono" pitchFamily="34" charset="0"/>
                <a:ea typeface="Space Mono" pitchFamily="34" charset="-122"/>
                <a:cs typeface="Space Mono" pitchFamily="34" charset="-120"/>
              </a:rPr>
              <a:t>IP, outreach, reserve</a:t>
            </a:r>
            <a:endParaRPr lang="en-US" sz="780" dirty="0"/>
          </a:p>
        </p:txBody>
      </p:sp>
      <p:sp>
        <p:nvSpPr>
          <p:cNvPr id="46" name="Text 44"/>
          <p:cNvSpPr txBox="1"/>
          <p:nvPr/>
        </p:nvSpPr>
        <p:spPr>
          <a:xfrm>
            <a:off x="7680960" y="3703320"/>
            <a:ext cx="1051560" cy="219456"/>
          </a:xfrm>
          <a:prstGeom prst="rect">
            <a:avLst/>
          </a:prstGeom>
          <a:noFill/>
          <a:ln/>
        </p:spPr>
        <p:txBody>
          <a:bodyPr wrap="square" lIns="0" tIns="0" rIns="0" bIns="0" rtlCol="0" anchor="ctr"/>
          <a:lstStyle/>
          <a:p>
            <a:pPr algn="r" indent="0" marL="0">
              <a:buNone/>
            </a:pPr>
            <a:r>
              <a:rPr lang="en-US" sz="900" b="1" dirty="0">
                <a:solidFill>
                  <a:srgbClr val="E8EEF2"/>
                </a:solidFill>
                <a:latin typeface="Space Grotesk" pitchFamily="34" charset="0"/>
                <a:ea typeface="Space Grotesk" pitchFamily="34" charset="-122"/>
                <a:cs typeface="Space Grotesk" pitchFamily="34" charset="-120"/>
              </a:rPr>
              <a:t>₹2.32L</a:t>
            </a:r>
            <a:endParaRPr lang="en-US" sz="900" dirty="0"/>
          </a:p>
        </p:txBody>
      </p:sp>
      <p:sp>
        <p:nvSpPr>
          <p:cNvPr id="47" name="Shape 45"/>
          <p:cNvSpPr/>
          <p:nvPr/>
        </p:nvSpPr>
        <p:spPr>
          <a:xfrm>
            <a:off x="4572000" y="4005072"/>
            <a:ext cx="4160520" cy="548640"/>
          </a:xfrm>
          <a:prstGeom prst="rect">
            <a:avLst/>
          </a:prstGeom>
          <a:solidFill>
            <a:srgbClr val="121A21"/>
          </a:solidFill>
          <a:ln w="9525">
            <a:solidFill>
              <a:srgbClr val="1F2A32"/>
            </a:solidFill>
            <a:prstDash val="solid"/>
          </a:ln>
        </p:spPr>
      </p:sp>
      <p:sp>
        <p:nvSpPr>
          <p:cNvPr id="48" name="Text 46"/>
          <p:cNvSpPr txBox="1"/>
          <p:nvPr/>
        </p:nvSpPr>
        <p:spPr>
          <a:xfrm>
            <a:off x="4681728" y="4005072"/>
            <a:ext cx="3977640" cy="548640"/>
          </a:xfrm>
          <a:prstGeom prst="rect">
            <a:avLst/>
          </a:prstGeom>
          <a:noFill/>
          <a:ln/>
        </p:spPr>
        <p:txBody>
          <a:bodyPr wrap="square" lIns="0" tIns="0" rIns="0" bIns="0" rtlCol="0" anchor="ctr"/>
          <a:lstStyle/>
          <a:p>
            <a:pPr indent="0" marL="0">
              <a:buNone/>
            </a:pPr>
            <a:r>
              <a:rPr lang="en-US" sz="850" b="1" dirty="0">
                <a:solidFill>
                  <a:srgbClr val="F2C230"/>
                </a:solidFill>
                <a:latin typeface="Space Grotesk" pitchFamily="34" charset="0"/>
                <a:ea typeface="Space Grotesk" pitchFamily="34" charset="-122"/>
                <a:cs typeface="Space Grotesk" pitchFamily="34" charset="-120"/>
              </a:rPr>
              <a:t>IF THE ROUND IS ₹10L  </a:t>
            </a:r>
            <a:r>
              <a:rPr lang="en-US" sz="850" dirty="0">
                <a:solidFill>
                  <a:srgbClr val="E8EEF2"/>
                </a:solidFill>
                <a:latin typeface="Space Grotesk" pitchFamily="34" charset="0"/>
                <a:ea typeface="Space Grotesk" pitchFamily="34" charset="-122"/>
                <a:cs typeface="Space Grotesk" pitchFamily="34" charset="-120"/>
              </a:rPr>
              <a:t>​</a:t>
            </a:r>
            <a:r>
              <a:rPr lang="en-US" sz="850" u="sng" dirty="0">
                <a:solidFill>
                  <a:srgbClr val="CF8F4E"/>
                </a:solidFill>
                <a:latin typeface="Space Grotesk" pitchFamily="34" charset="0"/>
                <a:ea typeface="Space Grotesk" pitchFamily="34" charset="-122"/>
                <a:cs typeface="Space Grotesk" pitchFamily="34" charset="-120"/>
                <a:hlinkClick r:id="rId8"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850" dirty="0">
                <a:solidFill>
                  <a:srgbClr val="E8EEF2"/>
                </a:solidFill>
                <a:latin typeface="Space Grotesk" pitchFamily="34" charset="0"/>
                <a:ea typeface="Space Grotesk" pitchFamily="34" charset="-122"/>
                <a:cs typeface="Space Grotesk" pitchFamily="34" charset="-120"/>
              </a:rPr>
              <a:t> ₹3.73L + Rev B ₹1.0L + engineer for 6 months ₹3.0L + compute ₹0.9L + testing ₹1.0L + reserve ₹0.37L. No lab set-up, IP or outreach yet.</a:t>
            </a:r>
            <a:endParaRPr lang="en-US" sz="850" dirty="0"/>
          </a:p>
        </p:txBody>
      </p:sp>
      <p:sp>
        <p:nvSpPr>
          <p:cNvPr id="49" name="Text 47"/>
          <p:cNvSpPr txBox="1"/>
          <p:nvPr/>
        </p:nvSpPr>
        <p:spPr>
          <a:xfrm>
            <a:off x="411480" y="4773168"/>
            <a:ext cx="8321040" cy="182880"/>
          </a:xfrm>
          <a:prstGeom prst="rect">
            <a:avLst/>
          </a:prstGeom>
          <a:noFill/>
          <a:ln/>
        </p:spPr>
        <p:txBody>
          <a:bodyPr wrap="square" lIns="0" tIns="0" rIns="0" bIns="0" rtlCol="0" anchor="t"/>
          <a:lstStyle/>
          <a:p>
            <a:pPr indent="0" marL="0">
              <a:buNone/>
            </a:pPr>
            <a:r>
              <a:rPr lang="en-US" sz="650" dirty="0">
                <a:solidFill>
                  <a:srgbClr val="6E7A83"/>
                </a:solidFill>
                <a:latin typeface="Space Mono" pitchFamily="34" charset="0"/>
                <a:ea typeface="Space Mono" pitchFamily="34" charset="-122"/>
                <a:cs typeface="Space Mono" pitchFamily="34" charset="-120"/>
              </a:rPr>
              <a:t>PoC Budget sheet, BOM &amp; Costing workbook. Baker build </a:t>
            </a:r>
            <a:r>
              <a:rPr lang="en-US" sz="650" dirty="0">
                <a:solidFill>
                  <a:srgbClr val="6E7A83"/>
                </a:solidFill>
                <a:latin typeface="Space Grotesk" pitchFamily="34" charset="0"/>
                <a:ea typeface="Space Grotesk" pitchFamily="34" charset="-122"/>
                <a:cs typeface="Space Grotesk" pitchFamily="34" charset="-120"/>
              </a:rPr>
              <a:t>₹</a:t>
            </a:r>
            <a:r>
              <a:rPr lang="en-US" sz="650" dirty="0">
                <a:solidFill>
                  <a:srgbClr val="6E7A83"/>
                </a:solidFill>
                <a:latin typeface="Space Mono" pitchFamily="34" charset="0"/>
                <a:ea typeface="Space Mono" pitchFamily="34" charset="-122"/>
                <a:cs typeface="Space Mono" pitchFamily="34" charset="-120"/>
              </a:rPr>
              <a:t>3,73,418 includes 35% duty/courier on imports and 15% contingency.</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216"/>
        </a:solidFill>
      </p:bgPr>
    </p:bg>
    <p:spTree>
      <p:nvGrpSpPr>
        <p:cNvPr id="1" name=""/>
        <p:cNvGrpSpPr/>
        <p:nvPr/>
      </p:nvGrpSpPr>
      <p:grpSpPr>
        <a:xfrm>
          <a:off x="0" y="0"/>
          <a:ext cx="0" cy="0"/>
          <a:chOff x="0" y="0"/>
          <a:chExt cx="0" cy="0"/>
        </a:xfrm>
      </p:grpSpPr>
      <p:sp>
        <p:nvSpPr>
          <p:cNvPr id="2" name="Text 0"/>
          <p:cNvSpPr txBox="1"/>
          <p:nvPr/>
        </p:nvSpPr>
        <p:spPr>
          <a:xfrm>
            <a:off x="411480" y="347472"/>
            <a:ext cx="8321040" cy="182880"/>
          </a:xfrm>
          <a:prstGeom prst="rect">
            <a:avLst/>
          </a:prstGeom>
          <a:noFill/>
          <a:ln/>
        </p:spPr>
        <p:txBody>
          <a:bodyPr wrap="square" lIns="0" tIns="0" rIns="0" bIns="0" rtlCol="0" anchor="t"/>
          <a:lstStyle/>
          <a:p>
            <a:pPr indent="0" marL="0">
              <a:buNone/>
            </a:pPr>
            <a:r>
              <a:rPr lang="en-US" sz="850" spc="250" kern="0" dirty="0">
                <a:solidFill>
                  <a:srgbClr val="CF8F4E"/>
                </a:solidFill>
                <a:latin typeface="Space Mono" pitchFamily="34" charset="0"/>
                <a:ea typeface="Space Mono" pitchFamily="34" charset="-122"/>
                <a:cs typeface="Space Mono" pitchFamily="34" charset="-120"/>
              </a:rPr>
              <a:t>QUESTION 04 · COMPETITION AND MARKET</a:t>
            </a:r>
            <a:endParaRPr lang="en-US" sz="850" dirty="0"/>
          </a:p>
        </p:txBody>
      </p:sp>
      <p:sp>
        <p:nvSpPr>
          <p:cNvPr id="3" name="Text 1"/>
          <p:cNvSpPr txBox="1"/>
          <p:nvPr/>
        </p:nvSpPr>
        <p:spPr>
          <a:xfrm>
            <a:off x="411480" y="713232"/>
            <a:ext cx="3749040" cy="164592"/>
          </a:xfrm>
          <a:prstGeom prst="rect">
            <a:avLst/>
          </a:prstGeom>
          <a:noFill/>
          <a:ln/>
        </p:spPr>
        <p:txBody>
          <a:bodyPr wrap="square" lIns="0" tIns="0" rIns="0" bIns="0" rtlCol="0" anchor="t"/>
          <a:lstStyle/>
          <a:p>
            <a:pPr indent="0" marL="0">
              <a:buNone/>
            </a:pPr>
            <a:r>
              <a:rPr lang="en-US" sz="750" spc="200" kern="0" dirty="0">
                <a:solidFill>
                  <a:srgbClr val="6E7A83"/>
                </a:solidFill>
                <a:latin typeface="Space Mono" pitchFamily="34" charset="0"/>
                <a:ea typeface="Space Mono" pitchFamily="34" charset="-122"/>
                <a:cs typeface="Space Mono" pitchFamily="34" charset="-120"/>
              </a:rPr>
              <a:t>SIR, YOU ASKED</a:t>
            </a:r>
            <a:endParaRPr lang="en-US" sz="750" dirty="0"/>
          </a:p>
        </p:txBody>
      </p:sp>
      <p:sp>
        <p:nvSpPr>
          <p:cNvPr id="4" name="Shape 2"/>
          <p:cNvSpPr/>
          <p:nvPr/>
        </p:nvSpPr>
        <p:spPr>
          <a:xfrm>
            <a:off x="411480" y="941832"/>
            <a:ext cx="32004" cy="457200"/>
          </a:xfrm>
          <a:prstGeom prst="rect">
            <a:avLst/>
          </a:prstGeom>
          <a:solidFill>
            <a:srgbClr val="F2C230"/>
          </a:solidFill>
          <a:ln w="12700">
            <a:solidFill>
              <a:srgbClr val="F2C230"/>
            </a:solidFill>
            <a:prstDash val="solid"/>
          </a:ln>
        </p:spPr>
      </p:sp>
      <p:sp>
        <p:nvSpPr>
          <p:cNvPr id="5" name="Text 3"/>
          <p:cNvSpPr txBox="1"/>
          <p:nvPr/>
        </p:nvSpPr>
        <p:spPr>
          <a:xfrm>
            <a:off x="548640" y="914400"/>
            <a:ext cx="3611880" cy="457200"/>
          </a:xfrm>
          <a:prstGeom prst="rect">
            <a:avLst/>
          </a:prstGeom>
          <a:noFill/>
          <a:ln/>
        </p:spPr>
        <p:txBody>
          <a:bodyPr wrap="square" lIns="0" tIns="0" rIns="0" bIns="0" rtlCol="0" anchor="t"/>
          <a:lstStyle/>
          <a:p>
            <a:pPr indent="0" marL="0">
              <a:lnSpc>
                <a:spcPct val="105000"/>
              </a:lnSpc>
              <a:buNone/>
            </a:pPr>
            <a:r>
              <a:rPr lang="en-US" sz="1200" i="1" dirty="0">
                <a:solidFill>
                  <a:srgbClr val="8FB3C9"/>
                </a:solidFill>
                <a:latin typeface="Space Grotesk" pitchFamily="34" charset="0"/>
                <a:ea typeface="Space Grotesk" pitchFamily="34" charset="-122"/>
                <a:cs typeface="Space Grotesk" pitchFamily="34" charset="-120"/>
              </a:rPr>
              <a:t>“I think a thorough competition analysis and market study is needed.”</a:t>
            </a:r>
            <a:endParaRPr lang="en-US" sz="1200" dirty="0"/>
          </a:p>
        </p:txBody>
      </p:sp>
      <p:sp>
        <p:nvSpPr>
          <p:cNvPr id="6" name="Text 4"/>
          <p:cNvSpPr txBox="1"/>
          <p:nvPr/>
        </p:nvSpPr>
        <p:spPr>
          <a:xfrm>
            <a:off x="411480" y="1508760"/>
            <a:ext cx="3749040" cy="164592"/>
          </a:xfrm>
          <a:prstGeom prst="rect">
            <a:avLst/>
          </a:prstGeom>
          <a:noFill/>
          <a:ln/>
        </p:spPr>
        <p:txBody>
          <a:bodyPr wrap="square" lIns="0" tIns="0" rIns="0" bIns="0" rtlCol="0" anchor="t"/>
          <a:lstStyle/>
          <a:p>
            <a:pPr indent="0" marL="0">
              <a:buNone/>
            </a:pPr>
            <a:r>
              <a:rPr lang="en-US" sz="750" spc="200" kern="0" dirty="0">
                <a:solidFill>
                  <a:srgbClr val="F2C230"/>
                </a:solidFill>
                <a:latin typeface="Space Mono" pitchFamily="34" charset="0"/>
                <a:ea typeface="Space Mono" pitchFamily="34" charset="-122"/>
                <a:cs typeface="Space Mono" pitchFamily="34" charset="-120"/>
              </a:rPr>
              <a:t>I CAN ANSWER</a:t>
            </a:r>
            <a:endParaRPr lang="en-US" sz="750" dirty="0"/>
          </a:p>
        </p:txBody>
      </p:sp>
      <p:sp>
        <p:nvSpPr>
          <p:cNvPr id="7" name="Text 5"/>
          <p:cNvSpPr txBox="1"/>
          <p:nvPr/>
        </p:nvSpPr>
        <p:spPr>
          <a:xfrm>
            <a:off x="411480" y="1746504"/>
            <a:ext cx="3794760" cy="2825496"/>
          </a:xfrm>
          <a:prstGeom prst="rect">
            <a:avLst/>
          </a:prstGeom>
          <a:noFill/>
          <a:ln/>
        </p:spPr>
        <p:txBody>
          <a:bodyPr wrap="square" lIns="0" tIns="0" rIns="0" bIns="0" rtlCol="0" anchor="t"/>
          <a:lstStyle/>
          <a:p>
            <a:pPr indent="0" marL="0">
              <a:lnSpc>
                <a:spcPct val="108000"/>
              </a:lnSpc>
              <a:buNone/>
            </a:pPr>
            <a:r>
              <a:rPr lang="en-US" sz="1250" dirty="0">
                <a:solidFill>
                  <a:srgbClr val="E8EEF2"/>
                </a:solidFill>
                <a:latin typeface="Space Grotesk" pitchFamily="34" charset="0"/>
                <a:ea typeface="Space Grotesk" pitchFamily="34" charset="-122"/>
                <a:cs typeface="Space Grotesk" pitchFamily="34" charset="-120"/>
              </a:rPr>
              <a:t>We did the study, sir. Every competitor solves one step: a mill makes a bare board, a placer places parts, a USB instrument measures, a fab ships in weeks, and an AI tool stops at the file. Nobody runs the whole loop, and nobody lets an AI drive the machines. That is where we are different. Our beachhead alone is about 8,000 buyers in India.</a:t>
            </a:r>
            <a:endParaRPr lang="en-US" sz="1250" dirty="0"/>
          </a:p>
        </p:txBody>
      </p:sp>
      <p:sp>
        <p:nvSpPr>
          <p:cNvPr id="8" name="Shape 6"/>
          <p:cNvSpPr/>
          <p:nvPr/>
        </p:nvSpPr>
        <p:spPr>
          <a:xfrm>
            <a:off x="4407408" y="731520"/>
            <a:ext cx="0" cy="3886200"/>
          </a:xfrm>
          <a:prstGeom prst="line">
            <a:avLst/>
          </a:prstGeom>
          <a:noFill/>
          <a:ln w="9525">
            <a:solidFill>
              <a:srgbClr val="1F2A32"/>
            </a:solidFill>
            <a:prstDash val="solid"/>
          </a:ln>
        </p:spPr>
      </p:sp>
      <p:sp>
        <p:nvSpPr>
          <p:cNvPr id="9" name="Text 7"/>
          <p:cNvSpPr txBox="1"/>
          <p:nvPr/>
        </p:nvSpPr>
        <p:spPr>
          <a:xfrm>
            <a:off x="4572000" y="713232"/>
            <a:ext cx="4114800" cy="164592"/>
          </a:xfrm>
          <a:prstGeom prst="rect">
            <a:avLst/>
          </a:prstGeom>
          <a:noFill/>
          <a:ln/>
        </p:spPr>
        <p:txBody>
          <a:bodyPr wrap="square" lIns="0" tIns="0" rIns="0" bIns="0" rtlCol="0" anchor="t"/>
          <a:lstStyle/>
          <a:p>
            <a:pPr indent="0" marL="0">
              <a:buNone/>
            </a:pPr>
            <a:r>
              <a:rPr lang="en-US" sz="750" spc="200" kern="0" dirty="0">
                <a:solidFill>
                  <a:srgbClr val="CF8F4E"/>
                </a:solidFill>
                <a:latin typeface="Space Mono" pitchFamily="34" charset="0"/>
                <a:ea typeface="Space Mono" pitchFamily="34" charset="-122"/>
                <a:cs typeface="Space Mono" pitchFamily="34" charset="-120"/>
              </a:rPr>
              <a:t>TO JUSTIFY</a:t>
            </a:r>
            <a:endParaRPr lang="en-US" sz="750" dirty="0"/>
          </a:p>
        </p:txBody>
      </p:sp>
      <p:sp>
        <p:nvSpPr>
          <p:cNvPr id="10" name="Text 8"/>
          <p:cNvSpPr txBox="1"/>
          <p:nvPr/>
        </p:nvSpPr>
        <p:spPr>
          <a:xfrm>
            <a:off x="4572000" y="960120"/>
            <a:ext cx="1024128" cy="274320"/>
          </a:xfrm>
          <a:prstGeom prst="rect">
            <a:avLst/>
          </a:prstGeom>
          <a:noFill/>
          <a:ln/>
        </p:spPr>
        <p:txBody>
          <a:bodyPr wrap="square" lIns="0" tIns="0" rIns="0" bIns="0" rtlCol="0" anchor="t"/>
          <a:lstStyle/>
          <a:p>
            <a:pPr indent="0" marL="0">
              <a:buNone/>
            </a:pPr>
            <a:r>
              <a:rPr lang="en-US" sz="1300" b="1" dirty="0">
                <a:solidFill>
                  <a:srgbClr val="E8EEF2"/>
                </a:solidFill>
                <a:latin typeface="Space Grotesk" pitchFamily="34" charset="0"/>
                <a:ea typeface="Space Grotesk" pitchFamily="34" charset="-122"/>
                <a:cs typeface="Space Grotesk" pitchFamily="34" charset="-120"/>
              </a:rPr>
              <a:t>₹6.4L cr</a:t>
            </a:r>
            <a:endParaRPr lang="en-US" sz="1300" dirty="0"/>
          </a:p>
        </p:txBody>
      </p:sp>
      <p:sp>
        <p:nvSpPr>
          <p:cNvPr id="11" name="Text 9"/>
          <p:cNvSpPr txBox="1"/>
          <p:nvPr/>
        </p:nvSpPr>
        <p:spPr>
          <a:xfrm>
            <a:off x="4572000" y="1243584"/>
            <a:ext cx="1005840" cy="274320"/>
          </a:xfrm>
          <a:prstGeom prst="rect">
            <a:avLst/>
          </a:prstGeom>
          <a:noFill/>
          <a:ln/>
        </p:spPr>
        <p:txBody>
          <a:bodyPr wrap="square" lIns="0" tIns="0" rIns="0" bIns="0" rtlCol="0" anchor="t"/>
          <a:lstStyle/>
          <a:p>
            <a:pPr indent="0" marL="0">
              <a:buNone/>
            </a:pPr>
            <a:r>
              <a:rPr lang="en-US" sz="650" dirty="0">
                <a:solidFill>
                  <a:srgbClr val="6E7A83"/>
                </a:solidFill>
                <a:latin typeface="Space Mono" pitchFamily="34" charset="0"/>
                <a:ea typeface="Space Mono" pitchFamily="34" charset="-122"/>
                <a:cs typeface="Space Mono" pitchFamily="34" charset="-120"/>
              </a:rPr>
              <a:t>global PCB</a:t>
            </a:r>
            <a:endParaRPr lang="en-US" sz="650" dirty="0"/>
          </a:p>
        </p:txBody>
      </p:sp>
      <p:sp>
        <p:nvSpPr>
          <p:cNvPr id="12" name="Text 10"/>
          <p:cNvSpPr txBox="1"/>
          <p:nvPr/>
        </p:nvSpPr>
        <p:spPr>
          <a:xfrm>
            <a:off x="5623560" y="960120"/>
            <a:ext cx="1024128" cy="274320"/>
          </a:xfrm>
          <a:prstGeom prst="rect">
            <a:avLst/>
          </a:prstGeom>
          <a:noFill/>
          <a:ln/>
        </p:spPr>
        <p:txBody>
          <a:bodyPr wrap="square" lIns="0" tIns="0" rIns="0" bIns="0" rtlCol="0" anchor="t"/>
          <a:lstStyle/>
          <a:p>
            <a:pPr indent="0" marL="0">
              <a:buNone/>
            </a:pPr>
            <a:r>
              <a:rPr lang="en-US" sz="1300" b="1" dirty="0">
                <a:solidFill>
                  <a:srgbClr val="E8EEF2"/>
                </a:solidFill>
                <a:latin typeface="Space Grotesk" pitchFamily="34" charset="0"/>
                <a:ea typeface="Space Grotesk" pitchFamily="34" charset="-122"/>
                <a:cs typeface="Space Grotesk" pitchFamily="34" charset="-120"/>
              </a:rPr>
              <a:t>₹3.1L cr</a:t>
            </a:r>
            <a:endParaRPr lang="en-US" sz="1300" dirty="0"/>
          </a:p>
        </p:txBody>
      </p:sp>
      <p:sp>
        <p:nvSpPr>
          <p:cNvPr id="13" name="Text 11"/>
          <p:cNvSpPr txBox="1"/>
          <p:nvPr/>
        </p:nvSpPr>
        <p:spPr>
          <a:xfrm>
            <a:off x="5623560" y="1243584"/>
            <a:ext cx="1005840" cy="274320"/>
          </a:xfrm>
          <a:prstGeom prst="rect">
            <a:avLst/>
          </a:prstGeom>
          <a:noFill/>
          <a:ln/>
        </p:spPr>
        <p:txBody>
          <a:bodyPr wrap="square" lIns="0" tIns="0" rIns="0" bIns="0" rtlCol="0" anchor="t"/>
          <a:lstStyle/>
          <a:p>
            <a:pPr indent="0" marL="0">
              <a:buNone/>
            </a:pPr>
            <a:r>
              <a:rPr lang="en-US" sz="650" dirty="0">
                <a:solidFill>
                  <a:srgbClr val="6E7A83"/>
                </a:solidFill>
                <a:latin typeface="Space Mono" pitchFamily="34" charset="0"/>
                <a:ea typeface="Space Mono" pitchFamily="34" charset="-122"/>
                <a:cs typeface="Space Mono" pitchFamily="34" charset="-120"/>
              </a:rPr>
              <a:t>global test + measurement</a:t>
            </a:r>
            <a:endParaRPr lang="en-US" sz="650" dirty="0"/>
          </a:p>
        </p:txBody>
      </p:sp>
      <p:sp>
        <p:nvSpPr>
          <p:cNvPr id="14" name="Text 12"/>
          <p:cNvSpPr txBox="1"/>
          <p:nvPr/>
        </p:nvSpPr>
        <p:spPr>
          <a:xfrm>
            <a:off x="6675120" y="960120"/>
            <a:ext cx="1024128" cy="274320"/>
          </a:xfrm>
          <a:prstGeom prst="rect">
            <a:avLst/>
          </a:prstGeom>
          <a:noFill/>
          <a:ln/>
        </p:spPr>
        <p:txBody>
          <a:bodyPr wrap="square" lIns="0" tIns="0" rIns="0" bIns="0" rtlCol="0" anchor="t"/>
          <a:lstStyle/>
          <a:p>
            <a:pPr indent="0" marL="0">
              <a:buNone/>
            </a:pPr>
            <a:r>
              <a:rPr lang="en-US" sz="1300" b="1" dirty="0">
                <a:solidFill>
                  <a:srgbClr val="CF8F4E"/>
                </a:solidFill>
                <a:latin typeface="Space Grotesk" pitchFamily="34" charset="0"/>
                <a:ea typeface="Space Grotesk" pitchFamily="34" charset="-122"/>
                <a:cs typeface="Space Grotesk" pitchFamily="34" charset="-120"/>
              </a:rPr>
              <a:t>₹55K cr</a:t>
            </a:r>
            <a:endParaRPr lang="en-US" sz="1300" dirty="0"/>
          </a:p>
        </p:txBody>
      </p:sp>
      <p:sp>
        <p:nvSpPr>
          <p:cNvPr id="15" name="Text 13"/>
          <p:cNvSpPr txBox="1"/>
          <p:nvPr/>
        </p:nvSpPr>
        <p:spPr>
          <a:xfrm>
            <a:off x="6675120" y="1243584"/>
            <a:ext cx="1005840" cy="274320"/>
          </a:xfrm>
          <a:prstGeom prst="rect">
            <a:avLst/>
          </a:prstGeom>
          <a:noFill/>
          <a:ln/>
        </p:spPr>
        <p:txBody>
          <a:bodyPr wrap="square" lIns="0" tIns="0" rIns="0" bIns="0" rtlCol="0" anchor="t"/>
          <a:lstStyle/>
          <a:p>
            <a:pPr indent="0" marL="0">
              <a:buNone/>
            </a:pPr>
            <a:r>
              <a:rPr lang="en-US" sz="650" dirty="0">
                <a:solidFill>
                  <a:srgbClr val="6E7A83"/>
                </a:solidFill>
                <a:latin typeface="Space Mono" pitchFamily="34" charset="0"/>
                <a:ea typeface="Space Mono" pitchFamily="34" charset="-122"/>
                <a:cs typeface="Space Mono" pitchFamily="34" charset="-120"/>
              </a:rPr>
              <a:t>India PCB, ~15% a year</a:t>
            </a:r>
            <a:endParaRPr lang="en-US" sz="650" dirty="0"/>
          </a:p>
        </p:txBody>
      </p:sp>
      <p:sp>
        <p:nvSpPr>
          <p:cNvPr id="16" name="Text 14"/>
          <p:cNvSpPr txBox="1"/>
          <p:nvPr/>
        </p:nvSpPr>
        <p:spPr>
          <a:xfrm>
            <a:off x="7726680" y="960120"/>
            <a:ext cx="1024128" cy="274320"/>
          </a:xfrm>
          <a:prstGeom prst="rect">
            <a:avLst/>
          </a:prstGeom>
          <a:noFill/>
          <a:ln/>
        </p:spPr>
        <p:txBody>
          <a:bodyPr wrap="square" lIns="0" tIns="0" rIns="0" bIns="0" rtlCol="0" anchor="t"/>
          <a:lstStyle/>
          <a:p>
            <a:pPr indent="0" marL="0">
              <a:buNone/>
            </a:pPr>
            <a:r>
              <a:rPr lang="en-US" sz="1300" b="1" dirty="0">
                <a:solidFill>
                  <a:srgbClr val="CF8F4E"/>
                </a:solidFill>
                <a:latin typeface="Space Grotesk" pitchFamily="34" charset="0"/>
                <a:ea typeface="Space Grotesk" pitchFamily="34" charset="-122"/>
                <a:cs typeface="Space Grotesk" pitchFamily="34" charset="-120"/>
              </a:rPr>
              <a:t>₹8.3K cr</a:t>
            </a:r>
            <a:endParaRPr lang="en-US" sz="1300" dirty="0"/>
          </a:p>
        </p:txBody>
      </p:sp>
      <p:sp>
        <p:nvSpPr>
          <p:cNvPr id="17" name="Text 15"/>
          <p:cNvSpPr txBox="1"/>
          <p:nvPr/>
        </p:nvSpPr>
        <p:spPr>
          <a:xfrm>
            <a:off x="7726680" y="1243584"/>
            <a:ext cx="1005840" cy="274320"/>
          </a:xfrm>
          <a:prstGeom prst="rect">
            <a:avLst/>
          </a:prstGeom>
          <a:noFill/>
          <a:ln/>
        </p:spPr>
        <p:txBody>
          <a:bodyPr wrap="square" lIns="0" tIns="0" rIns="0" bIns="0" rtlCol="0" anchor="t"/>
          <a:lstStyle/>
          <a:p>
            <a:pPr indent="0" marL="0">
              <a:buNone/>
            </a:pPr>
            <a:r>
              <a:rPr lang="en-US" sz="650" dirty="0">
                <a:solidFill>
                  <a:srgbClr val="6E7A83"/>
                </a:solidFill>
                <a:latin typeface="Space Mono" pitchFamily="34" charset="0"/>
                <a:ea typeface="Space Mono" pitchFamily="34" charset="-122"/>
                <a:cs typeface="Space Mono" pitchFamily="34" charset="-120"/>
              </a:rPr>
              <a:t>India test + measurement</a:t>
            </a:r>
            <a:endParaRPr lang="en-US" sz="650" dirty="0"/>
          </a:p>
        </p:txBody>
      </p:sp>
      <p:sp>
        <p:nvSpPr>
          <p:cNvPr id="18" name="Shape 16"/>
          <p:cNvSpPr/>
          <p:nvPr/>
        </p:nvSpPr>
        <p:spPr>
          <a:xfrm>
            <a:off x="4572000" y="1600200"/>
            <a:ext cx="4160520" cy="566928"/>
          </a:xfrm>
          <a:prstGeom prst="rect">
            <a:avLst/>
          </a:prstGeom>
          <a:solidFill>
            <a:srgbClr val="121A21"/>
          </a:solidFill>
          <a:ln w="9525">
            <a:solidFill>
              <a:srgbClr val="F2C230"/>
            </a:solidFill>
            <a:prstDash val="solid"/>
          </a:ln>
        </p:spPr>
      </p:sp>
      <p:sp>
        <p:nvSpPr>
          <p:cNvPr id="19" name="Text 17"/>
          <p:cNvSpPr txBox="1"/>
          <p:nvPr/>
        </p:nvSpPr>
        <p:spPr>
          <a:xfrm>
            <a:off x="4681728" y="1600200"/>
            <a:ext cx="3977640" cy="566928"/>
          </a:xfrm>
          <a:prstGeom prst="rect">
            <a:avLst/>
          </a:prstGeom>
          <a:noFill/>
          <a:ln/>
        </p:spPr>
        <p:txBody>
          <a:bodyPr wrap="square" lIns="0" tIns="0" rIns="0" bIns="0" rtlCol="0" anchor="ctr"/>
          <a:lstStyle/>
          <a:p>
            <a:pPr indent="0" marL="0">
              <a:buNone/>
            </a:pPr>
            <a:r>
              <a:rPr lang="en-US" sz="730" b="1" dirty="0">
                <a:solidFill>
                  <a:srgbClr val="F2C230"/>
                </a:solidFill>
                <a:latin typeface="Space Mono" pitchFamily="34" charset="0"/>
                <a:ea typeface="Space Mono" pitchFamily="34" charset="-122"/>
                <a:cs typeface="Space Mono" pitchFamily="34" charset="-120"/>
              </a:rPr>
              <a:t>BEACHHEAD  </a:t>
            </a:r>
            <a:r>
              <a:rPr lang="en-US" sz="730" dirty="0">
                <a:solidFill>
                  <a:srgbClr val="E8EEF2"/>
                </a:solidFill>
                <a:latin typeface="Space Mono" pitchFamily="34" charset="0"/>
                <a:ea typeface="Space Mono" pitchFamily="34" charset="-122"/>
                <a:cs typeface="Space Mono" pitchFamily="34" charset="-120"/>
              </a:rPr>
              <a:t>5,868 AICTE colleges + ~2,250 hardware startups = 8,118 buyers → </a:t>
            </a:r>
            <a:r>
              <a:rPr lang="en-US" sz="730" dirty="0">
                <a:solidFill>
                  <a:srgbClr val="E8EEF2"/>
                </a:solidFill>
                <a:latin typeface="Space Grotesk" pitchFamily="34" charset="0"/>
                <a:ea typeface="Space Grotesk" pitchFamily="34" charset="-122"/>
                <a:cs typeface="Space Grotesk" pitchFamily="34" charset="-120"/>
              </a:rPr>
              <a:t>₹</a:t>
            </a:r>
            <a:r>
              <a:rPr lang="en-US" sz="730" dirty="0">
                <a:solidFill>
                  <a:srgbClr val="E8EEF2"/>
                </a:solidFill>
                <a:latin typeface="Space Mono" pitchFamily="34" charset="0"/>
                <a:ea typeface="Space Mono" pitchFamily="34" charset="-122"/>
                <a:cs typeface="Space Mono" pitchFamily="34" charset="-120"/>
              </a:rPr>
              <a:t>243 Cr of </a:t>
            </a:r>
            <a:r>
              <a:rPr lang="en-US" sz="730" u="sng" dirty="0">
                <a:solidFill>
                  <a:srgbClr val="CF8F4E"/>
                </a:solidFill>
                <a:latin typeface="Space Mono" pitchFamily="34" charset="0"/>
                <a:ea typeface="Space Mono" pitchFamily="34" charset="-122"/>
                <a:cs typeface="Space Mono" pitchFamily="34" charset="-120"/>
                <a:hlinkClick r:id="rId1"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730" dirty="0">
                <a:solidFill>
                  <a:srgbClr val="E8EEF2"/>
                </a:solidFill>
                <a:latin typeface="Space Mono" pitchFamily="34" charset="0"/>
                <a:ea typeface="Space Mono" pitchFamily="34" charset="-122"/>
                <a:cs typeface="Space Mono" pitchFamily="34" charset="-120"/>
              </a:rPr>
              <a:t> (</a:t>
            </a:r>
            <a:r>
              <a:rPr lang="en-US" sz="730" dirty="0">
                <a:solidFill>
                  <a:srgbClr val="E8EEF2"/>
                </a:solidFill>
                <a:latin typeface="Space Grotesk" pitchFamily="34" charset="0"/>
                <a:ea typeface="Space Grotesk" pitchFamily="34" charset="-122"/>
                <a:cs typeface="Space Grotesk" pitchFamily="34" charset="-120"/>
              </a:rPr>
              <a:t>₹</a:t>
            </a:r>
            <a:r>
              <a:rPr lang="en-US" sz="730" dirty="0">
                <a:solidFill>
                  <a:srgbClr val="E8EEF2"/>
                </a:solidFill>
                <a:latin typeface="Space Mono" pitchFamily="34" charset="0"/>
                <a:ea typeface="Space Mono" pitchFamily="34" charset="-122"/>
                <a:cs typeface="Space Mono" pitchFamily="34" charset="-120"/>
              </a:rPr>
              <a:t>271 Cr with </a:t>
            </a:r>
            <a:r>
              <a:rPr lang="en-US" sz="730" u="sng" dirty="0">
                <a:solidFill>
                  <a:srgbClr val="54ACF0"/>
                </a:solidFill>
                <a:latin typeface="Space Mono" pitchFamily="34" charset="0"/>
                <a:ea typeface="Space Mono" pitchFamily="34" charset="-122"/>
                <a:cs typeface="Space Mono" pitchFamily="34" charset="-120"/>
                <a:hlinkClick r:id="rId2" invalidUrl="" action="" tgtFrame="" tooltip="https://protopus-kappa.vercel.app/#/mixer" history="1" highlightClick="0" endSnd="0">
                  <a:extLst>
                    <a:ext uri="{A12FA001-AC4F-418D-AE19-62706E023703}">
                      <ahyp:hlinkClr xmlns:ahyp="http://schemas.microsoft.com/office/drawing/2018/hyperlinkcolor" val="tx"/>
                    </a:ext>
                  </a:extLst>
                </a:hlinkClick>
              </a:rPr>
              <a:t>Mixer</a:t>
            </a:r>
            <a:r>
              <a:rPr lang="en-US" sz="730" dirty="0">
                <a:solidFill>
                  <a:srgbClr val="E8EEF2"/>
                </a:solidFill>
                <a:latin typeface="Space Mono" pitchFamily="34" charset="0"/>
                <a:ea typeface="Space Mono" pitchFamily="34" charset="-122"/>
                <a:cs typeface="Space Mono" pitchFamily="34" charset="-120"/>
              </a:rPr>
              <a:t>) + </a:t>
            </a:r>
            <a:r>
              <a:rPr lang="en-US" sz="730" dirty="0">
                <a:solidFill>
                  <a:srgbClr val="E8EEF2"/>
                </a:solidFill>
                <a:latin typeface="Space Grotesk" pitchFamily="34" charset="0"/>
                <a:ea typeface="Space Grotesk" pitchFamily="34" charset="-122"/>
                <a:cs typeface="Space Grotesk" pitchFamily="34" charset="-120"/>
              </a:rPr>
              <a:t>₹</a:t>
            </a:r>
            <a:r>
              <a:rPr lang="en-US" sz="730" dirty="0">
                <a:solidFill>
                  <a:srgbClr val="E8EEF2"/>
                </a:solidFill>
                <a:latin typeface="Space Mono" pitchFamily="34" charset="0"/>
                <a:ea typeface="Space Mono" pitchFamily="34" charset="-122"/>
                <a:cs typeface="Space Mono" pitchFamily="34" charset="-120"/>
              </a:rPr>
              <a:t>8.1 Cr a year of Proto plans. Then 10,000 Atal Tinkering Labs (+50,000 planned).</a:t>
            </a:r>
            <a:endParaRPr lang="en-US" sz="730" dirty="0"/>
          </a:p>
        </p:txBody>
      </p:sp>
      <p:sp>
        <p:nvSpPr>
          <p:cNvPr id="20" name="Text 18"/>
          <p:cNvSpPr txBox="1"/>
          <p:nvPr/>
        </p:nvSpPr>
        <p:spPr>
          <a:xfrm>
            <a:off x="6400800" y="2286000"/>
            <a:ext cx="585216" cy="164592"/>
          </a:xfrm>
          <a:prstGeom prst="rect">
            <a:avLst/>
          </a:prstGeom>
          <a:noFill/>
          <a:ln/>
        </p:spPr>
        <p:txBody>
          <a:bodyPr wrap="square" lIns="0" tIns="0" rIns="0" bIns="0" rtlCol="0" anchor="t"/>
          <a:lstStyle/>
          <a:p>
            <a:pPr algn="ctr" indent="0" marL="0">
              <a:buNone/>
            </a:pPr>
            <a:r>
              <a:rPr lang="en-US" sz="630" spc="80" kern="0" dirty="0">
                <a:solidFill>
                  <a:srgbClr val="6E7A83"/>
                </a:solidFill>
                <a:latin typeface="Space Mono" pitchFamily="34" charset="0"/>
                <a:ea typeface="Space Mono" pitchFamily="34" charset="-122"/>
                <a:cs typeface="Space Mono" pitchFamily="34" charset="-120"/>
              </a:rPr>
              <a:t>MAKE</a:t>
            </a:r>
            <a:endParaRPr lang="en-US" sz="630" dirty="0"/>
          </a:p>
        </p:txBody>
      </p:sp>
      <p:sp>
        <p:nvSpPr>
          <p:cNvPr id="21" name="Text 19"/>
          <p:cNvSpPr txBox="1"/>
          <p:nvPr/>
        </p:nvSpPr>
        <p:spPr>
          <a:xfrm>
            <a:off x="6986016" y="2286000"/>
            <a:ext cx="585216" cy="164592"/>
          </a:xfrm>
          <a:prstGeom prst="rect">
            <a:avLst/>
          </a:prstGeom>
          <a:noFill/>
          <a:ln/>
        </p:spPr>
        <p:txBody>
          <a:bodyPr wrap="square" lIns="0" tIns="0" rIns="0" bIns="0" rtlCol="0" anchor="t"/>
          <a:lstStyle/>
          <a:p>
            <a:pPr algn="ctr" indent="0" marL="0">
              <a:buNone/>
            </a:pPr>
            <a:r>
              <a:rPr lang="en-US" sz="630" spc="80" kern="0" dirty="0">
                <a:solidFill>
                  <a:srgbClr val="6E7A83"/>
                </a:solidFill>
                <a:latin typeface="Space Mono" pitchFamily="34" charset="0"/>
                <a:ea typeface="Space Mono" pitchFamily="34" charset="-122"/>
                <a:cs typeface="Space Mono" pitchFamily="34" charset="-120"/>
              </a:rPr>
              <a:t>ASSEMBLE</a:t>
            </a:r>
            <a:endParaRPr lang="en-US" sz="630" dirty="0"/>
          </a:p>
        </p:txBody>
      </p:sp>
      <p:sp>
        <p:nvSpPr>
          <p:cNvPr id="22" name="Text 20"/>
          <p:cNvSpPr txBox="1"/>
          <p:nvPr/>
        </p:nvSpPr>
        <p:spPr>
          <a:xfrm>
            <a:off x="7571232" y="2286000"/>
            <a:ext cx="585216" cy="164592"/>
          </a:xfrm>
          <a:prstGeom prst="rect">
            <a:avLst/>
          </a:prstGeom>
          <a:noFill/>
          <a:ln/>
        </p:spPr>
        <p:txBody>
          <a:bodyPr wrap="square" lIns="0" tIns="0" rIns="0" bIns="0" rtlCol="0" anchor="t"/>
          <a:lstStyle/>
          <a:p>
            <a:pPr algn="ctr" indent="0" marL="0">
              <a:buNone/>
            </a:pPr>
            <a:r>
              <a:rPr lang="en-US" sz="630" spc="80" kern="0" dirty="0">
                <a:solidFill>
                  <a:srgbClr val="6E7A83"/>
                </a:solidFill>
                <a:latin typeface="Space Mono" pitchFamily="34" charset="0"/>
                <a:ea typeface="Space Mono" pitchFamily="34" charset="-122"/>
                <a:cs typeface="Space Mono" pitchFamily="34" charset="-120"/>
              </a:rPr>
              <a:t>TEST</a:t>
            </a:r>
            <a:endParaRPr lang="en-US" sz="630" dirty="0"/>
          </a:p>
        </p:txBody>
      </p:sp>
      <p:sp>
        <p:nvSpPr>
          <p:cNvPr id="23" name="Text 21"/>
          <p:cNvSpPr txBox="1"/>
          <p:nvPr/>
        </p:nvSpPr>
        <p:spPr>
          <a:xfrm>
            <a:off x="8156448" y="2286000"/>
            <a:ext cx="585216" cy="164592"/>
          </a:xfrm>
          <a:prstGeom prst="rect">
            <a:avLst/>
          </a:prstGeom>
          <a:noFill/>
          <a:ln/>
        </p:spPr>
        <p:txBody>
          <a:bodyPr wrap="square" lIns="0" tIns="0" rIns="0" bIns="0" rtlCol="0" anchor="t"/>
          <a:lstStyle/>
          <a:p>
            <a:pPr algn="ctr" indent="0" marL="0">
              <a:buNone/>
            </a:pPr>
            <a:r>
              <a:rPr lang="en-US" sz="630" spc="80" kern="0" dirty="0">
                <a:solidFill>
                  <a:srgbClr val="6E7A83"/>
                </a:solidFill>
                <a:latin typeface="Space Mono" pitchFamily="34" charset="0"/>
                <a:ea typeface="Space Mono" pitchFamily="34" charset="-122"/>
                <a:cs typeface="Space Mono" pitchFamily="34" charset="-120"/>
              </a:rPr>
              <a:t>GUIDE</a:t>
            </a:r>
            <a:endParaRPr lang="en-US" sz="630" dirty="0"/>
          </a:p>
        </p:txBody>
      </p:sp>
      <p:sp>
        <p:nvSpPr>
          <p:cNvPr id="24" name="Shape 22"/>
          <p:cNvSpPr/>
          <p:nvPr/>
        </p:nvSpPr>
        <p:spPr>
          <a:xfrm>
            <a:off x="4572000" y="2487168"/>
            <a:ext cx="4160520" cy="0"/>
          </a:xfrm>
          <a:prstGeom prst="line">
            <a:avLst/>
          </a:prstGeom>
          <a:noFill/>
          <a:ln w="11430">
            <a:solidFill>
              <a:srgbClr val="E8EEF2"/>
            </a:solidFill>
            <a:prstDash val="solid"/>
          </a:ln>
        </p:spPr>
      </p:sp>
      <p:sp>
        <p:nvSpPr>
          <p:cNvPr id="25" name="Text 23"/>
          <p:cNvSpPr txBox="1"/>
          <p:nvPr/>
        </p:nvSpPr>
        <p:spPr>
          <a:xfrm>
            <a:off x="4572000" y="2523744"/>
            <a:ext cx="1828800" cy="256032"/>
          </a:xfrm>
          <a:prstGeom prst="rect">
            <a:avLst/>
          </a:prstGeom>
          <a:noFill/>
          <a:ln/>
        </p:spPr>
        <p:txBody>
          <a:bodyPr wrap="square" lIns="0" tIns="0" rIns="0" bIns="0" rtlCol="0" anchor="ctr"/>
          <a:lstStyle/>
          <a:p>
            <a:pPr indent="0" marL="0">
              <a:buNone/>
            </a:pPr>
            <a:r>
              <a:rPr lang="en-US" sz="730" dirty="0">
                <a:solidFill>
                  <a:srgbClr val="E8EEF2"/>
                </a:solidFill>
                <a:latin typeface="Space Mono" pitchFamily="34" charset="0"/>
                <a:ea typeface="Space Mono" pitchFamily="34" charset="-122"/>
                <a:cs typeface="Space Mono" pitchFamily="34" charset="-120"/>
              </a:rPr>
              <a:t>Desktop mills (Carvera, LPKF)</a:t>
            </a:r>
            <a:endParaRPr lang="en-US" sz="730" dirty="0"/>
          </a:p>
        </p:txBody>
      </p:sp>
      <p:sp>
        <p:nvSpPr>
          <p:cNvPr id="26" name="Shape 24"/>
          <p:cNvSpPr/>
          <p:nvPr/>
        </p:nvSpPr>
        <p:spPr>
          <a:xfrm>
            <a:off x="6647688" y="2606040"/>
            <a:ext cx="91440" cy="91440"/>
          </a:xfrm>
          <a:prstGeom prst="ellipse">
            <a:avLst/>
          </a:prstGeom>
          <a:solidFill>
            <a:srgbClr val="F2C230"/>
          </a:solidFill>
          <a:ln w="9525">
            <a:solidFill>
              <a:srgbClr val="F2C230"/>
            </a:solidFill>
            <a:prstDash val="solid"/>
          </a:ln>
        </p:spPr>
      </p:sp>
      <p:sp>
        <p:nvSpPr>
          <p:cNvPr id="27" name="Shape 25"/>
          <p:cNvSpPr/>
          <p:nvPr/>
        </p:nvSpPr>
        <p:spPr>
          <a:xfrm>
            <a:off x="7232904" y="2606040"/>
            <a:ext cx="91440" cy="91440"/>
          </a:xfrm>
          <a:prstGeom prst="ellipse">
            <a:avLst/>
          </a:prstGeom>
          <a:solidFill>
            <a:srgbClr val="0E1216"/>
          </a:solidFill>
          <a:ln w="9525">
            <a:solidFill>
              <a:srgbClr val="424A51"/>
            </a:solidFill>
            <a:prstDash val="solid"/>
          </a:ln>
        </p:spPr>
      </p:sp>
      <p:sp>
        <p:nvSpPr>
          <p:cNvPr id="28" name="Shape 26"/>
          <p:cNvSpPr/>
          <p:nvPr/>
        </p:nvSpPr>
        <p:spPr>
          <a:xfrm>
            <a:off x="7818120" y="2606040"/>
            <a:ext cx="91440" cy="91440"/>
          </a:xfrm>
          <a:prstGeom prst="ellipse">
            <a:avLst/>
          </a:prstGeom>
          <a:solidFill>
            <a:srgbClr val="0E1216"/>
          </a:solidFill>
          <a:ln w="9525">
            <a:solidFill>
              <a:srgbClr val="424A51"/>
            </a:solidFill>
            <a:prstDash val="solid"/>
          </a:ln>
        </p:spPr>
      </p:sp>
      <p:sp>
        <p:nvSpPr>
          <p:cNvPr id="29" name="Shape 27"/>
          <p:cNvSpPr/>
          <p:nvPr/>
        </p:nvSpPr>
        <p:spPr>
          <a:xfrm>
            <a:off x="8403336" y="2606040"/>
            <a:ext cx="91440" cy="91440"/>
          </a:xfrm>
          <a:prstGeom prst="ellipse">
            <a:avLst/>
          </a:prstGeom>
          <a:solidFill>
            <a:srgbClr val="0E1216"/>
          </a:solidFill>
          <a:ln w="9525">
            <a:solidFill>
              <a:srgbClr val="424A51"/>
            </a:solidFill>
            <a:prstDash val="solid"/>
          </a:ln>
        </p:spPr>
      </p:sp>
      <p:sp>
        <p:nvSpPr>
          <p:cNvPr id="30" name="Shape 28"/>
          <p:cNvSpPr/>
          <p:nvPr/>
        </p:nvSpPr>
        <p:spPr>
          <a:xfrm>
            <a:off x="4572000" y="2788920"/>
            <a:ext cx="4160520" cy="0"/>
          </a:xfrm>
          <a:prstGeom prst="line">
            <a:avLst/>
          </a:prstGeom>
          <a:noFill/>
          <a:ln w="9525">
            <a:solidFill>
              <a:srgbClr val="1F2A32"/>
            </a:solidFill>
            <a:prstDash val="solid"/>
          </a:ln>
        </p:spPr>
      </p:sp>
      <p:sp>
        <p:nvSpPr>
          <p:cNvPr id="31" name="Text 29"/>
          <p:cNvSpPr txBox="1"/>
          <p:nvPr/>
        </p:nvSpPr>
        <p:spPr>
          <a:xfrm>
            <a:off x="4572000" y="2798064"/>
            <a:ext cx="1828800" cy="256032"/>
          </a:xfrm>
          <a:prstGeom prst="rect">
            <a:avLst/>
          </a:prstGeom>
          <a:noFill/>
          <a:ln/>
        </p:spPr>
        <p:txBody>
          <a:bodyPr wrap="square" lIns="0" tIns="0" rIns="0" bIns="0" rtlCol="0" anchor="ctr"/>
          <a:lstStyle/>
          <a:p>
            <a:pPr indent="0" marL="0">
              <a:buNone/>
            </a:pPr>
            <a:r>
              <a:rPr lang="en-US" sz="730" dirty="0">
                <a:solidFill>
                  <a:srgbClr val="E8EEF2"/>
                </a:solidFill>
                <a:latin typeface="Space Mono" pitchFamily="34" charset="0"/>
                <a:ea typeface="Space Mono" pitchFamily="34" charset="-122"/>
                <a:cs typeface="Space Mono" pitchFamily="34" charset="-120"/>
              </a:rPr>
              <a:t>Ink printer (Voltera)</a:t>
            </a:r>
            <a:endParaRPr lang="en-US" sz="730" dirty="0"/>
          </a:p>
        </p:txBody>
      </p:sp>
      <p:sp>
        <p:nvSpPr>
          <p:cNvPr id="32" name="Shape 30"/>
          <p:cNvSpPr/>
          <p:nvPr/>
        </p:nvSpPr>
        <p:spPr>
          <a:xfrm>
            <a:off x="6647688" y="2880360"/>
            <a:ext cx="91440" cy="91440"/>
          </a:xfrm>
          <a:prstGeom prst="ellipse">
            <a:avLst/>
          </a:prstGeom>
          <a:solidFill>
            <a:srgbClr val="F2C230"/>
          </a:solidFill>
          <a:ln w="9525">
            <a:solidFill>
              <a:srgbClr val="F2C230"/>
            </a:solidFill>
            <a:prstDash val="solid"/>
          </a:ln>
        </p:spPr>
      </p:sp>
      <p:sp>
        <p:nvSpPr>
          <p:cNvPr id="33" name="Shape 31"/>
          <p:cNvSpPr/>
          <p:nvPr/>
        </p:nvSpPr>
        <p:spPr>
          <a:xfrm>
            <a:off x="7232904" y="2880360"/>
            <a:ext cx="91440" cy="91440"/>
          </a:xfrm>
          <a:prstGeom prst="ellipse">
            <a:avLst/>
          </a:prstGeom>
          <a:solidFill>
            <a:srgbClr val="F2C230"/>
          </a:solidFill>
          <a:ln w="9525">
            <a:solidFill>
              <a:srgbClr val="F2C230"/>
            </a:solidFill>
            <a:prstDash val="solid"/>
          </a:ln>
        </p:spPr>
      </p:sp>
      <p:sp>
        <p:nvSpPr>
          <p:cNvPr id="34" name="Shape 32"/>
          <p:cNvSpPr/>
          <p:nvPr/>
        </p:nvSpPr>
        <p:spPr>
          <a:xfrm>
            <a:off x="7818120" y="2880360"/>
            <a:ext cx="91440" cy="91440"/>
          </a:xfrm>
          <a:prstGeom prst="ellipse">
            <a:avLst/>
          </a:prstGeom>
          <a:solidFill>
            <a:srgbClr val="0E1216"/>
          </a:solidFill>
          <a:ln w="9525">
            <a:solidFill>
              <a:srgbClr val="424A51"/>
            </a:solidFill>
            <a:prstDash val="solid"/>
          </a:ln>
        </p:spPr>
      </p:sp>
      <p:sp>
        <p:nvSpPr>
          <p:cNvPr id="35" name="Shape 33"/>
          <p:cNvSpPr/>
          <p:nvPr/>
        </p:nvSpPr>
        <p:spPr>
          <a:xfrm>
            <a:off x="8403336" y="2880360"/>
            <a:ext cx="91440" cy="91440"/>
          </a:xfrm>
          <a:prstGeom prst="ellipse">
            <a:avLst/>
          </a:prstGeom>
          <a:solidFill>
            <a:srgbClr val="0E1216"/>
          </a:solidFill>
          <a:ln w="9525">
            <a:solidFill>
              <a:srgbClr val="424A51"/>
            </a:solidFill>
            <a:prstDash val="solid"/>
          </a:ln>
        </p:spPr>
      </p:sp>
      <p:sp>
        <p:nvSpPr>
          <p:cNvPr id="36" name="Shape 34"/>
          <p:cNvSpPr/>
          <p:nvPr/>
        </p:nvSpPr>
        <p:spPr>
          <a:xfrm>
            <a:off x="4572000" y="3063240"/>
            <a:ext cx="4160520" cy="0"/>
          </a:xfrm>
          <a:prstGeom prst="line">
            <a:avLst/>
          </a:prstGeom>
          <a:noFill/>
          <a:ln w="9525">
            <a:solidFill>
              <a:srgbClr val="1F2A32"/>
            </a:solidFill>
            <a:prstDash val="solid"/>
          </a:ln>
        </p:spPr>
      </p:sp>
      <p:sp>
        <p:nvSpPr>
          <p:cNvPr id="37" name="Text 35"/>
          <p:cNvSpPr txBox="1"/>
          <p:nvPr/>
        </p:nvSpPr>
        <p:spPr>
          <a:xfrm>
            <a:off x="4572000" y="3072384"/>
            <a:ext cx="1828800" cy="256032"/>
          </a:xfrm>
          <a:prstGeom prst="rect">
            <a:avLst/>
          </a:prstGeom>
          <a:noFill/>
          <a:ln/>
        </p:spPr>
        <p:txBody>
          <a:bodyPr wrap="square" lIns="0" tIns="0" rIns="0" bIns="0" rtlCol="0" anchor="ctr"/>
          <a:lstStyle/>
          <a:p>
            <a:pPr indent="0" marL="0">
              <a:buNone/>
            </a:pPr>
            <a:r>
              <a:rPr lang="en-US" sz="730" dirty="0">
                <a:solidFill>
                  <a:srgbClr val="E8EEF2"/>
                </a:solidFill>
                <a:latin typeface="Space Mono" pitchFamily="34" charset="0"/>
                <a:ea typeface="Space Mono" pitchFamily="34" charset="-122"/>
                <a:cs typeface="Space Mono" pitchFamily="34" charset="-120"/>
              </a:rPr>
              <a:t>Pick-and-place (Neoden)</a:t>
            </a:r>
            <a:endParaRPr lang="en-US" sz="730" dirty="0"/>
          </a:p>
        </p:txBody>
      </p:sp>
      <p:sp>
        <p:nvSpPr>
          <p:cNvPr id="38" name="Shape 36"/>
          <p:cNvSpPr/>
          <p:nvPr/>
        </p:nvSpPr>
        <p:spPr>
          <a:xfrm>
            <a:off x="6647688" y="3154680"/>
            <a:ext cx="91440" cy="91440"/>
          </a:xfrm>
          <a:prstGeom prst="ellipse">
            <a:avLst/>
          </a:prstGeom>
          <a:solidFill>
            <a:srgbClr val="0E1216"/>
          </a:solidFill>
          <a:ln w="9525">
            <a:solidFill>
              <a:srgbClr val="424A51"/>
            </a:solidFill>
            <a:prstDash val="solid"/>
          </a:ln>
        </p:spPr>
      </p:sp>
      <p:sp>
        <p:nvSpPr>
          <p:cNvPr id="39" name="Shape 37"/>
          <p:cNvSpPr/>
          <p:nvPr/>
        </p:nvSpPr>
        <p:spPr>
          <a:xfrm>
            <a:off x="7232904" y="3154680"/>
            <a:ext cx="91440" cy="91440"/>
          </a:xfrm>
          <a:prstGeom prst="ellipse">
            <a:avLst/>
          </a:prstGeom>
          <a:solidFill>
            <a:srgbClr val="F2C230"/>
          </a:solidFill>
          <a:ln w="9525">
            <a:solidFill>
              <a:srgbClr val="F2C230"/>
            </a:solidFill>
            <a:prstDash val="solid"/>
          </a:ln>
        </p:spPr>
      </p:sp>
      <p:sp>
        <p:nvSpPr>
          <p:cNvPr id="40" name="Shape 38"/>
          <p:cNvSpPr/>
          <p:nvPr/>
        </p:nvSpPr>
        <p:spPr>
          <a:xfrm>
            <a:off x="7818120" y="3154680"/>
            <a:ext cx="91440" cy="91440"/>
          </a:xfrm>
          <a:prstGeom prst="ellipse">
            <a:avLst/>
          </a:prstGeom>
          <a:solidFill>
            <a:srgbClr val="0E1216"/>
          </a:solidFill>
          <a:ln w="9525">
            <a:solidFill>
              <a:srgbClr val="424A51"/>
            </a:solidFill>
            <a:prstDash val="solid"/>
          </a:ln>
        </p:spPr>
      </p:sp>
      <p:sp>
        <p:nvSpPr>
          <p:cNvPr id="41" name="Shape 39"/>
          <p:cNvSpPr/>
          <p:nvPr/>
        </p:nvSpPr>
        <p:spPr>
          <a:xfrm>
            <a:off x="8403336" y="3154680"/>
            <a:ext cx="91440" cy="91440"/>
          </a:xfrm>
          <a:prstGeom prst="ellipse">
            <a:avLst/>
          </a:prstGeom>
          <a:solidFill>
            <a:srgbClr val="0E1216"/>
          </a:solidFill>
          <a:ln w="9525">
            <a:solidFill>
              <a:srgbClr val="424A51"/>
            </a:solidFill>
            <a:prstDash val="solid"/>
          </a:ln>
        </p:spPr>
      </p:sp>
      <p:sp>
        <p:nvSpPr>
          <p:cNvPr id="42" name="Shape 40"/>
          <p:cNvSpPr/>
          <p:nvPr/>
        </p:nvSpPr>
        <p:spPr>
          <a:xfrm>
            <a:off x="4572000" y="3337560"/>
            <a:ext cx="4160520" cy="0"/>
          </a:xfrm>
          <a:prstGeom prst="line">
            <a:avLst/>
          </a:prstGeom>
          <a:noFill/>
          <a:ln w="9525">
            <a:solidFill>
              <a:srgbClr val="1F2A32"/>
            </a:solidFill>
            <a:prstDash val="solid"/>
          </a:ln>
        </p:spPr>
      </p:sp>
      <p:sp>
        <p:nvSpPr>
          <p:cNvPr id="43" name="Text 41"/>
          <p:cNvSpPr txBox="1"/>
          <p:nvPr/>
        </p:nvSpPr>
        <p:spPr>
          <a:xfrm>
            <a:off x="4572000" y="3346704"/>
            <a:ext cx="1828800" cy="256032"/>
          </a:xfrm>
          <a:prstGeom prst="rect">
            <a:avLst/>
          </a:prstGeom>
          <a:noFill/>
          <a:ln/>
        </p:spPr>
        <p:txBody>
          <a:bodyPr wrap="square" lIns="0" tIns="0" rIns="0" bIns="0" rtlCol="0" anchor="ctr"/>
          <a:lstStyle/>
          <a:p>
            <a:pPr indent="0" marL="0">
              <a:buNone/>
            </a:pPr>
            <a:r>
              <a:rPr lang="en-US" sz="730" dirty="0">
                <a:solidFill>
                  <a:srgbClr val="E8EEF2"/>
                </a:solidFill>
                <a:latin typeface="Space Mono" pitchFamily="34" charset="0"/>
                <a:ea typeface="Space Mono" pitchFamily="34" charset="-122"/>
                <a:cs typeface="Space Mono" pitchFamily="34" charset="-120"/>
              </a:rPr>
              <a:t>USB instruments (AD3, Moku)</a:t>
            </a:r>
            <a:endParaRPr lang="en-US" sz="730" dirty="0"/>
          </a:p>
        </p:txBody>
      </p:sp>
      <p:sp>
        <p:nvSpPr>
          <p:cNvPr id="44" name="Shape 42"/>
          <p:cNvSpPr/>
          <p:nvPr/>
        </p:nvSpPr>
        <p:spPr>
          <a:xfrm>
            <a:off x="6647688" y="3429000"/>
            <a:ext cx="91440" cy="91440"/>
          </a:xfrm>
          <a:prstGeom prst="ellipse">
            <a:avLst/>
          </a:prstGeom>
          <a:solidFill>
            <a:srgbClr val="0E1216"/>
          </a:solidFill>
          <a:ln w="9525">
            <a:solidFill>
              <a:srgbClr val="424A51"/>
            </a:solidFill>
            <a:prstDash val="solid"/>
          </a:ln>
        </p:spPr>
      </p:sp>
      <p:sp>
        <p:nvSpPr>
          <p:cNvPr id="45" name="Shape 43"/>
          <p:cNvSpPr/>
          <p:nvPr/>
        </p:nvSpPr>
        <p:spPr>
          <a:xfrm>
            <a:off x="7232904" y="3429000"/>
            <a:ext cx="91440" cy="91440"/>
          </a:xfrm>
          <a:prstGeom prst="ellipse">
            <a:avLst/>
          </a:prstGeom>
          <a:solidFill>
            <a:srgbClr val="0E1216"/>
          </a:solidFill>
          <a:ln w="9525">
            <a:solidFill>
              <a:srgbClr val="424A51"/>
            </a:solidFill>
            <a:prstDash val="solid"/>
          </a:ln>
        </p:spPr>
      </p:sp>
      <p:sp>
        <p:nvSpPr>
          <p:cNvPr id="46" name="Shape 44"/>
          <p:cNvSpPr/>
          <p:nvPr/>
        </p:nvSpPr>
        <p:spPr>
          <a:xfrm>
            <a:off x="7818120" y="3429000"/>
            <a:ext cx="91440" cy="91440"/>
          </a:xfrm>
          <a:prstGeom prst="ellipse">
            <a:avLst/>
          </a:prstGeom>
          <a:solidFill>
            <a:srgbClr val="F2C230"/>
          </a:solidFill>
          <a:ln w="9525">
            <a:solidFill>
              <a:srgbClr val="F2C230"/>
            </a:solidFill>
            <a:prstDash val="solid"/>
          </a:ln>
        </p:spPr>
      </p:sp>
      <p:sp>
        <p:nvSpPr>
          <p:cNvPr id="47" name="Shape 45"/>
          <p:cNvSpPr/>
          <p:nvPr/>
        </p:nvSpPr>
        <p:spPr>
          <a:xfrm>
            <a:off x="8403336" y="3429000"/>
            <a:ext cx="91440" cy="91440"/>
          </a:xfrm>
          <a:prstGeom prst="ellipse">
            <a:avLst/>
          </a:prstGeom>
          <a:solidFill>
            <a:srgbClr val="0E1216"/>
          </a:solidFill>
          <a:ln w="9525">
            <a:solidFill>
              <a:srgbClr val="424A51"/>
            </a:solidFill>
            <a:prstDash val="solid"/>
          </a:ln>
        </p:spPr>
      </p:sp>
      <p:sp>
        <p:nvSpPr>
          <p:cNvPr id="48" name="Shape 46"/>
          <p:cNvSpPr/>
          <p:nvPr/>
        </p:nvSpPr>
        <p:spPr>
          <a:xfrm>
            <a:off x="4572000" y="3611880"/>
            <a:ext cx="4160520" cy="0"/>
          </a:xfrm>
          <a:prstGeom prst="line">
            <a:avLst/>
          </a:prstGeom>
          <a:noFill/>
          <a:ln w="9525">
            <a:solidFill>
              <a:srgbClr val="1F2A32"/>
            </a:solidFill>
            <a:prstDash val="solid"/>
          </a:ln>
        </p:spPr>
      </p:sp>
      <p:sp>
        <p:nvSpPr>
          <p:cNvPr id="49" name="Text 47"/>
          <p:cNvSpPr txBox="1"/>
          <p:nvPr/>
        </p:nvSpPr>
        <p:spPr>
          <a:xfrm>
            <a:off x="4572000" y="3621024"/>
            <a:ext cx="1828800" cy="256032"/>
          </a:xfrm>
          <a:prstGeom prst="rect">
            <a:avLst/>
          </a:prstGeom>
          <a:noFill/>
          <a:ln/>
        </p:spPr>
        <p:txBody>
          <a:bodyPr wrap="square" lIns="0" tIns="0" rIns="0" bIns="0" rtlCol="0" anchor="ctr"/>
          <a:lstStyle/>
          <a:p>
            <a:pPr indent="0" marL="0">
              <a:buNone/>
            </a:pPr>
            <a:r>
              <a:rPr lang="en-US" sz="730" dirty="0">
                <a:solidFill>
                  <a:srgbClr val="E8EEF2"/>
                </a:solidFill>
                <a:latin typeface="Space Mono" pitchFamily="34" charset="0"/>
                <a:ea typeface="Space Mono" pitchFamily="34" charset="-122"/>
                <a:cs typeface="Space Mono" pitchFamily="34" charset="-120"/>
              </a:rPr>
              <a:t>Fabs (JLCPCB, PCBWay)</a:t>
            </a:r>
            <a:endParaRPr lang="en-US" sz="730" dirty="0"/>
          </a:p>
        </p:txBody>
      </p:sp>
      <p:sp>
        <p:nvSpPr>
          <p:cNvPr id="50" name="Shape 48"/>
          <p:cNvSpPr/>
          <p:nvPr/>
        </p:nvSpPr>
        <p:spPr>
          <a:xfrm>
            <a:off x="6647688" y="3703320"/>
            <a:ext cx="91440" cy="91440"/>
          </a:xfrm>
          <a:prstGeom prst="ellipse">
            <a:avLst/>
          </a:prstGeom>
          <a:solidFill>
            <a:srgbClr val="F2C230"/>
          </a:solidFill>
          <a:ln w="9525">
            <a:solidFill>
              <a:srgbClr val="F2C230"/>
            </a:solidFill>
            <a:prstDash val="solid"/>
          </a:ln>
        </p:spPr>
      </p:sp>
      <p:sp>
        <p:nvSpPr>
          <p:cNvPr id="51" name="Shape 49"/>
          <p:cNvSpPr/>
          <p:nvPr/>
        </p:nvSpPr>
        <p:spPr>
          <a:xfrm>
            <a:off x="7232904" y="3703320"/>
            <a:ext cx="91440" cy="91440"/>
          </a:xfrm>
          <a:prstGeom prst="ellipse">
            <a:avLst/>
          </a:prstGeom>
          <a:solidFill>
            <a:srgbClr val="F2C230"/>
          </a:solidFill>
          <a:ln w="9525">
            <a:solidFill>
              <a:srgbClr val="F2C230"/>
            </a:solidFill>
            <a:prstDash val="solid"/>
          </a:ln>
        </p:spPr>
      </p:sp>
      <p:sp>
        <p:nvSpPr>
          <p:cNvPr id="52" name="Shape 50"/>
          <p:cNvSpPr/>
          <p:nvPr/>
        </p:nvSpPr>
        <p:spPr>
          <a:xfrm>
            <a:off x="7818120" y="3703320"/>
            <a:ext cx="91440" cy="91440"/>
          </a:xfrm>
          <a:prstGeom prst="ellipse">
            <a:avLst/>
          </a:prstGeom>
          <a:solidFill>
            <a:srgbClr val="0E1216"/>
          </a:solidFill>
          <a:ln w="9525">
            <a:solidFill>
              <a:srgbClr val="424A51"/>
            </a:solidFill>
            <a:prstDash val="solid"/>
          </a:ln>
        </p:spPr>
      </p:sp>
      <p:sp>
        <p:nvSpPr>
          <p:cNvPr id="53" name="Shape 51"/>
          <p:cNvSpPr/>
          <p:nvPr/>
        </p:nvSpPr>
        <p:spPr>
          <a:xfrm>
            <a:off x="8403336" y="3703320"/>
            <a:ext cx="91440" cy="91440"/>
          </a:xfrm>
          <a:prstGeom prst="ellipse">
            <a:avLst/>
          </a:prstGeom>
          <a:solidFill>
            <a:srgbClr val="0E1216"/>
          </a:solidFill>
          <a:ln w="9525">
            <a:solidFill>
              <a:srgbClr val="424A51"/>
            </a:solidFill>
            <a:prstDash val="solid"/>
          </a:ln>
        </p:spPr>
      </p:sp>
      <p:sp>
        <p:nvSpPr>
          <p:cNvPr id="54" name="Shape 52"/>
          <p:cNvSpPr/>
          <p:nvPr/>
        </p:nvSpPr>
        <p:spPr>
          <a:xfrm>
            <a:off x="4572000" y="3886200"/>
            <a:ext cx="4160520" cy="0"/>
          </a:xfrm>
          <a:prstGeom prst="line">
            <a:avLst/>
          </a:prstGeom>
          <a:noFill/>
          <a:ln w="9525">
            <a:solidFill>
              <a:srgbClr val="1F2A32"/>
            </a:solidFill>
            <a:prstDash val="solid"/>
          </a:ln>
        </p:spPr>
      </p:sp>
      <p:sp>
        <p:nvSpPr>
          <p:cNvPr id="55" name="Text 53"/>
          <p:cNvSpPr txBox="1"/>
          <p:nvPr/>
        </p:nvSpPr>
        <p:spPr>
          <a:xfrm>
            <a:off x="4572000" y="3895344"/>
            <a:ext cx="1828800" cy="256032"/>
          </a:xfrm>
          <a:prstGeom prst="rect">
            <a:avLst/>
          </a:prstGeom>
          <a:noFill/>
          <a:ln/>
        </p:spPr>
        <p:txBody>
          <a:bodyPr wrap="square" lIns="0" tIns="0" rIns="0" bIns="0" rtlCol="0" anchor="ctr"/>
          <a:lstStyle/>
          <a:p>
            <a:pPr indent="0" marL="0">
              <a:buNone/>
            </a:pPr>
            <a:r>
              <a:rPr lang="en-US" sz="730" dirty="0">
                <a:solidFill>
                  <a:srgbClr val="E8EEF2"/>
                </a:solidFill>
                <a:latin typeface="Space Mono" pitchFamily="34" charset="0"/>
                <a:ea typeface="Space Mono" pitchFamily="34" charset="-122"/>
                <a:cs typeface="Space Mono" pitchFamily="34" charset="-120"/>
              </a:rPr>
              <a:t>AI design (Flux)</a:t>
            </a:r>
            <a:endParaRPr lang="en-US" sz="730" dirty="0"/>
          </a:p>
        </p:txBody>
      </p:sp>
      <p:sp>
        <p:nvSpPr>
          <p:cNvPr id="56" name="Shape 54"/>
          <p:cNvSpPr/>
          <p:nvPr/>
        </p:nvSpPr>
        <p:spPr>
          <a:xfrm>
            <a:off x="6647688" y="3977640"/>
            <a:ext cx="91440" cy="91440"/>
          </a:xfrm>
          <a:prstGeom prst="ellipse">
            <a:avLst/>
          </a:prstGeom>
          <a:solidFill>
            <a:srgbClr val="0E1216"/>
          </a:solidFill>
          <a:ln w="9525">
            <a:solidFill>
              <a:srgbClr val="424A51"/>
            </a:solidFill>
            <a:prstDash val="solid"/>
          </a:ln>
        </p:spPr>
      </p:sp>
      <p:sp>
        <p:nvSpPr>
          <p:cNvPr id="57" name="Shape 55"/>
          <p:cNvSpPr/>
          <p:nvPr/>
        </p:nvSpPr>
        <p:spPr>
          <a:xfrm>
            <a:off x="7232904" y="3977640"/>
            <a:ext cx="91440" cy="91440"/>
          </a:xfrm>
          <a:prstGeom prst="ellipse">
            <a:avLst/>
          </a:prstGeom>
          <a:solidFill>
            <a:srgbClr val="0E1216"/>
          </a:solidFill>
          <a:ln w="9525">
            <a:solidFill>
              <a:srgbClr val="424A51"/>
            </a:solidFill>
            <a:prstDash val="solid"/>
          </a:ln>
        </p:spPr>
      </p:sp>
      <p:sp>
        <p:nvSpPr>
          <p:cNvPr id="58" name="Shape 56"/>
          <p:cNvSpPr/>
          <p:nvPr/>
        </p:nvSpPr>
        <p:spPr>
          <a:xfrm>
            <a:off x="7818120" y="3977640"/>
            <a:ext cx="91440" cy="91440"/>
          </a:xfrm>
          <a:prstGeom prst="ellipse">
            <a:avLst/>
          </a:prstGeom>
          <a:solidFill>
            <a:srgbClr val="0E1216"/>
          </a:solidFill>
          <a:ln w="9525">
            <a:solidFill>
              <a:srgbClr val="424A51"/>
            </a:solidFill>
            <a:prstDash val="solid"/>
          </a:ln>
        </p:spPr>
      </p:sp>
      <p:sp>
        <p:nvSpPr>
          <p:cNvPr id="59" name="Shape 57"/>
          <p:cNvSpPr/>
          <p:nvPr/>
        </p:nvSpPr>
        <p:spPr>
          <a:xfrm>
            <a:off x="8403336" y="3977640"/>
            <a:ext cx="91440" cy="91440"/>
          </a:xfrm>
          <a:prstGeom prst="ellipse">
            <a:avLst/>
          </a:prstGeom>
          <a:solidFill>
            <a:srgbClr val="F2C230"/>
          </a:solidFill>
          <a:ln w="9525">
            <a:solidFill>
              <a:srgbClr val="F2C230"/>
            </a:solidFill>
            <a:prstDash val="solid"/>
          </a:ln>
        </p:spPr>
      </p:sp>
      <p:sp>
        <p:nvSpPr>
          <p:cNvPr id="60" name="Shape 58"/>
          <p:cNvSpPr/>
          <p:nvPr/>
        </p:nvSpPr>
        <p:spPr>
          <a:xfrm>
            <a:off x="4572000" y="4160520"/>
            <a:ext cx="4160520" cy="0"/>
          </a:xfrm>
          <a:prstGeom prst="line">
            <a:avLst/>
          </a:prstGeom>
          <a:noFill/>
          <a:ln w="9525">
            <a:solidFill>
              <a:srgbClr val="1F2A32"/>
            </a:solidFill>
            <a:prstDash val="solid"/>
          </a:ln>
        </p:spPr>
      </p:sp>
      <p:sp>
        <p:nvSpPr>
          <p:cNvPr id="61" name="Shape 59"/>
          <p:cNvSpPr/>
          <p:nvPr/>
        </p:nvSpPr>
        <p:spPr>
          <a:xfrm>
            <a:off x="4572000" y="4197096"/>
            <a:ext cx="4160520" cy="274320"/>
          </a:xfrm>
          <a:prstGeom prst="rect">
            <a:avLst/>
          </a:prstGeom>
          <a:solidFill>
            <a:srgbClr val="F2C230"/>
          </a:solidFill>
          <a:ln w="12700">
            <a:solidFill>
              <a:srgbClr val="F2C230"/>
            </a:solidFill>
            <a:prstDash val="solid"/>
          </a:ln>
        </p:spPr>
      </p:sp>
      <p:sp>
        <p:nvSpPr>
          <p:cNvPr id="62" name="Text 60"/>
          <p:cNvSpPr txBox="1"/>
          <p:nvPr/>
        </p:nvSpPr>
        <p:spPr>
          <a:xfrm>
            <a:off x="4645152" y="4197096"/>
            <a:ext cx="1920240" cy="274320"/>
          </a:xfrm>
          <a:prstGeom prst="rect">
            <a:avLst/>
          </a:prstGeom>
          <a:noFill/>
          <a:ln/>
        </p:spPr>
        <p:txBody>
          <a:bodyPr wrap="square" lIns="0" tIns="0" rIns="0" bIns="0" rtlCol="0" anchor="ctr"/>
          <a:lstStyle/>
          <a:p>
            <a:pPr indent="0" marL="0">
              <a:buNone/>
            </a:pPr>
            <a:r>
              <a:rPr lang="en-US" sz="730" b="1" dirty="0">
                <a:solidFill>
                  <a:srgbClr val="1A1405"/>
                </a:solidFill>
                <a:latin typeface="Space Mono" pitchFamily="34" charset="0"/>
                <a:ea typeface="Space Mono" pitchFamily="34" charset="-122"/>
                <a:cs typeface="Space Mono" pitchFamily="34" charset="-120"/>
              </a:rPr>
              <a:t>protopus: proto + baker</a:t>
            </a:r>
            <a:endParaRPr lang="en-US" sz="730" dirty="0"/>
          </a:p>
        </p:txBody>
      </p:sp>
      <p:sp>
        <p:nvSpPr>
          <p:cNvPr id="63" name="Shape 61"/>
          <p:cNvSpPr/>
          <p:nvPr/>
        </p:nvSpPr>
        <p:spPr>
          <a:xfrm>
            <a:off x="6647688" y="4288536"/>
            <a:ext cx="91440" cy="91440"/>
          </a:xfrm>
          <a:prstGeom prst="ellipse">
            <a:avLst/>
          </a:prstGeom>
          <a:solidFill>
            <a:srgbClr val="1A1405"/>
          </a:solidFill>
          <a:ln w="9525">
            <a:solidFill>
              <a:srgbClr val="1A1405"/>
            </a:solidFill>
            <a:prstDash val="solid"/>
          </a:ln>
        </p:spPr>
      </p:sp>
      <p:sp>
        <p:nvSpPr>
          <p:cNvPr id="64" name="Shape 62"/>
          <p:cNvSpPr/>
          <p:nvPr/>
        </p:nvSpPr>
        <p:spPr>
          <a:xfrm>
            <a:off x="7232904" y="4288536"/>
            <a:ext cx="91440" cy="91440"/>
          </a:xfrm>
          <a:prstGeom prst="ellipse">
            <a:avLst/>
          </a:prstGeom>
          <a:solidFill>
            <a:srgbClr val="1A1405"/>
          </a:solidFill>
          <a:ln w="9525">
            <a:solidFill>
              <a:srgbClr val="1A1405"/>
            </a:solidFill>
            <a:prstDash val="solid"/>
          </a:ln>
        </p:spPr>
      </p:sp>
      <p:sp>
        <p:nvSpPr>
          <p:cNvPr id="65" name="Shape 63"/>
          <p:cNvSpPr/>
          <p:nvPr/>
        </p:nvSpPr>
        <p:spPr>
          <a:xfrm>
            <a:off x="7818120" y="4288536"/>
            <a:ext cx="91440" cy="91440"/>
          </a:xfrm>
          <a:prstGeom prst="ellipse">
            <a:avLst/>
          </a:prstGeom>
          <a:solidFill>
            <a:srgbClr val="1A1405"/>
          </a:solidFill>
          <a:ln w="9525">
            <a:solidFill>
              <a:srgbClr val="1A1405"/>
            </a:solidFill>
            <a:prstDash val="solid"/>
          </a:ln>
        </p:spPr>
      </p:sp>
      <p:sp>
        <p:nvSpPr>
          <p:cNvPr id="66" name="Shape 64"/>
          <p:cNvSpPr/>
          <p:nvPr/>
        </p:nvSpPr>
        <p:spPr>
          <a:xfrm>
            <a:off x="8403336" y="4288536"/>
            <a:ext cx="91440" cy="91440"/>
          </a:xfrm>
          <a:prstGeom prst="ellipse">
            <a:avLst/>
          </a:prstGeom>
          <a:solidFill>
            <a:srgbClr val="1A1405"/>
          </a:solidFill>
          <a:ln w="9525">
            <a:solidFill>
              <a:srgbClr val="1A1405"/>
            </a:solidFill>
            <a:prstDash val="solid"/>
          </a:ln>
        </p:spPr>
      </p:sp>
      <p:sp>
        <p:nvSpPr>
          <p:cNvPr id="67" name="Text 65"/>
          <p:cNvSpPr txBox="1"/>
          <p:nvPr/>
        </p:nvSpPr>
        <p:spPr>
          <a:xfrm>
            <a:off x="411480" y="4773168"/>
            <a:ext cx="8321040" cy="182880"/>
          </a:xfrm>
          <a:prstGeom prst="rect">
            <a:avLst/>
          </a:prstGeom>
          <a:noFill/>
          <a:ln/>
        </p:spPr>
        <p:txBody>
          <a:bodyPr wrap="square" lIns="0" tIns="0" rIns="0" bIns="0" rtlCol="0" anchor="t"/>
          <a:lstStyle/>
          <a:p>
            <a:pPr indent="0" marL="0">
              <a:buNone/>
            </a:pPr>
            <a:r>
              <a:rPr lang="en-US" sz="650" dirty="0">
                <a:solidFill>
                  <a:srgbClr val="6E7A83"/>
                </a:solidFill>
                <a:latin typeface="Space Mono" pitchFamily="34" charset="0"/>
                <a:ea typeface="Space Mono" pitchFamily="34" charset="-122"/>
                <a:cs typeface="Space Mono" pitchFamily="34" charset="-120"/>
              </a:rPr>
              <a:t>IMARC · Grand View · AICTE · DPIIT/TiE (2.25 lakh startups; 1% hardware is our assumption) · Atal Innovation Mission · Union Budget 2025-26. </a:t>
            </a:r>
            <a:r>
              <a:rPr lang="en-US" sz="650" dirty="0">
                <a:solidFill>
                  <a:srgbClr val="6E7A83"/>
                </a:solidFill>
                <a:latin typeface="Space Grotesk" pitchFamily="34" charset="0"/>
                <a:ea typeface="Space Grotesk" pitchFamily="34" charset="-122"/>
                <a:cs typeface="Space Grotesk" pitchFamily="34" charset="-120"/>
              </a:rPr>
              <a:t>₹</a:t>
            </a:r>
            <a:r>
              <a:rPr lang="en-US" sz="650" dirty="0">
                <a:solidFill>
                  <a:srgbClr val="6E7A83"/>
                </a:solidFill>
                <a:latin typeface="Space Mono" pitchFamily="34" charset="0"/>
                <a:ea typeface="Space Mono" pitchFamily="34" charset="-122"/>
                <a:cs typeface="Space Mono" pitchFamily="34" charset="-120"/>
              </a:rPr>
              <a:t> at </a:t>
            </a:r>
            <a:r>
              <a:rPr lang="en-US" sz="650" dirty="0">
                <a:solidFill>
                  <a:srgbClr val="6E7A83"/>
                </a:solidFill>
                <a:latin typeface="Space Grotesk" pitchFamily="34" charset="0"/>
                <a:ea typeface="Space Grotesk" pitchFamily="34" charset="-122"/>
                <a:cs typeface="Space Grotesk" pitchFamily="34" charset="-120"/>
              </a:rPr>
              <a:t>₹</a:t>
            </a:r>
            <a:r>
              <a:rPr lang="en-US" sz="650" dirty="0">
                <a:solidFill>
                  <a:srgbClr val="6E7A83"/>
                </a:solidFill>
                <a:latin typeface="Space Mono" pitchFamily="34" charset="0"/>
                <a:ea typeface="Space Mono" pitchFamily="34" charset="-122"/>
                <a:cs typeface="Space Mono" pitchFamily="34" charset="-120"/>
              </a:rPr>
              <a:t>88 per US$.</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216"/>
        </a:solidFill>
      </p:bgPr>
    </p:bg>
    <p:spTree>
      <p:nvGrpSpPr>
        <p:cNvPr id="1" name=""/>
        <p:cNvGrpSpPr/>
        <p:nvPr/>
      </p:nvGrpSpPr>
      <p:grpSpPr>
        <a:xfrm>
          <a:off x="0" y="0"/>
          <a:ext cx="0" cy="0"/>
          <a:chOff x="0" y="0"/>
          <a:chExt cx="0" cy="0"/>
        </a:xfrm>
      </p:grpSpPr>
      <p:sp>
        <p:nvSpPr>
          <p:cNvPr id="2" name="Text 0"/>
          <p:cNvSpPr txBox="1"/>
          <p:nvPr/>
        </p:nvSpPr>
        <p:spPr>
          <a:xfrm>
            <a:off x="411480" y="347472"/>
            <a:ext cx="8321040" cy="182880"/>
          </a:xfrm>
          <a:prstGeom prst="rect">
            <a:avLst/>
          </a:prstGeom>
          <a:noFill/>
          <a:ln/>
        </p:spPr>
        <p:txBody>
          <a:bodyPr wrap="square" lIns="0" tIns="0" rIns="0" bIns="0" rtlCol="0" anchor="t"/>
          <a:lstStyle/>
          <a:p>
            <a:pPr indent="0" marL="0">
              <a:buNone/>
            </a:pPr>
            <a:r>
              <a:rPr lang="en-US" sz="850" spc="250" kern="0" dirty="0">
                <a:solidFill>
                  <a:srgbClr val="CF8F4E"/>
                </a:solidFill>
                <a:latin typeface="Space Mono" pitchFamily="34" charset="0"/>
                <a:ea typeface="Space Mono" pitchFamily="34" charset="-122"/>
                <a:cs typeface="Space Mono" pitchFamily="34" charset="-120"/>
              </a:rPr>
              <a:t>QUESTION 05 · AUTOMATION, HONESTLY</a:t>
            </a:r>
            <a:endParaRPr lang="en-US" sz="850" dirty="0"/>
          </a:p>
        </p:txBody>
      </p:sp>
      <p:sp>
        <p:nvSpPr>
          <p:cNvPr id="3" name="Text 1"/>
          <p:cNvSpPr txBox="1"/>
          <p:nvPr/>
        </p:nvSpPr>
        <p:spPr>
          <a:xfrm>
            <a:off x="411480" y="713232"/>
            <a:ext cx="3749040" cy="164592"/>
          </a:xfrm>
          <a:prstGeom prst="rect">
            <a:avLst/>
          </a:prstGeom>
          <a:noFill/>
          <a:ln/>
        </p:spPr>
        <p:txBody>
          <a:bodyPr wrap="square" lIns="0" tIns="0" rIns="0" bIns="0" rtlCol="0" anchor="t"/>
          <a:lstStyle/>
          <a:p>
            <a:pPr indent="0" marL="0">
              <a:buNone/>
            </a:pPr>
            <a:r>
              <a:rPr lang="en-US" sz="750" spc="200" kern="0" dirty="0">
                <a:solidFill>
                  <a:srgbClr val="6E7A83"/>
                </a:solidFill>
                <a:latin typeface="Space Mono" pitchFamily="34" charset="0"/>
                <a:ea typeface="Space Mono" pitchFamily="34" charset="-122"/>
                <a:cs typeface="Space Mono" pitchFamily="34" charset="-120"/>
              </a:rPr>
              <a:t>SIR, YOU ASKED</a:t>
            </a:r>
            <a:endParaRPr lang="en-US" sz="750" dirty="0"/>
          </a:p>
        </p:txBody>
      </p:sp>
      <p:sp>
        <p:nvSpPr>
          <p:cNvPr id="4" name="Shape 2"/>
          <p:cNvSpPr/>
          <p:nvPr/>
        </p:nvSpPr>
        <p:spPr>
          <a:xfrm>
            <a:off x="411480" y="941832"/>
            <a:ext cx="32004" cy="914400"/>
          </a:xfrm>
          <a:prstGeom prst="rect">
            <a:avLst/>
          </a:prstGeom>
          <a:solidFill>
            <a:srgbClr val="F2C230"/>
          </a:solidFill>
          <a:ln w="12700">
            <a:solidFill>
              <a:srgbClr val="F2C230"/>
            </a:solidFill>
            <a:prstDash val="solid"/>
          </a:ln>
        </p:spPr>
      </p:sp>
      <p:sp>
        <p:nvSpPr>
          <p:cNvPr id="5" name="Text 3"/>
          <p:cNvSpPr txBox="1"/>
          <p:nvPr/>
        </p:nvSpPr>
        <p:spPr>
          <a:xfrm>
            <a:off x="548640" y="914400"/>
            <a:ext cx="3611880" cy="914400"/>
          </a:xfrm>
          <a:prstGeom prst="rect">
            <a:avLst/>
          </a:prstGeom>
          <a:noFill/>
          <a:ln/>
        </p:spPr>
        <p:txBody>
          <a:bodyPr wrap="square" lIns="0" tIns="0" rIns="0" bIns="0" rtlCol="0" anchor="t"/>
          <a:lstStyle/>
          <a:p>
            <a:pPr indent="0" marL="0">
              <a:lnSpc>
                <a:spcPct val="105000"/>
              </a:lnSpc>
              <a:buNone/>
            </a:pPr>
            <a:r>
              <a:rPr lang="en-US" sz="1100" i="1" dirty="0">
                <a:solidFill>
                  <a:srgbClr val="8FB3C9"/>
                </a:solidFill>
                <a:latin typeface="Space Grotesk" pitchFamily="34" charset="0"/>
                <a:ea typeface="Space Grotesk" pitchFamily="34" charset="-122"/>
                <a:cs typeface="Space Grotesk" pitchFamily="34" charset="-120"/>
              </a:rPr>
              <a:t>“‘Send the design at night, pick it up in the morning’ is a bit too aggressive. We have to load boards, place components, etc. So it’s not fully automated.”</a:t>
            </a:r>
            <a:endParaRPr lang="en-US" sz="1100" dirty="0"/>
          </a:p>
        </p:txBody>
      </p:sp>
      <p:sp>
        <p:nvSpPr>
          <p:cNvPr id="6" name="Text 4"/>
          <p:cNvSpPr txBox="1"/>
          <p:nvPr/>
        </p:nvSpPr>
        <p:spPr>
          <a:xfrm>
            <a:off x="411480" y="1965960"/>
            <a:ext cx="3749040" cy="164592"/>
          </a:xfrm>
          <a:prstGeom prst="rect">
            <a:avLst/>
          </a:prstGeom>
          <a:noFill/>
          <a:ln/>
        </p:spPr>
        <p:txBody>
          <a:bodyPr wrap="square" lIns="0" tIns="0" rIns="0" bIns="0" rtlCol="0" anchor="t"/>
          <a:lstStyle/>
          <a:p>
            <a:pPr indent="0" marL="0">
              <a:buNone/>
            </a:pPr>
            <a:r>
              <a:rPr lang="en-US" sz="750" spc="200" kern="0" dirty="0">
                <a:solidFill>
                  <a:srgbClr val="F2C230"/>
                </a:solidFill>
                <a:latin typeface="Space Mono" pitchFamily="34" charset="0"/>
                <a:ea typeface="Space Mono" pitchFamily="34" charset="-122"/>
                <a:cs typeface="Space Mono" pitchFamily="34" charset="-120"/>
              </a:rPr>
              <a:t>I CAN ANSWER</a:t>
            </a:r>
            <a:endParaRPr lang="en-US" sz="750" dirty="0"/>
          </a:p>
        </p:txBody>
      </p:sp>
      <p:sp>
        <p:nvSpPr>
          <p:cNvPr id="7" name="Text 5"/>
          <p:cNvSpPr txBox="1"/>
          <p:nvPr/>
        </p:nvSpPr>
        <p:spPr>
          <a:xfrm>
            <a:off x="411480" y="2203704"/>
            <a:ext cx="3794760" cy="2368296"/>
          </a:xfrm>
          <a:prstGeom prst="rect">
            <a:avLst/>
          </a:prstGeom>
          <a:noFill/>
          <a:ln/>
        </p:spPr>
        <p:txBody>
          <a:bodyPr wrap="square" lIns="0" tIns="0" rIns="0" bIns="0" rtlCol="0" anchor="t"/>
          <a:lstStyle/>
          <a:p>
            <a:pPr indent="0" marL="0">
              <a:lnSpc>
                <a:spcPct val="108000"/>
              </a:lnSpc>
              <a:buNone/>
            </a:pPr>
            <a:r>
              <a:rPr lang="en-US" sz="1250" dirty="0">
                <a:solidFill>
                  <a:srgbClr val="E8EEF2"/>
                </a:solidFill>
                <a:latin typeface="Space Grotesk" pitchFamily="34" charset="0"/>
                <a:ea typeface="Space Grotesk" pitchFamily="34" charset="-122"/>
                <a:cs typeface="Space Grotesk" pitchFamily="34" charset="-120"/>
              </a:rPr>
              <a:t>You’re right, sir, it isn’t fully automatic, and we no longer say it is. Boards don’t need loading every time, because a refill magazine feeds the next blank. The placement jig is generated from the Gerber and printed in parallel. You drop the parts into the jig and set it on the reflow plate. Start a board after lunch, and test it the same afternoon.</a:t>
            </a:r>
            <a:endParaRPr lang="en-US" sz="1250" dirty="0"/>
          </a:p>
        </p:txBody>
      </p:sp>
      <p:sp>
        <p:nvSpPr>
          <p:cNvPr id="8" name="Shape 6"/>
          <p:cNvSpPr/>
          <p:nvPr/>
        </p:nvSpPr>
        <p:spPr>
          <a:xfrm>
            <a:off x="4407408" y="731520"/>
            <a:ext cx="0" cy="3886200"/>
          </a:xfrm>
          <a:prstGeom prst="line">
            <a:avLst/>
          </a:prstGeom>
          <a:noFill/>
          <a:ln w="9525">
            <a:solidFill>
              <a:srgbClr val="1F2A32"/>
            </a:solidFill>
            <a:prstDash val="solid"/>
          </a:ln>
        </p:spPr>
      </p:sp>
      <p:sp>
        <p:nvSpPr>
          <p:cNvPr id="9" name="Text 7"/>
          <p:cNvSpPr txBox="1"/>
          <p:nvPr/>
        </p:nvSpPr>
        <p:spPr>
          <a:xfrm>
            <a:off x="4572000" y="713232"/>
            <a:ext cx="4114800" cy="164592"/>
          </a:xfrm>
          <a:prstGeom prst="rect">
            <a:avLst/>
          </a:prstGeom>
          <a:noFill/>
          <a:ln/>
        </p:spPr>
        <p:txBody>
          <a:bodyPr wrap="square" lIns="0" tIns="0" rIns="0" bIns="0" rtlCol="0" anchor="t"/>
          <a:lstStyle/>
          <a:p>
            <a:pPr indent="0" marL="0">
              <a:buNone/>
            </a:pPr>
            <a:r>
              <a:rPr lang="en-US" sz="750" spc="200" kern="0" dirty="0">
                <a:solidFill>
                  <a:srgbClr val="CF8F4E"/>
                </a:solidFill>
                <a:latin typeface="Space Mono" pitchFamily="34" charset="0"/>
                <a:ea typeface="Space Mono" pitchFamily="34" charset="-122"/>
                <a:cs typeface="Space Mono" pitchFamily="34" charset="-120"/>
              </a:rPr>
              <a:t>TO JUSTIFY</a:t>
            </a:r>
            <a:endParaRPr lang="en-US" sz="750" dirty="0"/>
          </a:p>
        </p:txBody>
      </p:sp>
      <p:sp>
        <p:nvSpPr>
          <p:cNvPr id="10" name="Text 8"/>
          <p:cNvSpPr txBox="1"/>
          <p:nvPr/>
        </p:nvSpPr>
        <p:spPr>
          <a:xfrm>
            <a:off x="4572000" y="960120"/>
            <a:ext cx="548640" cy="164592"/>
          </a:xfrm>
          <a:prstGeom prst="rect">
            <a:avLst/>
          </a:prstGeom>
          <a:noFill/>
          <a:ln/>
        </p:spPr>
        <p:txBody>
          <a:bodyPr wrap="square" lIns="0" tIns="0" rIns="0" bIns="0" rtlCol="0" anchor="t"/>
          <a:lstStyle/>
          <a:p>
            <a:pPr indent="0" marL="0">
              <a:buNone/>
            </a:pPr>
            <a:r>
              <a:rPr lang="en-US" sz="700" spc="150" kern="0" dirty="0">
                <a:solidFill>
                  <a:srgbClr val="6E7A83"/>
                </a:solidFill>
                <a:latin typeface="Space Mono" pitchFamily="34" charset="0"/>
                <a:ea typeface="Space Mono" pitchFamily="34" charset="-122"/>
                <a:cs typeface="Space Mono" pitchFamily="34" charset="-120"/>
              </a:rPr>
              <a:t>STEP</a:t>
            </a:r>
            <a:endParaRPr lang="en-US" sz="700" dirty="0"/>
          </a:p>
        </p:txBody>
      </p:sp>
      <p:sp>
        <p:nvSpPr>
          <p:cNvPr id="11" name="Text 9"/>
          <p:cNvSpPr txBox="1"/>
          <p:nvPr/>
        </p:nvSpPr>
        <p:spPr>
          <a:xfrm>
            <a:off x="5120640" y="960120"/>
            <a:ext cx="2194560" cy="164592"/>
          </a:xfrm>
          <a:prstGeom prst="rect">
            <a:avLst/>
          </a:prstGeom>
          <a:noFill/>
          <a:ln/>
        </p:spPr>
        <p:txBody>
          <a:bodyPr wrap="square" lIns="0" tIns="0" rIns="0" bIns="0" rtlCol="0" anchor="t"/>
          <a:lstStyle/>
          <a:p>
            <a:pPr indent="0" marL="0">
              <a:buNone/>
            </a:pPr>
            <a:r>
              <a:rPr lang="en-US" sz="700" spc="150" kern="0" dirty="0">
                <a:solidFill>
                  <a:srgbClr val="6E7A83"/>
                </a:solidFill>
                <a:latin typeface="Space Mono" pitchFamily="34" charset="0"/>
                <a:ea typeface="Space Mono" pitchFamily="34" charset="-122"/>
                <a:cs typeface="Space Mono" pitchFamily="34" charset="-120"/>
              </a:rPr>
              <a:t>WHAT HAPPENS</a:t>
            </a:r>
            <a:endParaRPr lang="en-US" sz="700" dirty="0"/>
          </a:p>
        </p:txBody>
      </p:sp>
      <p:sp>
        <p:nvSpPr>
          <p:cNvPr id="12" name="Text 10"/>
          <p:cNvSpPr txBox="1"/>
          <p:nvPr/>
        </p:nvSpPr>
        <p:spPr>
          <a:xfrm>
            <a:off x="7315200" y="960120"/>
            <a:ext cx="731520" cy="164592"/>
          </a:xfrm>
          <a:prstGeom prst="rect">
            <a:avLst/>
          </a:prstGeom>
          <a:noFill/>
          <a:ln/>
        </p:spPr>
        <p:txBody>
          <a:bodyPr wrap="square" lIns="0" tIns="0" rIns="0" bIns="0" rtlCol="0" anchor="t"/>
          <a:lstStyle/>
          <a:p>
            <a:pPr indent="0" marL="0">
              <a:buNone/>
            </a:pPr>
            <a:r>
              <a:rPr lang="en-US" sz="700" spc="150" kern="0" dirty="0">
                <a:solidFill>
                  <a:srgbClr val="6E7A83"/>
                </a:solidFill>
                <a:latin typeface="Space Mono" pitchFamily="34" charset="0"/>
                <a:ea typeface="Space Mono" pitchFamily="34" charset="-122"/>
                <a:cs typeface="Space Mono" pitchFamily="34" charset="-120"/>
              </a:rPr>
              <a:t>WHO</a:t>
            </a:r>
            <a:endParaRPr lang="en-US" sz="700" dirty="0"/>
          </a:p>
        </p:txBody>
      </p:sp>
      <p:sp>
        <p:nvSpPr>
          <p:cNvPr id="13" name="Text 11"/>
          <p:cNvSpPr txBox="1"/>
          <p:nvPr/>
        </p:nvSpPr>
        <p:spPr>
          <a:xfrm>
            <a:off x="8229600" y="960120"/>
            <a:ext cx="502920" cy="164592"/>
          </a:xfrm>
          <a:prstGeom prst="rect">
            <a:avLst/>
          </a:prstGeom>
          <a:noFill/>
          <a:ln/>
        </p:spPr>
        <p:txBody>
          <a:bodyPr wrap="square" lIns="0" tIns="0" rIns="0" bIns="0" rtlCol="0" anchor="t"/>
          <a:lstStyle/>
          <a:p>
            <a:pPr indent="0" marL="0">
              <a:buNone/>
            </a:pPr>
            <a:r>
              <a:rPr lang="en-US" sz="700" spc="150" kern="0" dirty="0">
                <a:solidFill>
                  <a:srgbClr val="6E7A83"/>
                </a:solidFill>
                <a:latin typeface="Space Mono" pitchFamily="34" charset="0"/>
                <a:ea typeface="Space Mono" pitchFamily="34" charset="-122"/>
                <a:cs typeface="Space Mono" pitchFamily="34" charset="-120"/>
              </a:rPr>
              <a:t>MIN</a:t>
            </a:r>
            <a:endParaRPr lang="en-US" sz="700" dirty="0"/>
          </a:p>
        </p:txBody>
      </p:sp>
      <p:sp>
        <p:nvSpPr>
          <p:cNvPr id="14" name="Shape 12"/>
          <p:cNvSpPr/>
          <p:nvPr/>
        </p:nvSpPr>
        <p:spPr>
          <a:xfrm>
            <a:off x="4572000" y="1161288"/>
            <a:ext cx="4160520" cy="0"/>
          </a:xfrm>
          <a:prstGeom prst="line">
            <a:avLst/>
          </a:prstGeom>
          <a:noFill/>
          <a:ln w="11430">
            <a:solidFill>
              <a:srgbClr val="E8EEF2"/>
            </a:solidFill>
            <a:prstDash val="solid"/>
          </a:ln>
        </p:spPr>
      </p:sp>
      <p:sp>
        <p:nvSpPr>
          <p:cNvPr id="15" name="Text 13"/>
          <p:cNvSpPr txBox="1"/>
          <p:nvPr/>
        </p:nvSpPr>
        <p:spPr>
          <a:xfrm>
            <a:off x="4572000" y="1188720"/>
            <a:ext cx="548640" cy="310896"/>
          </a:xfrm>
          <a:prstGeom prst="rect">
            <a:avLst/>
          </a:prstGeom>
          <a:noFill/>
          <a:ln/>
        </p:spPr>
        <p:txBody>
          <a:bodyPr wrap="square" lIns="0" tIns="0" rIns="0" bIns="0" rtlCol="0" anchor="ctr"/>
          <a:lstStyle/>
          <a:p>
            <a:pPr indent="0" marL="0">
              <a:buNone/>
            </a:pPr>
            <a:r>
              <a:rPr lang="en-US" sz="750" b="1" dirty="0">
                <a:solidFill>
                  <a:srgbClr val="54ACF0"/>
                </a:solidFill>
                <a:latin typeface="Space Mono" pitchFamily="34" charset="0"/>
                <a:ea typeface="Space Mono" pitchFamily="34" charset="-122"/>
                <a:cs typeface="Space Mono" pitchFamily="34" charset="-120"/>
              </a:rPr>
              <a:t>01–02</a:t>
            </a:r>
            <a:endParaRPr lang="en-US" sz="750" dirty="0"/>
          </a:p>
        </p:txBody>
      </p:sp>
      <p:sp>
        <p:nvSpPr>
          <p:cNvPr id="16" name="Text 14"/>
          <p:cNvSpPr txBox="1"/>
          <p:nvPr/>
        </p:nvSpPr>
        <p:spPr>
          <a:xfrm>
            <a:off x="5120640" y="1188720"/>
            <a:ext cx="2194560" cy="310896"/>
          </a:xfrm>
          <a:prstGeom prst="rect">
            <a:avLst/>
          </a:prstGeom>
          <a:noFill/>
          <a:ln/>
        </p:spPr>
        <p:txBody>
          <a:bodyPr wrap="square" lIns="0" tIns="0" rIns="0" bIns="0" rtlCol="0" anchor="ctr"/>
          <a:lstStyle/>
          <a:p>
            <a:pPr indent="0" marL="0">
              <a:buNone/>
            </a:pPr>
            <a:r>
              <a:rPr lang="en-US" sz="730" dirty="0">
                <a:solidFill>
                  <a:srgbClr val="E8EEF2"/>
                </a:solidFill>
                <a:latin typeface="Space Mono" pitchFamily="34" charset="0"/>
                <a:ea typeface="Space Mono" pitchFamily="34" charset="-122"/>
                <a:cs typeface="Space Mono" pitchFamily="34" charset="-120"/>
              </a:rPr>
              <a:t>feed from the refill magazine, probe the height map</a:t>
            </a:r>
            <a:endParaRPr lang="en-US" sz="730" dirty="0"/>
          </a:p>
        </p:txBody>
      </p:sp>
      <p:sp>
        <p:nvSpPr>
          <p:cNvPr id="17" name="Text 15"/>
          <p:cNvSpPr txBox="1"/>
          <p:nvPr/>
        </p:nvSpPr>
        <p:spPr>
          <a:xfrm>
            <a:off x="7315200" y="1188720"/>
            <a:ext cx="868680" cy="310896"/>
          </a:xfrm>
          <a:prstGeom prst="rect">
            <a:avLst/>
          </a:prstGeom>
          <a:noFill/>
          <a:ln/>
        </p:spPr>
        <p:txBody>
          <a:bodyPr wrap="square" lIns="0" tIns="0" rIns="0" bIns="0" rtlCol="0" anchor="ctr"/>
          <a:lstStyle/>
          <a:p>
            <a:pPr indent="0" marL="0">
              <a:buNone/>
            </a:pPr>
            <a:r>
              <a:rPr lang="en-US" sz="730" dirty="0">
                <a:solidFill>
                  <a:srgbClr val="54ACF0"/>
                </a:solidFill>
                <a:latin typeface="Space Mono" pitchFamily="34" charset="0"/>
                <a:ea typeface="Space Mono" pitchFamily="34" charset="-122"/>
                <a:cs typeface="Space Mono" pitchFamily="34" charset="-120"/>
              </a:rPr>
              <a:t>auto</a:t>
            </a:r>
            <a:endParaRPr lang="en-US" sz="730" dirty="0"/>
          </a:p>
        </p:txBody>
      </p:sp>
      <p:sp>
        <p:nvSpPr>
          <p:cNvPr id="18" name="Text 16"/>
          <p:cNvSpPr txBox="1"/>
          <p:nvPr/>
        </p:nvSpPr>
        <p:spPr>
          <a:xfrm>
            <a:off x="8229600" y="1188720"/>
            <a:ext cx="502920" cy="310896"/>
          </a:xfrm>
          <a:prstGeom prst="rect">
            <a:avLst/>
          </a:prstGeom>
          <a:noFill/>
          <a:ln/>
        </p:spPr>
        <p:txBody>
          <a:bodyPr wrap="square" lIns="0" tIns="0" rIns="0" bIns="0" rtlCol="0" anchor="ctr"/>
          <a:lstStyle/>
          <a:p>
            <a:pPr algn="r" indent="0" marL="0">
              <a:buNone/>
            </a:pPr>
            <a:r>
              <a:rPr lang="en-US" sz="750" dirty="0">
                <a:solidFill>
                  <a:srgbClr val="E8EEF2"/>
                </a:solidFill>
                <a:latin typeface="Space Mono" pitchFamily="34" charset="0"/>
                <a:ea typeface="Space Mono" pitchFamily="34" charset="-122"/>
                <a:cs typeface="Space Mono" pitchFamily="34" charset="-120"/>
              </a:rPr>
              <a:t>5</a:t>
            </a:r>
            <a:endParaRPr lang="en-US" sz="750" dirty="0"/>
          </a:p>
        </p:txBody>
      </p:sp>
      <p:sp>
        <p:nvSpPr>
          <p:cNvPr id="19" name="Shape 17"/>
          <p:cNvSpPr/>
          <p:nvPr/>
        </p:nvSpPr>
        <p:spPr>
          <a:xfrm>
            <a:off x="4572000" y="1508760"/>
            <a:ext cx="4160520" cy="0"/>
          </a:xfrm>
          <a:prstGeom prst="line">
            <a:avLst/>
          </a:prstGeom>
          <a:noFill/>
          <a:ln w="9525">
            <a:solidFill>
              <a:srgbClr val="1F2A32"/>
            </a:solidFill>
            <a:prstDash val="solid"/>
          </a:ln>
        </p:spPr>
      </p:sp>
      <p:sp>
        <p:nvSpPr>
          <p:cNvPr id="20" name="Text 18"/>
          <p:cNvSpPr txBox="1"/>
          <p:nvPr/>
        </p:nvSpPr>
        <p:spPr>
          <a:xfrm>
            <a:off x="4572000" y="1517904"/>
            <a:ext cx="548640" cy="310896"/>
          </a:xfrm>
          <a:prstGeom prst="rect">
            <a:avLst/>
          </a:prstGeom>
          <a:noFill/>
          <a:ln/>
        </p:spPr>
        <p:txBody>
          <a:bodyPr wrap="square" lIns="0" tIns="0" rIns="0" bIns="0" rtlCol="0" anchor="ctr"/>
          <a:lstStyle/>
          <a:p>
            <a:pPr indent="0" marL="0">
              <a:buNone/>
            </a:pPr>
            <a:r>
              <a:rPr lang="en-US" sz="750" b="1" dirty="0">
                <a:solidFill>
                  <a:srgbClr val="54ACF0"/>
                </a:solidFill>
                <a:latin typeface="Space Mono" pitchFamily="34" charset="0"/>
                <a:ea typeface="Space Mono" pitchFamily="34" charset="-122"/>
                <a:cs typeface="Space Mono" pitchFamily="34" charset="-120"/>
              </a:rPr>
              <a:t>03</a:t>
            </a:r>
            <a:endParaRPr lang="en-US" sz="750" dirty="0"/>
          </a:p>
        </p:txBody>
      </p:sp>
      <p:sp>
        <p:nvSpPr>
          <p:cNvPr id="21" name="Text 19"/>
          <p:cNvSpPr txBox="1"/>
          <p:nvPr/>
        </p:nvSpPr>
        <p:spPr>
          <a:xfrm>
            <a:off x="5120640" y="1517904"/>
            <a:ext cx="2194560" cy="310896"/>
          </a:xfrm>
          <a:prstGeom prst="rect">
            <a:avLst/>
          </a:prstGeom>
          <a:noFill/>
          <a:ln/>
        </p:spPr>
        <p:txBody>
          <a:bodyPr wrap="square" lIns="0" tIns="0" rIns="0" bIns="0" rtlCol="0" anchor="ctr"/>
          <a:lstStyle/>
          <a:p>
            <a:pPr indent="0" marL="0">
              <a:buNone/>
            </a:pPr>
            <a:r>
              <a:rPr lang="en-US" sz="730" dirty="0">
                <a:solidFill>
                  <a:srgbClr val="E8EEF2"/>
                </a:solidFill>
                <a:latin typeface="Space Mono" pitchFamily="34" charset="0"/>
                <a:ea typeface="Space Mono" pitchFamily="34" charset="-122"/>
                <a:cs typeface="Space Mono" pitchFamily="34" charset="-120"/>
              </a:rPr>
              <a:t>isolation mill + drill</a:t>
            </a:r>
            <a:endParaRPr lang="en-US" sz="730" dirty="0"/>
          </a:p>
        </p:txBody>
      </p:sp>
      <p:sp>
        <p:nvSpPr>
          <p:cNvPr id="22" name="Text 20"/>
          <p:cNvSpPr txBox="1"/>
          <p:nvPr/>
        </p:nvSpPr>
        <p:spPr>
          <a:xfrm>
            <a:off x="7315200" y="1517904"/>
            <a:ext cx="868680" cy="310896"/>
          </a:xfrm>
          <a:prstGeom prst="rect">
            <a:avLst/>
          </a:prstGeom>
          <a:noFill/>
          <a:ln/>
        </p:spPr>
        <p:txBody>
          <a:bodyPr wrap="square" lIns="0" tIns="0" rIns="0" bIns="0" rtlCol="0" anchor="ctr"/>
          <a:lstStyle/>
          <a:p>
            <a:pPr indent="0" marL="0">
              <a:buNone/>
            </a:pPr>
            <a:r>
              <a:rPr lang="en-US" sz="730" dirty="0">
                <a:solidFill>
                  <a:srgbClr val="54ACF0"/>
                </a:solidFill>
                <a:latin typeface="Space Mono" pitchFamily="34" charset="0"/>
                <a:ea typeface="Space Mono" pitchFamily="34" charset="-122"/>
                <a:cs typeface="Space Mono" pitchFamily="34" charset="-120"/>
              </a:rPr>
              <a:t>auto</a:t>
            </a:r>
            <a:endParaRPr lang="en-US" sz="730" dirty="0"/>
          </a:p>
        </p:txBody>
      </p:sp>
      <p:sp>
        <p:nvSpPr>
          <p:cNvPr id="23" name="Text 21"/>
          <p:cNvSpPr txBox="1"/>
          <p:nvPr/>
        </p:nvSpPr>
        <p:spPr>
          <a:xfrm>
            <a:off x="8229600" y="1517904"/>
            <a:ext cx="502920" cy="310896"/>
          </a:xfrm>
          <a:prstGeom prst="rect">
            <a:avLst/>
          </a:prstGeom>
          <a:noFill/>
          <a:ln/>
        </p:spPr>
        <p:txBody>
          <a:bodyPr wrap="square" lIns="0" tIns="0" rIns="0" bIns="0" rtlCol="0" anchor="ctr"/>
          <a:lstStyle/>
          <a:p>
            <a:pPr algn="r" indent="0" marL="0">
              <a:buNone/>
            </a:pPr>
            <a:r>
              <a:rPr lang="en-US" sz="750" dirty="0">
                <a:solidFill>
                  <a:srgbClr val="E8EEF2"/>
                </a:solidFill>
                <a:latin typeface="Space Mono" pitchFamily="34" charset="0"/>
                <a:ea typeface="Space Mono" pitchFamily="34" charset="-122"/>
                <a:cs typeface="Space Mono" pitchFamily="34" charset="-120"/>
              </a:rPr>
              <a:t>30–55</a:t>
            </a:r>
            <a:endParaRPr lang="en-US" sz="750" dirty="0"/>
          </a:p>
        </p:txBody>
      </p:sp>
      <p:sp>
        <p:nvSpPr>
          <p:cNvPr id="24" name="Shape 22"/>
          <p:cNvSpPr/>
          <p:nvPr/>
        </p:nvSpPr>
        <p:spPr>
          <a:xfrm>
            <a:off x="4572000" y="1837944"/>
            <a:ext cx="4160520" cy="0"/>
          </a:xfrm>
          <a:prstGeom prst="line">
            <a:avLst/>
          </a:prstGeom>
          <a:noFill/>
          <a:ln w="9525">
            <a:solidFill>
              <a:srgbClr val="1F2A32"/>
            </a:solidFill>
            <a:prstDash val="solid"/>
          </a:ln>
        </p:spPr>
      </p:sp>
      <p:sp>
        <p:nvSpPr>
          <p:cNvPr id="25" name="Text 23"/>
          <p:cNvSpPr txBox="1"/>
          <p:nvPr/>
        </p:nvSpPr>
        <p:spPr>
          <a:xfrm>
            <a:off x="4572000" y="1847088"/>
            <a:ext cx="548640" cy="310896"/>
          </a:xfrm>
          <a:prstGeom prst="rect">
            <a:avLst/>
          </a:prstGeom>
          <a:noFill/>
          <a:ln/>
        </p:spPr>
        <p:txBody>
          <a:bodyPr wrap="square" lIns="0" tIns="0" rIns="0" bIns="0" rtlCol="0" anchor="ctr"/>
          <a:lstStyle/>
          <a:p>
            <a:pPr indent="0" marL="0">
              <a:buNone/>
            </a:pPr>
            <a:r>
              <a:rPr lang="en-US" sz="750" b="1" dirty="0">
                <a:solidFill>
                  <a:srgbClr val="54ACF0"/>
                </a:solidFill>
                <a:latin typeface="Space Mono" pitchFamily="34" charset="0"/>
                <a:ea typeface="Space Mono" pitchFamily="34" charset="-122"/>
                <a:cs typeface="Space Mono" pitchFamily="34" charset="-120"/>
              </a:rPr>
              <a:t>04–09</a:t>
            </a:r>
            <a:endParaRPr lang="en-US" sz="750" dirty="0"/>
          </a:p>
        </p:txBody>
      </p:sp>
      <p:sp>
        <p:nvSpPr>
          <p:cNvPr id="26" name="Text 24"/>
          <p:cNvSpPr txBox="1"/>
          <p:nvPr/>
        </p:nvSpPr>
        <p:spPr>
          <a:xfrm>
            <a:off x="5120640" y="1847088"/>
            <a:ext cx="2194560" cy="310896"/>
          </a:xfrm>
          <a:prstGeom prst="rect">
            <a:avLst/>
          </a:prstGeom>
          <a:noFill/>
          <a:ln/>
        </p:spPr>
        <p:txBody>
          <a:bodyPr wrap="square" lIns="0" tIns="0" rIns="0" bIns="0" rtlCol="0" anchor="ctr"/>
          <a:lstStyle/>
          <a:p>
            <a:pPr indent="0" marL="0">
              <a:buNone/>
            </a:pPr>
            <a:r>
              <a:rPr lang="en-US" sz="730" dirty="0">
                <a:solidFill>
                  <a:srgbClr val="E8EEF2"/>
                </a:solidFill>
                <a:latin typeface="Space Mono" pitchFamily="34" charset="0"/>
                <a:ea typeface="Space Mono" pitchFamily="34" charset="-122"/>
                <a:cs typeface="Space Mono" pitchFamily="34" charset="-120"/>
              </a:rPr>
              <a:t>clean, coat the mask, UV image, develop, cure</a:t>
            </a:r>
            <a:endParaRPr lang="en-US" sz="730" dirty="0"/>
          </a:p>
        </p:txBody>
      </p:sp>
      <p:sp>
        <p:nvSpPr>
          <p:cNvPr id="27" name="Text 25"/>
          <p:cNvSpPr txBox="1"/>
          <p:nvPr/>
        </p:nvSpPr>
        <p:spPr>
          <a:xfrm>
            <a:off x="7315200" y="1847088"/>
            <a:ext cx="868680" cy="310896"/>
          </a:xfrm>
          <a:prstGeom prst="rect">
            <a:avLst/>
          </a:prstGeom>
          <a:noFill/>
          <a:ln/>
        </p:spPr>
        <p:txBody>
          <a:bodyPr wrap="square" lIns="0" tIns="0" rIns="0" bIns="0" rtlCol="0" anchor="ctr"/>
          <a:lstStyle/>
          <a:p>
            <a:pPr indent="0" marL="0">
              <a:buNone/>
            </a:pPr>
            <a:r>
              <a:rPr lang="en-US" sz="730" dirty="0">
                <a:solidFill>
                  <a:srgbClr val="54ACF0"/>
                </a:solidFill>
                <a:latin typeface="Space Mono" pitchFamily="34" charset="0"/>
                <a:ea typeface="Space Mono" pitchFamily="34" charset="-122"/>
                <a:cs typeface="Space Mono" pitchFamily="34" charset="-120"/>
              </a:rPr>
              <a:t>auto</a:t>
            </a:r>
            <a:endParaRPr lang="en-US" sz="730" dirty="0"/>
          </a:p>
        </p:txBody>
      </p:sp>
      <p:sp>
        <p:nvSpPr>
          <p:cNvPr id="28" name="Text 26"/>
          <p:cNvSpPr txBox="1"/>
          <p:nvPr/>
        </p:nvSpPr>
        <p:spPr>
          <a:xfrm>
            <a:off x="8229600" y="1847088"/>
            <a:ext cx="502920" cy="310896"/>
          </a:xfrm>
          <a:prstGeom prst="rect">
            <a:avLst/>
          </a:prstGeom>
          <a:noFill/>
          <a:ln/>
        </p:spPr>
        <p:txBody>
          <a:bodyPr wrap="square" lIns="0" tIns="0" rIns="0" bIns="0" rtlCol="0" anchor="ctr"/>
          <a:lstStyle/>
          <a:p>
            <a:pPr algn="r" indent="0" marL="0">
              <a:buNone/>
            </a:pPr>
            <a:r>
              <a:rPr lang="en-US" sz="750" dirty="0">
                <a:solidFill>
                  <a:srgbClr val="E8EEF2"/>
                </a:solidFill>
                <a:latin typeface="Space Mono" pitchFamily="34" charset="0"/>
                <a:ea typeface="Space Mono" pitchFamily="34" charset="-122"/>
                <a:cs typeface="Space Mono" pitchFamily="34" charset="-120"/>
              </a:rPr>
              <a:t>16–27</a:t>
            </a:r>
            <a:endParaRPr lang="en-US" sz="750" dirty="0"/>
          </a:p>
        </p:txBody>
      </p:sp>
      <p:sp>
        <p:nvSpPr>
          <p:cNvPr id="29" name="Shape 27"/>
          <p:cNvSpPr/>
          <p:nvPr/>
        </p:nvSpPr>
        <p:spPr>
          <a:xfrm>
            <a:off x="4572000" y="2167128"/>
            <a:ext cx="4160520" cy="0"/>
          </a:xfrm>
          <a:prstGeom prst="line">
            <a:avLst/>
          </a:prstGeom>
          <a:noFill/>
          <a:ln w="9525">
            <a:solidFill>
              <a:srgbClr val="1F2A32"/>
            </a:solidFill>
            <a:prstDash val="solid"/>
          </a:ln>
        </p:spPr>
      </p:sp>
      <p:sp>
        <p:nvSpPr>
          <p:cNvPr id="30" name="Text 28"/>
          <p:cNvSpPr txBox="1"/>
          <p:nvPr/>
        </p:nvSpPr>
        <p:spPr>
          <a:xfrm>
            <a:off x="4572000" y="2176272"/>
            <a:ext cx="548640" cy="310896"/>
          </a:xfrm>
          <a:prstGeom prst="rect">
            <a:avLst/>
          </a:prstGeom>
          <a:noFill/>
          <a:ln/>
        </p:spPr>
        <p:txBody>
          <a:bodyPr wrap="square" lIns="0" tIns="0" rIns="0" bIns="0" rtlCol="0" anchor="ctr"/>
          <a:lstStyle/>
          <a:p>
            <a:pPr indent="0" marL="0">
              <a:buNone/>
            </a:pPr>
            <a:r>
              <a:rPr lang="en-US" sz="750" b="1" dirty="0">
                <a:solidFill>
                  <a:srgbClr val="54ACF0"/>
                </a:solidFill>
                <a:latin typeface="Space Mono" pitchFamily="34" charset="0"/>
                <a:ea typeface="Space Mono" pitchFamily="34" charset="-122"/>
                <a:cs typeface="Space Mono" pitchFamily="34" charset="-120"/>
              </a:rPr>
              <a:t>10–12</a:t>
            </a:r>
            <a:endParaRPr lang="en-US" sz="750" dirty="0"/>
          </a:p>
        </p:txBody>
      </p:sp>
      <p:sp>
        <p:nvSpPr>
          <p:cNvPr id="31" name="Text 29"/>
          <p:cNvSpPr txBox="1"/>
          <p:nvPr/>
        </p:nvSpPr>
        <p:spPr>
          <a:xfrm>
            <a:off x="5120640" y="2176272"/>
            <a:ext cx="2194560" cy="310896"/>
          </a:xfrm>
          <a:prstGeom prst="rect">
            <a:avLst/>
          </a:prstGeom>
          <a:noFill/>
          <a:ln/>
        </p:spPr>
        <p:txBody>
          <a:bodyPr wrap="square" lIns="0" tIns="0" rIns="0" bIns="0" rtlCol="0" anchor="ctr"/>
          <a:lstStyle/>
          <a:p>
            <a:pPr indent="0" marL="0">
              <a:buNone/>
            </a:pPr>
            <a:r>
              <a:rPr lang="en-US" sz="730" dirty="0">
                <a:solidFill>
                  <a:srgbClr val="E8EEF2"/>
                </a:solidFill>
                <a:latin typeface="Space Mono" pitchFamily="34" charset="0"/>
                <a:ea typeface="Space Mono" pitchFamily="34" charset="-122"/>
                <a:cs typeface="Space Mono" pitchFamily="34" charset="-120"/>
              </a:rPr>
              <a:t>laser-cut the stencil, paste, release</a:t>
            </a:r>
            <a:endParaRPr lang="en-US" sz="730" dirty="0"/>
          </a:p>
        </p:txBody>
      </p:sp>
      <p:sp>
        <p:nvSpPr>
          <p:cNvPr id="32" name="Text 30"/>
          <p:cNvSpPr txBox="1"/>
          <p:nvPr/>
        </p:nvSpPr>
        <p:spPr>
          <a:xfrm>
            <a:off x="7315200" y="2176272"/>
            <a:ext cx="868680" cy="310896"/>
          </a:xfrm>
          <a:prstGeom prst="rect">
            <a:avLst/>
          </a:prstGeom>
          <a:noFill/>
          <a:ln/>
        </p:spPr>
        <p:txBody>
          <a:bodyPr wrap="square" lIns="0" tIns="0" rIns="0" bIns="0" rtlCol="0" anchor="ctr"/>
          <a:lstStyle/>
          <a:p>
            <a:pPr indent="0" marL="0">
              <a:buNone/>
            </a:pPr>
            <a:r>
              <a:rPr lang="en-US" sz="730" dirty="0">
                <a:solidFill>
                  <a:srgbClr val="54ACF0"/>
                </a:solidFill>
                <a:latin typeface="Space Mono" pitchFamily="34" charset="0"/>
                <a:ea typeface="Space Mono" pitchFamily="34" charset="-122"/>
                <a:cs typeface="Space Mono" pitchFamily="34" charset="-120"/>
              </a:rPr>
              <a:t>auto</a:t>
            </a:r>
            <a:endParaRPr lang="en-US" sz="730" dirty="0"/>
          </a:p>
        </p:txBody>
      </p:sp>
      <p:sp>
        <p:nvSpPr>
          <p:cNvPr id="33" name="Text 31"/>
          <p:cNvSpPr txBox="1"/>
          <p:nvPr/>
        </p:nvSpPr>
        <p:spPr>
          <a:xfrm>
            <a:off x="8229600" y="2176272"/>
            <a:ext cx="502920" cy="310896"/>
          </a:xfrm>
          <a:prstGeom prst="rect">
            <a:avLst/>
          </a:prstGeom>
          <a:noFill/>
          <a:ln/>
        </p:spPr>
        <p:txBody>
          <a:bodyPr wrap="square" lIns="0" tIns="0" rIns="0" bIns="0" rtlCol="0" anchor="ctr"/>
          <a:lstStyle/>
          <a:p>
            <a:pPr algn="r" indent="0" marL="0">
              <a:buNone/>
            </a:pPr>
            <a:r>
              <a:rPr lang="en-US" sz="750" dirty="0">
                <a:solidFill>
                  <a:srgbClr val="E8EEF2"/>
                </a:solidFill>
                <a:latin typeface="Space Mono" pitchFamily="34" charset="0"/>
                <a:ea typeface="Space Mono" pitchFamily="34" charset="-122"/>
                <a:cs typeface="Space Mono" pitchFamily="34" charset="-120"/>
              </a:rPr>
              <a:t>8–13</a:t>
            </a:r>
            <a:endParaRPr lang="en-US" sz="750" dirty="0"/>
          </a:p>
        </p:txBody>
      </p:sp>
      <p:sp>
        <p:nvSpPr>
          <p:cNvPr id="34" name="Shape 32"/>
          <p:cNvSpPr/>
          <p:nvPr/>
        </p:nvSpPr>
        <p:spPr>
          <a:xfrm>
            <a:off x="4572000" y="2496312"/>
            <a:ext cx="4160520" cy="0"/>
          </a:xfrm>
          <a:prstGeom prst="line">
            <a:avLst/>
          </a:prstGeom>
          <a:noFill/>
          <a:ln w="9525">
            <a:solidFill>
              <a:srgbClr val="1F2A32"/>
            </a:solidFill>
            <a:prstDash val="solid"/>
          </a:ln>
        </p:spPr>
      </p:sp>
      <p:sp>
        <p:nvSpPr>
          <p:cNvPr id="35" name="Text 33"/>
          <p:cNvSpPr txBox="1"/>
          <p:nvPr/>
        </p:nvSpPr>
        <p:spPr>
          <a:xfrm>
            <a:off x="4572000" y="2505456"/>
            <a:ext cx="548640" cy="310896"/>
          </a:xfrm>
          <a:prstGeom prst="rect">
            <a:avLst/>
          </a:prstGeom>
          <a:noFill/>
          <a:ln/>
        </p:spPr>
        <p:txBody>
          <a:bodyPr wrap="square" lIns="0" tIns="0" rIns="0" bIns="0" rtlCol="0" anchor="ctr"/>
          <a:lstStyle/>
          <a:p>
            <a:pPr indent="0" marL="0">
              <a:buNone/>
            </a:pPr>
            <a:r>
              <a:rPr lang="en-US" sz="750" b="1" dirty="0">
                <a:solidFill>
                  <a:srgbClr val="54ACF0"/>
                </a:solidFill>
                <a:latin typeface="Space Mono" pitchFamily="34" charset="0"/>
                <a:ea typeface="Space Mono" pitchFamily="34" charset="-122"/>
                <a:cs typeface="Space Mono" pitchFamily="34" charset="-120"/>
              </a:rPr>
              <a:t>jig</a:t>
            </a:r>
            <a:endParaRPr lang="en-US" sz="750" dirty="0"/>
          </a:p>
        </p:txBody>
      </p:sp>
      <p:sp>
        <p:nvSpPr>
          <p:cNvPr id="36" name="Text 34"/>
          <p:cNvSpPr txBox="1"/>
          <p:nvPr/>
        </p:nvSpPr>
        <p:spPr>
          <a:xfrm>
            <a:off x="5120640" y="2505456"/>
            <a:ext cx="2194560" cy="310896"/>
          </a:xfrm>
          <a:prstGeom prst="rect">
            <a:avLst/>
          </a:prstGeom>
          <a:noFill/>
          <a:ln/>
        </p:spPr>
        <p:txBody>
          <a:bodyPr wrap="square" lIns="0" tIns="0" rIns="0" bIns="0" rtlCol="0" anchor="ctr"/>
          <a:lstStyle/>
          <a:p>
            <a:pPr indent="0" marL="0">
              <a:buNone/>
            </a:pPr>
            <a:r>
              <a:rPr lang="en-US" sz="730" dirty="0">
                <a:solidFill>
                  <a:srgbClr val="E8EEF2"/>
                </a:solidFill>
                <a:latin typeface="Space Mono" pitchFamily="34" charset="0"/>
                <a:ea typeface="Space Mono" pitchFamily="34" charset="-122"/>
                <a:cs typeface="Space Mono" pitchFamily="34" charset="-120"/>
              </a:rPr>
              <a:t>generated from the Gerber, printed in parallel</a:t>
            </a:r>
            <a:endParaRPr lang="en-US" sz="730" dirty="0"/>
          </a:p>
        </p:txBody>
      </p:sp>
      <p:sp>
        <p:nvSpPr>
          <p:cNvPr id="37" name="Text 35"/>
          <p:cNvSpPr txBox="1"/>
          <p:nvPr/>
        </p:nvSpPr>
        <p:spPr>
          <a:xfrm>
            <a:off x="7315200" y="2505456"/>
            <a:ext cx="868680" cy="310896"/>
          </a:xfrm>
          <a:prstGeom prst="rect">
            <a:avLst/>
          </a:prstGeom>
          <a:noFill/>
          <a:ln/>
        </p:spPr>
        <p:txBody>
          <a:bodyPr wrap="square" lIns="0" tIns="0" rIns="0" bIns="0" rtlCol="0" anchor="ctr"/>
          <a:lstStyle/>
          <a:p>
            <a:pPr indent="0" marL="0">
              <a:buNone/>
            </a:pPr>
            <a:r>
              <a:rPr lang="en-US" sz="730" dirty="0">
                <a:solidFill>
                  <a:srgbClr val="54ACF0"/>
                </a:solidFill>
                <a:latin typeface="Space Mono" pitchFamily="34" charset="0"/>
                <a:ea typeface="Space Mono" pitchFamily="34" charset="-122"/>
                <a:cs typeface="Space Mono" pitchFamily="34" charset="-120"/>
              </a:rPr>
              <a:t>auto</a:t>
            </a:r>
            <a:endParaRPr lang="en-US" sz="730" dirty="0"/>
          </a:p>
        </p:txBody>
      </p:sp>
      <p:sp>
        <p:nvSpPr>
          <p:cNvPr id="38" name="Text 36"/>
          <p:cNvSpPr txBox="1"/>
          <p:nvPr/>
        </p:nvSpPr>
        <p:spPr>
          <a:xfrm>
            <a:off x="8229600" y="2505456"/>
            <a:ext cx="502920" cy="310896"/>
          </a:xfrm>
          <a:prstGeom prst="rect">
            <a:avLst/>
          </a:prstGeom>
          <a:noFill/>
          <a:ln/>
        </p:spPr>
        <p:txBody>
          <a:bodyPr wrap="square" lIns="0" tIns="0" rIns="0" bIns="0" rtlCol="0" anchor="ctr"/>
          <a:lstStyle/>
          <a:p>
            <a:pPr algn="r" indent="0" marL="0">
              <a:buNone/>
            </a:pPr>
            <a:r>
              <a:rPr lang="en-US" sz="750" dirty="0">
                <a:solidFill>
                  <a:srgbClr val="E8EEF2"/>
                </a:solidFill>
                <a:latin typeface="Space Mono" pitchFamily="34" charset="0"/>
                <a:ea typeface="Space Mono" pitchFamily="34" charset="-122"/>
                <a:cs typeface="Space Mono" pitchFamily="34" charset="-120"/>
              </a:rPr>
              <a:t>+0</a:t>
            </a:r>
            <a:endParaRPr lang="en-US" sz="750" dirty="0"/>
          </a:p>
        </p:txBody>
      </p:sp>
      <p:sp>
        <p:nvSpPr>
          <p:cNvPr id="39" name="Shape 37"/>
          <p:cNvSpPr/>
          <p:nvPr/>
        </p:nvSpPr>
        <p:spPr>
          <a:xfrm>
            <a:off x="4572000" y="2825496"/>
            <a:ext cx="4160520" cy="0"/>
          </a:xfrm>
          <a:prstGeom prst="line">
            <a:avLst/>
          </a:prstGeom>
          <a:noFill/>
          <a:ln w="9525">
            <a:solidFill>
              <a:srgbClr val="1F2A32"/>
            </a:solidFill>
            <a:prstDash val="solid"/>
          </a:ln>
        </p:spPr>
      </p:sp>
      <p:sp>
        <p:nvSpPr>
          <p:cNvPr id="40" name="Text 38"/>
          <p:cNvSpPr txBox="1"/>
          <p:nvPr/>
        </p:nvSpPr>
        <p:spPr>
          <a:xfrm>
            <a:off x="4572000" y="2834640"/>
            <a:ext cx="548640" cy="310896"/>
          </a:xfrm>
          <a:prstGeom prst="rect">
            <a:avLst/>
          </a:prstGeom>
          <a:noFill/>
          <a:ln/>
        </p:spPr>
        <p:txBody>
          <a:bodyPr wrap="square" lIns="0" tIns="0" rIns="0" bIns="0" rtlCol="0" anchor="ctr"/>
          <a:lstStyle/>
          <a:p>
            <a:pPr indent="0" marL="0">
              <a:buNone/>
            </a:pPr>
            <a:r>
              <a:rPr lang="en-US" sz="750" b="1" dirty="0">
                <a:solidFill>
                  <a:srgbClr val="F2C230"/>
                </a:solidFill>
                <a:latin typeface="Space Mono" pitchFamily="34" charset="0"/>
                <a:ea typeface="Space Mono" pitchFamily="34" charset="-122"/>
                <a:cs typeface="Space Mono" pitchFamily="34" charset="-120"/>
              </a:rPr>
              <a:t>13</a:t>
            </a:r>
            <a:endParaRPr lang="en-US" sz="750" dirty="0"/>
          </a:p>
        </p:txBody>
      </p:sp>
      <p:sp>
        <p:nvSpPr>
          <p:cNvPr id="41" name="Text 39"/>
          <p:cNvSpPr txBox="1"/>
          <p:nvPr/>
        </p:nvSpPr>
        <p:spPr>
          <a:xfrm>
            <a:off x="5120640" y="2834640"/>
            <a:ext cx="2194560" cy="310896"/>
          </a:xfrm>
          <a:prstGeom prst="rect">
            <a:avLst/>
          </a:prstGeom>
          <a:noFill/>
          <a:ln/>
        </p:spPr>
        <p:txBody>
          <a:bodyPr wrap="square" lIns="0" tIns="0" rIns="0" bIns="0" rtlCol="0" anchor="ctr"/>
          <a:lstStyle/>
          <a:p>
            <a:pPr indent="0" marL="0">
              <a:buNone/>
            </a:pPr>
            <a:r>
              <a:rPr lang="en-US" sz="730" dirty="0">
                <a:solidFill>
                  <a:srgbClr val="E8EEF2"/>
                </a:solidFill>
                <a:latin typeface="Space Mono" pitchFamily="34" charset="0"/>
                <a:ea typeface="Space Mono" pitchFamily="34" charset="-122"/>
                <a:cs typeface="Space Mono" pitchFamily="34" charset="-120"/>
              </a:rPr>
              <a:t>you drop ~40 parts into the jig</a:t>
            </a:r>
            <a:endParaRPr lang="en-US" sz="730" dirty="0"/>
          </a:p>
        </p:txBody>
      </p:sp>
      <p:sp>
        <p:nvSpPr>
          <p:cNvPr id="42" name="Text 40"/>
          <p:cNvSpPr txBox="1"/>
          <p:nvPr/>
        </p:nvSpPr>
        <p:spPr>
          <a:xfrm>
            <a:off x="7315200" y="2834640"/>
            <a:ext cx="868680" cy="310896"/>
          </a:xfrm>
          <a:prstGeom prst="rect">
            <a:avLst/>
          </a:prstGeom>
          <a:noFill/>
          <a:ln/>
        </p:spPr>
        <p:txBody>
          <a:bodyPr wrap="square" lIns="0" tIns="0" rIns="0" bIns="0" rtlCol="0" anchor="ctr"/>
          <a:lstStyle/>
          <a:p>
            <a:pPr indent="0" marL="0">
              <a:buNone/>
            </a:pPr>
            <a:r>
              <a:rPr lang="en-US" sz="730" dirty="0">
                <a:solidFill>
                  <a:srgbClr val="F2C230"/>
                </a:solidFill>
                <a:latin typeface="Space Mono" pitchFamily="34" charset="0"/>
                <a:ea typeface="Space Mono" pitchFamily="34" charset="-122"/>
                <a:cs typeface="Space Mono" pitchFamily="34" charset="-120"/>
              </a:rPr>
              <a:t>you</a:t>
            </a:r>
            <a:endParaRPr lang="en-US" sz="730" dirty="0"/>
          </a:p>
        </p:txBody>
      </p:sp>
      <p:sp>
        <p:nvSpPr>
          <p:cNvPr id="43" name="Text 41"/>
          <p:cNvSpPr txBox="1"/>
          <p:nvPr/>
        </p:nvSpPr>
        <p:spPr>
          <a:xfrm>
            <a:off x="8229600" y="2834640"/>
            <a:ext cx="502920" cy="310896"/>
          </a:xfrm>
          <a:prstGeom prst="rect">
            <a:avLst/>
          </a:prstGeom>
          <a:noFill/>
          <a:ln/>
        </p:spPr>
        <p:txBody>
          <a:bodyPr wrap="square" lIns="0" tIns="0" rIns="0" bIns="0" rtlCol="0" anchor="ctr"/>
          <a:lstStyle/>
          <a:p>
            <a:pPr algn="r" indent="0" marL="0">
              <a:buNone/>
            </a:pPr>
            <a:r>
              <a:rPr lang="en-US" sz="750" dirty="0">
                <a:solidFill>
                  <a:srgbClr val="E8EEF2"/>
                </a:solidFill>
                <a:latin typeface="Space Mono" pitchFamily="34" charset="0"/>
                <a:ea typeface="Space Mono" pitchFamily="34" charset="-122"/>
                <a:cs typeface="Space Mono" pitchFamily="34" charset="-120"/>
              </a:rPr>
              <a:t>7–14</a:t>
            </a:r>
            <a:endParaRPr lang="en-US" sz="750" dirty="0"/>
          </a:p>
        </p:txBody>
      </p:sp>
      <p:sp>
        <p:nvSpPr>
          <p:cNvPr id="44" name="Shape 42"/>
          <p:cNvSpPr/>
          <p:nvPr/>
        </p:nvSpPr>
        <p:spPr>
          <a:xfrm>
            <a:off x="4572000" y="3154680"/>
            <a:ext cx="4160520" cy="0"/>
          </a:xfrm>
          <a:prstGeom prst="line">
            <a:avLst/>
          </a:prstGeom>
          <a:noFill/>
          <a:ln w="9525">
            <a:solidFill>
              <a:srgbClr val="1F2A32"/>
            </a:solidFill>
            <a:prstDash val="solid"/>
          </a:ln>
        </p:spPr>
      </p:sp>
      <p:sp>
        <p:nvSpPr>
          <p:cNvPr id="45" name="Text 43"/>
          <p:cNvSpPr txBox="1"/>
          <p:nvPr/>
        </p:nvSpPr>
        <p:spPr>
          <a:xfrm>
            <a:off x="4572000" y="3163824"/>
            <a:ext cx="548640" cy="310896"/>
          </a:xfrm>
          <a:prstGeom prst="rect">
            <a:avLst/>
          </a:prstGeom>
          <a:noFill/>
          <a:ln/>
        </p:spPr>
        <p:txBody>
          <a:bodyPr wrap="square" lIns="0" tIns="0" rIns="0" bIns="0" rtlCol="0" anchor="ctr"/>
          <a:lstStyle/>
          <a:p>
            <a:pPr indent="0" marL="0">
              <a:buNone/>
            </a:pPr>
            <a:r>
              <a:rPr lang="en-US" sz="750" b="1" dirty="0">
                <a:solidFill>
                  <a:srgbClr val="F2C230"/>
                </a:solidFill>
                <a:latin typeface="Space Mono" pitchFamily="34" charset="0"/>
                <a:ea typeface="Space Mono" pitchFamily="34" charset="-122"/>
                <a:cs typeface="Space Mono" pitchFamily="34" charset="-120"/>
              </a:rPr>
              <a:t>14</a:t>
            </a:r>
            <a:endParaRPr lang="en-US" sz="750" dirty="0"/>
          </a:p>
        </p:txBody>
      </p:sp>
      <p:sp>
        <p:nvSpPr>
          <p:cNvPr id="46" name="Text 44"/>
          <p:cNvSpPr txBox="1"/>
          <p:nvPr/>
        </p:nvSpPr>
        <p:spPr>
          <a:xfrm>
            <a:off x="5120640" y="3163824"/>
            <a:ext cx="2194560" cy="310896"/>
          </a:xfrm>
          <a:prstGeom prst="rect">
            <a:avLst/>
          </a:prstGeom>
          <a:noFill/>
          <a:ln/>
        </p:spPr>
        <p:txBody>
          <a:bodyPr wrap="square" lIns="0" tIns="0" rIns="0" bIns="0" rtlCol="0" anchor="ctr"/>
          <a:lstStyle/>
          <a:p>
            <a:pPr indent="0" marL="0">
              <a:buNone/>
            </a:pPr>
            <a:r>
              <a:rPr lang="en-US" sz="730" dirty="0">
                <a:solidFill>
                  <a:srgbClr val="E8EEF2"/>
                </a:solidFill>
                <a:latin typeface="Space Mono" pitchFamily="34" charset="0"/>
                <a:ea typeface="Space Mono" pitchFamily="34" charset="-122"/>
                <a:cs typeface="Space Mono" pitchFamily="34" charset="-120"/>
              </a:rPr>
              <a:t>you set the jig on the plate; reflow runs itself</a:t>
            </a:r>
            <a:endParaRPr lang="en-US" sz="730" dirty="0"/>
          </a:p>
        </p:txBody>
      </p:sp>
      <p:sp>
        <p:nvSpPr>
          <p:cNvPr id="47" name="Text 45"/>
          <p:cNvSpPr txBox="1"/>
          <p:nvPr/>
        </p:nvSpPr>
        <p:spPr>
          <a:xfrm>
            <a:off x="7315200" y="3163824"/>
            <a:ext cx="868680" cy="310896"/>
          </a:xfrm>
          <a:prstGeom prst="rect">
            <a:avLst/>
          </a:prstGeom>
          <a:noFill/>
          <a:ln/>
        </p:spPr>
        <p:txBody>
          <a:bodyPr wrap="square" lIns="0" tIns="0" rIns="0" bIns="0" rtlCol="0" anchor="ctr"/>
          <a:lstStyle/>
          <a:p>
            <a:pPr indent="0" marL="0">
              <a:buNone/>
            </a:pPr>
            <a:r>
              <a:rPr lang="en-US" sz="730" dirty="0">
                <a:solidFill>
                  <a:srgbClr val="F2C230"/>
                </a:solidFill>
                <a:latin typeface="Space Mono" pitchFamily="34" charset="0"/>
                <a:ea typeface="Space Mono" pitchFamily="34" charset="-122"/>
                <a:cs typeface="Space Mono" pitchFamily="34" charset="-120"/>
              </a:rPr>
              <a:t>you + auto</a:t>
            </a:r>
            <a:endParaRPr lang="en-US" sz="730" dirty="0"/>
          </a:p>
        </p:txBody>
      </p:sp>
      <p:sp>
        <p:nvSpPr>
          <p:cNvPr id="48" name="Text 46"/>
          <p:cNvSpPr txBox="1"/>
          <p:nvPr/>
        </p:nvSpPr>
        <p:spPr>
          <a:xfrm>
            <a:off x="8229600" y="3163824"/>
            <a:ext cx="502920" cy="310896"/>
          </a:xfrm>
          <a:prstGeom prst="rect">
            <a:avLst/>
          </a:prstGeom>
          <a:noFill/>
          <a:ln/>
        </p:spPr>
        <p:txBody>
          <a:bodyPr wrap="square" lIns="0" tIns="0" rIns="0" bIns="0" rtlCol="0" anchor="ctr"/>
          <a:lstStyle/>
          <a:p>
            <a:pPr algn="r" indent="0" marL="0">
              <a:buNone/>
            </a:pPr>
            <a:r>
              <a:rPr lang="en-US" sz="750" dirty="0">
                <a:solidFill>
                  <a:srgbClr val="E8EEF2"/>
                </a:solidFill>
                <a:latin typeface="Space Mono" pitchFamily="34" charset="0"/>
                <a:ea typeface="Space Mono" pitchFamily="34" charset="-122"/>
                <a:cs typeface="Space Mono" pitchFamily="34" charset="-120"/>
              </a:rPr>
              <a:t>10–12</a:t>
            </a:r>
            <a:endParaRPr lang="en-US" sz="750" dirty="0"/>
          </a:p>
        </p:txBody>
      </p:sp>
      <p:sp>
        <p:nvSpPr>
          <p:cNvPr id="49" name="Shape 47"/>
          <p:cNvSpPr/>
          <p:nvPr/>
        </p:nvSpPr>
        <p:spPr>
          <a:xfrm>
            <a:off x="4572000" y="3483864"/>
            <a:ext cx="4160520" cy="0"/>
          </a:xfrm>
          <a:prstGeom prst="line">
            <a:avLst/>
          </a:prstGeom>
          <a:noFill/>
          <a:ln w="9525">
            <a:solidFill>
              <a:srgbClr val="1F2A32"/>
            </a:solidFill>
            <a:prstDash val="solid"/>
          </a:ln>
        </p:spPr>
      </p:sp>
      <p:sp>
        <p:nvSpPr>
          <p:cNvPr id="50" name="Text 48"/>
          <p:cNvSpPr txBox="1"/>
          <p:nvPr/>
        </p:nvSpPr>
        <p:spPr>
          <a:xfrm>
            <a:off x="4572000" y="3493008"/>
            <a:ext cx="548640" cy="310896"/>
          </a:xfrm>
          <a:prstGeom prst="rect">
            <a:avLst/>
          </a:prstGeom>
          <a:noFill/>
          <a:ln/>
        </p:spPr>
        <p:txBody>
          <a:bodyPr wrap="square" lIns="0" tIns="0" rIns="0" bIns="0" rtlCol="0" anchor="ctr"/>
          <a:lstStyle/>
          <a:p>
            <a:pPr indent="0" marL="0">
              <a:buNone/>
            </a:pPr>
            <a:r>
              <a:rPr lang="en-US" sz="750" b="1" dirty="0">
                <a:solidFill>
                  <a:srgbClr val="F2C230"/>
                </a:solidFill>
                <a:latin typeface="Space Mono" pitchFamily="34" charset="0"/>
                <a:ea typeface="Space Mono" pitchFamily="34" charset="-122"/>
                <a:cs typeface="Space Mono" pitchFamily="34" charset="-120"/>
              </a:rPr>
              <a:t>15</a:t>
            </a:r>
            <a:endParaRPr lang="en-US" sz="750" dirty="0"/>
          </a:p>
        </p:txBody>
      </p:sp>
      <p:sp>
        <p:nvSpPr>
          <p:cNvPr id="51" name="Text 49"/>
          <p:cNvSpPr txBox="1"/>
          <p:nvPr/>
        </p:nvSpPr>
        <p:spPr>
          <a:xfrm>
            <a:off x="5120640" y="3493008"/>
            <a:ext cx="2194560" cy="310896"/>
          </a:xfrm>
          <a:prstGeom prst="rect">
            <a:avLst/>
          </a:prstGeom>
          <a:noFill/>
          <a:ln/>
        </p:spPr>
        <p:txBody>
          <a:bodyPr wrap="square" lIns="0" tIns="0" rIns="0" bIns="0" rtlCol="0" anchor="ctr"/>
          <a:lstStyle/>
          <a:p>
            <a:pPr indent="0" marL="0">
              <a:buNone/>
            </a:pPr>
            <a:r>
              <a:rPr lang="en-US" sz="730" dirty="0">
                <a:solidFill>
                  <a:srgbClr val="E8EEF2"/>
                </a:solidFill>
                <a:latin typeface="Space Mono" pitchFamily="34" charset="0"/>
                <a:ea typeface="Space Mono" pitchFamily="34" charset="-122"/>
                <a:cs typeface="Space Mono" pitchFamily="34" charset="-120"/>
              </a:rPr>
              <a:t>test: Proto runs the plan</a:t>
            </a:r>
            <a:endParaRPr lang="en-US" sz="730" dirty="0"/>
          </a:p>
        </p:txBody>
      </p:sp>
      <p:sp>
        <p:nvSpPr>
          <p:cNvPr id="52" name="Text 50"/>
          <p:cNvSpPr txBox="1"/>
          <p:nvPr/>
        </p:nvSpPr>
        <p:spPr>
          <a:xfrm>
            <a:off x="7315200" y="3493008"/>
            <a:ext cx="868680" cy="310896"/>
          </a:xfrm>
          <a:prstGeom prst="rect">
            <a:avLst/>
          </a:prstGeom>
          <a:noFill/>
          <a:ln/>
        </p:spPr>
        <p:txBody>
          <a:bodyPr wrap="square" lIns="0" tIns="0" rIns="0" bIns="0" rtlCol="0" anchor="ctr"/>
          <a:lstStyle/>
          <a:p>
            <a:pPr indent="0" marL="0">
              <a:buNone/>
            </a:pPr>
            <a:r>
              <a:rPr lang="en-US" sz="730" dirty="0">
                <a:solidFill>
                  <a:srgbClr val="F2C230"/>
                </a:solidFill>
                <a:latin typeface="Space Mono" pitchFamily="34" charset="0"/>
                <a:ea typeface="Space Mono" pitchFamily="34" charset="-122"/>
                <a:cs typeface="Space Mono" pitchFamily="34" charset="-120"/>
              </a:rPr>
              <a:t>you hook up</a:t>
            </a:r>
            <a:endParaRPr lang="en-US" sz="730" dirty="0"/>
          </a:p>
        </p:txBody>
      </p:sp>
      <p:sp>
        <p:nvSpPr>
          <p:cNvPr id="53" name="Text 51"/>
          <p:cNvSpPr txBox="1"/>
          <p:nvPr/>
        </p:nvSpPr>
        <p:spPr>
          <a:xfrm>
            <a:off x="8229600" y="3493008"/>
            <a:ext cx="502920" cy="310896"/>
          </a:xfrm>
          <a:prstGeom prst="rect">
            <a:avLst/>
          </a:prstGeom>
          <a:noFill/>
          <a:ln/>
        </p:spPr>
        <p:txBody>
          <a:bodyPr wrap="square" lIns="0" tIns="0" rIns="0" bIns="0" rtlCol="0" anchor="ctr"/>
          <a:lstStyle/>
          <a:p>
            <a:pPr algn="r" indent="0" marL="0">
              <a:buNone/>
            </a:pPr>
            <a:r>
              <a:rPr lang="en-US" sz="750" dirty="0">
                <a:solidFill>
                  <a:srgbClr val="E8EEF2"/>
                </a:solidFill>
                <a:latin typeface="Space Mono" pitchFamily="34" charset="0"/>
                <a:ea typeface="Space Mono" pitchFamily="34" charset="-122"/>
                <a:cs typeface="Space Mono" pitchFamily="34" charset="-120"/>
              </a:rPr>
              <a:t>5–15</a:t>
            </a:r>
            <a:endParaRPr lang="en-US" sz="750" dirty="0"/>
          </a:p>
        </p:txBody>
      </p:sp>
      <p:sp>
        <p:nvSpPr>
          <p:cNvPr id="54" name="Shape 52"/>
          <p:cNvSpPr/>
          <p:nvPr/>
        </p:nvSpPr>
        <p:spPr>
          <a:xfrm>
            <a:off x="4572000" y="3813048"/>
            <a:ext cx="4160520" cy="0"/>
          </a:xfrm>
          <a:prstGeom prst="line">
            <a:avLst/>
          </a:prstGeom>
          <a:noFill/>
          <a:ln w="9525">
            <a:solidFill>
              <a:srgbClr val="1F2A32"/>
            </a:solidFill>
            <a:prstDash val="solid"/>
          </a:ln>
        </p:spPr>
      </p:sp>
      <p:sp>
        <p:nvSpPr>
          <p:cNvPr id="55" name="Text 53"/>
          <p:cNvSpPr txBox="1"/>
          <p:nvPr/>
        </p:nvSpPr>
        <p:spPr>
          <a:xfrm>
            <a:off x="4572000" y="3931920"/>
            <a:ext cx="1371600" cy="320040"/>
          </a:xfrm>
          <a:prstGeom prst="rect">
            <a:avLst/>
          </a:prstGeom>
          <a:noFill/>
          <a:ln/>
        </p:spPr>
        <p:txBody>
          <a:bodyPr wrap="square" lIns="0" tIns="0" rIns="0" bIns="0" rtlCol="0" anchor="t"/>
          <a:lstStyle/>
          <a:p>
            <a:pPr indent="0" marL="0">
              <a:buNone/>
            </a:pPr>
            <a:r>
              <a:rPr lang="en-US" sz="1400" b="1" dirty="0">
                <a:solidFill>
                  <a:srgbClr val="CF8F4E"/>
                </a:solidFill>
                <a:latin typeface="Space Grotesk" pitchFamily="34" charset="0"/>
                <a:ea typeface="Space Grotesk" pitchFamily="34" charset="-122"/>
                <a:cs typeface="Space Grotesk" pitchFamily="34" charset="-120"/>
              </a:rPr>
              <a:t>81–141 min</a:t>
            </a:r>
            <a:endParaRPr lang="en-US" sz="1400" dirty="0"/>
          </a:p>
        </p:txBody>
      </p:sp>
      <p:sp>
        <p:nvSpPr>
          <p:cNvPr id="56" name="Text 54"/>
          <p:cNvSpPr txBox="1"/>
          <p:nvPr/>
        </p:nvSpPr>
        <p:spPr>
          <a:xfrm>
            <a:off x="4572000" y="4261104"/>
            <a:ext cx="1371600" cy="201168"/>
          </a:xfrm>
          <a:prstGeom prst="rect">
            <a:avLst/>
          </a:prstGeom>
          <a:noFill/>
          <a:ln/>
        </p:spPr>
        <p:txBody>
          <a:bodyPr wrap="square" lIns="0" tIns="0" rIns="0" bIns="0" rtlCol="0" anchor="t"/>
          <a:lstStyle/>
          <a:p>
            <a:pPr indent="0" marL="0">
              <a:buNone/>
            </a:pPr>
            <a:r>
              <a:rPr lang="en-US" sz="700" dirty="0">
                <a:solidFill>
                  <a:srgbClr val="6E7A83"/>
                </a:solidFill>
                <a:latin typeface="Space Mono" pitchFamily="34" charset="0"/>
                <a:ea typeface="Space Mono" pitchFamily="34" charset="-122"/>
                <a:cs typeface="Space Mono" pitchFamily="34" charset="-120"/>
              </a:rPr>
              <a:t>per board (target)</a:t>
            </a:r>
            <a:endParaRPr lang="en-US" sz="700" dirty="0"/>
          </a:p>
        </p:txBody>
      </p:sp>
      <p:sp>
        <p:nvSpPr>
          <p:cNvPr id="57" name="Text 55"/>
          <p:cNvSpPr txBox="1"/>
          <p:nvPr/>
        </p:nvSpPr>
        <p:spPr>
          <a:xfrm>
            <a:off x="5971032" y="3931920"/>
            <a:ext cx="1371600" cy="320040"/>
          </a:xfrm>
          <a:prstGeom prst="rect">
            <a:avLst/>
          </a:prstGeom>
          <a:noFill/>
          <a:ln/>
        </p:spPr>
        <p:txBody>
          <a:bodyPr wrap="square" lIns="0" tIns="0" rIns="0" bIns="0" rtlCol="0" anchor="t"/>
          <a:lstStyle/>
          <a:p>
            <a:pPr indent="0" marL="0">
              <a:buNone/>
            </a:pPr>
            <a:r>
              <a:rPr lang="en-US" sz="1400" b="1" dirty="0">
                <a:solidFill>
                  <a:srgbClr val="F2C230"/>
                </a:solidFill>
                <a:latin typeface="Space Grotesk" pitchFamily="34" charset="0"/>
                <a:ea typeface="Space Grotesk" pitchFamily="34" charset="-122"/>
                <a:cs typeface="Space Grotesk" pitchFamily="34" charset="-120"/>
              </a:rPr>
              <a:t>15–20 min</a:t>
            </a:r>
            <a:endParaRPr lang="en-US" sz="1400" dirty="0"/>
          </a:p>
        </p:txBody>
      </p:sp>
      <p:sp>
        <p:nvSpPr>
          <p:cNvPr id="58" name="Text 56"/>
          <p:cNvSpPr txBox="1"/>
          <p:nvPr/>
        </p:nvSpPr>
        <p:spPr>
          <a:xfrm>
            <a:off x="5971032" y="4261104"/>
            <a:ext cx="1371600" cy="201168"/>
          </a:xfrm>
          <a:prstGeom prst="rect">
            <a:avLst/>
          </a:prstGeom>
          <a:noFill/>
          <a:ln/>
        </p:spPr>
        <p:txBody>
          <a:bodyPr wrap="square" lIns="0" tIns="0" rIns="0" bIns="0" rtlCol="0" anchor="t"/>
          <a:lstStyle/>
          <a:p>
            <a:pPr indent="0" marL="0">
              <a:buNone/>
            </a:pPr>
            <a:r>
              <a:rPr lang="en-US" sz="700" dirty="0">
                <a:solidFill>
                  <a:srgbClr val="6E7A83"/>
                </a:solidFill>
                <a:latin typeface="Space Mono" pitchFamily="34" charset="0"/>
                <a:ea typeface="Space Mono" pitchFamily="34" charset="-122"/>
                <a:cs typeface="Space Mono" pitchFamily="34" charset="-120"/>
              </a:rPr>
              <a:t>of it hands-on</a:t>
            </a:r>
            <a:endParaRPr lang="en-US" sz="700" dirty="0"/>
          </a:p>
        </p:txBody>
      </p:sp>
      <p:sp>
        <p:nvSpPr>
          <p:cNvPr id="59" name="Text 57"/>
          <p:cNvSpPr txBox="1"/>
          <p:nvPr/>
        </p:nvSpPr>
        <p:spPr>
          <a:xfrm>
            <a:off x="7370064" y="3931920"/>
            <a:ext cx="1371600" cy="320040"/>
          </a:xfrm>
          <a:prstGeom prst="rect">
            <a:avLst/>
          </a:prstGeom>
          <a:noFill/>
          <a:ln/>
        </p:spPr>
        <p:txBody>
          <a:bodyPr wrap="square" lIns="0" tIns="0" rIns="0" bIns="0" rtlCol="0" anchor="t"/>
          <a:lstStyle/>
          <a:p>
            <a:pPr indent="0" marL="0">
              <a:buNone/>
            </a:pPr>
            <a:r>
              <a:rPr lang="en-US" sz="1400" b="1" dirty="0">
                <a:solidFill>
                  <a:srgbClr val="E8EEF2"/>
                </a:solidFill>
                <a:latin typeface="Space Grotesk" pitchFamily="34" charset="0"/>
                <a:ea typeface="Space Grotesk" pitchFamily="34" charset="-122"/>
                <a:cs typeface="Space Grotesk" pitchFamily="34" charset="-120"/>
              </a:rPr>
              <a:t>3–5</a:t>
            </a:r>
            <a:endParaRPr lang="en-US" sz="1400" dirty="0"/>
          </a:p>
        </p:txBody>
      </p:sp>
      <p:sp>
        <p:nvSpPr>
          <p:cNvPr id="60" name="Text 58"/>
          <p:cNvSpPr txBox="1"/>
          <p:nvPr/>
        </p:nvSpPr>
        <p:spPr>
          <a:xfrm>
            <a:off x="7370064" y="4261104"/>
            <a:ext cx="1371600" cy="201168"/>
          </a:xfrm>
          <a:prstGeom prst="rect">
            <a:avLst/>
          </a:prstGeom>
          <a:noFill/>
          <a:ln/>
        </p:spPr>
        <p:txBody>
          <a:bodyPr wrap="square" lIns="0" tIns="0" rIns="0" bIns="0" rtlCol="0" anchor="t"/>
          <a:lstStyle/>
          <a:p>
            <a:pPr indent="0" marL="0">
              <a:buNone/>
            </a:pPr>
            <a:r>
              <a:rPr lang="en-US" sz="700" dirty="0">
                <a:solidFill>
                  <a:srgbClr val="6E7A83"/>
                </a:solidFill>
                <a:latin typeface="Space Mono" pitchFamily="34" charset="0"/>
                <a:ea typeface="Space Mono" pitchFamily="34" charset="-122"/>
                <a:cs typeface="Space Mono" pitchFamily="34" charset="-120"/>
              </a:rPr>
              <a:t>boards per 8-h shift</a:t>
            </a:r>
            <a:endParaRPr lang="en-US" sz="700" dirty="0"/>
          </a:p>
        </p:txBody>
      </p:sp>
      <p:sp>
        <p:nvSpPr>
          <p:cNvPr id="61" name="Text 59"/>
          <p:cNvSpPr txBox="1"/>
          <p:nvPr/>
        </p:nvSpPr>
        <p:spPr>
          <a:xfrm>
            <a:off x="411480" y="4773168"/>
            <a:ext cx="8321040" cy="182880"/>
          </a:xfrm>
          <a:prstGeom prst="rect">
            <a:avLst/>
          </a:prstGeom>
          <a:noFill/>
          <a:ln/>
        </p:spPr>
        <p:txBody>
          <a:bodyPr wrap="square" lIns="0" tIns="0" rIns="0" bIns="0" rtlCol="0" anchor="t"/>
          <a:lstStyle/>
          <a:p>
            <a:pPr indent="0" marL="0">
              <a:buNone/>
            </a:pPr>
            <a:r>
              <a:rPr lang="en-US" sz="650" dirty="0">
                <a:solidFill>
                  <a:srgbClr val="6E7A83"/>
                </a:solidFill>
                <a:latin typeface="Space Mono" pitchFamily="34" charset="0"/>
                <a:ea typeface="Space Mono" pitchFamily="34" charset="-122"/>
                <a:cs typeface="Space Mono" pitchFamily="34" charset="-120"/>
              </a:rPr>
              <a:t>Throughput &amp; Scale sheet, Economics Model. Engineering targets for the first prototype; the proof of concept measures them.</a:t>
            </a:r>
            <a:endParaRPr lang="en-US" sz="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216"/>
        </a:solidFill>
      </p:bgPr>
    </p:bg>
    <p:spTree>
      <p:nvGrpSpPr>
        <p:cNvPr id="1" name=""/>
        <p:cNvGrpSpPr/>
        <p:nvPr/>
      </p:nvGrpSpPr>
      <p:grpSpPr>
        <a:xfrm>
          <a:off x="0" y="0"/>
          <a:ext cx="0" cy="0"/>
          <a:chOff x="0" y="0"/>
          <a:chExt cx="0" cy="0"/>
        </a:xfrm>
      </p:grpSpPr>
      <p:sp>
        <p:nvSpPr>
          <p:cNvPr id="2" name="Text 0"/>
          <p:cNvSpPr txBox="1"/>
          <p:nvPr/>
        </p:nvSpPr>
        <p:spPr>
          <a:xfrm>
            <a:off x="411480" y="347472"/>
            <a:ext cx="8321040" cy="182880"/>
          </a:xfrm>
          <a:prstGeom prst="rect">
            <a:avLst/>
          </a:prstGeom>
          <a:noFill/>
          <a:ln/>
        </p:spPr>
        <p:txBody>
          <a:bodyPr wrap="square" lIns="0" tIns="0" rIns="0" bIns="0" rtlCol="0" anchor="t"/>
          <a:lstStyle/>
          <a:p>
            <a:pPr indent="0" marL="0">
              <a:buNone/>
            </a:pPr>
            <a:r>
              <a:rPr lang="en-US" sz="850" spc="250" kern="0" dirty="0">
                <a:solidFill>
                  <a:srgbClr val="CF8F4E"/>
                </a:solidFill>
                <a:latin typeface="Space Mono" pitchFamily="34" charset="0"/>
                <a:ea typeface="Space Mono" pitchFamily="34" charset="-122"/>
                <a:cs typeface="Space Mono" pitchFamily="34" charset="-120"/>
              </a:rPr>
              <a:t>QUESTION 06 · COMPETITORS’ COSTING</a:t>
            </a:r>
            <a:endParaRPr lang="en-US" sz="850" dirty="0"/>
          </a:p>
        </p:txBody>
      </p:sp>
      <p:sp>
        <p:nvSpPr>
          <p:cNvPr id="3" name="Text 1"/>
          <p:cNvSpPr txBox="1"/>
          <p:nvPr/>
        </p:nvSpPr>
        <p:spPr>
          <a:xfrm>
            <a:off x="411480" y="713232"/>
            <a:ext cx="3749040" cy="164592"/>
          </a:xfrm>
          <a:prstGeom prst="rect">
            <a:avLst/>
          </a:prstGeom>
          <a:noFill/>
          <a:ln/>
        </p:spPr>
        <p:txBody>
          <a:bodyPr wrap="square" lIns="0" tIns="0" rIns="0" bIns="0" rtlCol="0" anchor="t"/>
          <a:lstStyle/>
          <a:p>
            <a:pPr indent="0" marL="0">
              <a:buNone/>
            </a:pPr>
            <a:r>
              <a:rPr lang="en-US" sz="750" spc="200" kern="0" dirty="0">
                <a:solidFill>
                  <a:srgbClr val="6E7A83"/>
                </a:solidFill>
                <a:latin typeface="Space Mono" pitchFamily="34" charset="0"/>
                <a:ea typeface="Space Mono" pitchFamily="34" charset="-122"/>
                <a:cs typeface="Space Mono" pitchFamily="34" charset="-120"/>
              </a:rPr>
              <a:t>SIR, YOU ASKED</a:t>
            </a:r>
            <a:endParaRPr lang="en-US" sz="750" dirty="0"/>
          </a:p>
        </p:txBody>
      </p:sp>
      <p:sp>
        <p:nvSpPr>
          <p:cNvPr id="4" name="Shape 2"/>
          <p:cNvSpPr/>
          <p:nvPr/>
        </p:nvSpPr>
        <p:spPr>
          <a:xfrm>
            <a:off x="411480" y="941832"/>
            <a:ext cx="32004" cy="457200"/>
          </a:xfrm>
          <a:prstGeom prst="rect">
            <a:avLst/>
          </a:prstGeom>
          <a:solidFill>
            <a:srgbClr val="F2C230"/>
          </a:solidFill>
          <a:ln w="12700">
            <a:solidFill>
              <a:srgbClr val="F2C230"/>
            </a:solidFill>
            <a:prstDash val="solid"/>
          </a:ln>
        </p:spPr>
      </p:sp>
      <p:sp>
        <p:nvSpPr>
          <p:cNvPr id="5" name="Text 3"/>
          <p:cNvSpPr txBox="1"/>
          <p:nvPr/>
        </p:nvSpPr>
        <p:spPr>
          <a:xfrm>
            <a:off x="548640" y="914400"/>
            <a:ext cx="3611880" cy="457200"/>
          </a:xfrm>
          <a:prstGeom prst="rect">
            <a:avLst/>
          </a:prstGeom>
          <a:noFill/>
          <a:ln/>
        </p:spPr>
        <p:txBody>
          <a:bodyPr wrap="square" lIns="0" tIns="0" rIns="0" bIns="0" rtlCol="0" anchor="t"/>
          <a:lstStyle/>
          <a:p>
            <a:pPr indent="0" marL="0">
              <a:lnSpc>
                <a:spcPct val="105000"/>
              </a:lnSpc>
              <a:buNone/>
            </a:pPr>
            <a:r>
              <a:rPr lang="en-US" sz="1200" i="1" dirty="0">
                <a:solidFill>
                  <a:srgbClr val="8FB3C9"/>
                </a:solidFill>
                <a:latin typeface="Space Grotesk" pitchFamily="34" charset="0"/>
                <a:ea typeface="Space Grotesk" pitchFamily="34" charset="-122"/>
                <a:cs typeface="Space Grotesk" pitchFamily="34" charset="-120"/>
              </a:rPr>
              <a:t>“I also strongly recommend looking at the competition and their costing.”</a:t>
            </a:r>
            <a:endParaRPr lang="en-US" sz="1200" dirty="0"/>
          </a:p>
        </p:txBody>
      </p:sp>
      <p:sp>
        <p:nvSpPr>
          <p:cNvPr id="6" name="Text 4"/>
          <p:cNvSpPr txBox="1"/>
          <p:nvPr/>
        </p:nvSpPr>
        <p:spPr>
          <a:xfrm>
            <a:off x="411480" y="1508760"/>
            <a:ext cx="3749040" cy="164592"/>
          </a:xfrm>
          <a:prstGeom prst="rect">
            <a:avLst/>
          </a:prstGeom>
          <a:noFill/>
          <a:ln/>
        </p:spPr>
        <p:txBody>
          <a:bodyPr wrap="square" lIns="0" tIns="0" rIns="0" bIns="0" rtlCol="0" anchor="t"/>
          <a:lstStyle/>
          <a:p>
            <a:pPr indent="0" marL="0">
              <a:buNone/>
            </a:pPr>
            <a:r>
              <a:rPr lang="en-US" sz="750" spc="200" kern="0" dirty="0">
                <a:solidFill>
                  <a:srgbClr val="F2C230"/>
                </a:solidFill>
                <a:latin typeface="Space Mono" pitchFamily="34" charset="0"/>
                <a:ea typeface="Space Mono" pitchFamily="34" charset="-122"/>
                <a:cs typeface="Space Mono" pitchFamily="34" charset="-120"/>
              </a:rPr>
              <a:t>I CAN ANSWER</a:t>
            </a:r>
            <a:endParaRPr lang="en-US" sz="750" dirty="0"/>
          </a:p>
        </p:txBody>
      </p:sp>
      <p:sp>
        <p:nvSpPr>
          <p:cNvPr id="7" name="Text 5"/>
          <p:cNvSpPr txBox="1"/>
          <p:nvPr/>
        </p:nvSpPr>
        <p:spPr>
          <a:xfrm>
            <a:off x="411480" y="1746504"/>
            <a:ext cx="3794760" cy="2825496"/>
          </a:xfrm>
          <a:prstGeom prst="rect">
            <a:avLst/>
          </a:prstGeom>
          <a:noFill/>
          <a:ln/>
        </p:spPr>
        <p:txBody>
          <a:bodyPr wrap="square" lIns="0" tIns="0" rIns="0" bIns="0" rtlCol="0" anchor="t"/>
          <a:lstStyle/>
          <a:p>
            <a:pPr indent="0" marL="0">
              <a:lnSpc>
                <a:spcPct val="108000"/>
              </a:lnSpc>
              <a:buNone/>
            </a:pPr>
            <a:r>
              <a:rPr lang="en-US" sz="1250" dirty="0">
                <a:solidFill>
                  <a:srgbClr val="E8EEF2"/>
                </a:solidFill>
                <a:latin typeface="Space Grotesk" pitchFamily="34" charset="0"/>
                <a:ea typeface="Space Grotesk" pitchFamily="34" charset="-122"/>
                <a:cs typeface="Space Grotesk" pitchFamily="34" charset="-120"/>
              </a:rPr>
              <a:t>Here is what the same loop costs elsewhere, sir. Bought as separate machines (a mill, a placer and a USB instrument) it comes to about ₹7.8 lakh before duty, and it still has no solder mask, no stencil and no AI tying it together. </a:t>
            </a:r>
            <a:r>
              <a:rPr lang="en-US" sz="1250" u="sng" dirty="0">
                <a:solidFill>
                  <a:srgbClr val="CF8F4E"/>
                </a:solidFill>
                <a:latin typeface="Space Grotesk" pitchFamily="34" charset="0"/>
                <a:ea typeface="Space Grotesk" pitchFamily="34" charset="-122"/>
                <a:cs typeface="Space Grotesk" pitchFamily="34" charset="-120"/>
                <a:hlinkClick r:id="rId1"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1250" dirty="0">
                <a:solidFill>
                  <a:srgbClr val="E8EEF2"/>
                </a:solidFill>
                <a:latin typeface="Space Grotesk" pitchFamily="34" charset="0"/>
                <a:ea typeface="Space Grotesk" pitchFamily="34" charset="-122"/>
                <a:cs typeface="Space Grotesk" pitchFamily="34" charset="-120"/>
              </a:rPr>
              <a:t> with Proto is ₹2.99 lakh. Adding </a:t>
            </a:r>
            <a:r>
              <a:rPr lang="en-US" sz="1250" u="sng" dirty="0">
                <a:solidFill>
                  <a:srgbClr val="54ACF0"/>
                </a:solidFill>
                <a:latin typeface="Space Grotesk" pitchFamily="34" charset="0"/>
                <a:ea typeface="Space Grotesk" pitchFamily="34" charset="-122"/>
                <a:cs typeface="Space Grotesk" pitchFamily="34" charset="-120"/>
                <a:hlinkClick r:id="rId2" invalidUrl="" action="" tgtFrame="" tooltip="https://protopus-kappa.vercel.app/#/mixer" history="1" highlightClick="0" endSnd="0">
                  <a:extLst>
                    <a:ext uri="{A12FA001-AC4F-418D-AE19-62706E023703}">
                      <ahyp:hlinkClr xmlns:ahyp="http://schemas.microsoft.com/office/drawing/2018/hyperlinkcolor" val="tx"/>
                    </a:ext>
                  </a:extLst>
                </a:hlinkClick>
              </a:rPr>
              <a:t>Mixer</a:t>
            </a:r>
            <a:r>
              <a:rPr lang="en-US" sz="1250" dirty="0">
                <a:solidFill>
                  <a:srgbClr val="E8EEF2"/>
                </a:solidFill>
                <a:latin typeface="Space Grotesk" pitchFamily="34" charset="0"/>
                <a:ea typeface="Space Grotesk" pitchFamily="34" charset="-122"/>
                <a:cs typeface="Space Grotesk" pitchFamily="34" charset="-120"/>
              </a:rPr>
              <a:t> brings it to ₹3.34 lakh.</a:t>
            </a:r>
            <a:endParaRPr lang="en-US" sz="1250" dirty="0"/>
          </a:p>
        </p:txBody>
      </p:sp>
      <p:sp>
        <p:nvSpPr>
          <p:cNvPr id="8" name="Shape 6"/>
          <p:cNvSpPr/>
          <p:nvPr/>
        </p:nvSpPr>
        <p:spPr>
          <a:xfrm>
            <a:off x="4407408" y="731520"/>
            <a:ext cx="0" cy="3886200"/>
          </a:xfrm>
          <a:prstGeom prst="line">
            <a:avLst/>
          </a:prstGeom>
          <a:noFill/>
          <a:ln w="9525">
            <a:solidFill>
              <a:srgbClr val="1F2A32"/>
            </a:solidFill>
            <a:prstDash val="solid"/>
          </a:ln>
        </p:spPr>
      </p:sp>
      <p:sp>
        <p:nvSpPr>
          <p:cNvPr id="9" name="Text 7"/>
          <p:cNvSpPr txBox="1"/>
          <p:nvPr/>
        </p:nvSpPr>
        <p:spPr>
          <a:xfrm>
            <a:off x="4572000" y="713232"/>
            <a:ext cx="4114800" cy="164592"/>
          </a:xfrm>
          <a:prstGeom prst="rect">
            <a:avLst/>
          </a:prstGeom>
          <a:noFill/>
          <a:ln/>
        </p:spPr>
        <p:txBody>
          <a:bodyPr wrap="square" lIns="0" tIns="0" rIns="0" bIns="0" rtlCol="0" anchor="t"/>
          <a:lstStyle/>
          <a:p>
            <a:pPr indent="0" marL="0">
              <a:buNone/>
            </a:pPr>
            <a:r>
              <a:rPr lang="en-US" sz="750" spc="200" kern="0" dirty="0">
                <a:solidFill>
                  <a:srgbClr val="CF8F4E"/>
                </a:solidFill>
                <a:latin typeface="Space Mono" pitchFamily="34" charset="0"/>
                <a:ea typeface="Space Mono" pitchFamily="34" charset="-122"/>
                <a:cs typeface="Space Mono" pitchFamily="34" charset="-120"/>
              </a:rPr>
              <a:t>TO JUSTIFY</a:t>
            </a:r>
            <a:endParaRPr lang="en-US" sz="7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0" y="960120"/>
          <a:ext cx="4160520" cy="914400"/>
        </p:xfrm>
        <a:graphic>
          <a:graphicData uri="http://schemas.openxmlformats.org/drawingml/2006/table">
            <a:tbl>
              <a:tblPr/>
              <a:tblGrid>
                <a:gridCol w="1188720"/>
                <a:gridCol w="1051560"/>
                <a:gridCol w="1920240"/>
              </a:tblGrid>
              <a:tr h="246888">
                <a:tc>
                  <a:txBody>
                    <a:bodyPr/>
                    <a:lstStyle/>
                    <a:p>
                      <a:pPr indent="0" marL="0">
                        <a:buNone/>
                      </a:pPr>
                      <a:r>
                        <a:rPr lang="en-US" sz="730" spc="100" kern="0" dirty="0">
                          <a:solidFill>
                            <a:srgbClr val="6E7A83"/>
                          </a:solidFill>
                          <a:latin typeface="Space Mono" pitchFamily="34" charset="0"/>
                          <a:ea typeface="Space Mono" pitchFamily="34" charset="-122"/>
                          <a:cs typeface="Space Mono" pitchFamily="34" charset="-120"/>
                        </a:rPr>
                        <a:t>PRODUCT</a:t>
                      </a:r>
                      <a:endParaRPr lang="en-US" sz="73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11430" cap="flat" cmpd="sng" algn="ctr">
                      <a:solidFill>
                        <a:srgbClr val="E8EEF2"/>
                      </a:solidFill>
                      <a:prstDash val="solid"/>
                      <a:round/>
                      <a:headEnd type="none" w="med" len="med"/>
                      <a:tailEnd type="none" w="med" len="med"/>
                    </a:lnB>
                  </a:tcPr>
                </a:tc>
                <a:tc>
                  <a:txBody>
                    <a:bodyPr/>
                    <a:lstStyle/>
                    <a:p>
                      <a:pPr indent="0" marL="0">
                        <a:buNone/>
                      </a:pPr>
                      <a:r>
                        <a:rPr lang="en-US" sz="730" spc="100" kern="0" dirty="0">
                          <a:solidFill>
                            <a:srgbClr val="6E7A83"/>
                          </a:solidFill>
                          <a:latin typeface="Space Mono" pitchFamily="34" charset="0"/>
                          <a:ea typeface="Space Mono" pitchFamily="34" charset="-122"/>
                          <a:cs typeface="Space Mono" pitchFamily="34" charset="-120"/>
                        </a:rPr>
                        <a:t>LIST PRICE</a:t>
                      </a:r>
                      <a:endParaRPr lang="en-US" sz="73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11430" cap="flat" cmpd="sng" algn="ctr">
                      <a:solidFill>
                        <a:srgbClr val="E8EEF2"/>
                      </a:solidFill>
                      <a:prstDash val="solid"/>
                      <a:round/>
                      <a:headEnd type="none" w="med" len="med"/>
                      <a:tailEnd type="none" w="med" len="med"/>
                    </a:lnB>
                  </a:tcPr>
                </a:tc>
                <a:tc>
                  <a:txBody>
                    <a:bodyPr/>
                    <a:lstStyle/>
                    <a:p>
                      <a:pPr indent="0" marL="0">
                        <a:buNone/>
                      </a:pPr>
                      <a:r>
                        <a:rPr lang="en-US" sz="730" spc="100" kern="0" dirty="0">
                          <a:solidFill>
                            <a:srgbClr val="6E7A83"/>
                          </a:solidFill>
                          <a:latin typeface="Space Mono" pitchFamily="34" charset="0"/>
                          <a:ea typeface="Space Mono" pitchFamily="34" charset="-122"/>
                          <a:cs typeface="Space Mono" pitchFamily="34" charset="-120"/>
                        </a:rPr>
                        <a:t>WHERE IT LOSES TO US</a:t>
                      </a:r>
                      <a:endParaRPr lang="en-US" sz="73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11430" cap="flat" cmpd="sng" algn="ctr">
                      <a:solidFill>
                        <a:srgbClr val="E8EEF2"/>
                      </a:solidFill>
                      <a:prstDash val="solid"/>
                      <a:round/>
                      <a:headEnd type="none" w="med" len="med"/>
                      <a:tailEnd type="none" w="med" len="med"/>
                    </a:lnB>
                  </a:tcPr>
                </a:tc>
              </a:tr>
              <a:tr h="246888">
                <a:tc>
                  <a:txBody>
                    <a:bodyPr/>
                    <a:lstStyle/>
                    <a:p>
                      <a:pPr indent="0" marL="0">
                        <a:buNone/>
                      </a:pPr>
                      <a:r>
                        <a:rPr lang="en-US" sz="730" dirty="0">
                          <a:solidFill>
                            <a:srgbClr val="E8EEF2"/>
                          </a:solidFill>
                          <a:latin typeface="Space Mono" pitchFamily="34" charset="0"/>
                          <a:ea typeface="Space Mono" pitchFamily="34" charset="-122"/>
                          <a:cs typeface="Space Mono" pitchFamily="34" charset="-120"/>
                        </a:rPr>
                        <a:t>LPKF ProtoMat</a:t>
                      </a:r>
                      <a:endParaRPr lang="en-US" sz="73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30" dirty="0">
                          <a:solidFill>
                            <a:srgbClr val="E8EEF2"/>
                          </a:solidFill>
                          <a:latin typeface="Space Grotesk" pitchFamily="34" charset="0"/>
                          <a:ea typeface="Space Grotesk" pitchFamily="34" charset="-122"/>
                          <a:cs typeface="Space Grotesk" pitchFamily="34" charset="-120"/>
                        </a:rPr>
                        <a:t>₹</a:t>
                      </a:r>
                      <a:r>
                        <a:rPr lang="en-US" sz="730" dirty="0">
                          <a:solidFill>
                            <a:srgbClr val="E8EEF2"/>
                          </a:solidFill>
                          <a:latin typeface="Space Mono" pitchFamily="34" charset="0"/>
                          <a:ea typeface="Space Mono" pitchFamily="34" charset="-122"/>
                          <a:cs typeface="Space Mono" pitchFamily="34" charset="-120"/>
                        </a:rPr>
                        <a:t>8.6–24.5L</a:t>
                      </a:r>
                      <a:endParaRPr lang="en-US" sz="73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30" dirty="0">
                          <a:solidFill>
                            <a:srgbClr val="A3B3BE"/>
                          </a:solidFill>
                          <a:latin typeface="Space Mono" pitchFamily="34" charset="0"/>
                          <a:ea typeface="Space Mono" pitchFamily="34" charset="-122"/>
                          <a:cs typeface="Space Mono" pitchFamily="34" charset="-120"/>
                        </a:rPr>
                        <a:t>separate machines for each step</a:t>
                      </a:r>
                      <a:endParaRPr lang="en-US" sz="73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r h="246888">
                <a:tc>
                  <a:txBody>
                    <a:bodyPr/>
                    <a:lstStyle/>
                    <a:p>
                      <a:pPr indent="0" marL="0">
                        <a:buNone/>
                      </a:pPr>
                      <a:r>
                        <a:rPr lang="en-US" sz="730" dirty="0">
                          <a:solidFill>
                            <a:srgbClr val="E8EEF2"/>
                          </a:solidFill>
                          <a:latin typeface="Space Mono" pitchFamily="34" charset="0"/>
                          <a:ea typeface="Space Mono" pitchFamily="34" charset="-122"/>
                          <a:cs typeface="Space Mono" pitchFamily="34" charset="-120"/>
                        </a:rPr>
                        <a:t>Voltera V-One</a:t>
                      </a:r>
                      <a:endParaRPr lang="en-US" sz="73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30" dirty="0">
                          <a:solidFill>
                            <a:srgbClr val="E8EEF2"/>
                          </a:solidFill>
                          <a:latin typeface="Space Mono" pitchFamily="34" charset="0"/>
                          <a:ea typeface="Space Mono" pitchFamily="34" charset="-122"/>
                          <a:cs typeface="Space Mono" pitchFamily="34" charset="-120"/>
                        </a:rPr>
                        <a:t>~</a:t>
                      </a:r>
                      <a:r>
                        <a:rPr lang="en-US" sz="730" dirty="0">
                          <a:solidFill>
                            <a:srgbClr val="E8EEF2"/>
                          </a:solidFill>
                          <a:latin typeface="Space Grotesk" pitchFamily="34" charset="0"/>
                          <a:ea typeface="Space Grotesk" pitchFamily="34" charset="-122"/>
                          <a:cs typeface="Space Grotesk" pitchFamily="34" charset="-120"/>
                        </a:rPr>
                        <a:t>₹</a:t>
                      </a:r>
                      <a:r>
                        <a:rPr lang="en-US" sz="730" dirty="0">
                          <a:solidFill>
                            <a:srgbClr val="E8EEF2"/>
                          </a:solidFill>
                          <a:latin typeface="Space Mono" pitchFamily="34" charset="0"/>
                          <a:ea typeface="Space Mono" pitchFamily="34" charset="-122"/>
                          <a:cs typeface="Space Mono" pitchFamily="34" charset="-120"/>
                        </a:rPr>
                        <a:t>3.1L</a:t>
                      </a:r>
                      <a:endParaRPr lang="en-US" sz="73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30" dirty="0">
                          <a:solidFill>
                            <a:srgbClr val="A3B3BE"/>
                          </a:solidFill>
                          <a:latin typeface="Space Mono" pitchFamily="34" charset="0"/>
                          <a:ea typeface="Space Mono" pitchFamily="34" charset="-122"/>
                          <a:cs typeface="Space Mono" pitchFamily="34" charset="-120"/>
                        </a:rPr>
                        <a:t>ink traces; no mask or test</a:t>
                      </a:r>
                      <a:endParaRPr lang="en-US" sz="73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r h="246888">
                <a:tc>
                  <a:txBody>
                    <a:bodyPr/>
                    <a:lstStyle/>
                    <a:p>
                      <a:pPr indent="0" marL="0">
                        <a:buNone/>
                      </a:pPr>
                      <a:r>
                        <a:rPr lang="en-US" sz="730" dirty="0">
                          <a:solidFill>
                            <a:srgbClr val="E8EEF2"/>
                          </a:solidFill>
                          <a:latin typeface="Space Mono" pitchFamily="34" charset="0"/>
                          <a:ea typeface="Space Mono" pitchFamily="34" charset="-122"/>
                          <a:cs typeface="Space Mono" pitchFamily="34" charset="-120"/>
                        </a:rPr>
                        <a:t>Carvera / Air</a:t>
                      </a:r>
                      <a:endParaRPr lang="en-US" sz="73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30" dirty="0">
                          <a:solidFill>
                            <a:srgbClr val="E8EEF2"/>
                          </a:solidFill>
                          <a:latin typeface="Space Grotesk" pitchFamily="34" charset="0"/>
                          <a:ea typeface="Space Grotesk" pitchFamily="34" charset="-122"/>
                          <a:cs typeface="Space Grotesk" pitchFamily="34" charset="-120"/>
                        </a:rPr>
                        <a:t>₹</a:t>
                      </a:r>
                      <a:r>
                        <a:rPr lang="en-US" sz="730" dirty="0">
                          <a:solidFill>
                            <a:srgbClr val="E8EEF2"/>
                          </a:solidFill>
                          <a:latin typeface="Space Mono" pitchFamily="34" charset="0"/>
                          <a:ea typeface="Space Mono" pitchFamily="34" charset="-122"/>
                          <a:cs typeface="Space Mono" pitchFamily="34" charset="-120"/>
                        </a:rPr>
                        <a:t>4.8L / </a:t>
                      </a:r>
                      <a:r>
                        <a:rPr lang="en-US" sz="730" dirty="0">
                          <a:solidFill>
                            <a:srgbClr val="E8EEF2"/>
                          </a:solidFill>
                          <a:latin typeface="Space Grotesk" pitchFamily="34" charset="0"/>
                          <a:ea typeface="Space Grotesk" pitchFamily="34" charset="-122"/>
                          <a:cs typeface="Space Grotesk" pitchFamily="34" charset="-120"/>
                        </a:rPr>
                        <a:t>₹</a:t>
                      </a:r>
                      <a:r>
                        <a:rPr lang="en-US" sz="730" dirty="0">
                          <a:solidFill>
                            <a:srgbClr val="E8EEF2"/>
                          </a:solidFill>
                          <a:latin typeface="Space Mono" pitchFamily="34" charset="0"/>
                          <a:ea typeface="Space Mono" pitchFamily="34" charset="-122"/>
                          <a:cs typeface="Space Mono" pitchFamily="34" charset="-120"/>
                        </a:rPr>
                        <a:t>2.2L</a:t>
                      </a:r>
                      <a:endParaRPr lang="en-US" sz="73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30" dirty="0">
                          <a:solidFill>
                            <a:srgbClr val="A3B3BE"/>
                          </a:solidFill>
                          <a:latin typeface="Space Mono" pitchFamily="34" charset="0"/>
                          <a:ea typeface="Space Mono" pitchFamily="34" charset="-122"/>
                          <a:cs typeface="Space Mono" pitchFamily="34" charset="-120"/>
                        </a:rPr>
                        <a:t>mills only</a:t>
                      </a:r>
                      <a:endParaRPr lang="en-US" sz="73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r h="246888">
                <a:tc>
                  <a:txBody>
                    <a:bodyPr/>
                    <a:lstStyle/>
                    <a:p>
                      <a:pPr indent="0" marL="0">
                        <a:buNone/>
                      </a:pPr>
                      <a:r>
                        <a:rPr lang="en-US" sz="730" dirty="0">
                          <a:solidFill>
                            <a:srgbClr val="E8EEF2"/>
                          </a:solidFill>
                          <a:latin typeface="Space Mono" pitchFamily="34" charset="0"/>
                          <a:ea typeface="Space Mono" pitchFamily="34" charset="-122"/>
                          <a:cs typeface="Space Mono" pitchFamily="34" charset="-120"/>
                        </a:rPr>
                        <a:t>Bantam Tools mill</a:t>
                      </a:r>
                      <a:endParaRPr lang="en-US" sz="73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30" dirty="0">
                          <a:solidFill>
                            <a:srgbClr val="E8EEF2"/>
                          </a:solidFill>
                          <a:latin typeface="Space Mono" pitchFamily="34" charset="0"/>
                          <a:ea typeface="Space Mono" pitchFamily="34" charset="-122"/>
                          <a:cs typeface="Space Mono" pitchFamily="34" charset="-120"/>
                        </a:rPr>
                        <a:t>discontinued</a:t>
                      </a:r>
                      <a:endParaRPr lang="en-US" sz="73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30" dirty="0">
                          <a:solidFill>
                            <a:srgbClr val="A3B3BE"/>
                          </a:solidFill>
                          <a:latin typeface="Space Mono" pitchFamily="34" charset="0"/>
                          <a:ea typeface="Space Mono" pitchFamily="34" charset="-122"/>
                          <a:cs typeface="Space Mono" pitchFamily="34" charset="-120"/>
                        </a:rPr>
                        <a:t>one step, for experts</a:t>
                      </a:r>
                      <a:endParaRPr lang="en-US" sz="73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r h="246888">
                <a:tc>
                  <a:txBody>
                    <a:bodyPr/>
                    <a:lstStyle/>
                    <a:p>
                      <a:pPr indent="0" marL="0">
                        <a:buNone/>
                      </a:pPr>
                      <a:r>
                        <a:rPr lang="en-US" sz="730" dirty="0">
                          <a:solidFill>
                            <a:srgbClr val="E8EEF2"/>
                          </a:solidFill>
                          <a:latin typeface="Space Mono" pitchFamily="34" charset="0"/>
                          <a:ea typeface="Space Mono" pitchFamily="34" charset="-122"/>
                          <a:cs typeface="Space Mono" pitchFamily="34" charset="-120"/>
                        </a:rPr>
                        <a:t>Neoden YY1</a:t>
                      </a:r>
                      <a:endParaRPr lang="en-US" sz="73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30" dirty="0">
                          <a:solidFill>
                            <a:srgbClr val="E8EEF2"/>
                          </a:solidFill>
                          <a:latin typeface="Space Mono" pitchFamily="34" charset="0"/>
                          <a:ea typeface="Space Mono" pitchFamily="34" charset="-122"/>
                          <a:cs typeface="Space Mono" pitchFamily="34" charset="-120"/>
                        </a:rPr>
                        <a:t>~</a:t>
                      </a:r>
                      <a:r>
                        <a:rPr lang="en-US" sz="730" dirty="0">
                          <a:solidFill>
                            <a:srgbClr val="E8EEF2"/>
                          </a:solidFill>
                          <a:latin typeface="Space Grotesk" pitchFamily="34" charset="0"/>
                          <a:ea typeface="Space Grotesk" pitchFamily="34" charset="-122"/>
                          <a:cs typeface="Space Grotesk" pitchFamily="34" charset="-120"/>
                        </a:rPr>
                        <a:t>₹</a:t>
                      </a:r>
                      <a:r>
                        <a:rPr lang="en-US" sz="730" dirty="0">
                          <a:solidFill>
                            <a:srgbClr val="E8EEF2"/>
                          </a:solidFill>
                          <a:latin typeface="Space Mono" pitchFamily="34" charset="0"/>
                          <a:ea typeface="Space Mono" pitchFamily="34" charset="-122"/>
                          <a:cs typeface="Space Mono" pitchFamily="34" charset="-120"/>
                        </a:rPr>
                        <a:t>2.6L</a:t>
                      </a:r>
                      <a:endParaRPr lang="en-US" sz="73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30" dirty="0">
                          <a:solidFill>
                            <a:srgbClr val="A3B3BE"/>
                          </a:solidFill>
                          <a:latin typeface="Space Mono" pitchFamily="34" charset="0"/>
                          <a:ea typeface="Space Mono" pitchFamily="34" charset="-122"/>
                          <a:cs typeface="Space Mono" pitchFamily="34" charset="-120"/>
                        </a:rPr>
                        <a:t>places parts only</a:t>
                      </a:r>
                      <a:endParaRPr lang="en-US" sz="73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r h="246888">
                <a:tc>
                  <a:txBody>
                    <a:bodyPr/>
                    <a:lstStyle/>
                    <a:p>
                      <a:pPr indent="0" marL="0">
                        <a:buNone/>
                      </a:pPr>
                      <a:r>
                        <a:rPr lang="en-US" sz="730" dirty="0">
                          <a:solidFill>
                            <a:srgbClr val="E8EEF2"/>
                          </a:solidFill>
                          <a:latin typeface="Space Mono" pitchFamily="34" charset="0"/>
                          <a:ea typeface="Space Mono" pitchFamily="34" charset="-122"/>
                          <a:cs typeface="Space Mono" pitchFamily="34" charset="-120"/>
                        </a:rPr>
                        <a:t>Digilent AD3</a:t>
                      </a:r>
                      <a:endParaRPr lang="en-US" sz="73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30" dirty="0">
                          <a:solidFill>
                            <a:srgbClr val="E8EEF2"/>
                          </a:solidFill>
                          <a:latin typeface="Space Mono" pitchFamily="34" charset="0"/>
                          <a:ea typeface="Space Mono" pitchFamily="34" charset="-122"/>
                          <a:cs typeface="Space Mono" pitchFamily="34" charset="-120"/>
                        </a:rPr>
                        <a:t>~</a:t>
                      </a:r>
                      <a:r>
                        <a:rPr lang="en-US" sz="730" dirty="0">
                          <a:solidFill>
                            <a:srgbClr val="E8EEF2"/>
                          </a:solidFill>
                          <a:latin typeface="Space Grotesk" pitchFamily="34" charset="0"/>
                          <a:ea typeface="Space Grotesk" pitchFamily="34" charset="-122"/>
                          <a:cs typeface="Space Grotesk" pitchFamily="34" charset="-120"/>
                        </a:rPr>
                        <a:t>₹</a:t>
                      </a:r>
                      <a:r>
                        <a:rPr lang="en-US" sz="730" dirty="0">
                          <a:solidFill>
                            <a:srgbClr val="E8EEF2"/>
                          </a:solidFill>
                          <a:latin typeface="Space Mono" pitchFamily="34" charset="0"/>
                          <a:ea typeface="Space Mono" pitchFamily="34" charset="-122"/>
                          <a:cs typeface="Space Mono" pitchFamily="34" charset="-120"/>
                        </a:rPr>
                        <a:t>34,000</a:t>
                      </a:r>
                      <a:endParaRPr lang="en-US" sz="73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30" dirty="0">
                          <a:solidFill>
                            <a:srgbClr val="A3B3BE"/>
                          </a:solidFill>
                          <a:latin typeface="Space Mono" pitchFamily="34" charset="0"/>
                          <a:ea typeface="Space Mono" pitchFamily="34" charset="-122"/>
                          <a:cs typeface="Space Mono" pitchFamily="34" charset="-120"/>
                        </a:rPr>
                        <a:t>a human reads the screen</a:t>
                      </a:r>
                      <a:endParaRPr lang="en-US" sz="73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r h="246888">
                <a:tc>
                  <a:txBody>
                    <a:bodyPr/>
                    <a:lstStyle/>
                    <a:p>
                      <a:pPr indent="0" marL="0">
                        <a:buNone/>
                      </a:pPr>
                      <a:r>
                        <a:rPr lang="en-US" sz="730" dirty="0">
                          <a:solidFill>
                            <a:srgbClr val="E8EEF2"/>
                          </a:solidFill>
                          <a:latin typeface="Space Mono" pitchFamily="34" charset="0"/>
                          <a:ea typeface="Space Mono" pitchFamily="34" charset="-122"/>
                          <a:cs typeface="Space Mono" pitchFamily="34" charset="-120"/>
                        </a:rPr>
                        <a:t>JLCPCB → India</a:t>
                      </a:r>
                      <a:endParaRPr lang="en-US" sz="73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30" dirty="0">
                          <a:solidFill>
                            <a:srgbClr val="E8EEF2"/>
                          </a:solidFill>
                          <a:latin typeface="Space Grotesk" pitchFamily="34" charset="0"/>
                          <a:ea typeface="Space Grotesk" pitchFamily="34" charset="-122"/>
                          <a:cs typeface="Space Grotesk" pitchFamily="34" charset="-120"/>
                        </a:rPr>
                        <a:t>₹</a:t>
                      </a:r>
                      <a:r>
                        <a:rPr lang="en-US" sz="730" dirty="0">
                          <a:solidFill>
                            <a:srgbClr val="E8EEF2"/>
                          </a:solidFill>
                          <a:latin typeface="Space Mono" pitchFamily="34" charset="0"/>
                          <a:ea typeface="Space Mono" pitchFamily="34" charset="-122"/>
                          <a:cs typeface="Space Mono" pitchFamily="34" charset="-120"/>
                        </a:rPr>
                        <a:t>6,721 / try</a:t>
                      </a:r>
                      <a:endParaRPr lang="en-US" sz="73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30" dirty="0">
                          <a:solidFill>
                            <a:srgbClr val="A3B3BE"/>
                          </a:solidFill>
                          <a:latin typeface="Space Mono" pitchFamily="34" charset="0"/>
                          <a:ea typeface="Space Mono" pitchFamily="34" charset="-122"/>
                          <a:cs typeface="Space Mono" pitchFamily="34" charset="-120"/>
                        </a:rPr>
                        <a:t>7–20 days + customs</a:t>
                      </a:r>
                      <a:endParaRPr lang="en-US" sz="73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r h="246888">
                <a:tc>
                  <a:txBody>
                    <a:bodyPr/>
                    <a:lstStyle/>
                    <a:p>
                      <a:pPr indent="0" marL="0">
                        <a:buNone/>
                      </a:pPr>
                      <a:r>
                        <a:rPr lang="en-US" sz="730" dirty="0">
                          <a:solidFill>
                            <a:srgbClr val="E8EEF2"/>
                          </a:solidFill>
                          <a:latin typeface="Space Mono" pitchFamily="34" charset="0"/>
                          <a:ea typeface="Space Mono" pitchFamily="34" charset="-122"/>
                          <a:cs typeface="Space Mono" pitchFamily="34" charset="-120"/>
                        </a:rPr>
                        <a:t>Flux.ai</a:t>
                      </a:r>
                      <a:endParaRPr lang="en-US" sz="73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30" dirty="0">
                          <a:solidFill>
                            <a:srgbClr val="E8EEF2"/>
                          </a:solidFill>
                          <a:latin typeface="Space Grotesk" pitchFamily="34" charset="0"/>
                          <a:ea typeface="Space Grotesk" pitchFamily="34" charset="-122"/>
                          <a:cs typeface="Space Grotesk" pitchFamily="34" charset="-120"/>
                        </a:rPr>
                        <a:t>₹</a:t>
                      </a:r>
                      <a:r>
                        <a:rPr lang="en-US" sz="730" dirty="0">
                          <a:solidFill>
                            <a:srgbClr val="E8EEF2"/>
                          </a:solidFill>
                          <a:latin typeface="Space Mono" pitchFamily="34" charset="0"/>
                          <a:ea typeface="Space Mono" pitchFamily="34" charset="-122"/>
                          <a:cs typeface="Space Mono" pitchFamily="34" charset="-120"/>
                        </a:rPr>
                        <a:t>1.3–4.3k / mo</a:t>
                      </a:r>
                      <a:endParaRPr lang="en-US" sz="73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30" dirty="0">
                          <a:solidFill>
                            <a:srgbClr val="A3B3BE"/>
                          </a:solidFill>
                          <a:latin typeface="Space Mono" pitchFamily="34" charset="0"/>
                          <a:ea typeface="Space Mono" pitchFamily="34" charset="-122"/>
                          <a:cs typeface="Space Mono" pitchFamily="34" charset="-120"/>
                        </a:rPr>
                        <a:t>stops at the file</a:t>
                      </a:r>
                      <a:endParaRPr lang="en-US" sz="73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bl>
          </a:graphicData>
        </a:graphic>
      </p:graphicFrame>
      <p:sp>
        <p:nvSpPr>
          <p:cNvPr id="11" name="Text 8"/>
          <p:cNvSpPr txBox="1"/>
          <p:nvPr/>
        </p:nvSpPr>
        <p:spPr>
          <a:xfrm>
            <a:off x="4572000" y="3429000"/>
            <a:ext cx="4160520" cy="164592"/>
          </a:xfrm>
          <a:prstGeom prst="rect">
            <a:avLst/>
          </a:prstGeom>
          <a:noFill/>
          <a:ln/>
        </p:spPr>
        <p:txBody>
          <a:bodyPr wrap="square" lIns="0" tIns="0" rIns="0" bIns="0" rtlCol="0" anchor="t"/>
          <a:lstStyle/>
          <a:p>
            <a:pPr indent="0" marL="0">
              <a:buNone/>
            </a:pPr>
            <a:r>
              <a:rPr lang="en-US" sz="700" spc="150" kern="0" dirty="0">
                <a:solidFill>
                  <a:srgbClr val="6E7A83"/>
                </a:solidFill>
                <a:latin typeface="Space Mono" pitchFamily="34" charset="0"/>
                <a:ea typeface="Space Mono" pitchFamily="34" charset="-122"/>
                <a:cs typeface="Space Mono" pitchFamily="34" charset="-120"/>
              </a:rPr>
              <a:t>THE SAME LOOP, BOUGHT SEPARATELY vs PROTOPUS</a:t>
            </a:r>
            <a:endParaRPr lang="en-US" sz="700" dirty="0"/>
          </a:p>
        </p:txBody>
      </p:sp>
      <p:sp>
        <p:nvSpPr>
          <p:cNvPr id="12" name="Text 9"/>
          <p:cNvSpPr txBox="1"/>
          <p:nvPr/>
        </p:nvSpPr>
        <p:spPr>
          <a:xfrm>
            <a:off x="4572000" y="3657600"/>
            <a:ext cx="1143000" cy="219456"/>
          </a:xfrm>
          <a:prstGeom prst="rect">
            <a:avLst/>
          </a:prstGeom>
          <a:noFill/>
          <a:ln/>
        </p:spPr>
        <p:txBody>
          <a:bodyPr wrap="square" lIns="0" tIns="0" rIns="0" bIns="0" rtlCol="0" anchor="ctr"/>
          <a:lstStyle/>
          <a:p>
            <a:pPr indent="0" marL="0">
              <a:buNone/>
            </a:pPr>
            <a:r>
              <a:rPr lang="en-US" sz="700" dirty="0">
                <a:solidFill>
                  <a:srgbClr val="A3B3BE"/>
                </a:solidFill>
                <a:latin typeface="Space Mono" pitchFamily="34" charset="0"/>
                <a:ea typeface="Space Mono" pitchFamily="34" charset="-122"/>
                <a:cs typeface="Space Mono" pitchFamily="34" charset="-120"/>
              </a:rPr>
              <a:t>mill + placer + AD3</a:t>
            </a:r>
            <a:endParaRPr lang="en-US" sz="700" dirty="0"/>
          </a:p>
        </p:txBody>
      </p:sp>
      <p:sp>
        <p:nvSpPr>
          <p:cNvPr id="13" name="Shape 10"/>
          <p:cNvSpPr/>
          <p:nvPr/>
        </p:nvSpPr>
        <p:spPr>
          <a:xfrm>
            <a:off x="5715000" y="3685032"/>
            <a:ext cx="1737360" cy="164592"/>
          </a:xfrm>
          <a:prstGeom prst="rect">
            <a:avLst/>
          </a:prstGeom>
          <a:solidFill>
            <a:srgbClr val="424A51"/>
          </a:solidFill>
          <a:ln w="12700">
            <a:solidFill>
              <a:srgbClr val="424A51"/>
            </a:solidFill>
            <a:prstDash val="solid"/>
          </a:ln>
        </p:spPr>
      </p:sp>
      <p:sp>
        <p:nvSpPr>
          <p:cNvPr id="14" name="Text 11"/>
          <p:cNvSpPr txBox="1"/>
          <p:nvPr/>
        </p:nvSpPr>
        <p:spPr>
          <a:xfrm>
            <a:off x="7498080" y="3657600"/>
            <a:ext cx="1280160" cy="219456"/>
          </a:xfrm>
          <a:prstGeom prst="rect">
            <a:avLst/>
          </a:prstGeom>
          <a:noFill/>
          <a:ln/>
        </p:spPr>
        <p:txBody>
          <a:bodyPr wrap="square" lIns="0" tIns="0" rIns="0" bIns="0" rtlCol="0" anchor="ctr"/>
          <a:lstStyle/>
          <a:p>
            <a:pPr indent="0" marL="0">
              <a:buNone/>
            </a:pPr>
            <a:r>
              <a:rPr lang="en-US" sz="700" dirty="0">
                <a:solidFill>
                  <a:srgbClr val="E8EEF2"/>
                </a:solidFill>
                <a:latin typeface="Space Grotesk" pitchFamily="34" charset="0"/>
                <a:ea typeface="Space Grotesk" pitchFamily="34" charset="-122"/>
                <a:cs typeface="Space Grotesk" pitchFamily="34" charset="-120"/>
              </a:rPr>
              <a:t>₹</a:t>
            </a:r>
            <a:r>
              <a:rPr lang="en-US" sz="700" dirty="0">
                <a:solidFill>
                  <a:srgbClr val="E8EEF2"/>
                </a:solidFill>
                <a:latin typeface="Space Mono" pitchFamily="34" charset="0"/>
                <a:ea typeface="Space Mono" pitchFamily="34" charset="-122"/>
                <a:cs typeface="Space Mono" pitchFamily="34" charset="-120"/>
              </a:rPr>
              <a:t>7.82L, no AI</a:t>
            </a:r>
            <a:endParaRPr lang="en-US" sz="700" dirty="0"/>
          </a:p>
        </p:txBody>
      </p:sp>
      <p:sp>
        <p:nvSpPr>
          <p:cNvPr id="15" name="Text 12"/>
          <p:cNvSpPr txBox="1"/>
          <p:nvPr/>
        </p:nvSpPr>
        <p:spPr>
          <a:xfrm>
            <a:off x="4572000" y="3931920"/>
            <a:ext cx="1143000" cy="219456"/>
          </a:xfrm>
          <a:prstGeom prst="rect">
            <a:avLst/>
          </a:prstGeom>
          <a:noFill/>
          <a:ln/>
        </p:spPr>
        <p:txBody>
          <a:bodyPr wrap="square" lIns="0" tIns="0" rIns="0" bIns="0" rtlCol="0" anchor="ctr"/>
          <a:lstStyle/>
          <a:p>
            <a:pPr indent="0" marL="0">
              <a:buNone/>
            </a:pPr>
            <a:r>
              <a:rPr lang="en-US" sz="700" dirty="0">
                <a:solidFill>
                  <a:srgbClr val="A3B3BE"/>
                </a:solidFill>
                <a:latin typeface="Space Mono" pitchFamily="34" charset="0"/>
                <a:ea typeface="Space Mono" pitchFamily="34" charset="-122"/>
                <a:cs typeface="Space Mono" pitchFamily="34" charset="-120"/>
              </a:rPr>
              <a:t>​</a:t>
            </a:r>
            <a:r>
              <a:rPr lang="en-US" sz="700" u="sng" dirty="0">
                <a:solidFill>
                  <a:srgbClr val="CF8F4E"/>
                </a:solidFill>
                <a:latin typeface="Space Mono" pitchFamily="34" charset="0"/>
                <a:ea typeface="Space Mono" pitchFamily="34" charset="-122"/>
                <a:cs typeface="Space Mono" pitchFamily="34" charset="-120"/>
                <a:hlinkClick r:id="rId3"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700" dirty="0">
                <a:solidFill>
                  <a:srgbClr val="A3B3BE"/>
                </a:solidFill>
                <a:latin typeface="Space Mono" pitchFamily="34" charset="0"/>
                <a:ea typeface="Space Mono" pitchFamily="34" charset="-122"/>
                <a:cs typeface="Space Mono" pitchFamily="34" charset="-120"/>
              </a:rPr>
              <a:t> + </a:t>
            </a:r>
            <a:r>
              <a:rPr lang="en-US" sz="700" u="sng" dirty="0">
                <a:solidFill>
                  <a:srgbClr val="54ACF0"/>
                </a:solidFill>
                <a:latin typeface="Space Mono" pitchFamily="34" charset="0"/>
                <a:ea typeface="Space Mono" pitchFamily="34" charset="-122"/>
                <a:cs typeface="Space Mono" pitchFamily="34" charset="-120"/>
                <a:hlinkClick r:id="rId4" invalidUrl="" action="" tgtFrame="" tooltip="https://protopus-kappa.vercel.app/#/mixer" history="1" highlightClick="0" endSnd="0">
                  <a:extLst>
                    <a:ext uri="{A12FA001-AC4F-418D-AE19-62706E023703}">
                      <ahyp:hlinkClr xmlns:ahyp="http://schemas.microsoft.com/office/drawing/2018/hyperlinkcolor" val="tx"/>
                    </a:ext>
                  </a:extLst>
                </a:hlinkClick>
              </a:rPr>
              <a:t>Mixer</a:t>
            </a:r>
            <a:endParaRPr lang="en-US" sz="700" dirty="0"/>
          </a:p>
        </p:txBody>
      </p:sp>
      <p:sp>
        <p:nvSpPr>
          <p:cNvPr id="16" name="Shape 13"/>
          <p:cNvSpPr/>
          <p:nvPr/>
        </p:nvSpPr>
        <p:spPr>
          <a:xfrm>
            <a:off x="5715000" y="3959352"/>
            <a:ext cx="741905" cy="164592"/>
          </a:xfrm>
          <a:prstGeom prst="rect">
            <a:avLst/>
          </a:prstGeom>
          <a:solidFill>
            <a:srgbClr val="54ACF0"/>
          </a:solidFill>
          <a:ln w="12700">
            <a:solidFill>
              <a:srgbClr val="54ACF0"/>
            </a:solidFill>
            <a:prstDash val="solid"/>
          </a:ln>
        </p:spPr>
      </p:sp>
      <p:sp>
        <p:nvSpPr>
          <p:cNvPr id="17" name="Text 14"/>
          <p:cNvSpPr txBox="1"/>
          <p:nvPr/>
        </p:nvSpPr>
        <p:spPr>
          <a:xfrm>
            <a:off x="6502625" y="3931920"/>
            <a:ext cx="2275615" cy="219456"/>
          </a:xfrm>
          <a:prstGeom prst="rect">
            <a:avLst/>
          </a:prstGeom>
          <a:noFill/>
          <a:ln/>
        </p:spPr>
        <p:txBody>
          <a:bodyPr wrap="square" lIns="0" tIns="0" rIns="0" bIns="0" rtlCol="0" anchor="ctr"/>
          <a:lstStyle/>
          <a:p>
            <a:pPr indent="0" marL="0">
              <a:buNone/>
            </a:pPr>
            <a:r>
              <a:rPr lang="en-US" sz="700" dirty="0">
                <a:solidFill>
                  <a:srgbClr val="E8EEF2"/>
                </a:solidFill>
                <a:latin typeface="Space Grotesk" pitchFamily="34" charset="0"/>
                <a:ea typeface="Space Grotesk" pitchFamily="34" charset="-122"/>
                <a:cs typeface="Space Grotesk" pitchFamily="34" charset="-120"/>
              </a:rPr>
              <a:t>₹</a:t>
            </a:r>
            <a:r>
              <a:rPr lang="en-US" sz="700" dirty="0">
                <a:solidFill>
                  <a:srgbClr val="E8EEF2"/>
                </a:solidFill>
                <a:latin typeface="Space Mono" pitchFamily="34" charset="0"/>
                <a:ea typeface="Space Mono" pitchFamily="34" charset="-122"/>
                <a:cs typeface="Space Mono" pitchFamily="34" charset="-120"/>
              </a:rPr>
              <a:t>3.34L, the whole loop</a:t>
            </a:r>
            <a:endParaRPr lang="en-US" sz="700" dirty="0"/>
          </a:p>
        </p:txBody>
      </p:sp>
      <p:sp>
        <p:nvSpPr>
          <p:cNvPr id="18" name="Text 15"/>
          <p:cNvSpPr txBox="1"/>
          <p:nvPr/>
        </p:nvSpPr>
        <p:spPr>
          <a:xfrm>
            <a:off x="4572000" y="4206240"/>
            <a:ext cx="1143000" cy="219456"/>
          </a:xfrm>
          <a:prstGeom prst="rect">
            <a:avLst/>
          </a:prstGeom>
          <a:noFill/>
          <a:ln/>
        </p:spPr>
        <p:txBody>
          <a:bodyPr wrap="square" lIns="0" tIns="0" rIns="0" bIns="0" rtlCol="0" anchor="ctr"/>
          <a:lstStyle/>
          <a:p>
            <a:pPr indent="0" marL="0">
              <a:buNone/>
            </a:pPr>
            <a:r>
              <a:rPr lang="en-US" sz="700" dirty="0">
                <a:solidFill>
                  <a:srgbClr val="A3B3BE"/>
                </a:solidFill>
                <a:latin typeface="Space Mono" pitchFamily="34" charset="0"/>
                <a:ea typeface="Space Mono" pitchFamily="34" charset="-122"/>
                <a:cs typeface="Space Mono" pitchFamily="34" charset="-120"/>
              </a:rPr>
              <a:t>Proto + </a:t>
            </a:r>
            <a:r>
              <a:rPr lang="en-US" sz="700" u="sng" dirty="0">
                <a:solidFill>
                  <a:srgbClr val="CF8F4E"/>
                </a:solidFill>
                <a:latin typeface="Space Mono" pitchFamily="34" charset="0"/>
                <a:ea typeface="Space Mono" pitchFamily="34" charset="-122"/>
                <a:cs typeface="Space Mono" pitchFamily="34" charset="-120"/>
                <a:hlinkClick r:id="rId5" invalidUrl="" action="" tgtFrame="" tooltip="https://protopus-kappa.vercel.app/#/baker" history="1" highlightClick="0" endSnd="0">
                  <a:extLst>
                    <a:ext uri="{A12FA001-AC4F-418D-AE19-62706E023703}">
                      <ahyp:hlinkClr xmlns:ahyp="http://schemas.microsoft.com/office/drawing/2018/hyperlinkcolor" val="tx"/>
                    </a:ext>
                  </a:extLst>
                </a:hlinkClick>
              </a:rPr>
              <a:t>Baker</a:t>
            </a:r>
            <a:endParaRPr lang="en-US" sz="700" dirty="0"/>
          </a:p>
        </p:txBody>
      </p:sp>
      <p:sp>
        <p:nvSpPr>
          <p:cNvPr id="19" name="Shape 16"/>
          <p:cNvSpPr/>
          <p:nvPr/>
        </p:nvSpPr>
        <p:spPr>
          <a:xfrm>
            <a:off x="5715000" y="4233672"/>
            <a:ext cx="664162" cy="164592"/>
          </a:xfrm>
          <a:prstGeom prst="rect">
            <a:avLst/>
          </a:prstGeom>
          <a:solidFill>
            <a:srgbClr val="CF8F4E"/>
          </a:solidFill>
          <a:ln w="12700">
            <a:solidFill>
              <a:srgbClr val="CF8F4E"/>
            </a:solidFill>
            <a:prstDash val="solid"/>
          </a:ln>
        </p:spPr>
      </p:sp>
      <p:sp>
        <p:nvSpPr>
          <p:cNvPr id="20" name="Text 17"/>
          <p:cNvSpPr txBox="1"/>
          <p:nvPr/>
        </p:nvSpPr>
        <p:spPr>
          <a:xfrm>
            <a:off x="6424882" y="4206240"/>
            <a:ext cx="2353358" cy="219456"/>
          </a:xfrm>
          <a:prstGeom prst="rect">
            <a:avLst/>
          </a:prstGeom>
          <a:noFill/>
          <a:ln/>
        </p:spPr>
        <p:txBody>
          <a:bodyPr wrap="square" lIns="0" tIns="0" rIns="0" bIns="0" rtlCol="0" anchor="ctr"/>
          <a:lstStyle/>
          <a:p>
            <a:pPr indent="0" marL="0">
              <a:buNone/>
            </a:pPr>
            <a:r>
              <a:rPr lang="en-US" sz="700" dirty="0">
                <a:solidFill>
                  <a:srgbClr val="E8EEF2"/>
                </a:solidFill>
                <a:latin typeface="Space Grotesk" pitchFamily="34" charset="0"/>
                <a:ea typeface="Space Grotesk" pitchFamily="34" charset="-122"/>
                <a:cs typeface="Space Grotesk" pitchFamily="34" charset="-120"/>
              </a:rPr>
              <a:t>₹</a:t>
            </a:r>
            <a:r>
              <a:rPr lang="en-US" sz="700" dirty="0">
                <a:solidFill>
                  <a:srgbClr val="E8EEF2"/>
                </a:solidFill>
                <a:latin typeface="Space Mono" pitchFamily="34" charset="0"/>
                <a:ea typeface="Space Mono" pitchFamily="34" charset="-122"/>
                <a:cs typeface="Space Mono" pitchFamily="34" charset="-120"/>
              </a:rPr>
              <a:t>2.99L, step 1</a:t>
            </a:r>
            <a:endParaRPr lang="en-US" sz="700" dirty="0"/>
          </a:p>
        </p:txBody>
      </p:sp>
      <p:sp>
        <p:nvSpPr>
          <p:cNvPr id="21" name="Text 18"/>
          <p:cNvSpPr txBox="1"/>
          <p:nvPr/>
        </p:nvSpPr>
        <p:spPr>
          <a:xfrm>
            <a:off x="411480" y="4773168"/>
            <a:ext cx="8321040" cy="182880"/>
          </a:xfrm>
          <a:prstGeom prst="rect">
            <a:avLst/>
          </a:prstGeom>
          <a:noFill/>
          <a:ln/>
        </p:spPr>
        <p:txBody>
          <a:bodyPr wrap="square" lIns="0" tIns="0" rIns="0" bIns="0" rtlCol="0" anchor="t"/>
          <a:lstStyle/>
          <a:p>
            <a:pPr indent="0" marL="0">
              <a:buNone/>
            </a:pPr>
            <a:r>
              <a:rPr lang="en-US" sz="650" dirty="0">
                <a:solidFill>
                  <a:srgbClr val="6E7A83"/>
                </a:solidFill>
                <a:latin typeface="Space Mono" pitchFamily="34" charset="0"/>
                <a:ea typeface="Space Mono" pitchFamily="34" charset="-122"/>
                <a:cs typeface="Space Mono" pitchFamily="34" charset="-120"/>
              </a:rPr>
              <a:t>List prices at </a:t>
            </a:r>
            <a:r>
              <a:rPr lang="en-US" sz="650" dirty="0">
                <a:solidFill>
                  <a:srgbClr val="6E7A83"/>
                </a:solidFill>
                <a:latin typeface="Space Grotesk" pitchFamily="34" charset="0"/>
                <a:ea typeface="Space Grotesk" pitchFamily="34" charset="-122"/>
                <a:cs typeface="Space Grotesk" pitchFamily="34" charset="-120"/>
              </a:rPr>
              <a:t>₹</a:t>
            </a:r>
            <a:r>
              <a:rPr lang="en-US" sz="650" dirty="0">
                <a:solidFill>
                  <a:srgbClr val="6E7A83"/>
                </a:solidFill>
                <a:latin typeface="Space Mono" pitchFamily="34" charset="0"/>
                <a:ea typeface="Space Mono" pitchFamily="34" charset="-122"/>
                <a:cs typeface="Space Mono" pitchFamily="34" charset="-120"/>
              </a:rPr>
              <a:t>88 per US$, before Indian duty and GST: LPKF via Design World · Voltera · Makera · ToolGuyd · EEVblog · RS/RobotShop · JLCPCB + zbotic.in · flux.ai. Protopus prices projected.</a:t>
            </a:r>
            <a:endParaRPr lang="en-US" sz="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216"/>
        </a:solidFill>
      </p:bgPr>
    </p:bg>
    <p:spTree>
      <p:nvGrpSpPr>
        <p:cNvPr id="1" name=""/>
        <p:cNvGrpSpPr/>
        <p:nvPr/>
      </p:nvGrpSpPr>
      <p:grpSpPr>
        <a:xfrm>
          <a:off x="0" y="0"/>
          <a:ext cx="0" cy="0"/>
          <a:chOff x="0" y="0"/>
          <a:chExt cx="0" cy="0"/>
        </a:xfrm>
      </p:grpSpPr>
      <p:sp>
        <p:nvSpPr>
          <p:cNvPr id="2" name="Text 0"/>
          <p:cNvSpPr txBox="1"/>
          <p:nvPr/>
        </p:nvSpPr>
        <p:spPr>
          <a:xfrm>
            <a:off x="411480" y="347472"/>
            <a:ext cx="8321040" cy="182880"/>
          </a:xfrm>
          <a:prstGeom prst="rect">
            <a:avLst/>
          </a:prstGeom>
          <a:noFill/>
          <a:ln/>
        </p:spPr>
        <p:txBody>
          <a:bodyPr wrap="square" lIns="0" tIns="0" rIns="0" bIns="0" rtlCol="0" anchor="t"/>
          <a:lstStyle/>
          <a:p>
            <a:pPr indent="0" marL="0">
              <a:buNone/>
            </a:pPr>
            <a:r>
              <a:rPr lang="en-US" sz="850" spc="250" kern="0" dirty="0">
                <a:solidFill>
                  <a:srgbClr val="CF8F4E"/>
                </a:solidFill>
                <a:latin typeface="Space Mono" pitchFamily="34" charset="0"/>
                <a:ea typeface="Space Mono" pitchFamily="34" charset="-122"/>
                <a:cs typeface="Space Mono" pitchFamily="34" charset="-120"/>
              </a:rPr>
              <a:t>QUESTION 07 · WHAT IT COSTS, AND PAYBACK</a:t>
            </a:r>
            <a:endParaRPr lang="en-US" sz="850" dirty="0"/>
          </a:p>
        </p:txBody>
      </p:sp>
      <p:sp>
        <p:nvSpPr>
          <p:cNvPr id="3" name="Text 1"/>
          <p:cNvSpPr txBox="1"/>
          <p:nvPr/>
        </p:nvSpPr>
        <p:spPr>
          <a:xfrm>
            <a:off x="411480" y="713232"/>
            <a:ext cx="3749040" cy="164592"/>
          </a:xfrm>
          <a:prstGeom prst="rect">
            <a:avLst/>
          </a:prstGeom>
          <a:noFill/>
          <a:ln/>
        </p:spPr>
        <p:txBody>
          <a:bodyPr wrap="square" lIns="0" tIns="0" rIns="0" bIns="0" rtlCol="0" anchor="t"/>
          <a:lstStyle/>
          <a:p>
            <a:pPr indent="0" marL="0">
              <a:buNone/>
            </a:pPr>
            <a:r>
              <a:rPr lang="en-US" sz="750" spc="200" kern="0" dirty="0">
                <a:solidFill>
                  <a:srgbClr val="6E7A83"/>
                </a:solidFill>
                <a:latin typeface="Space Mono" pitchFamily="34" charset="0"/>
                <a:ea typeface="Space Mono" pitchFamily="34" charset="-122"/>
                <a:cs typeface="Space Mono" pitchFamily="34" charset="-120"/>
              </a:rPr>
              <a:t>SIR, YOU ASKED</a:t>
            </a:r>
            <a:endParaRPr lang="en-US" sz="750" dirty="0"/>
          </a:p>
        </p:txBody>
      </p:sp>
      <p:sp>
        <p:nvSpPr>
          <p:cNvPr id="4" name="Shape 2"/>
          <p:cNvSpPr/>
          <p:nvPr/>
        </p:nvSpPr>
        <p:spPr>
          <a:xfrm>
            <a:off x="411480" y="941832"/>
            <a:ext cx="32004" cy="731520"/>
          </a:xfrm>
          <a:prstGeom prst="rect">
            <a:avLst/>
          </a:prstGeom>
          <a:solidFill>
            <a:srgbClr val="F2C230"/>
          </a:solidFill>
          <a:ln w="12700">
            <a:solidFill>
              <a:srgbClr val="F2C230"/>
            </a:solidFill>
            <a:prstDash val="solid"/>
          </a:ln>
        </p:spPr>
      </p:sp>
      <p:sp>
        <p:nvSpPr>
          <p:cNvPr id="5" name="Text 3"/>
          <p:cNvSpPr txBox="1"/>
          <p:nvPr/>
        </p:nvSpPr>
        <p:spPr>
          <a:xfrm>
            <a:off x="548640" y="914400"/>
            <a:ext cx="3611880" cy="731520"/>
          </a:xfrm>
          <a:prstGeom prst="rect">
            <a:avLst/>
          </a:prstGeom>
          <a:noFill/>
          <a:ln/>
        </p:spPr>
        <p:txBody>
          <a:bodyPr wrap="square" lIns="0" tIns="0" rIns="0" bIns="0" rtlCol="0" anchor="t"/>
          <a:lstStyle/>
          <a:p>
            <a:pPr indent="0" marL="0">
              <a:lnSpc>
                <a:spcPct val="105000"/>
              </a:lnSpc>
              <a:buNone/>
            </a:pPr>
            <a:r>
              <a:rPr lang="en-US" sz="1100" i="1" dirty="0">
                <a:solidFill>
                  <a:srgbClr val="8FB3C9"/>
                </a:solidFill>
                <a:latin typeface="Space Grotesk" pitchFamily="34" charset="0"/>
                <a:ea typeface="Space Grotesk" pitchFamily="34" charset="-122"/>
                <a:cs typeface="Space Grotesk" pitchFamily="34" charset="-120"/>
              </a:rPr>
              <a:t>“How much is this machine going to cost? Say X lacs: we also need to see how many boards are created and whether it cancels the cost.”</a:t>
            </a:r>
            <a:endParaRPr lang="en-US" sz="1100" dirty="0"/>
          </a:p>
        </p:txBody>
      </p:sp>
      <p:sp>
        <p:nvSpPr>
          <p:cNvPr id="6" name="Text 4"/>
          <p:cNvSpPr txBox="1"/>
          <p:nvPr/>
        </p:nvSpPr>
        <p:spPr>
          <a:xfrm>
            <a:off x="411480" y="1783080"/>
            <a:ext cx="3749040" cy="164592"/>
          </a:xfrm>
          <a:prstGeom prst="rect">
            <a:avLst/>
          </a:prstGeom>
          <a:noFill/>
          <a:ln/>
        </p:spPr>
        <p:txBody>
          <a:bodyPr wrap="square" lIns="0" tIns="0" rIns="0" bIns="0" rtlCol="0" anchor="t"/>
          <a:lstStyle/>
          <a:p>
            <a:pPr indent="0" marL="0">
              <a:buNone/>
            </a:pPr>
            <a:r>
              <a:rPr lang="en-US" sz="750" spc="200" kern="0" dirty="0">
                <a:solidFill>
                  <a:srgbClr val="F2C230"/>
                </a:solidFill>
                <a:latin typeface="Space Mono" pitchFamily="34" charset="0"/>
                <a:ea typeface="Space Mono" pitchFamily="34" charset="-122"/>
                <a:cs typeface="Space Mono" pitchFamily="34" charset="-120"/>
              </a:rPr>
              <a:t>I CAN ANSWER</a:t>
            </a:r>
            <a:endParaRPr lang="en-US" sz="750" dirty="0"/>
          </a:p>
        </p:txBody>
      </p:sp>
      <p:sp>
        <p:nvSpPr>
          <p:cNvPr id="7" name="Text 5"/>
          <p:cNvSpPr txBox="1"/>
          <p:nvPr/>
        </p:nvSpPr>
        <p:spPr>
          <a:xfrm>
            <a:off x="411480" y="2020824"/>
            <a:ext cx="3794760" cy="2551176"/>
          </a:xfrm>
          <a:prstGeom prst="rect">
            <a:avLst/>
          </a:prstGeom>
          <a:noFill/>
          <a:ln/>
        </p:spPr>
        <p:txBody>
          <a:bodyPr wrap="square" lIns="0" tIns="0" rIns="0" bIns="0" rtlCol="0" anchor="t"/>
          <a:lstStyle/>
          <a:p>
            <a:pPr indent="0" marL="0">
              <a:lnSpc>
                <a:spcPct val="108000"/>
              </a:lnSpc>
              <a:buNone/>
            </a:pPr>
            <a:r>
              <a:rPr lang="en-US" sz="1250" dirty="0">
                <a:solidFill>
                  <a:srgbClr val="E8EEF2"/>
                </a:solidFill>
                <a:latin typeface="Space Grotesk" pitchFamily="34" charset="0"/>
                <a:ea typeface="Space Grotesk" pitchFamily="34" charset="-122"/>
                <a:cs typeface="Space Grotesk" pitchFamily="34" charset="-120"/>
              </a:rPr>
              <a:t>​</a:t>
            </a:r>
            <a:r>
              <a:rPr lang="en-US" sz="1250" u="sng" dirty="0">
                <a:solidFill>
                  <a:srgbClr val="CF8F4E"/>
                </a:solidFill>
                <a:latin typeface="Space Grotesk" pitchFamily="34" charset="0"/>
                <a:ea typeface="Space Grotesk" pitchFamily="34" charset="-122"/>
                <a:cs typeface="Space Grotesk" pitchFamily="34" charset="-120"/>
                <a:hlinkClick r:id="rId1"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1250" dirty="0">
                <a:solidFill>
                  <a:srgbClr val="E8EEF2"/>
                </a:solidFill>
                <a:latin typeface="Space Grotesk" pitchFamily="34" charset="0"/>
                <a:ea typeface="Space Grotesk" pitchFamily="34" charset="-122"/>
                <a:cs typeface="Space Grotesk" pitchFamily="34" charset="-120"/>
              </a:rPr>
              <a:t> will be ₹2,99,000 (projected). On </a:t>
            </a:r>
            <a:r>
              <a:rPr lang="en-US" sz="1250" u="sng" dirty="0">
                <a:solidFill>
                  <a:srgbClr val="CF8F4E"/>
                </a:solidFill>
                <a:latin typeface="Space Grotesk" pitchFamily="34" charset="0"/>
                <a:ea typeface="Space Grotesk" pitchFamily="34" charset="-122"/>
                <a:cs typeface="Space Grotesk" pitchFamily="34" charset="-120"/>
                <a:hlinkClick r:id="rId2"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1250" dirty="0">
                <a:solidFill>
                  <a:srgbClr val="E8EEF2"/>
                </a:solidFill>
                <a:latin typeface="Space Grotesk" pitchFamily="34" charset="0"/>
                <a:ea typeface="Space Grotesk" pitchFamily="34" charset="-122"/>
                <a:cs typeface="Space Grotesk" pitchFamily="34" charset="-120"/>
              </a:rPr>
              <a:t> a board costs about ₹334 in materials. The same assembled board from JLCPCB, landed in India, costs ₹6,721 and takes 7–20 days. So </a:t>
            </a:r>
            <a:r>
              <a:rPr lang="en-US" sz="1250" u="sng" dirty="0">
                <a:solidFill>
                  <a:srgbClr val="CF8F4E"/>
                </a:solidFill>
                <a:latin typeface="Space Grotesk" pitchFamily="34" charset="0"/>
                <a:ea typeface="Space Grotesk" pitchFamily="34" charset="-122"/>
                <a:cs typeface="Space Grotesk" pitchFamily="34" charset="-120"/>
                <a:hlinkClick r:id="rId3"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1250" dirty="0">
                <a:solidFill>
                  <a:srgbClr val="E8EEF2"/>
                </a:solidFill>
                <a:latin typeface="Space Grotesk" pitchFamily="34" charset="0"/>
                <a:ea typeface="Space Grotesk" pitchFamily="34" charset="-122"/>
                <a:cs typeface="Space Grotesk" pitchFamily="34" charset="-120"/>
              </a:rPr>
              <a:t> pays for itself after 47 boards. That’s about six months for a startup doing two boards a week, and a year for a college lab doing one.</a:t>
            </a:r>
            <a:endParaRPr lang="en-US" sz="1250" dirty="0"/>
          </a:p>
        </p:txBody>
      </p:sp>
      <p:sp>
        <p:nvSpPr>
          <p:cNvPr id="8" name="Shape 6"/>
          <p:cNvSpPr/>
          <p:nvPr/>
        </p:nvSpPr>
        <p:spPr>
          <a:xfrm>
            <a:off x="4407408" y="731520"/>
            <a:ext cx="0" cy="3886200"/>
          </a:xfrm>
          <a:prstGeom prst="line">
            <a:avLst/>
          </a:prstGeom>
          <a:noFill/>
          <a:ln w="9525">
            <a:solidFill>
              <a:srgbClr val="1F2A32"/>
            </a:solidFill>
            <a:prstDash val="solid"/>
          </a:ln>
        </p:spPr>
      </p:sp>
      <p:sp>
        <p:nvSpPr>
          <p:cNvPr id="9" name="Text 7"/>
          <p:cNvSpPr txBox="1"/>
          <p:nvPr/>
        </p:nvSpPr>
        <p:spPr>
          <a:xfrm>
            <a:off x="4572000" y="713232"/>
            <a:ext cx="4114800" cy="164592"/>
          </a:xfrm>
          <a:prstGeom prst="rect">
            <a:avLst/>
          </a:prstGeom>
          <a:noFill/>
          <a:ln/>
        </p:spPr>
        <p:txBody>
          <a:bodyPr wrap="square" lIns="0" tIns="0" rIns="0" bIns="0" rtlCol="0" anchor="t"/>
          <a:lstStyle/>
          <a:p>
            <a:pPr indent="0" marL="0">
              <a:buNone/>
            </a:pPr>
            <a:r>
              <a:rPr lang="en-US" sz="750" spc="200" kern="0" dirty="0">
                <a:solidFill>
                  <a:srgbClr val="CF8F4E"/>
                </a:solidFill>
                <a:latin typeface="Space Mono" pitchFamily="34" charset="0"/>
                <a:ea typeface="Space Mono" pitchFamily="34" charset="-122"/>
                <a:cs typeface="Space Mono" pitchFamily="34" charset="-120"/>
              </a:rPr>
              <a:t>TO JUSTIFY</a:t>
            </a:r>
            <a:endParaRPr lang="en-US" sz="750" dirty="0"/>
          </a:p>
        </p:txBody>
      </p:sp>
      <p:sp>
        <p:nvSpPr>
          <p:cNvPr id="10" name="Text 8"/>
          <p:cNvSpPr txBox="1"/>
          <p:nvPr/>
        </p:nvSpPr>
        <p:spPr>
          <a:xfrm>
            <a:off x="4572000" y="960120"/>
            <a:ext cx="1371600" cy="320040"/>
          </a:xfrm>
          <a:prstGeom prst="rect">
            <a:avLst/>
          </a:prstGeom>
          <a:noFill/>
          <a:ln/>
        </p:spPr>
        <p:txBody>
          <a:bodyPr wrap="square" lIns="0" tIns="0" rIns="0" bIns="0" rtlCol="0" anchor="t"/>
          <a:lstStyle/>
          <a:p>
            <a:pPr indent="0" marL="0">
              <a:buNone/>
            </a:pPr>
            <a:r>
              <a:rPr lang="en-US" sz="1500" b="1" dirty="0">
                <a:solidFill>
                  <a:srgbClr val="CF8F4E"/>
                </a:solidFill>
                <a:latin typeface="Space Grotesk" pitchFamily="34" charset="0"/>
                <a:ea typeface="Space Grotesk" pitchFamily="34" charset="-122"/>
                <a:cs typeface="Space Grotesk" pitchFamily="34" charset="-120"/>
              </a:rPr>
              <a:t>₹2,99,000</a:t>
            </a:r>
            <a:endParaRPr lang="en-US" sz="1500" dirty="0"/>
          </a:p>
        </p:txBody>
      </p:sp>
      <p:sp>
        <p:nvSpPr>
          <p:cNvPr id="11" name="Text 9"/>
          <p:cNvSpPr txBox="1"/>
          <p:nvPr/>
        </p:nvSpPr>
        <p:spPr>
          <a:xfrm>
            <a:off x="4572000" y="1298448"/>
            <a:ext cx="1371600" cy="182880"/>
          </a:xfrm>
          <a:prstGeom prst="rect">
            <a:avLst/>
          </a:prstGeom>
          <a:noFill/>
          <a:ln/>
        </p:spPr>
        <p:txBody>
          <a:bodyPr wrap="square" lIns="0" tIns="0" rIns="0" bIns="0" rtlCol="0" anchor="t"/>
          <a:lstStyle/>
          <a:p>
            <a:pPr indent="0" marL="0">
              <a:buNone/>
            </a:pPr>
            <a:r>
              <a:rPr lang="en-US" sz="700" dirty="0">
                <a:solidFill>
                  <a:srgbClr val="6E7A83"/>
                </a:solidFill>
                <a:latin typeface="Space Mono" pitchFamily="34" charset="0"/>
                <a:ea typeface="Space Mono" pitchFamily="34" charset="-122"/>
                <a:cs typeface="Space Mono" pitchFamily="34" charset="-120"/>
              </a:rPr>
              <a:t>Baker list (projected)</a:t>
            </a:r>
            <a:endParaRPr lang="en-US" sz="700" dirty="0"/>
          </a:p>
        </p:txBody>
      </p:sp>
      <p:sp>
        <p:nvSpPr>
          <p:cNvPr id="12" name="Text 10"/>
          <p:cNvSpPr txBox="1"/>
          <p:nvPr/>
        </p:nvSpPr>
        <p:spPr>
          <a:xfrm>
            <a:off x="5971032" y="960120"/>
            <a:ext cx="1371600" cy="320040"/>
          </a:xfrm>
          <a:prstGeom prst="rect">
            <a:avLst/>
          </a:prstGeom>
          <a:noFill/>
          <a:ln/>
        </p:spPr>
        <p:txBody>
          <a:bodyPr wrap="square" lIns="0" tIns="0" rIns="0" bIns="0" rtlCol="0" anchor="t"/>
          <a:lstStyle/>
          <a:p>
            <a:pPr indent="0" marL="0">
              <a:buNone/>
            </a:pPr>
            <a:r>
              <a:rPr lang="en-US" sz="1500" b="1" dirty="0">
                <a:solidFill>
                  <a:srgbClr val="60A05A"/>
                </a:solidFill>
                <a:latin typeface="Space Grotesk" pitchFamily="34" charset="0"/>
                <a:ea typeface="Space Grotesk" pitchFamily="34" charset="-122"/>
                <a:cs typeface="Space Grotesk" pitchFamily="34" charset="-120"/>
              </a:rPr>
              <a:t>₹334</a:t>
            </a:r>
            <a:endParaRPr lang="en-US" sz="1500" dirty="0"/>
          </a:p>
        </p:txBody>
      </p:sp>
      <p:sp>
        <p:nvSpPr>
          <p:cNvPr id="13" name="Text 11"/>
          <p:cNvSpPr txBox="1"/>
          <p:nvPr/>
        </p:nvSpPr>
        <p:spPr>
          <a:xfrm>
            <a:off x="5971032" y="1298448"/>
            <a:ext cx="1371600" cy="182880"/>
          </a:xfrm>
          <a:prstGeom prst="rect">
            <a:avLst/>
          </a:prstGeom>
          <a:noFill/>
          <a:ln/>
        </p:spPr>
        <p:txBody>
          <a:bodyPr wrap="square" lIns="0" tIns="0" rIns="0" bIns="0" rtlCol="0" anchor="t"/>
          <a:lstStyle/>
          <a:p>
            <a:pPr indent="0" marL="0">
              <a:buNone/>
            </a:pPr>
            <a:r>
              <a:rPr lang="en-US" sz="700" dirty="0">
                <a:solidFill>
                  <a:srgbClr val="6E7A83"/>
                </a:solidFill>
                <a:latin typeface="Space Mono" pitchFamily="34" charset="0"/>
                <a:ea typeface="Space Mono" pitchFamily="34" charset="-122"/>
                <a:cs typeface="Space Mono" pitchFamily="34" charset="-120"/>
              </a:rPr>
              <a:t>materials per board</a:t>
            </a:r>
            <a:endParaRPr lang="en-US" sz="700" dirty="0"/>
          </a:p>
        </p:txBody>
      </p:sp>
      <p:sp>
        <p:nvSpPr>
          <p:cNvPr id="14" name="Text 12"/>
          <p:cNvSpPr txBox="1"/>
          <p:nvPr/>
        </p:nvSpPr>
        <p:spPr>
          <a:xfrm>
            <a:off x="7370064" y="960120"/>
            <a:ext cx="1371600" cy="320040"/>
          </a:xfrm>
          <a:prstGeom prst="rect">
            <a:avLst/>
          </a:prstGeom>
          <a:noFill/>
          <a:ln/>
        </p:spPr>
        <p:txBody>
          <a:bodyPr wrap="square" lIns="0" tIns="0" rIns="0" bIns="0" rtlCol="0" anchor="t"/>
          <a:lstStyle/>
          <a:p>
            <a:pPr indent="0" marL="0">
              <a:buNone/>
            </a:pPr>
            <a:r>
              <a:rPr lang="en-US" sz="1500" b="1" dirty="0">
                <a:solidFill>
                  <a:srgbClr val="E06C6C"/>
                </a:solidFill>
                <a:latin typeface="Space Grotesk" pitchFamily="34" charset="0"/>
                <a:ea typeface="Space Grotesk" pitchFamily="34" charset="-122"/>
                <a:cs typeface="Space Grotesk" pitchFamily="34" charset="-120"/>
              </a:rPr>
              <a:t>₹6,721</a:t>
            </a:r>
            <a:endParaRPr lang="en-US" sz="1500" dirty="0"/>
          </a:p>
        </p:txBody>
      </p:sp>
      <p:sp>
        <p:nvSpPr>
          <p:cNvPr id="15" name="Text 13"/>
          <p:cNvSpPr txBox="1"/>
          <p:nvPr/>
        </p:nvSpPr>
        <p:spPr>
          <a:xfrm>
            <a:off x="7370064" y="1298448"/>
            <a:ext cx="1371600" cy="182880"/>
          </a:xfrm>
          <a:prstGeom prst="rect">
            <a:avLst/>
          </a:prstGeom>
          <a:noFill/>
          <a:ln/>
        </p:spPr>
        <p:txBody>
          <a:bodyPr wrap="square" lIns="0" tIns="0" rIns="0" bIns="0" rtlCol="0" anchor="t"/>
          <a:lstStyle/>
          <a:p>
            <a:pPr indent="0" marL="0">
              <a:buNone/>
            </a:pPr>
            <a:r>
              <a:rPr lang="en-US" sz="700" dirty="0">
                <a:solidFill>
                  <a:srgbClr val="6E7A83"/>
                </a:solidFill>
                <a:latin typeface="Space Mono" pitchFamily="34" charset="0"/>
                <a:ea typeface="Space Mono" pitchFamily="34" charset="-122"/>
                <a:cs typeface="Space Mono" pitchFamily="34" charset="-120"/>
              </a:rPr>
              <a:t>JLCPCB, landed</a:t>
            </a:r>
            <a:endParaRPr lang="en-US" sz="7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0" y="1645920"/>
          <a:ext cx="4160520" cy="914400"/>
        </p:xfrm>
        <a:graphic>
          <a:graphicData uri="http://schemas.openxmlformats.org/drawingml/2006/table">
            <a:tbl>
              <a:tblPr/>
              <a:tblGrid>
                <a:gridCol w="1143000"/>
                <a:gridCol w="1051560"/>
                <a:gridCol w="594360"/>
                <a:gridCol w="685800"/>
                <a:gridCol w="685800"/>
              </a:tblGrid>
              <a:tr h="274320">
                <a:tc>
                  <a:txBody>
                    <a:bodyPr/>
                    <a:lstStyle/>
                    <a:p>
                      <a:pPr indent="0" marL="0">
                        <a:buNone/>
                      </a:pPr>
                      <a:r>
                        <a:rPr lang="en-US" sz="780" spc="100" kern="0" dirty="0">
                          <a:solidFill>
                            <a:srgbClr val="6E7A83"/>
                          </a:solidFill>
                          <a:latin typeface="Space Mono" pitchFamily="34" charset="0"/>
                          <a:ea typeface="Space Mono" pitchFamily="34" charset="-122"/>
                          <a:cs typeface="Space Mono" pitchFamily="34" charset="-120"/>
                        </a:rPr>
                        <a:t>CUSTOMER BUYS</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11430" cap="flat" cmpd="sng" algn="ctr">
                      <a:solidFill>
                        <a:srgbClr val="E8EEF2"/>
                      </a:solidFill>
                      <a:prstDash val="solid"/>
                      <a:round/>
                      <a:headEnd type="none" w="med" len="med"/>
                      <a:tailEnd type="none" w="med" len="med"/>
                    </a:lnB>
                  </a:tcPr>
                </a:tc>
                <a:tc>
                  <a:txBody>
                    <a:bodyPr/>
                    <a:lstStyle/>
                    <a:p>
                      <a:pPr indent="0" marL="0">
                        <a:buNone/>
                      </a:pPr>
                      <a:r>
                        <a:rPr lang="en-US" sz="780" spc="100" kern="0" dirty="0">
                          <a:solidFill>
                            <a:srgbClr val="6E7A83"/>
                          </a:solidFill>
                          <a:latin typeface="Space Mono" pitchFamily="34" charset="0"/>
                          <a:ea typeface="Space Mono" pitchFamily="34" charset="-122"/>
                          <a:cs typeface="Space Mono" pitchFamily="34" charset="-120"/>
                        </a:rPr>
                        <a:t>VS</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11430" cap="flat" cmpd="sng" algn="ctr">
                      <a:solidFill>
                        <a:srgbClr val="E8EEF2"/>
                      </a:solidFill>
                      <a:prstDash val="solid"/>
                      <a:round/>
                      <a:headEnd type="none" w="med" len="med"/>
                      <a:tailEnd type="none" w="med" len="med"/>
                    </a:lnB>
                  </a:tcPr>
                </a:tc>
                <a:tc>
                  <a:txBody>
                    <a:bodyPr/>
                    <a:lstStyle/>
                    <a:p>
                      <a:pPr indent="0" marL="0">
                        <a:buNone/>
                      </a:pPr>
                      <a:r>
                        <a:rPr lang="en-US" sz="780" spc="100" kern="0" dirty="0">
                          <a:solidFill>
                            <a:srgbClr val="6E7A83"/>
                          </a:solidFill>
                          <a:latin typeface="Space Mono" pitchFamily="34" charset="0"/>
                          <a:ea typeface="Space Mono" pitchFamily="34" charset="-122"/>
                          <a:cs typeface="Space Mono" pitchFamily="34" charset="-120"/>
                        </a:rPr>
                        <a:t>BOARDS</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11430" cap="flat" cmpd="sng" algn="ctr">
                      <a:solidFill>
                        <a:srgbClr val="E8EEF2"/>
                      </a:solidFill>
                      <a:prstDash val="solid"/>
                      <a:round/>
                      <a:headEnd type="none" w="med" len="med"/>
                      <a:tailEnd type="none" w="med" len="med"/>
                    </a:lnB>
                  </a:tcPr>
                </a:tc>
                <a:tc>
                  <a:txBody>
                    <a:bodyPr/>
                    <a:lstStyle/>
                    <a:p>
                      <a:pPr indent="0" marL="0">
                        <a:buNone/>
                      </a:pPr>
                      <a:r>
                        <a:rPr lang="en-US" sz="780" spc="100" kern="0" dirty="0">
                          <a:solidFill>
                            <a:srgbClr val="6E7A83"/>
                          </a:solidFill>
                          <a:latin typeface="Space Mono" pitchFamily="34" charset="0"/>
                          <a:ea typeface="Space Mono" pitchFamily="34" charset="-122"/>
                          <a:cs typeface="Space Mono" pitchFamily="34" charset="-120"/>
                        </a:rPr>
                        <a:t>STARTUP</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11430" cap="flat" cmpd="sng" algn="ctr">
                      <a:solidFill>
                        <a:srgbClr val="E8EEF2"/>
                      </a:solidFill>
                      <a:prstDash val="solid"/>
                      <a:round/>
                      <a:headEnd type="none" w="med" len="med"/>
                      <a:tailEnd type="none" w="med" len="med"/>
                    </a:lnB>
                  </a:tcPr>
                </a:tc>
                <a:tc>
                  <a:txBody>
                    <a:bodyPr/>
                    <a:lstStyle/>
                    <a:p>
                      <a:pPr indent="0" marL="0">
                        <a:buNone/>
                      </a:pPr>
                      <a:r>
                        <a:rPr lang="en-US" sz="780" spc="100" kern="0" dirty="0">
                          <a:solidFill>
                            <a:srgbClr val="6E7A83"/>
                          </a:solidFill>
                          <a:latin typeface="Space Mono" pitchFamily="34" charset="0"/>
                          <a:ea typeface="Space Mono" pitchFamily="34" charset="-122"/>
                          <a:cs typeface="Space Mono" pitchFamily="34" charset="-120"/>
                        </a:rPr>
                        <a:t>LAB</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11430" cap="flat" cmpd="sng" algn="ctr">
                      <a:solidFill>
                        <a:srgbClr val="E8EEF2"/>
                      </a:solidFill>
                      <a:prstDash val="solid"/>
                      <a:round/>
                      <a:headEnd type="none" w="med" len="med"/>
                      <a:tailEnd type="none" w="med" len="med"/>
                    </a:lnB>
                  </a:tcPr>
                </a:tc>
              </a:tr>
              <a:tr h="274320">
                <a:tc>
                  <a:txBody>
                    <a:bodyPr/>
                    <a:lstStyle/>
                    <a:p>
                      <a:pPr indent="0" marL="0">
                        <a:buNone/>
                      </a:pPr>
                      <a:r>
                        <a:rPr lang="en-US" sz="780" dirty="0">
                          <a:solidFill>
                            <a:srgbClr val="E8EEF2"/>
                          </a:solidFill>
                          <a:latin typeface="Space Mono" pitchFamily="34" charset="0"/>
                          <a:ea typeface="Space Mono" pitchFamily="34" charset="-122"/>
                          <a:cs typeface="Space Mono" pitchFamily="34" charset="-120"/>
                        </a:rPr>
                        <a:t>​</a:t>
                      </a:r>
                      <a:r>
                        <a:rPr lang="en-US" sz="780" u="sng" dirty="0">
                          <a:solidFill>
                            <a:srgbClr val="CF8F4E"/>
                          </a:solidFill>
                          <a:latin typeface="Space Mono" pitchFamily="34" charset="0"/>
                          <a:ea typeface="Space Mono" pitchFamily="34" charset="-122"/>
                          <a:cs typeface="Space Mono" pitchFamily="34" charset="-120"/>
                          <a:hlinkClick r:id="rId4" invalidUrl="" action="" tgtFrame="" tooltip="https://protopus-kappa.vercel.app/#/baker" history="1" highlightClick="0" endSnd="0">
                            <a:extLst>
                              <a:ext uri="{A12FA001-AC4F-418D-AE19-62706E023703}">
                                <ahyp:hlinkClr xmlns:ahyp="http://schemas.microsoft.com/office/drawing/2018/hyperlinkcolor" val="tx"/>
                              </a:ext>
                            </a:extLst>
                          </a:hlinkClick>
                        </a:rPr>
                        <a:t>Baker</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80" dirty="0">
                          <a:solidFill>
                            <a:srgbClr val="A3B3BE"/>
                          </a:solidFill>
                          <a:latin typeface="Space Mono" pitchFamily="34" charset="0"/>
                          <a:ea typeface="Space Mono" pitchFamily="34" charset="-122"/>
                          <a:cs typeface="Space Mono" pitchFamily="34" charset="-120"/>
                        </a:rPr>
                        <a:t>JLCPCB</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80" dirty="0">
                          <a:solidFill>
                            <a:srgbClr val="F2C230"/>
                          </a:solidFill>
                          <a:latin typeface="Space Mono" pitchFamily="34" charset="0"/>
                          <a:ea typeface="Space Mono" pitchFamily="34" charset="-122"/>
                          <a:cs typeface="Space Mono" pitchFamily="34" charset="-120"/>
                        </a:rPr>
                        <a:t>47</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80" dirty="0">
                          <a:solidFill>
                            <a:srgbClr val="A3B3BE"/>
                          </a:solidFill>
                          <a:latin typeface="Space Mono" pitchFamily="34" charset="0"/>
                          <a:ea typeface="Space Mono" pitchFamily="34" charset="-122"/>
                          <a:cs typeface="Space Mono" pitchFamily="34" charset="-120"/>
                        </a:rPr>
                        <a:t>5.9 mo</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80" dirty="0">
                          <a:solidFill>
                            <a:srgbClr val="A3B3BE"/>
                          </a:solidFill>
                          <a:latin typeface="Space Mono" pitchFamily="34" charset="0"/>
                          <a:ea typeface="Space Mono" pitchFamily="34" charset="-122"/>
                          <a:cs typeface="Space Mono" pitchFamily="34" charset="-120"/>
                        </a:rPr>
                        <a:t>11.8 mo</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r h="274320">
                <a:tc>
                  <a:txBody>
                    <a:bodyPr/>
                    <a:lstStyle/>
                    <a:p>
                      <a:pPr indent="0" marL="0">
                        <a:buNone/>
                      </a:pPr>
                      <a:r>
                        <a:rPr lang="en-US" sz="780" dirty="0">
                          <a:solidFill>
                            <a:srgbClr val="E8EEF2"/>
                          </a:solidFill>
                          <a:latin typeface="Space Mono" pitchFamily="34" charset="0"/>
                          <a:ea typeface="Space Mono" pitchFamily="34" charset="-122"/>
                          <a:cs typeface="Space Mono" pitchFamily="34" charset="-120"/>
                        </a:rPr>
                        <a:t>​</a:t>
                      </a:r>
                      <a:r>
                        <a:rPr lang="en-US" sz="780" u="sng" dirty="0">
                          <a:solidFill>
                            <a:srgbClr val="CF8F4E"/>
                          </a:solidFill>
                          <a:latin typeface="Space Mono" pitchFamily="34" charset="0"/>
                          <a:ea typeface="Space Mono" pitchFamily="34" charset="-122"/>
                          <a:cs typeface="Space Mono" pitchFamily="34" charset="-120"/>
                          <a:hlinkClick r:id="rId5" invalidUrl="" action="" tgtFrame="" tooltip="https://protopus-kappa.vercel.app/#/baker" history="1" highlightClick="0" endSnd="0">
                            <a:extLst>
                              <a:ext uri="{A12FA001-AC4F-418D-AE19-62706E023703}">
                                <ahyp:hlinkClr xmlns:ahyp="http://schemas.microsoft.com/office/drawing/2018/hyperlinkcolor" val="tx"/>
                              </a:ext>
                            </a:extLst>
                          </a:hlinkClick>
                        </a:rPr>
                        <a:t>Baker</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80" dirty="0">
                          <a:solidFill>
                            <a:srgbClr val="A3B3BE"/>
                          </a:solidFill>
                          <a:latin typeface="Space Mono" pitchFamily="34" charset="0"/>
                          <a:ea typeface="Space Mono" pitchFamily="34" charset="-122"/>
                          <a:cs typeface="Space Mono" pitchFamily="34" charset="-120"/>
                        </a:rPr>
                        <a:t>Indian 24-h fab</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80" dirty="0">
                          <a:solidFill>
                            <a:srgbClr val="F2C230"/>
                          </a:solidFill>
                          <a:latin typeface="Space Mono" pitchFamily="34" charset="0"/>
                          <a:ea typeface="Space Mono" pitchFamily="34" charset="-122"/>
                          <a:cs typeface="Space Mono" pitchFamily="34" charset="-120"/>
                        </a:rPr>
                        <a:t>58</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80" dirty="0">
                          <a:solidFill>
                            <a:srgbClr val="A3B3BE"/>
                          </a:solidFill>
                          <a:latin typeface="Space Mono" pitchFamily="34" charset="0"/>
                          <a:ea typeface="Space Mono" pitchFamily="34" charset="-122"/>
                          <a:cs typeface="Space Mono" pitchFamily="34" charset="-120"/>
                        </a:rPr>
                        <a:t>7.3 mo</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80" dirty="0">
                          <a:solidFill>
                            <a:srgbClr val="A3B3BE"/>
                          </a:solidFill>
                          <a:latin typeface="Space Mono" pitchFamily="34" charset="0"/>
                          <a:ea typeface="Space Mono" pitchFamily="34" charset="-122"/>
                          <a:cs typeface="Space Mono" pitchFamily="34" charset="-120"/>
                        </a:rPr>
                        <a:t>14.5 mo</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r h="274320">
                <a:tc>
                  <a:txBody>
                    <a:bodyPr/>
                    <a:lstStyle/>
                    <a:p>
                      <a:pPr indent="0" marL="0">
                        <a:buNone/>
                      </a:pPr>
                      <a:r>
                        <a:rPr lang="en-US" sz="780" dirty="0">
                          <a:solidFill>
                            <a:srgbClr val="E8EEF2"/>
                          </a:solidFill>
                          <a:latin typeface="Space Mono" pitchFamily="34" charset="0"/>
                          <a:ea typeface="Space Mono" pitchFamily="34" charset="-122"/>
                          <a:cs typeface="Space Mono" pitchFamily="34" charset="-120"/>
                        </a:rPr>
                        <a:t>​</a:t>
                      </a:r>
                      <a:r>
                        <a:rPr lang="en-US" sz="780" u="sng" dirty="0">
                          <a:solidFill>
                            <a:srgbClr val="CF8F4E"/>
                          </a:solidFill>
                          <a:latin typeface="Space Mono" pitchFamily="34" charset="0"/>
                          <a:ea typeface="Space Mono" pitchFamily="34" charset="-122"/>
                          <a:cs typeface="Space Mono" pitchFamily="34" charset="-120"/>
                          <a:hlinkClick r:id="rId6"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780" dirty="0">
                          <a:solidFill>
                            <a:srgbClr val="E8EEF2"/>
                          </a:solidFill>
                          <a:latin typeface="Space Mono" pitchFamily="34" charset="0"/>
                          <a:ea typeface="Space Mono" pitchFamily="34" charset="-122"/>
                          <a:cs typeface="Space Mono" pitchFamily="34" charset="-120"/>
                        </a:rPr>
                        <a:t> + </a:t>
                      </a:r>
                      <a:r>
                        <a:rPr lang="en-US" sz="780" u="sng" dirty="0">
                          <a:solidFill>
                            <a:srgbClr val="54ACF0"/>
                          </a:solidFill>
                          <a:latin typeface="Space Mono" pitchFamily="34" charset="0"/>
                          <a:ea typeface="Space Mono" pitchFamily="34" charset="-122"/>
                          <a:cs typeface="Space Mono" pitchFamily="34" charset="-120"/>
                          <a:hlinkClick r:id="rId7" invalidUrl="" action="" tgtFrame="" tooltip="https://protopus-kappa.vercel.app/#/mixer" history="1" highlightClick="0" endSnd="0">
                            <a:extLst>
                              <a:ext uri="{A12FA001-AC4F-418D-AE19-62706E023703}">
                                <ahyp:hlinkClr xmlns:ahyp="http://schemas.microsoft.com/office/drawing/2018/hyperlinkcolor" val="tx"/>
                              </a:ext>
                            </a:extLst>
                          </a:hlinkClick>
                        </a:rPr>
                        <a:t>Mixer</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80" dirty="0">
                          <a:solidFill>
                            <a:srgbClr val="A3B3BE"/>
                          </a:solidFill>
                          <a:latin typeface="Space Mono" pitchFamily="34" charset="0"/>
                          <a:ea typeface="Space Mono" pitchFamily="34" charset="-122"/>
                          <a:cs typeface="Space Mono" pitchFamily="34" charset="-120"/>
                        </a:rPr>
                        <a:t>JLCPCB</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80" dirty="0">
                          <a:solidFill>
                            <a:srgbClr val="F2C230"/>
                          </a:solidFill>
                          <a:latin typeface="Space Mono" pitchFamily="34" charset="0"/>
                          <a:ea typeface="Space Mono" pitchFamily="34" charset="-122"/>
                          <a:cs typeface="Space Mono" pitchFamily="34" charset="-120"/>
                        </a:rPr>
                        <a:t>53</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80" dirty="0">
                          <a:solidFill>
                            <a:srgbClr val="A3B3BE"/>
                          </a:solidFill>
                          <a:latin typeface="Space Mono" pitchFamily="34" charset="0"/>
                          <a:ea typeface="Space Mono" pitchFamily="34" charset="-122"/>
                          <a:cs typeface="Space Mono" pitchFamily="34" charset="-120"/>
                        </a:rPr>
                        <a:t>6.6 mo</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80" dirty="0">
                          <a:solidFill>
                            <a:srgbClr val="A3B3BE"/>
                          </a:solidFill>
                          <a:latin typeface="Space Mono" pitchFamily="34" charset="0"/>
                          <a:ea typeface="Space Mono" pitchFamily="34" charset="-122"/>
                          <a:cs typeface="Space Mono" pitchFamily="34" charset="-120"/>
                        </a:rPr>
                        <a:t>13.3 mo</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bl>
          </a:graphicData>
        </a:graphic>
      </p:graphicFrame>
      <p:sp>
        <p:nvSpPr>
          <p:cNvPr id="17" name="Text 14"/>
          <p:cNvSpPr txBox="1"/>
          <p:nvPr/>
        </p:nvSpPr>
        <p:spPr>
          <a:xfrm>
            <a:off x="4572000" y="2880360"/>
            <a:ext cx="4160520" cy="164592"/>
          </a:xfrm>
          <a:prstGeom prst="rect">
            <a:avLst/>
          </a:prstGeom>
          <a:noFill/>
          <a:ln/>
        </p:spPr>
        <p:txBody>
          <a:bodyPr wrap="square" lIns="0" tIns="0" rIns="0" bIns="0" rtlCol="0" anchor="t"/>
          <a:lstStyle/>
          <a:p>
            <a:pPr indent="0" marL="0">
              <a:buNone/>
            </a:pPr>
            <a:r>
              <a:rPr lang="en-US" sz="700" spc="150" kern="0" dirty="0">
                <a:solidFill>
                  <a:srgbClr val="6E7A83"/>
                </a:solidFill>
                <a:latin typeface="Space Mono" pitchFamily="34" charset="0"/>
                <a:ea typeface="Space Mono" pitchFamily="34" charset="-122"/>
                <a:cs typeface="Space Mono" pitchFamily="34" charset="-120"/>
              </a:rPr>
              <a:t>IF THE PRICE MOVES · BOARDS TO PAY BACK BAKER</a:t>
            </a:r>
            <a:endParaRPr lang="en-US" sz="700" dirty="0"/>
          </a:p>
        </p:txBody>
      </p:sp>
      <p:sp>
        <p:nvSpPr>
          <p:cNvPr id="18" name="Text 15"/>
          <p:cNvSpPr txBox="1"/>
          <p:nvPr/>
        </p:nvSpPr>
        <p:spPr>
          <a:xfrm>
            <a:off x="4572000" y="3090672"/>
            <a:ext cx="1005840" cy="292608"/>
          </a:xfrm>
          <a:prstGeom prst="rect">
            <a:avLst/>
          </a:prstGeom>
          <a:noFill/>
          <a:ln/>
        </p:spPr>
        <p:txBody>
          <a:bodyPr wrap="square" lIns="0" tIns="0" rIns="0" bIns="0" rtlCol="0" anchor="t"/>
          <a:lstStyle/>
          <a:p>
            <a:pPr indent="0" marL="0">
              <a:buNone/>
            </a:pPr>
            <a:r>
              <a:rPr lang="en-US" sz="1400" b="1" dirty="0">
                <a:solidFill>
                  <a:srgbClr val="F2C230"/>
                </a:solidFill>
                <a:latin typeface="Space Grotesk" pitchFamily="34" charset="0"/>
                <a:ea typeface="Space Grotesk" pitchFamily="34" charset="-122"/>
                <a:cs typeface="Space Grotesk" pitchFamily="34" charset="-120"/>
              </a:rPr>
              <a:t>47</a:t>
            </a:r>
            <a:endParaRPr lang="en-US" sz="1400" dirty="0"/>
          </a:p>
        </p:txBody>
      </p:sp>
      <p:sp>
        <p:nvSpPr>
          <p:cNvPr id="19" name="Text 16"/>
          <p:cNvSpPr txBox="1"/>
          <p:nvPr/>
        </p:nvSpPr>
        <p:spPr>
          <a:xfrm>
            <a:off x="4572000" y="3383280"/>
            <a:ext cx="1005840" cy="182880"/>
          </a:xfrm>
          <a:prstGeom prst="rect">
            <a:avLst/>
          </a:prstGeom>
          <a:noFill/>
          <a:ln/>
        </p:spPr>
        <p:txBody>
          <a:bodyPr wrap="square" lIns="0" tIns="0" rIns="0" bIns="0" rtlCol="0" anchor="t"/>
          <a:lstStyle/>
          <a:p>
            <a:pPr indent="0" marL="0">
              <a:buNone/>
            </a:pPr>
            <a:r>
              <a:rPr lang="en-US" sz="700" dirty="0">
                <a:solidFill>
                  <a:srgbClr val="6E7A83"/>
                </a:solidFill>
                <a:latin typeface="Space Mono" pitchFamily="34" charset="0"/>
                <a:ea typeface="Space Mono" pitchFamily="34" charset="-122"/>
                <a:cs typeface="Space Mono" pitchFamily="34" charset="-120"/>
              </a:rPr>
              <a:t>at </a:t>
            </a:r>
            <a:r>
              <a:rPr lang="en-US" sz="700" dirty="0">
                <a:solidFill>
                  <a:srgbClr val="6E7A83"/>
                </a:solidFill>
                <a:latin typeface="Space Grotesk" pitchFamily="34" charset="0"/>
                <a:ea typeface="Space Grotesk" pitchFamily="34" charset="-122"/>
                <a:cs typeface="Space Grotesk" pitchFamily="34" charset="-120"/>
              </a:rPr>
              <a:t>₹</a:t>
            </a:r>
            <a:r>
              <a:rPr lang="en-US" sz="700" dirty="0">
                <a:solidFill>
                  <a:srgbClr val="6E7A83"/>
                </a:solidFill>
                <a:latin typeface="Space Mono" pitchFamily="34" charset="0"/>
                <a:ea typeface="Space Mono" pitchFamily="34" charset="-122"/>
                <a:cs typeface="Space Mono" pitchFamily="34" charset="-120"/>
              </a:rPr>
              <a:t>2.99L</a:t>
            </a:r>
            <a:endParaRPr lang="en-US" sz="700" dirty="0"/>
          </a:p>
        </p:txBody>
      </p:sp>
      <p:sp>
        <p:nvSpPr>
          <p:cNvPr id="20" name="Text 17"/>
          <p:cNvSpPr txBox="1"/>
          <p:nvPr/>
        </p:nvSpPr>
        <p:spPr>
          <a:xfrm>
            <a:off x="5623560" y="3090672"/>
            <a:ext cx="1005840" cy="292608"/>
          </a:xfrm>
          <a:prstGeom prst="rect">
            <a:avLst/>
          </a:prstGeom>
          <a:noFill/>
          <a:ln/>
        </p:spPr>
        <p:txBody>
          <a:bodyPr wrap="square" lIns="0" tIns="0" rIns="0" bIns="0" rtlCol="0" anchor="t"/>
          <a:lstStyle/>
          <a:p>
            <a:pPr indent="0" marL="0">
              <a:buNone/>
            </a:pPr>
            <a:r>
              <a:rPr lang="en-US" sz="1400" b="1" dirty="0">
                <a:solidFill>
                  <a:srgbClr val="E8EEF2"/>
                </a:solidFill>
                <a:latin typeface="Space Grotesk" pitchFamily="34" charset="0"/>
                <a:ea typeface="Space Grotesk" pitchFamily="34" charset="-122"/>
                <a:cs typeface="Space Grotesk" pitchFamily="34" charset="-120"/>
              </a:rPr>
              <a:t>55</a:t>
            </a:r>
            <a:endParaRPr lang="en-US" sz="1400" dirty="0"/>
          </a:p>
        </p:txBody>
      </p:sp>
      <p:sp>
        <p:nvSpPr>
          <p:cNvPr id="21" name="Text 18"/>
          <p:cNvSpPr txBox="1"/>
          <p:nvPr/>
        </p:nvSpPr>
        <p:spPr>
          <a:xfrm>
            <a:off x="5623560" y="3383280"/>
            <a:ext cx="1005840" cy="182880"/>
          </a:xfrm>
          <a:prstGeom prst="rect">
            <a:avLst/>
          </a:prstGeom>
          <a:noFill/>
          <a:ln/>
        </p:spPr>
        <p:txBody>
          <a:bodyPr wrap="square" lIns="0" tIns="0" rIns="0" bIns="0" rtlCol="0" anchor="t"/>
          <a:lstStyle/>
          <a:p>
            <a:pPr indent="0" marL="0">
              <a:buNone/>
            </a:pPr>
            <a:r>
              <a:rPr lang="en-US" sz="700" dirty="0">
                <a:solidFill>
                  <a:srgbClr val="6E7A83"/>
                </a:solidFill>
                <a:latin typeface="Space Mono" pitchFamily="34" charset="0"/>
                <a:ea typeface="Space Mono" pitchFamily="34" charset="-122"/>
                <a:cs typeface="Space Mono" pitchFamily="34" charset="-120"/>
              </a:rPr>
              <a:t>at </a:t>
            </a:r>
            <a:r>
              <a:rPr lang="en-US" sz="700" dirty="0">
                <a:solidFill>
                  <a:srgbClr val="6E7A83"/>
                </a:solidFill>
                <a:latin typeface="Space Grotesk" pitchFamily="34" charset="0"/>
                <a:ea typeface="Space Grotesk" pitchFamily="34" charset="-122"/>
                <a:cs typeface="Space Grotesk" pitchFamily="34" charset="-120"/>
              </a:rPr>
              <a:t>₹</a:t>
            </a:r>
            <a:r>
              <a:rPr lang="en-US" sz="700" dirty="0">
                <a:solidFill>
                  <a:srgbClr val="6E7A83"/>
                </a:solidFill>
                <a:latin typeface="Space Mono" pitchFamily="34" charset="0"/>
                <a:ea typeface="Space Mono" pitchFamily="34" charset="-122"/>
                <a:cs typeface="Space Mono" pitchFamily="34" charset="-120"/>
              </a:rPr>
              <a:t>3.49L</a:t>
            </a:r>
            <a:endParaRPr lang="en-US" sz="700" dirty="0"/>
          </a:p>
        </p:txBody>
      </p:sp>
      <p:sp>
        <p:nvSpPr>
          <p:cNvPr id="22" name="Text 19"/>
          <p:cNvSpPr txBox="1"/>
          <p:nvPr/>
        </p:nvSpPr>
        <p:spPr>
          <a:xfrm>
            <a:off x="6675120" y="3090672"/>
            <a:ext cx="1005840" cy="292608"/>
          </a:xfrm>
          <a:prstGeom prst="rect">
            <a:avLst/>
          </a:prstGeom>
          <a:noFill/>
          <a:ln/>
        </p:spPr>
        <p:txBody>
          <a:bodyPr wrap="square" lIns="0" tIns="0" rIns="0" bIns="0" rtlCol="0" anchor="t"/>
          <a:lstStyle/>
          <a:p>
            <a:pPr indent="0" marL="0">
              <a:buNone/>
            </a:pPr>
            <a:r>
              <a:rPr lang="en-US" sz="1400" b="1" dirty="0">
                <a:solidFill>
                  <a:srgbClr val="E8EEF2"/>
                </a:solidFill>
                <a:latin typeface="Space Grotesk" pitchFamily="34" charset="0"/>
                <a:ea typeface="Space Grotesk" pitchFamily="34" charset="-122"/>
                <a:cs typeface="Space Grotesk" pitchFamily="34" charset="-120"/>
              </a:rPr>
              <a:t>63</a:t>
            </a:r>
            <a:endParaRPr lang="en-US" sz="1400" dirty="0"/>
          </a:p>
        </p:txBody>
      </p:sp>
      <p:sp>
        <p:nvSpPr>
          <p:cNvPr id="23" name="Text 20"/>
          <p:cNvSpPr txBox="1"/>
          <p:nvPr/>
        </p:nvSpPr>
        <p:spPr>
          <a:xfrm>
            <a:off x="6675120" y="3383280"/>
            <a:ext cx="1005840" cy="182880"/>
          </a:xfrm>
          <a:prstGeom prst="rect">
            <a:avLst/>
          </a:prstGeom>
          <a:noFill/>
          <a:ln/>
        </p:spPr>
        <p:txBody>
          <a:bodyPr wrap="square" lIns="0" tIns="0" rIns="0" bIns="0" rtlCol="0" anchor="t"/>
          <a:lstStyle/>
          <a:p>
            <a:pPr indent="0" marL="0">
              <a:buNone/>
            </a:pPr>
            <a:r>
              <a:rPr lang="en-US" sz="700" dirty="0">
                <a:solidFill>
                  <a:srgbClr val="6E7A83"/>
                </a:solidFill>
                <a:latin typeface="Space Mono" pitchFamily="34" charset="0"/>
                <a:ea typeface="Space Mono" pitchFamily="34" charset="-122"/>
                <a:cs typeface="Space Mono" pitchFamily="34" charset="-120"/>
              </a:rPr>
              <a:t>at </a:t>
            </a:r>
            <a:r>
              <a:rPr lang="en-US" sz="700" dirty="0">
                <a:solidFill>
                  <a:srgbClr val="6E7A83"/>
                </a:solidFill>
                <a:latin typeface="Space Grotesk" pitchFamily="34" charset="0"/>
                <a:ea typeface="Space Grotesk" pitchFamily="34" charset="-122"/>
                <a:cs typeface="Space Grotesk" pitchFamily="34" charset="-120"/>
              </a:rPr>
              <a:t>₹</a:t>
            </a:r>
            <a:r>
              <a:rPr lang="en-US" sz="700" dirty="0">
                <a:solidFill>
                  <a:srgbClr val="6E7A83"/>
                </a:solidFill>
                <a:latin typeface="Space Mono" pitchFamily="34" charset="0"/>
                <a:ea typeface="Space Mono" pitchFamily="34" charset="-122"/>
                <a:cs typeface="Space Mono" pitchFamily="34" charset="-120"/>
              </a:rPr>
              <a:t>3.99L</a:t>
            </a:r>
            <a:endParaRPr lang="en-US" sz="700" dirty="0"/>
          </a:p>
        </p:txBody>
      </p:sp>
      <p:sp>
        <p:nvSpPr>
          <p:cNvPr id="24" name="Text 21"/>
          <p:cNvSpPr txBox="1"/>
          <p:nvPr/>
        </p:nvSpPr>
        <p:spPr>
          <a:xfrm>
            <a:off x="7726680" y="3090672"/>
            <a:ext cx="1005840" cy="292608"/>
          </a:xfrm>
          <a:prstGeom prst="rect">
            <a:avLst/>
          </a:prstGeom>
          <a:noFill/>
          <a:ln/>
        </p:spPr>
        <p:txBody>
          <a:bodyPr wrap="square" lIns="0" tIns="0" rIns="0" bIns="0" rtlCol="0" anchor="t"/>
          <a:lstStyle/>
          <a:p>
            <a:pPr indent="0" marL="0">
              <a:buNone/>
            </a:pPr>
            <a:r>
              <a:rPr lang="en-US" sz="1400" b="1" dirty="0">
                <a:solidFill>
                  <a:srgbClr val="E8EEF2"/>
                </a:solidFill>
                <a:latin typeface="Space Grotesk" pitchFamily="34" charset="0"/>
                <a:ea typeface="Space Grotesk" pitchFamily="34" charset="-122"/>
                <a:cs typeface="Space Grotesk" pitchFamily="34" charset="-120"/>
              </a:rPr>
              <a:t>71</a:t>
            </a:r>
            <a:endParaRPr lang="en-US" sz="1400" dirty="0"/>
          </a:p>
        </p:txBody>
      </p:sp>
      <p:sp>
        <p:nvSpPr>
          <p:cNvPr id="25" name="Text 22"/>
          <p:cNvSpPr txBox="1"/>
          <p:nvPr/>
        </p:nvSpPr>
        <p:spPr>
          <a:xfrm>
            <a:off x="7726680" y="3383280"/>
            <a:ext cx="1005840" cy="182880"/>
          </a:xfrm>
          <a:prstGeom prst="rect">
            <a:avLst/>
          </a:prstGeom>
          <a:noFill/>
          <a:ln/>
        </p:spPr>
        <p:txBody>
          <a:bodyPr wrap="square" lIns="0" tIns="0" rIns="0" bIns="0" rtlCol="0" anchor="t"/>
          <a:lstStyle/>
          <a:p>
            <a:pPr indent="0" marL="0">
              <a:buNone/>
            </a:pPr>
            <a:r>
              <a:rPr lang="en-US" sz="700" dirty="0">
                <a:solidFill>
                  <a:srgbClr val="6E7A83"/>
                </a:solidFill>
                <a:latin typeface="Space Mono" pitchFamily="34" charset="0"/>
                <a:ea typeface="Space Mono" pitchFamily="34" charset="-122"/>
                <a:cs typeface="Space Mono" pitchFamily="34" charset="-120"/>
              </a:rPr>
              <a:t>at </a:t>
            </a:r>
            <a:r>
              <a:rPr lang="en-US" sz="700" dirty="0">
                <a:solidFill>
                  <a:srgbClr val="6E7A83"/>
                </a:solidFill>
                <a:latin typeface="Space Grotesk" pitchFamily="34" charset="0"/>
                <a:ea typeface="Space Grotesk" pitchFamily="34" charset="-122"/>
                <a:cs typeface="Space Grotesk" pitchFamily="34" charset="-120"/>
              </a:rPr>
              <a:t>₹</a:t>
            </a:r>
            <a:r>
              <a:rPr lang="en-US" sz="700" dirty="0">
                <a:solidFill>
                  <a:srgbClr val="6E7A83"/>
                </a:solidFill>
                <a:latin typeface="Space Mono" pitchFamily="34" charset="0"/>
                <a:ea typeface="Space Mono" pitchFamily="34" charset="-122"/>
                <a:cs typeface="Space Mono" pitchFamily="34" charset="-120"/>
              </a:rPr>
              <a:t>4.49L</a:t>
            </a:r>
            <a:endParaRPr lang="en-US" sz="700" dirty="0"/>
          </a:p>
        </p:txBody>
      </p:sp>
      <p:sp>
        <p:nvSpPr>
          <p:cNvPr id="26" name="Shape 23"/>
          <p:cNvSpPr/>
          <p:nvPr/>
        </p:nvSpPr>
        <p:spPr>
          <a:xfrm>
            <a:off x="4572000" y="3749040"/>
            <a:ext cx="4160520" cy="777240"/>
          </a:xfrm>
          <a:prstGeom prst="rect">
            <a:avLst/>
          </a:prstGeom>
          <a:solidFill>
            <a:srgbClr val="121A21"/>
          </a:solidFill>
          <a:ln w="9525">
            <a:solidFill>
              <a:srgbClr val="60A05A"/>
            </a:solidFill>
            <a:prstDash val="solid"/>
          </a:ln>
        </p:spPr>
      </p:sp>
      <p:sp>
        <p:nvSpPr>
          <p:cNvPr id="27" name="Text 24"/>
          <p:cNvSpPr txBox="1"/>
          <p:nvPr/>
        </p:nvSpPr>
        <p:spPr>
          <a:xfrm>
            <a:off x="4681728" y="3749040"/>
            <a:ext cx="3977640" cy="777240"/>
          </a:xfrm>
          <a:prstGeom prst="rect">
            <a:avLst/>
          </a:prstGeom>
          <a:noFill/>
          <a:ln/>
        </p:spPr>
        <p:txBody>
          <a:bodyPr wrap="square" lIns="0" tIns="0" rIns="0" bIns="0" rtlCol="0" anchor="ctr"/>
          <a:lstStyle/>
          <a:p>
            <a:pPr indent="0" marL="0">
              <a:buNone/>
            </a:pPr>
            <a:r>
              <a:rPr lang="en-US" sz="900" b="1" dirty="0">
                <a:solidFill>
                  <a:srgbClr val="60A05A"/>
                </a:solidFill>
                <a:latin typeface="Space Grotesk" pitchFamily="34" charset="0"/>
                <a:ea typeface="Space Grotesk" pitchFamily="34" charset="-122"/>
                <a:cs typeface="Space Grotesk" pitchFamily="34" charset="-120"/>
              </a:rPr>
              <a:t>FROM OUR SIDE  </a:t>
            </a:r>
            <a:r>
              <a:rPr lang="en-US" sz="900" dirty="0">
                <a:solidFill>
                  <a:srgbClr val="E8EEF2"/>
                </a:solidFill>
                <a:latin typeface="Space Grotesk" pitchFamily="34" charset="0"/>
                <a:ea typeface="Space Grotesk" pitchFamily="34" charset="-122"/>
                <a:cs typeface="Space Grotesk" pitchFamily="34" charset="-120"/>
              </a:rPr>
              <a:t>each </a:t>
            </a:r>
            <a:r>
              <a:rPr lang="en-US" sz="900" u="sng" dirty="0">
                <a:solidFill>
                  <a:srgbClr val="CF8F4E"/>
                </a:solidFill>
                <a:latin typeface="Space Grotesk" pitchFamily="34" charset="0"/>
                <a:ea typeface="Space Grotesk" pitchFamily="34" charset="-122"/>
                <a:cs typeface="Space Grotesk" pitchFamily="34" charset="-120"/>
                <a:hlinkClick r:id="rId8"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900" dirty="0">
                <a:solidFill>
                  <a:srgbClr val="E8EEF2"/>
                </a:solidFill>
                <a:latin typeface="Space Grotesk" pitchFamily="34" charset="0"/>
                <a:ea typeface="Space Grotesk" pitchFamily="34" charset="-122"/>
                <a:cs typeface="Space Grotesk" pitchFamily="34" charset="-120"/>
              </a:rPr>
              <a:t> earns ₹1,54,158 of gross profit (51.6%), about ₹99,000 after all costs. 10 </a:t>
            </a:r>
            <a:r>
              <a:rPr lang="en-US" sz="900" u="sng" dirty="0">
                <a:solidFill>
                  <a:srgbClr val="CF8F4E"/>
                </a:solidFill>
                <a:latin typeface="Space Grotesk" pitchFamily="34" charset="0"/>
                <a:ea typeface="Space Grotesk" pitchFamily="34" charset="-122"/>
                <a:cs typeface="Space Grotesk" pitchFamily="34" charset="-120"/>
                <a:hlinkClick r:id="rId9" invalidUrl="" action="" tgtFrame="" tooltip="https://protopus-kappa.vercel.app/#/baker" history="1" highlightClick="0" endSnd="0">
                  <a:extLst>
                    <a:ext uri="{A12FA001-AC4F-418D-AE19-62706E023703}">
                      <ahyp:hlinkClr xmlns:ahyp="http://schemas.microsoft.com/office/drawing/2018/hyperlinkcolor" val="tx"/>
                    </a:ext>
                  </a:extLst>
                </a:hlinkClick>
              </a:rPr>
              <a:t>Bakers</a:t>
            </a:r>
            <a:r>
              <a:rPr lang="en-US" sz="900" dirty="0">
                <a:solidFill>
                  <a:srgbClr val="E8EEF2"/>
                </a:solidFill>
                <a:latin typeface="Space Grotesk" pitchFamily="34" charset="0"/>
                <a:ea typeface="Space Grotesk" pitchFamily="34" charset="-122"/>
                <a:cs typeface="Space Grotesk" pitchFamily="34" charset="-120"/>
              </a:rPr>
              <a:t> return the whole ₹15 lakh round on gross profit; 16 on all-in profit.</a:t>
            </a:r>
            <a:endParaRPr lang="en-US" sz="900" dirty="0"/>
          </a:p>
        </p:txBody>
      </p:sp>
      <p:sp>
        <p:nvSpPr>
          <p:cNvPr id="28" name="Text 25"/>
          <p:cNvSpPr txBox="1"/>
          <p:nvPr/>
        </p:nvSpPr>
        <p:spPr>
          <a:xfrm>
            <a:off x="411480" y="4773168"/>
            <a:ext cx="8321040" cy="182880"/>
          </a:xfrm>
          <a:prstGeom prst="rect">
            <a:avLst/>
          </a:prstGeom>
          <a:noFill/>
          <a:ln/>
        </p:spPr>
        <p:txBody>
          <a:bodyPr wrap="square" lIns="0" tIns="0" rIns="0" bIns="0" rtlCol="0" anchor="t"/>
          <a:lstStyle/>
          <a:p>
            <a:pPr indent="0" marL="0">
              <a:buNone/>
            </a:pPr>
            <a:r>
              <a:rPr lang="en-US" sz="650" dirty="0">
                <a:solidFill>
                  <a:srgbClr val="6E7A83"/>
                </a:solidFill>
                <a:latin typeface="Space Mono" pitchFamily="34" charset="0"/>
                <a:ea typeface="Space Mono" pitchFamily="34" charset="-122"/>
                <a:cs typeface="Space Mono" pitchFamily="34" charset="-120"/>
              </a:rPr>
              <a:t>Startup: 2 boards a week; lab: 1 a week. Engineer time and the 7–20 days of waiting are not counted, so the payback is conservative. JLCPCB: 5 PCBs + PCBA + DHL + 10% BCD + 18% IGST.</a:t>
            </a:r>
            <a:endParaRPr lang="en-US" sz="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216"/>
        </a:solidFill>
      </p:bgPr>
    </p:bg>
    <p:spTree>
      <p:nvGrpSpPr>
        <p:cNvPr id="1" name=""/>
        <p:cNvGrpSpPr/>
        <p:nvPr/>
      </p:nvGrpSpPr>
      <p:grpSpPr>
        <a:xfrm>
          <a:off x="0" y="0"/>
          <a:ext cx="0" cy="0"/>
          <a:chOff x="0" y="0"/>
          <a:chExt cx="0" cy="0"/>
        </a:xfrm>
      </p:grpSpPr>
      <p:sp>
        <p:nvSpPr>
          <p:cNvPr id="2" name="Text 0"/>
          <p:cNvSpPr txBox="1"/>
          <p:nvPr/>
        </p:nvSpPr>
        <p:spPr>
          <a:xfrm>
            <a:off x="411480" y="347472"/>
            <a:ext cx="8321040" cy="182880"/>
          </a:xfrm>
          <a:prstGeom prst="rect">
            <a:avLst/>
          </a:prstGeom>
          <a:noFill/>
          <a:ln/>
        </p:spPr>
        <p:txBody>
          <a:bodyPr wrap="square" lIns="0" tIns="0" rIns="0" bIns="0" rtlCol="0" anchor="t"/>
          <a:lstStyle/>
          <a:p>
            <a:pPr indent="0" marL="0">
              <a:buNone/>
            </a:pPr>
            <a:r>
              <a:rPr lang="en-US" sz="850" spc="250" kern="0" dirty="0">
                <a:solidFill>
                  <a:srgbClr val="CF8F4E"/>
                </a:solidFill>
                <a:latin typeface="Space Mono" pitchFamily="34" charset="0"/>
                <a:ea typeface="Space Mono" pitchFamily="34" charset="-122"/>
                <a:cs typeface="Space Mono" pitchFamily="34" charset="-120"/>
              </a:rPr>
              <a:t>QUESTION 08 · SCALE</a:t>
            </a:r>
            <a:endParaRPr lang="en-US" sz="850" dirty="0"/>
          </a:p>
        </p:txBody>
      </p:sp>
      <p:sp>
        <p:nvSpPr>
          <p:cNvPr id="3" name="Text 1"/>
          <p:cNvSpPr txBox="1"/>
          <p:nvPr/>
        </p:nvSpPr>
        <p:spPr>
          <a:xfrm>
            <a:off x="411480" y="713232"/>
            <a:ext cx="3749040" cy="164592"/>
          </a:xfrm>
          <a:prstGeom prst="rect">
            <a:avLst/>
          </a:prstGeom>
          <a:noFill/>
          <a:ln/>
        </p:spPr>
        <p:txBody>
          <a:bodyPr wrap="square" lIns="0" tIns="0" rIns="0" bIns="0" rtlCol="0" anchor="t"/>
          <a:lstStyle/>
          <a:p>
            <a:pPr indent="0" marL="0">
              <a:buNone/>
            </a:pPr>
            <a:r>
              <a:rPr lang="en-US" sz="750" spc="200" kern="0" dirty="0">
                <a:solidFill>
                  <a:srgbClr val="6E7A83"/>
                </a:solidFill>
                <a:latin typeface="Space Mono" pitchFamily="34" charset="0"/>
                <a:ea typeface="Space Mono" pitchFamily="34" charset="-122"/>
                <a:cs typeface="Space Mono" pitchFamily="34" charset="-120"/>
              </a:rPr>
              <a:t>SIR, YOU ASKED</a:t>
            </a:r>
            <a:endParaRPr lang="en-US" sz="750" dirty="0"/>
          </a:p>
        </p:txBody>
      </p:sp>
      <p:sp>
        <p:nvSpPr>
          <p:cNvPr id="4" name="Shape 2"/>
          <p:cNvSpPr/>
          <p:nvPr/>
        </p:nvSpPr>
        <p:spPr>
          <a:xfrm>
            <a:off x="411480" y="941832"/>
            <a:ext cx="32004" cy="731520"/>
          </a:xfrm>
          <a:prstGeom prst="rect">
            <a:avLst/>
          </a:prstGeom>
          <a:solidFill>
            <a:srgbClr val="F2C230"/>
          </a:solidFill>
          <a:ln w="12700">
            <a:solidFill>
              <a:srgbClr val="F2C230"/>
            </a:solidFill>
            <a:prstDash val="solid"/>
          </a:ln>
        </p:spPr>
      </p:sp>
      <p:sp>
        <p:nvSpPr>
          <p:cNvPr id="5" name="Text 3"/>
          <p:cNvSpPr txBox="1"/>
          <p:nvPr/>
        </p:nvSpPr>
        <p:spPr>
          <a:xfrm>
            <a:off x="548640" y="914400"/>
            <a:ext cx="3611880" cy="731520"/>
          </a:xfrm>
          <a:prstGeom prst="rect">
            <a:avLst/>
          </a:prstGeom>
          <a:noFill/>
          <a:ln/>
        </p:spPr>
        <p:txBody>
          <a:bodyPr wrap="square" lIns="0" tIns="0" rIns="0" bIns="0" rtlCol="0" anchor="t"/>
          <a:lstStyle/>
          <a:p>
            <a:pPr indent="0" marL="0">
              <a:lnSpc>
                <a:spcPct val="105000"/>
              </a:lnSpc>
              <a:buNone/>
            </a:pPr>
            <a:r>
              <a:rPr lang="en-US" sz="1100" i="1" dirty="0">
                <a:solidFill>
                  <a:srgbClr val="8FB3C9"/>
                </a:solidFill>
                <a:latin typeface="Space Grotesk" pitchFamily="34" charset="0"/>
                <a:ea typeface="Space Grotesk" pitchFamily="34" charset="-122"/>
                <a:cs typeface="Space Grotesk" pitchFamily="34" charset="-120"/>
              </a:rPr>
              <a:t>“Innovation is good but may not be scalable in a production environment. 1,000 boards? 10,000? 1 lakh?”</a:t>
            </a:r>
            <a:endParaRPr lang="en-US" sz="1100" dirty="0"/>
          </a:p>
        </p:txBody>
      </p:sp>
      <p:sp>
        <p:nvSpPr>
          <p:cNvPr id="6" name="Text 4"/>
          <p:cNvSpPr txBox="1"/>
          <p:nvPr/>
        </p:nvSpPr>
        <p:spPr>
          <a:xfrm>
            <a:off x="411480" y="1783080"/>
            <a:ext cx="3749040" cy="164592"/>
          </a:xfrm>
          <a:prstGeom prst="rect">
            <a:avLst/>
          </a:prstGeom>
          <a:noFill/>
          <a:ln/>
        </p:spPr>
        <p:txBody>
          <a:bodyPr wrap="square" lIns="0" tIns="0" rIns="0" bIns="0" rtlCol="0" anchor="t"/>
          <a:lstStyle/>
          <a:p>
            <a:pPr indent="0" marL="0">
              <a:buNone/>
            </a:pPr>
            <a:r>
              <a:rPr lang="en-US" sz="750" spc="200" kern="0" dirty="0">
                <a:solidFill>
                  <a:srgbClr val="F2C230"/>
                </a:solidFill>
                <a:latin typeface="Space Mono" pitchFamily="34" charset="0"/>
                <a:ea typeface="Space Mono" pitchFamily="34" charset="-122"/>
                <a:cs typeface="Space Mono" pitchFamily="34" charset="-120"/>
              </a:rPr>
              <a:t>I CAN ANSWER</a:t>
            </a:r>
            <a:endParaRPr lang="en-US" sz="750" dirty="0"/>
          </a:p>
        </p:txBody>
      </p:sp>
      <p:sp>
        <p:nvSpPr>
          <p:cNvPr id="7" name="Text 5"/>
          <p:cNvSpPr txBox="1"/>
          <p:nvPr/>
        </p:nvSpPr>
        <p:spPr>
          <a:xfrm>
            <a:off x="411480" y="2020824"/>
            <a:ext cx="3794760" cy="2551176"/>
          </a:xfrm>
          <a:prstGeom prst="rect">
            <a:avLst/>
          </a:prstGeom>
          <a:noFill/>
          <a:ln/>
        </p:spPr>
        <p:txBody>
          <a:bodyPr wrap="square" lIns="0" tIns="0" rIns="0" bIns="0" rtlCol="0" anchor="t"/>
          <a:lstStyle/>
          <a:p>
            <a:pPr indent="0" marL="0">
              <a:lnSpc>
                <a:spcPct val="108000"/>
              </a:lnSpc>
              <a:buNone/>
            </a:pPr>
            <a:r>
              <a:rPr lang="en-US" sz="1250" dirty="0">
                <a:solidFill>
                  <a:srgbClr val="E8EEF2"/>
                </a:solidFill>
                <a:latin typeface="Space Grotesk" pitchFamily="34" charset="0"/>
                <a:ea typeface="Space Grotesk" pitchFamily="34" charset="-122"/>
                <a:cs typeface="Space Grotesk" pitchFamily="34" charset="-120"/>
              </a:rPr>
              <a:t>​</a:t>
            </a:r>
            <a:r>
              <a:rPr lang="en-US" sz="1250" u="sng" dirty="0">
                <a:solidFill>
                  <a:srgbClr val="CF8F4E"/>
                </a:solidFill>
                <a:latin typeface="Space Grotesk" pitchFamily="34" charset="0"/>
                <a:ea typeface="Space Grotesk" pitchFamily="34" charset="-122"/>
                <a:cs typeface="Space Grotesk" pitchFamily="34" charset="-120"/>
                <a:hlinkClick r:id="rId1"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1250" dirty="0">
                <a:solidFill>
                  <a:srgbClr val="E8EEF2"/>
                </a:solidFill>
                <a:latin typeface="Space Grotesk" pitchFamily="34" charset="0"/>
                <a:ea typeface="Space Grotesk" pitchFamily="34" charset="-122"/>
                <a:cs typeface="Space Grotesk" pitchFamily="34" charset="-120"/>
              </a:rPr>
              <a:t> isn’t meant for production, sir, and we won’t claim it is. It’s for the first one to ten boards of a design. At 10,000 or a lakh boards, a fab is the right tool, and Proto hands it files that have already worked. What scales is the number of people who can prototype, and our own manufacturing, which is turnkey in China.</a:t>
            </a:r>
            <a:endParaRPr lang="en-US" sz="1250" dirty="0"/>
          </a:p>
        </p:txBody>
      </p:sp>
      <p:sp>
        <p:nvSpPr>
          <p:cNvPr id="8" name="Shape 6"/>
          <p:cNvSpPr/>
          <p:nvPr/>
        </p:nvSpPr>
        <p:spPr>
          <a:xfrm>
            <a:off x="4407408" y="731520"/>
            <a:ext cx="0" cy="3886200"/>
          </a:xfrm>
          <a:prstGeom prst="line">
            <a:avLst/>
          </a:prstGeom>
          <a:noFill/>
          <a:ln w="9525">
            <a:solidFill>
              <a:srgbClr val="1F2A32"/>
            </a:solidFill>
            <a:prstDash val="solid"/>
          </a:ln>
        </p:spPr>
      </p:sp>
      <p:sp>
        <p:nvSpPr>
          <p:cNvPr id="9" name="Text 7"/>
          <p:cNvSpPr txBox="1"/>
          <p:nvPr/>
        </p:nvSpPr>
        <p:spPr>
          <a:xfrm>
            <a:off x="4572000" y="713232"/>
            <a:ext cx="4114800" cy="164592"/>
          </a:xfrm>
          <a:prstGeom prst="rect">
            <a:avLst/>
          </a:prstGeom>
          <a:noFill/>
          <a:ln/>
        </p:spPr>
        <p:txBody>
          <a:bodyPr wrap="square" lIns="0" tIns="0" rIns="0" bIns="0" rtlCol="0" anchor="t"/>
          <a:lstStyle/>
          <a:p>
            <a:pPr indent="0" marL="0">
              <a:buNone/>
            </a:pPr>
            <a:r>
              <a:rPr lang="en-US" sz="750" spc="200" kern="0" dirty="0">
                <a:solidFill>
                  <a:srgbClr val="CF8F4E"/>
                </a:solidFill>
                <a:latin typeface="Space Mono" pitchFamily="34" charset="0"/>
                <a:ea typeface="Space Mono" pitchFamily="34" charset="-122"/>
                <a:cs typeface="Space Mono" pitchFamily="34" charset="-120"/>
              </a:rPr>
              <a:t>TO JUSTIFY</a:t>
            </a:r>
            <a:endParaRPr lang="en-US" sz="7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0" y="960120"/>
          <a:ext cx="4160520" cy="914400"/>
        </p:xfrm>
        <a:graphic>
          <a:graphicData uri="http://schemas.openxmlformats.org/drawingml/2006/table">
            <a:tbl>
              <a:tblPr/>
              <a:tblGrid>
                <a:gridCol w="1143000"/>
                <a:gridCol w="640080"/>
                <a:gridCol w="2377440"/>
              </a:tblGrid>
              <a:tr h="301752">
                <a:tc>
                  <a:txBody>
                    <a:bodyPr/>
                    <a:lstStyle/>
                    <a:p>
                      <a:pPr indent="0" marL="0">
                        <a:buNone/>
                      </a:pPr>
                      <a:r>
                        <a:rPr lang="en-US" sz="780" spc="100" kern="0" dirty="0">
                          <a:solidFill>
                            <a:srgbClr val="6E7A83"/>
                          </a:solidFill>
                          <a:latin typeface="Space Mono" pitchFamily="34" charset="0"/>
                          <a:ea typeface="Space Mono" pitchFamily="34" charset="-122"/>
                          <a:cs typeface="Space Mono" pitchFamily="34" charset="-120"/>
                        </a:rPr>
                        <a:t>BOARDS A YEAR</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11430" cap="flat" cmpd="sng" algn="ctr">
                      <a:solidFill>
                        <a:srgbClr val="E8EEF2"/>
                      </a:solidFill>
                      <a:prstDash val="solid"/>
                      <a:round/>
                      <a:headEnd type="none" w="med" len="med"/>
                      <a:tailEnd type="none" w="med" len="med"/>
                    </a:lnB>
                  </a:tcPr>
                </a:tc>
                <a:tc>
                  <a:txBody>
                    <a:bodyPr/>
                    <a:lstStyle/>
                    <a:p>
                      <a:pPr indent="0" marL="0">
                        <a:buNone/>
                      </a:pPr>
                      <a:r>
                        <a:rPr lang="en-US" sz="780" spc="100" kern="0" dirty="0">
                          <a:solidFill>
                            <a:srgbClr val="6E7A83"/>
                          </a:solidFill>
                          <a:latin typeface="Space Mono" pitchFamily="34" charset="0"/>
                          <a:ea typeface="Space Mono" pitchFamily="34" charset="-122"/>
                          <a:cs typeface="Space Mono" pitchFamily="34" charset="-120"/>
                        </a:rPr>
                        <a:t>BAKERS</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11430" cap="flat" cmpd="sng" algn="ctr">
                      <a:solidFill>
                        <a:srgbClr val="E8EEF2"/>
                      </a:solidFill>
                      <a:prstDash val="solid"/>
                      <a:round/>
                      <a:headEnd type="none" w="med" len="med"/>
                      <a:tailEnd type="none" w="med" len="med"/>
                    </a:lnB>
                  </a:tcPr>
                </a:tc>
                <a:tc>
                  <a:txBody>
                    <a:bodyPr/>
                    <a:lstStyle/>
                    <a:p>
                      <a:pPr indent="0" marL="0">
                        <a:buNone/>
                      </a:pPr>
                      <a:r>
                        <a:rPr lang="en-US" sz="780" spc="100" kern="0" dirty="0">
                          <a:solidFill>
                            <a:srgbClr val="6E7A83"/>
                          </a:solidFill>
                          <a:latin typeface="Space Mono" pitchFamily="34" charset="0"/>
                          <a:ea typeface="Space Mono" pitchFamily="34" charset="-122"/>
                          <a:cs typeface="Space Mono" pitchFamily="34" charset="-120"/>
                        </a:rPr>
                        <a:t>RIGHT TOOL</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11430" cap="flat" cmpd="sng" algn="ctr">
                      <a:solidFill>
                        <a:srgbClr val="E8EEF2"/>
                      </a:solidFill>
                      <a:prstDash val="solid"/>
                      <a:round/>
                      <a:headEnd type="none" w="med" len="med"/>
                      <a:tailEnd type="none" w="med" len="med"/>
                    </a:lnB>
                  </a:tcPr>
                </a:tc>
              </a:tr>
              <a:tr h="301752">
                <a:tc>
                  <a:txBody>
                    <a:bodyPr/>
                    <a:lstStyle/>
                    <a:p>
                      <a:pPr indent="0" marL="0">
                        <a:buNone/>
                      </a:pPr>
                      <a:r>
                        <a:rPr lang="en-US" sz="780" dirty="0">
                          <a:solidFill>
                            <a:srgbClr val="E8EEF2"/>
                          </a:solidFill>
                          <a:latin typeface="Space Mono" pitchFamily="34" charset="0"/>
                          <a:ea typeface="Space Mono" pitchFamily="34" charset="-122"/>
                          <a:cs typeface="Space Mono" pitchFamily="34" charset="-120"/>
                        </a:rPr>
                        <a:t>10</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80" dirty="0">
                          <a:solidFill>
                            <a:srgbClr val="A3B3BE"/>
                          </a:solidFill>
                          <a:latin typeface="Space Mono" pitchFamily="34" charset="0"/>
                          <a:ea typeface="Space Mono" pitchFamily="34" charset="-122"/>
                          <a:cs typeface="Space Mono" pitchFamily="34" charset="-120"/>
                        </a:rPr>
                        <a:t>1</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80" dirty="0">
                          <a:solidFill>
                            <a:srgbClr val="A3B3BE"/>
                          </a:solidFill>
                          <a:latin typeface="Space Mono" pitchFamily="34" charset="0"/>
                          <a:ea typeface="Space Mono" pitchFamily="34" charset="-122"/>
                          <a:cs typeface="Space Mono" pitchFamily="34" charset="-120"/>
                        </a:rPr>
                        <a:t>​</a:t>
                      </a:r>
                      <a:r>
                        <a:rPr lang="en-US" sz="780" u="sng" dirty="0">
                          <a:solidFill>
                            <a:srgbClr val="CF8F4E"/>
                          </a:solidFill>
                          <a:latin typeface="Space Mono" pitchFamily="34" charset="0"/>
                          <a:ea typeface="Space Mono" pitchFamily="34" charset="-122"/>
                          <a:cs typeface="Space Mono" pitchFamily="34" charset="-120"/>
                          <a:hlinkClick r:id="rId2"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780" dirty="0">
                          <a:solidFill>
                            <a:srgbClr val="A3B3BE"/>
                          </a:solidFill>
                          <a:latin typeface="Space Mono" pitchFamily="34" charset="0"/>
                          <a:ea typeface="Space Mono" pitchFamily="34" charset="-122"/>
                          <a:cs typeface="Space Mono" pitchFamily="34" charset="-120"/>
                        </a:rPr>
                        <a:t>: same-day loops beat fab minimums</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r h="301752">
                <a:tc>
                  <a:txBody>
                    <a:bodyPr/>
                    <a:lstStyle/>
                    <a:p>
                      <a:pPr indent="0" marL="0">
                        <a:buNone/>
                      </a:pPr>
                      <a:r>
                        <a:rPr lang="en-US" sz="780" dirty="0">
                          <a:solidFill>
                            <a:srgbClr val="E8EEF2"/>
                          </a:solidFill>
                          <a:latin typeface="Space Mono" pitchFamily="34" charset="0"/>
                          <a:ea typeface="Space Mono" pitchFamily="34" charset="-122"/>
                          <a:cs typeface="Space Mono" pitchFamily="34" charset="-120"/>
                        </a:rPr>
                        <a:t>100</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80" dirty="0">
                          <a:solidFill>
                            <a:srgbClr val="A3B3BE"/>
                          </a:solidFill>
                          <a:latin typeface="Space Mono" pitchFamily="34" charset="0"/>
                          <a:ea typeface="Space Mono" pitchFamily="34" charset="-122"/>
                          <a:cs typeface="Space Mono" pitchFamily="34" charset="-120"/>
                        </a:rPr>
                        <a:t>1</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80" dirty="0">
                          <a:solidFill>
                            <a:srgbClr val="A3B3BE"/>
                          </a:solidFill>
                          <a:latin typeface="Space Mono" pitchFamily="34" charset="0"/>
                          <a:ea typeface="Space Mono" pitchFamily="34" charset="-122"/>
                          <a:cs typeface="Space Mono" pitchFamily="34" charset="-120"/>
                        </a:rPr>
                        <a:t>​</a:t>
                      </a:r>
                      <a:r>
                        <a:rPr lang="en-US" sz="780" u="sng" dirty="0">
                          <a:solidFill>
                            <a:srgbClr val="CF8F4E"/>
                          </a:solidFill>
                          <a:latin typeface="Space Mono" pitchFamily="34" charset="0"/>
                          <a:ea typeface="Space Mono" pitchFamily="34" charset="-122"/>
                          <a:cs typeface="Space Mono" pitchFamily="34" charset="-120"/>
                          <a:hlinkClick r:id="rId3"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780" dirty="0">
                          <a:solidFill>
                            <a:srgbClr val="A3B3BE"/>
                          </a:solidFill>
                          <a:latin typeface="Space Mono" pitchFamily="34" charset="0"/>
                          <a:ea typeface="Space Mono" pitchFamily="34" charset="-122"/>
                          <a:cs typeface="Space Mono" pitchFamily="34" charset="-120"/>
                        </a:rPr>
                        <a:t>: one machine covers a busy lab</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r h="301752">
                <a:tc>
                  <a:txBody>
                    <a:bodyPr/>
                    <a:lstStyle/>
                    <a:p>
                      <a:pPr indent="0" marL="0">
                        <a:buNone/>
                      </a:pPr>
                      <a:r>
                        <a:rPr lang="en-US" sz="780" dirty="0">
                          <a:solidFill>
                            <a:srgbClr val="E8EEF2"/>
                          </a:solidFill>
                          <a:latin typeface="Space Mono" pitchFamily="34" charset="0"/>
                          <a:ea typeface="Space Mono" pitchFamily="34" charset="-122"/>
                          <a:cs typeface="Space Mono" pitchFamily="34" charset="-120"/>
                        </a:rPr>
                        <a:t>1,000</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80" dirty="0">
                          <a:solidFill>
                            <a:srgbClr val="A3B3BE"/>
                          </a:solidFill>
                          <a:latin typeface="Space Mono" pitchFamily="34" charset="0"/>
                          <a:ea typeface="Space Mono" pitchFamily="34" charset="-122"/>
                          <a:cs typeface="Space Mono" pitchFamily="34" charset="-120"/>
                        </a:rPr>
                        <a:t>1–2</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80" dirty="0">
                          <a:solidFill>
                            <a:srgbClr val="A3B3BE"/>
                          </a:solidFill>
                          <a:latin typeface="Space Mono" pitchFamily="34" charset="0"/>
                          <a:ea typeface="Space Mono" pitchFamily="34" charset="-122"/>
                          <a:cs typeface="Space Mono" pitchFamily="34" charset="-120"/>
                        </a:rPr>
                        <a:t>​</a:t>
                      </a:r>
                      <a:r>
                        <a:rPr lang="en-US" sz="780" u="sng" dirty="0">
                          <a:solidFill>
                            <a:srgbClr val="CF8F4E"/>
                          </a:solidFill>
                          <a:latin typeface="Space Mono" pitchFamily="34" charset="0"/>
                          <a:ea typeface="Space Mono" pitchFamily="34" charset="-122"/>
                          <a:cs typeface="Space Mono" pitchFamily="34" charset="-120"/>
                          <a:hlinkClick r:id="rId4"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780" dirty="0">
                          <a:solidFill>
                            <a:srgbClr val="A3B3BE"/>
                          </a:solidFill>
                          <a:latin typeface="Space Mono" pitchFamily="34" charset="0"/>
                          <a:ea typeface="Space Mono" pitchFamily="34" charset="-122"/>
                          <a:cs typeface="Space Mono" pitchFamily="34" charset="-120"/>
                        </a:rPr>
                        <a:t> + a fab for identical batches</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r h="301752">
                <a:tc>
                  <a:txBody>
                    <a:bodyPr/>
                    <a:lstStyle/>
                    <a:p>
                      <a:pPr indent="0" marL="0">
                        <a:buNone/>
                      </a:pPr>
                      <a:r>
                        <a:rPr lang="en-US" sz="780" dirty="0">
                          <a:solidFill>
                            <a:srgbClr val="E8EEF2"/>
                          </a:solidFill>
                          <a:latin typeface="Space Mono" pitchFamily="34" charset="0"/>
                          <a:ea typeface="Space Mono" pitchFamily="34" charset="-122"/>
                          <a:cs typeface="Space Mono" pitchFamily="34" charset="-120"/>
                        </a:rPr>
                        <a:t>10,000</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80" dirty="0">
                          <a:solidFill>
                            <a:srgbClr val="A3B3BE"/>
                          </a:solidFill>
                          <a:latin typeface="Space Mono" pitchFamily="34" charset="0"/>
                          <a:ea typeface="Space Mono" pitchFamily="34" charset="-122"/>
                          <a:cs typeface="Space Mono" pitchFamily="34" charset="-120"/>
                        </a:rPr>
                        <a:t>14</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80" dirty="0">
                          <a:solidFill>
                            <a:srgbClr val="A3B3BE"/>
                          </a:solidFill>
                          <a:latin typeface="Space Mono" pitchFamily="34" charset="0"/>
                          <a:ea typeface="Space Mono" pitchFamily="34" charset="-122"/>
                          <a:cs typeface="Space Mono" pitchFamily="34" charset="-120"/>
                        </a:rPr>
                        <a:t>fab / EMS, with Proto’s checked files</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r h="301752">
                <a:tc>
                  <a:txBody>
                    <a:bodyPr/>
                    <a:lstStyle/>
                    <a:p>
                      <a:pPr indent="0" marL="0">
                        <a:buNone/>
                      </a:pPr>
                      <a:r>
                        <a:rPr lang="en-US" sz="780" dirty="0">
                          <a:solidFill>
                            <a:srgbClr val="E8EEF2"/>
                          </a:solidFill>
                          <a:latin typeface="Space Mono" pitchFamily="34" charset="0"/>
                          <a:ea typeface="Space Mono" pitchFamily="34" charset="-122"/>
                          <a:cs typeface="Space Mono" pitchFamily="34" charset="-120"/>
                        </a:rPr>
                        <a:t>1,00,000</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80" dirty="0">
                          <a:solidFill>
                            <a:srgbClr val="A3B3BE"/>
                          </a:solidFill>
                          <a:latin typeface="Space Mono" pitchFamily="34" charset="0"/>
                          <a:ea typeface="Space Mono" pitchFamily="34" charset="-122"/>
                          <a:cs typeface="Space Mono" pitchFamily="34" charset="-120"/>
                        </a:rPr>
                        <a:t>134</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c>
                  <a:txBody>
                    <a:bodyPr/>
                    <a:lstStyle/>
                    <a:p>
                      <a:pPr indent="0" marL="0">
                        <a:buNone/>
                      </a:pPr>
                      <a:r>
                        <a:rPr lang="en-US" sz="780" dirty="0">
                          <a:solidFill>
                            <a:srgbClr val="A3B3BE"/>
                          </a:solidFill>
                          <a:latin typeface="Space Mono" pitchFamily="34" charset="0"/>
                          <a:ea typeface="Space Mono" pitchFamily="34" charset="-122"/>
                          <a:cs typeface="Space Mono" pitchFamily="34" charset="-120"/>
                        </a:rPr>
                        <a:t>fab / EMS: not what </a:t>
                      </a:r>
                      <a:r>
                        <a:rPr lang="en-US" sz="780" u="sng" dirty="0">
                          <a:solidFill>
                            <a:srgbClr val="CF8F4E"/>
                          </a:solidFill>
                          <a:latin typeface="Space Mono" pitchFamily="34" charset="0"/>
                          <a:ea typeface="Space Mono" pitchFamily="34" charset="-122"/>
                          <a:cs typeface="Space Mono" pitchFamily="34" charset="-120"/>
                          <a:hlinkClick r:id="rId5"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780" dirty="0">
                          <a:solidFill>
                            <a:srgbClr val="A3B3BE"/>
                          </a:solidFill>
                          <a:latin typeface="Space Mono" pitchFamily="34" charset="0"/>
                          <a:ea typeface="Space Mono" pitchFamily="34" charset="-122"/>
                          <a:cs typeface="Space Mono" pitchFamily="34" charset="-120"/>
                        </a:rPr>
                        <a:t> is for</a:t>
                      </a:r>
                      <a:endParaRPr lang="en-US" sz="780" dirty="0">
                        <a:latin typeface="Space Mono" charset="0"/>
                        <a:ea typeface="Space Mono" charset="0"/>
                        <a:cs typeface="Space Mono"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F2A32"/>
                      </a:solidFill>
                      <a:prstDash val="solid"/>
                      <a:round/>
                      <a:headEnd type="none" w="med" len="med"/>
                      <a:tailEnd type="none" w="med" len="med"/>
                    </a:lnB>
                  </a:tcPr>
                </a:tc>
              </a:tr>
            </a:tbl>
          </a:graphicData>
        </a:graphic>
      </p:graphicFrame>
      <p:sp>
        <p:nvSpPr>
          <p:cNvPr id="11" name="Text 8"/>
          <p:cNvSpPr txBox="1"/>
          <p:nvPr/>
        </p:nvSpPr>
        <p:spPr>
          <a:xfrm>
            <a:off x="4572000" y="2926080"/>
            <a:ext cx="4160520" cy="164592"/>
          </a:xfrm>
          <a:prstGeom prst="rect">
            <a:avLst/>
          </a:prstGeom>
          <a:noFill/>
          <a:ln/>
        </p:spPr>
        <p:txBody>
          <a:bodyPr wrap="square" lIns="0" tIns="0" rIns="0" bIns="0" rtlCol="0" anchor="t"/>
          <a:lstStyle/>
          <a:p>
            <a:pPr indent="0" marL="0">
              <a:buNone/>
            </a:pPr>
            <a:r>
              <a:rPr lang="en-US" sz="700" spc="150" kern="0" dirty="0">
                <a:solidFill>
                  <a:srgbClr val="6E7A83"/>
                </a:solidFill>
                <a:latin typeface="Space Mono" pitchFamily="34" charset="0"/>
                <a:ea typeface="Space Mono" pitchFamily="34" charset="-122"/>
                <a:cs typeface="Space Mono" pitchFamily="34" charset="-120"/>
              </a:rPr>
              <a:t>HOW WE SCALE</a:t>
            </a:r>
            <a:endParaRPr lang="en-US" sz="700" dirty="0"/>
          </a:p>
        </p:txBody>
      </p:sp>
      <p:sp>
        <p:nvSpPr>
          <p:cNvPr id="12" name="Shape 9"/>
          <p:cNvSpPr/>
          <p:nvPr/>
        </p:nvSpPr>
        <p:spPr>
          <a:xfrm>
            <a:off x="4572000" y="3154680"/>
            <a:ext cx="1298448" cy="36576"/>
          </a:xfrm>
          <a:prstGeom prst="rect">
            <a:avLst/>
          </a:prstGeom>
          <a:solidFill>
            <a:srgbClr val="54ACF0"/>
          </a:solidFill>
          <a:ln w="12700">
            <a:solidFill>
              <a:srgbClr val="54ACF0"/>
            </a:solidFill>
            <a:prstDash val="solid"/>
          </a:ln>
        </p:spPr>
      </p:sp>
      <p:sp>
        <p:nvSpPr>
          <p:cNvPr id="13" name="Text 10"/>
          <p:cNvSpPr txBox="1"/>
          <p:nvPr/>
        </p:nvSpPr>
        <p:spPr>
          <a:xfrm>
            <a:off x="4572000" y="3246120"/>
            <a:ext cx="1298448" cy="228600"/>
          </a:xfrm>
          <a:prstGeom prst="rect">
            <a:avLst/>
          </a:prstGeom>
          <a:noFill/>
          <a:ln/>
        </p:spPr>
        <p:txBody>
          <a:bodyPr wrap="square" lIns="0" tIns="0" rIns="0" bIns="0" rtlCol="0" anchor="t"/>
          <a:lstStyle/>
          <a:p>
            <a:pPr indent="0" marL="0">
              <a:buNone/>
            </a:pPr>
            <a:r>
              <a:rPr lang="en-US" sz="1000" b="1" dirty="0">
                <a:solidFill>
                  <a:srgbClr val="54ACF0"/>
                </a:solidFill>
                <a:latin typeface="Space Grotesk" pitchFamily="34" charset="0"/>
                <a:ea typeface="Space Grotesk" pitchFamily="34" charset="-122"/>
                <a:cs typeface="Space Grotesk" pitchFamily="34" charset="-120"/>
              </a:rPr>
              <a:t>China, turnkey</a:t>
            </a:r>
            <a:endParaRPr lang="en-US" sz="1000" dirty="0"/>
          </a:p>
        </p:txBody>
      </p:sp>
      <p:sp>
        <p:nvSpPr>
          <p:cNvPr id="14" name="Text 11"/>
          <p:cNvSpPr txBox="1"/>
          <p:nvPr/>
        </p:nvSpPr>
        <p:spPr>
          <a:xfrm>
            <a:off x="4572000" y="3493008"/>
            <a:ext cx="1298448" cy="411480"/>
          </a:xfrm>
          <a:prstGeom prst="rect">
            <a:avLst/>
          </a:prstGeom>
          <a:noFill/>
          <a:ln/>
        </p:spPr>
        <p:txBody>
          <a:bodyPr wrap="square" lIns="0" tIns="0" rIns="0" bIns="0" rtlCol="0" anchor="t"/>
          <a:lstStyle/>
          <a:p>
            <a:pPr indent="0" marL="0">
              <a:buNone/>
            </a:pPr>
            <a:r>
              <a:rPr lang="en-US" sz="720" dirty="0">
                <a:solidFill>
                  <a:srgbClr val="A3B3BE"/>
                </a:solidFill>
                <a:latin typeface="Space Mono" pitchFamily="34" charset="0"/>
                <a:ea typeface="Space Mono" pitchFamily="34" charset="-122"/>
                <a:cs typeface="Space Mono" pitchFamily="34" charset="-120"/>
              </a:rPr>
              <a:t>parts, assembly, factory test</a:t>
            </a:r>
            <a:endParaRPr lang="en-US" sz="720" dirty="0"/>
          </a:p>
        </p:txBody>
      </p:sp>
      <p:sp>
        <p:nvSpPr>
          <p:cNvPr id="15" name="Shape 12"/>
          <p:cNvSpPr/>
          <p:nvPr/>
        </p:nvSpPr>
        <p:spPr>
          <a:xfrm>
            <a:off x="5971032" y="3154680"/>
            <a:ext cx="1298448" cy="36576"/>
          </a:xfrm>
          <a:prstGeom prst="rect">
            <a:avLst/>
          </a:prstGeom>
          <a:solidFill>
            <a:srgbClr val="60A05A"/>
          </a:solidFill>
          <a:ln w="12700">
            <a:solidFill>
              <a:srgbClr val="60A05A"/>
            </a:solidFill>
            <a:prstDash val="solid"/>
          </a:ln>
        </p:spPr>
      </p:sp>
      <p:sp>
        <p:nvSpPr>
          <p:cNvPr id="16" name="Text 13"/>
          <p:cNvSpPr txBox="1"/>
          <p:nvPr/>
        </p:nvSpPr>
        <p:spPr>
          <a:xfrm>
            <a:off x="5971032" y="3246120"/>
            <a:ext cx="1298448" cy="228600"/>
          </a:xfrm>
          <a:prstGeom prst="rect">
            <a:avLst/>
          </a:prstGeom>
          <a:noFill/>
          <a:ln/>
        </p:spPr>
        <p:txBody>
          <a:bodyPr wrap="square" lIns="0" tIns="0" rIns="0" bIns="0" rtlCol="0" anchor="t"/>
          <a:lstStyle/>
          <a:p>
            <a:pPr indent="0" marL="0">
              <a:buNone/>
            </a:pPr>
            <a:r>
              <a:rPr lang="en-US" sz="1000" b="1" dirty="0">
                <a:solidFill>
                  <a:srgbClr val="60A05A"/>
                </a:solidFill>
                <a:latin typeface="Space Grotesk" pitchFamily="34" charset="0"/>
                <a:ea typeface="Space Grotesk" pitchFamily="34" charset="-122"/>
                <a:cs typeface="Space Grotesk" pitchFamily="34" charset="-120"/>
              </a:rPr>
              <a:t>India</a:t>
            </a:r>
            <a:endParaRPr lang="en-US" sz="1000" dirty="0"/>
          </a:p>
        </p:txBody>
      </p:sp>
      <p:sp>
        <p:nvSpPr>
          <p:cNvPr id="17" name="Text 14"/>
          <p:cNvSpPr txBox="1"/>
          <p:nvPr/>
        </p:nvSpPr>
        <p:spPr>
          <a:xfrm>
            <a:off x="5971032" y="3493008"/>
            <a:ext cx="1298448" cy="411480"/>
          </a:xfrm>
          <a:prstGeom prst="rect">
            <a:avLst/>
          </a:prstGeom>
          <a:noFill/>
          <a:ln/>
        </p:spPr>
        <p:txBody>
          <a:bodyPr wrap="square" lIns="0" tIns="0" rIns="0" bIns="0" rtlCol="0" anchor="t"/>
          <a:lstStyle/>
          <a:p>
            <a:pPr indent="0" marL="0">
              <a:buNone/>
            </a:pPr>
            <a:r>
              <a:rPr lang="en-US" sz="720" dirty="0">
                <a:solidFill>
                  <a:srgbClr val="A3B3BE"/>
                </a:solidFill>
                <a:latin typeface="Space Mono" pitchFamily="34" charset="0"/>
                <a:ea typeface="Space Mono" pitchFamily="34" charset="-122"/>
                <a:cs typeface="Space Mono" pitchFamily="34" charset="-120"/>
              </a:rPr>
              <a:t>final test, minimal assembly, ship</a:t>
            </a:r>
            <a:endParaRPr lang="en-US" sz="720" dirty="0"/>
          </a:p>
        </p:txBody>
      </p:sp>
      <p:sp>
        <p:nvSpPr>
          <p:cNvPr id="18" name="Shape 15"/>
          <p:cNvSpPr/>
          <p:nvPr/>
        </p:nvSpPr>
        <p:spPr>
          <a:xfrm>
            <a:off x="7370064" y="3154680"/>
            <a:ext cx="1298448" cy="36576"/>
          </a:xfrm>
          <a:prstGeom prst="rect">
            <a:avLst/>
          </a:prstGeom>
          <a:solidFill>
            <a:srgbClr val="F2C230"/>
          </a:solidFill>
          <a:ln w="12700">
            <a:solidFill>
              <a:srgbClr val="F2C230"/>
            </a:solidFill>
            <a:prstDash val="solid"/>
          </a:ln>
        </p:spPr>
      </p:sp>
      <p:sp>
        <p:nvSpPr>
          <p:cNvPr id="19" name="Text 16"/>
          <p:cNvSpPr txBox="1"/>
          <p:nvPr/>
        </p:nvSpPr>
        <p:spPr>
          <a:xfrm>
            <a:off x="7370064" y="3246120"/>
            <a:ext cx="1298448" cy="228600"/>
          </a:xfrm>
          <a:prstGeom prst="rect">
            <a:avLst/>
          </a:prstGeom>
          <a:noFill/>
          <a:ln/>
        </p:spPr>
        <p:txBody>
          <a:bodyPr wrap="square" lIns="0" tIns="0" rIns="0" bIns="0" rtlCol="0" anchor="t"/>
          <a:lstStyle/>
          <a:p>
            <a:pPr indent="0" marL="0">
              <a:buNone/>
            </a:pPr>
            <a:r>
              <a:rPr lang="en-US" sz="1000" b="1" dirty="0">
                <a:solidFill>
                  <a:srgbClr val="F2C230"/>
                </a:solidFill>
                <a:latin typeface="Space Grotesk" pitchFamily="34" charset="0"/>
                <a:ea typeface="Space Grotesk" pitchFamily="34" charset="-122"/>
                <a:cs typeface="Space Grotesk" pitchFamily="34" charset="-120"/>
              </a:rPr>
              <a:t>Proto</a:t>
            </a:r>
            <a:endParaRPr lang="en-US" sz="1000" dirty="0"/>
          </a:p>
        </p:txBody>
      </p:sp>
      <p:sp>
        <p:nvSpPr>
          <p:cNvPr id="20" name="Text 17"/>
          <p:cNvSpPr txBox="1"/>
          <p:nvPr/>
        </p:nvSpPr>
        <p:spPr>
          <a:xfrm>
            <a:off x="7370064" y="3493008"/>
            <a:ext cx="1298448" cy="411480"/>
          </a:xfrm>
          <a:prstGeom prst="rect">
            <a:avLst/>
          </a:prstGeom>
          <a:noFill/>
          <a:ln/>
        </p:spPr>
        <p:txBody>
          <a:bodyPr wrap="square" lIns="0" tIns="0" rIns="0" bIns="0" rtlCol="0" anchor="t"/>
          <a:lstStyle/>
          <a:p>
            <a:pPr indent="0" marL="0">
              <a:buNone/>
            </a:pPr>
            <a:r>
              <a:rPr lang="en-US" sz="720" dirty="0">
                <a:solidFill>
                  <a:srgbClr val="A3B3BE"/>
                </a:solidFill>
                <a:latin typeface="Space Mono" pitchFamily="34" charset="0"/>
                <a:ea typeface="Space Mono" pitchFamily="34" charset="-122"/>
                <a:cs typeface="Space Mono" pitchFamily="34" charset="-120"/>
              </a:rPr>
              <a:t>software: each extra user costs only compute</a:t>
            </a:r>
            <a:endParaRPr lang="en-US" sz="720" dirty="0"/>
          </a:p>
        </p:txBody>
      </p:sp>
      <p:sp>
        <p:nvSpPr>
          <p:cNvPr id="21" name="Text 18"/>
          <p:cNvSpPr txBox="1"/>
          <p:nvPr/>
        </p:nvSpPr>
        <p:spPr>
          <a:xfrm>
            <a:off x="4572000" y="4023360"/>
            <a:ext cx="4160520" cy="502920"/>
          </a:xfrm>
          <a:prstGeom prst="rect">
            <a:avLst/>
          </a:prstGeom>
          <a:noFill/>
          <a:ln/>
        </p:spPr>
        <p:txBody>
          <a:bodyPr wrap="square" lIns="0" tIns="0" rIns="0" bIns="0" rtlCol="0" anchor="t"/>
          <a:lstStyle/>
          <a:p>
            <a:pPr indent="0" marL="0">
              <a:buNone/>
            </a:pPr>
            <a:r>
              <a:rPr lang="en-US" sz="850" dirty="0">
                <a:solidFill>
                  <a:srgbClr val="E8EEF2"/>
                </a:solidFill>
                <a:latin typeface="Space Grotesk" pitchFamily="34" charset="0"/>
                <a:ea typeface="Space Grotesk" pitchFamily="34" charset="-122"/>
                <a:cs typeface="Space Grotesk" pitchFamily="34" charset="-120"/>
              </a:rPr>
              <a:t>One </a:t>
            </a:r>
            <a:r>
              <a:rPr lang="en-US" sz="850" u="sng" dirty="0">
                <a:solidFill>
                  <a:srgbClr val="CF8F4E"/>
                </a:solidFill>
                <a:latin typeface="Space Grotesk" pitchFamily="34" charset="0"/>
                <a:ea typeface="Space Grotesk" pitchFamily="34" charset="-122"/>
                <a:cs typeface="Space Grotesk" pitchFamily="34" charset="-120"/>
                <a:hlinkClick r:id="rId6"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850" dirty="0">
                <a:solidFill>
                  <a:srgbClr val="E8EEF2"/>
                </a:solidFill>
                <a:latin typeface="Space Grotesk" pitchFamily="34" charset="0"/>
                <a:ea typeface="Space Grotesk" pitchFamily="34" charset="-122"/>
                <a:cs typeface="Space Grotesk" pitchFamily="34" charset="-120"/>
              </a:rPr>
              <a:t>: 750–1,250 boards a year (3–5 per shift, target). Production cost ₹1,44,842 per </a:t>
            </a:r>
            <a:r>
              <a:rPr lang="en-US" sz="850" u="sng" dirty="0">
                <a:solidFill>
                  <a:srgbClr val="CF8F4E"/>
                </a:solidFill>
                <a:latin typeface="Space Grotesk" pitchFamily="34" charset="0"/>
                <a:ea typeface="Space Grotesk" pitchFamily="34" charset="-122"/>
                <a:cs typeface="Space Grotesk" pitchFamily="34" charset="-120"/>
                <a:hlinkClick r:id="rId7"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850" dirty="0">
                <a:solidFill>
                  <a:srgbClr val="E8EEF2"/>
                </a:solidFill>
                <a:latin typeface="Space Grotesk" pitchFamily="34" charset="0"/>
                <a:ea typeface="Space Grotesk" pitchFamily="34" charset="-122"/>
                <a:cs typeface="Space Grotesk" pitchFamily="34" charset="-120"/>
              </a:rPr>
              <a:t> at 100 units; RFQs planned at 5–5,000 units. India first, then global.</a:t>
            </a:r>
            <a:endParaRPr lang="en-US" sz="850" dirty="0"/>
          </a:p>
        </p:txBody>
      </p:sp>
      <p:sp>
        <p:nvSpPr>
          <p:cNvPr id="22" name="Text 19"/>
          <p:cNvSpPr txBox="1"/>
          <p:nvPr/>
        </p:nvSpPr>
        <p:spPr>
          <a:xfrm>
            <a:off x="411480" y="4773168"/>
            <a:ext cx="8321040" cy="182880"/>
          </a:xfrm>
          <a:prstGeom prst="rect">
            <a:avLst/>
          </a:prstGeom>
          <a:noFill/>
          <a:ln/>
        </p:spPr>
        <p:txBody>
          <a:bodyPr wrap="square" lIns="0" tIns="0" rIns="0" bIns="0" rtlCol="0" anchor="t"/>
          <a:lstStyle/>
          <a:p>
            <a:pPr indent="0" marL="0">
              <a:buNone/>
            </a:pPr>
            <a:r>
              <a:rPr lang="en-US" sz="650" dirty="0">
                <a:solidFill>
                  <a:srgbClr val="6E7A83"/>
                </a:solidFill>
                <a:latin typeface="Space Mono" pitchFamily="34" charset="0"/>
                <a:ea typeface="Space Mono" pitchFamily="34" charset="-122"/>
                <a:cs typeface="Space Mono" pitchFamily="34" charset="-120"/>
              </a:rPr>
              <a:t>Throughput &amp; Scale sheet, Economics Model · Baker Production (CN) sheet · PROTOPUS China Assembly Line Master Plan.</a:t>
            </a:r>
            <a:endParaRPr lang="en-US" sz="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216"/>
        </a:solidFill>
      </p:bgPr>
    </p:bg>
    <p:spTree>
      <p:nvGrpSpPr>
        <p:cNvPr id="1" name=""/>
        <p:cNvGrpSpPr/>
        <p:nvPr/>
      </p:nvGrpSpPr>
      <p:grpSpPr>
        <a:xfrm>
          <a:off x="0" y="0"/>
          <a:ext cx="0" cy="0"/>
          <a:chOff x="0" y="0"/>
          <a:chExt cx="0" cy="0"/>
        </a:xfrm>
      </p:grpSpPr>
      <p:sp>
        <p:nvSpPr>
          <p:cNvPr id="2" name="Text 0"/>
          <p:cNvSpPr txBox="1"/>
          <p:nvPr/>
        </p:nvSpPr>
        <p:spPr>
          <a:xfrm>
            <a:off x="411480" y="347472"/>
            <a:ext cx="8321040" cy="182880"/>
          </a:xfrm>
          <a:prstGeom prst="rect">
            <a:avLst/>
          </a:prstGeom>
          <a:noFill/>
          <a:ln/>
        </p:spPr>
        <p:txBody>
          <a:bodyPr wrap="square" lIns="0" tIns="0" rIns="0" bIns="0" rtlCol="0" anchor="t"/>
          <a:lstStyle/>
          <a:p>
            <a:pPr indent="0" marL="0">
              <a:buNone/>
            </a:pPr>
            <a:r>
              <a:rPr lang="en-US" sz="850" spc="250" kern="0" dirty="0">
                <a:solidFill>
                  <a:srgbClr val="F2C230"/>
                </a:solidFill>
                <a:latin typeface="Space Mono" pitchFamily="34" charset="0"/>
                <a:ea typeface="Space Mono" pitchFamily="34" charset="-122"/>
                <a:cs typeface="Space Mono" pitchFamily="34" charset="-120"/>
              </a:rPr>
              <a:t>AND WHERE THIS IS GOING</a:t>
            </a:r>
            <a:endParaRPr lang="en-US" sz="850" dirty="0"/>
          </a:p>
        </p:txBody>
      </p:sp>
      <p:sp>
        <p:nvSpPr>
          <p:cNvPr id="3" name="Text 1"/>
          <p:cNvSpPr txBox="1"/>
          <p:nvPr/>
        </p:nvSpPr>
        <p:spPr>
          <a:xfrm>
            <a:off x="411480" y="603504"/>
            <a:ext cx="8229600" cy="777240"/>
          </a:xfrm>
          <a:prstGeom prst="rect">
            <a:avLst/>
          </a:prstGeom>
          <a:noFill/>
          <a:ln/>
        </p:spPr>
        <p:txBody>
          <a:bodyPr wrap="square" lIns="0" tIns="0" rIns="0" bIns="0" rtlCol="0" anchor="t"/>
          <a:lstStyle/>
          <a:p>
            <a:pPr indent="0" marL="0">
              <a:buNone/>
            </a:pPr>
            <a:r>
              <a:rPr lang="en-US" sz="2200" b="1" dirty="0">
                <a:solidFill>
                  <a:srgbClr val="E8EEF2"/>
                </a:solidFill>
                <a:latin typeface="Space Grotesk" pitchFamily="34" charset="0"/>
                <a:ea typeface="Space Grotesk" pitchFamily="34" charset="-122"/>
                <a:cs typeface="Space Grotesk" pitchFamily="34" charset="-120"/>
              </a:rPr>
              <a:t>Sir, the vision: one plain-English brief in,</a:t>
            </a:r>
            <a:endParaRPr lang="en-US" sz="2200" dirty="0"/>
          </a:p>
          <a:p>
            <a:pPr indent="0" marL="0">
              <a:buNone/>
            </a:pPr>
            <a:r>
              <a:rPr lang="en-US" sz="2200" b="1" dirty="0">
                <a:solidFill>
                  <a:srgbClr val="E8EEF2"/>
                </a:solidFill>
                <a:latin typeface="Space Grotesk" pitchFamily="34" charset="0"/>
                <a:ea typeface="Space Grotesk" pitchFamily="34" charset="-122"/>
                <a:cs typeface="Space Grotesk" pitchFamily="34" charset="-120"/>
              </a:rPr>
              <a:t>one tested prototype out.</a:t>
            </a:r>
            <a:endParaRPr lang="en-US" sz="2200" dirty="0"/>
          </a:p>
        </p:txBody>
      </p:sp>
      <p:sp>
        <p:nvSpPr>
          <p:cNvPr id="4" name="Shape 2"/>
          <p:cNvSpPr/>
          <p:nvPr/>
        </p:nvSpPr>
        <p:spPr>
          <a:xfrm>
            <a:off x="1828800" y="2057400"/>
            <a:ext cx="1828800" cy="914400"/>
          </a:xfrm>
          <a:prstGeom prst="rect">
            <a:avLst/>
          </a:prstGeom>
          <a:solidFill>
            <a:srgbClr val="F2C230"/>
          </a:solidFill>
          <a:ln w="12700">
            <a:solidFill>
              <a:srgbClr val="F2C230"/>
            </a:solidFill>
            <a:prstDash val="solid"/>
          </a:ln>
        </p:spPr>
      </p:sp>
      <p:sp>
        <p:nvSpPr>
          <p:cNvPr id="5" name="Text 3"/>
          <p:cNvSpPr txBox="1"/>
          <p:nvPr/>
        </p:nvSpPr>
        <p:spPr>
          <a:xfrm>
            <a:off x="1901952" y="2057400"/>
            <a:ext cx="1691640" cy="914400"/>
          </a:xfrm>
          <a:prstGeom prst="rect">
            <a:avLst/>
          </a:prstGeom>
          <a:noFill/>
          <a:ln/>
        </p:spPr>
        <p:txBody>
          <a:bodyPr wrap="square" lIns="0" tIns="0" rIns="0" bIns="0" rtlCol="0" anchor="ctr"/>
          <a:lstStyle/>
          <a:p>
            <a:pPr algn="ctr" indent="0" marL="0">
              <a:buNone/>
            </a:pPr>
            <a:r>
              <a:rPr lang="en-US" sz="800" b="1" dirty="0">
                <a:solidFill>
                  <a:srgbClr val="1A1405"/>
                </a:solidFill>
                <a:latin typeface="Space Mono" pitchFamily="34" charset="0"/>
                <a:ea typeface="Space Mono" pitchFamily="34" charset="-122"/>
                <a:cs typeface="Space Mono" pitchFamily="34" charset="-120"/>
              </a:rPr>
              <a:t>PROTO</a:t>
            </a:r>
            <a:endParaRPr lang="en-US" sz="800" dirty="0"/>
          </a:p>
          <a:p>
            <a:pPr algn="ctr" indent="0" marL="0">
              <a:buNone/>
            </a:pPr>
            <a:r>
              <a:rPr lang="en-US" sz="800" dirty="0">
                <a:solidFill>
                  <a:srgbClr val="1A1405"/>
                </a:solidFill>
                <a:latin typeface="Space Mono" pitchFamily="34" charset="0"/>
                <a:ea typeface="Space Mono" pitchFamily="34" charset="-122"/>
                <a:cs typeface="Space Mono" pitchFamily="34" charset="-120"/>
              </a:rPr>
              <a:t>large reasoning models; every project lives in its own repository</a:t>
            </a:r>
            <a:endParaRPr lang="en-US" sz="800" dirty="0"/>
          </a:p>
        </p:txBody>
      </p:sp>
      <p:sp>
        <p:nvSpPr>
          <p:cNvPr id="6" name="Shape 4"/>
          <p:cNvSpPr/>
          <p:nvPr/>
        </p:nvSpPr>
        <p:spPr>
          <a:xfrm>
            <a:off x="411480" y="1645920"/>
            <a:ext cx="1325880" cy="566928"/>
          </a:xfrm>
          <a:prstGeom prst="rect">
            <a:avLst/>
          </a:prstGeom>
          <a:solidFill>
            <a:srgbClr val="0E1216"/>
          </a:solidFill>
          <a:ln w="9525">
            <a:solidFill>
              <a:srgbClr val="CF8F4E"/>
            </a:solidFill>
            <a:prstDash val="solid"/>
          </a:ln>
        </p:spPr>
      </p:sp>
      <p:sp>
        <p:nvSpPr>
          <p:cNvPr id="7" name="Text 5"/>
          <p:cNvSpPr txBox="1"/>
          <p:nvPr/>
        </p:nvSpPr>
        <p:spPr>
          <a:xfrm>
            <a:off x="475488" y="1645920"/>
            <a:ext cx="1207008" cy="566928"/>
          </a:xfrm>
          <a:prstGeom prst="rect">
            <a:avLst/>
          </a:prstGeom>
          <a:noFill/>
          <a:ln/>
        </p:spPr>
        <p:txBody>
          <a:bodyPr wrap="square" lIns="0" tIns="0" rIns="0" bIns="0" rtlCol="0" anchor="ctr"/>
          <a:lstStyle/>
          <a:p>
            <a:pPr indent="0" marL="0">
              <a:buNone/>
            </a:pPr>
            <a:r>
              <a:rPr lang="en-US" sz="750" dirty="0">
                <a:solidFill>
                  <a:srgbClr val="A3B3BE"/>
                </a:solidFill>
                <a:latin typeface="Space Mono" pitchFamily="34" charset="0"/>
                <a:ea typeface="Space Mono" pitchFamily="34" charset="-122"/>
                <a:cs typeface="Space Mono" pitchFamily="34" charset="-120"/>
              </a:rPr>
              <a:t>​</a:t>
            </a:r>
            <a:r>
              <a:rPr lang="en-US" sz="750" u="sng" dirty="0">
                <a:solidFill>
                  <a:srgbClr val="CF8F4E"/>
                </a:solidFill>
                <a:latin typeface="Space Mono" pitchFamily="34" charset="0"/>
                <a:ea typeface="Space Mono" pitchFamily="34" charset="-122"/>
                <a:cs typeface="Space Mono" pitchFamily="34" charset="-120"/>
                <a:hlinkClick r:id="rId1" invalidUrl="" action="" tgtFrame="" tooltip="https://protopus-kappa.vercel.app/#/baker" history="1" highlightClick="0" endSnd="0">
                  <a:extLst>
                    <a:ext uri="{A12FA001-AC4F-418D-AE19-62706E023703}">
                      <ahyp:hlinkClr xmlns:ahyp="http://schemas.microsoft.com/office/drawing/2018/hyperlinkcolor" val="tx"/>
                    </a:ext>
                  </a:extLst>
                </a:hlinkClick>
              </a:rPr>
              <a:t>Baker</a:t>
            </a:r>
            <a:endParaRPr lang="en-US" sz="750" dirty="0"/>
          </a:p>
          <a:p>
            <a:pPr indent="0" marL="0">
              <a:buNone/>
            </a:pPr>
            <a:r>
              <a:rPr lang="en-US" sz="750" dirty="0">
                <a:solidFill>
                  <a:srgbClr val="A3B3BE"/>
                </a:solidFill>
                <a:latin typeface="Space Mono" pitchFamily="34" charset="0"/>
                <a:ea typeface="Space Mono" pitchFamily="34" charset="-122"/>
                <a:cs typeface="Space Mono" pitchFamily="34" charset="-120"/>
              </a:rPr>
              <a:t>makes the board</a:t>
            </a:r>
            <a:endParaRPr lang="en-US" sz="750" dirty="0"/>
          </a:p>
        </p:txBody>
      </p:sp>
      <p:sp>
        <p:nvSpPr>
          <p:cNvPr id="8" name="Shape 6"/>
          <p:cNvSpPr/>
          <p:nvPr/>
        </p:nvSpPr>
        <p:spPr>
          <a:xfrm>
            <a:off x="4160520" y="1645920"/>
            <a:ext cx="1325880" cy="566928"/>
          </a:xfrm>
          <a:prstGeom prst="rect">
            <a:avLst/>
          </a:prstGeom>
          <a:solidFill>
            <a:srgbClr val="0E1216"/>
          </a:solidFill>
          <a:ln w="9525">
            <a:solidFill>
              <a:srgbClr val="54ACF0"/>
            </a:solidFill>
            <a:prstDash val="solid"/>
          </a:ln>
        </p:spPr>
      </p:sp>
      <p:sp>
        <p:nvSpPr>
          <p:cNvPr id="9" name="Text 7"/>
          <p:cNvSpPr txBox="1"/>
          <p:nvPr/>
        </p:nvSpPr>
        <p:spPr>
          <a:xfrm>
            <a:off x="4224528" y="1645920"/>
            <a:ext cx="1207008" cy="566928"/>
          </a:xfrm>
          <a:prstGeom prst="rect">
            <a:avLst/>
          </a:prstGeom>
          <a:noFill/>
          <a:ln/>
        </p:spPr>
        <p:txBody>
          <a:bodyPr wrap="square" lIns="0" tIns="0" rIns="0" bIns="0" rtlCol="0" anchor="ctr"/>
          <a:lstStyle/>
          <a:p>
            <a:pPr indent="0" marL="0">
              <a:buNone/>
            </a:pPr>
            <a:r>
              <a:rPr lang="en-US" sz="750" dirty="0">
                <a:solidFill>
                  <a:srgbClr val="A3B3BE"/>
                </a:solidFill>
                <a:latin typeface="Space Mono" pitchFamily="34" charset="0"/>
                <a:ea typeface="Space Mono" pitchFamily="34" charset="-122"/>
                <a:cs typeface="Space Mono" pitchFamily="34" charset="-120"/>
              </a:rPr>
              <a:t>​</a:t>
            </a:r>
            <a:r>
              <a:rPr lang="en-US" sz="750" u="sng" dirty="0">
                <a:solidFill>
                  <a:srgbClr val="54ACF0"/>
                </a:solidFill>
                <a:latin typeface="Space Mono" pitchFamily="34" charset="0"/>
                <a:ea typeface="Space Mono" pitchFamily="34" charset="-122"/>
                <a:cs typeface="Space Mono" pitchFamily="34" charset="-120"/>
                <a:hlinkClick r:id="rId2" invalidUrl="" action="" tgtFrame="" tooltip="https://protopus-kappa.vercel.app/#/mixer" history="1" highlightClick="0" endSnd="0">
                  <a:extLst>
                    <a:ext uri="{A12FA001-AC4F-418D-AE19-62706E023703}">
                      <ahyp:hlinkClr xmlns:ahyp="http://schemas.microsoft.com/office/drawing/2018/hyperlinkcolor" val="tx"/>
                    </a:ext>
                  </a:extLst>
                </a:hlinkClick>
              </a:rPr>
              <a:t>Mixer</a:t>
            </a:r>
            <a:r>
              <a:rPr lang="en-US" sz="750" dirty="0">
                <a:solidFill>
                  <a:srgbClr val="A3B3BE"/>
                </a:solidFill>
                <a:latin typeface="Space Mono" pitchFamily="34" charset="0"/>
                <a:ea typeface="Space Mono" pitchFamily="34" charset="-122"/>
                <a:cs typeface="Space Mono" pitchFamily="34" charset="-120"/>
              </a:rPr>
              <a:t> + </a:t>
            </a:r>
            <a:r>
              <a:rPr lang="en-US" sz="750" u="sng" dirty="0">
                <a:solidFill>
                  <a:srgbClr val="54ACF0"/>
                </a:solidFill>
                <a:latin typeface="Space Mono" pitchFamily="34" charset="0"/>
                <a:ea typeface="Space Mono" pitchFamily="34" charset="-122"/>
                <a:cs typeface="Space Mono" pitchFamily="34" charset="-120"/>
                <a:hlinkClick r:id="rId3" invalidUrl="" action="" tgtFrame="" tooltip="https://probe-matrix.vercel.app/" history="1" highlightClick="0" endSnd="0">
                  <a:extLst>
                    <a:ext uri="{A12FA001-AC4F-418D-AE19-62706E023703}">
                      <ahyp:hlinkClr xmlns:ahyp="http://schemas.microsoft.com/office/drawing/2018/hyperlinkcolor" val="tx"/>
                    </a:ext>
                  </a:extLst>
                </a:hlinkClick>
              </a:rPr>
              <a:t>Probe Matrix</a:t>
            </a:r>
            <a:endParaRPr lang="en-US" sz="750" dirty="0"/>
          </a:p>
          <a:p>
            <a:pPr indent="0" marL="0">
              <a:buNone/>
            </a:pPr>
            <a:r>
              <a:rPr lang="en-US" sz="750" dirty="0">
                <a:solidFill>
                  <a:srgbClr val="A3B3BE"/>
                </a:solidFill>
                <a:latin typeface="Space Mono" pitchFamily="34" charset="0"/>
                <a:ea typeface="Space Mono" pitchFamily="34" charset="-122"/>
                <a:cs typeface="Space Mono" pitchFamily="34" charset="-120"/>
              </a:rPr>
              <a:t>tests and programs</a:t>
            </a:r>
            <a:endParaRPr lang="en-US" sz="750" dirty="0"/>
          </a:p>
        </p:txBody>
      </p:sp>
      <p:sp>
        <p:nvSpPr>
          <p:cNvPr id="10" name="Shape 8"/>
          <p:cNvSpPr/>
          <p:nvPr/>
        </p:nvSpPr>
        <p:spPr>
          <a:xfrm>
            <a:off x="411480" y="3108960"/>
            <a:ext cx="1325880" cy="566928"/>
          </a:xfrm>
          <a:prstGeom prst="rect">
            <a:avLst/>
          </a:prstGeom>
          <a:solidFill>
            <a:srgbClr val="0E1216"/>
          </a:solidFill>
          <a:ln w="9525">
            <a:solidFill>
              <a:srgbClr val="E8EEF2"/>
            </a:solidFill>
            <a:prstDash val="solid"/>
          </a:ln>
        </p:spPr>
      </p:sp>
      <p:sp>
        <p:nvSpPr>
          <p:cNvPr id="11" name="Text 9"/>
          <p:cNvSpPr txBox="1"/>
          <p:nvPr/>
        </p:nvSpPr>
        <p:spPr>
          <a:xfrm>
            <a:off x="475488" y="3108960"/>
            <a:ext cx="1207008" cy="566928"/>
          </a:xfrm>
          <a:prstGeom prst="rect">
            <a:avLst/>
          </a:prstGeom>
          <a:noFill/>
          <a:ln/>
        </p:spPr>
        <p:txBody>
          <a:bodyPr wrap="square" lIns="0" tIns="0" rIns="0" bIns="0" rtlCol="0" anchor="ctr"/>
          <a:lstStyle/>
          <a:p>
            <a:pPr indent="0" marL="0">
              <a:buNone/>
            </a:pPr>
            <a:r>
              <a:rPr lang="en-US" sz="750" b="1" dirty="0">
                <a:solidFill>
                  <a:srgbClr val="E8EEF2"/>
                </a:solidFill>
                <a:latin typeface="Space Mono" pitchFamily="34" charset="0"/>
                <a:ea typeface="Space Mono" pitchFamily="34" charset="-122"/>
                <a:cs typeface="Space Mono" pitchFamily="34" charset="-120"/>
              </a:rPr>
              <a:t>any 3D printer</a:t>
            </a:r>
            <a:endParaRPr lang="en-US" sz="750" dirty="0"/>
          </a:p>
          <a:p>
            <a:pPr indent="0" marL="0">
              <a:buNone/>
            </a:pPr>
            <a:r>
              <a:rPr lang="en-US" sz="750" dirty="0">
                <a:solidFill>
                  <a:srgbClr val="A3B3BE"/>
                </a:solidFill>
                <a:latin typeface="Space Mono" pitchFamily="34" charset="0"/>
                <a:ea typeface="Space Mono" pitchFamily="34" charset="-122"/>
                <a:cs typeface="Space Mono" pitchFamily="34" charset="-120"/>
              </a:rPr>
              <a:t>enclosure + jigs</a:t>
            </a:r>
            <a:endParaRPr lang="en-US" sz="750" dirty="0"/>
          </a:p>
        </p:txBody>
      </p:sp>
      <p:sp>
        <p:nvSpPr>
          <p:cNvPr id="12" name="Shape 10"/>
          <p:cNvSpPr/>
          <p:nvPr/>
        </p:nvSpPr>
        <p:spPr>
          <a:xfrm>
            <a:off x="4160520" y="3108960"/>
            <a:ext cx="1325880" cy="566928"/>
          </a:xfrm>
          <a:prstGeom prst="rect">
            <a:avLst/>
          </a:prstGeom>
          <a:solidFill>
            <a:srgbClr val="0E1216"/>
          </a:solidFill>
          <a:ln w="9525">
            <a:solidFill>
              <a:srgbClr val="8FB3C9"/>
            </a:solidFill>
            <a:prstDash val="solid"/>
          </a:ln>
        </p:spPr>
      </p:sp>
      <p:sp>
        <p:nvSpPr>
          <p:cNvPr id="13" name="Text 11"/>
          <p:cNvSpPr txBox="1"/>
          <p:nvPr/>
        </p:nvSpPr>
        <p:spPr>
          <a:xfrm>
            <a:off x="4224528" y="3108960"/>
            <a:ext cx="1207008" cy="566928"/>
          </a:xfrm>
          <a:prstGeom prst="rect">
            <a:avLst/>
          </a:prstGeom>
          <a:noFill/>
          <a:ln/>
        </p:spPr>
        <p:txBody>
          <a:bodyPr wrap="square" lIns="0" tIns="0" rIns="0" bIns="0" rtlCol="0" anchor="ctr"/>
          <a:lstStyle/>
          <a:p>
            <a:pPr indent="0" marL="0">
              <a:buNone/>
            </a:pPr>
            <a:r>
              <a:rPr lang="en-US" sz="750" b="1" dirty="0">
                <a:solidFill>
                  <a:srgbClr val="8FB3C9"/>
                </a:solidFill>
                <a:latin typeface="Space Mono" pitchFamily="34" charset="0"/>
                <a:ea typeface="Space Mono" pitchFamily="34" charset="-122"/>
                <a:cs typeface="Space Mono" pitchFamily="34" charset="-120"/>
              </a:rPr>
              <a:t>connectors</a:t>
            </a:r>
            <a:endParaRPr lang="en-US" sz="750" dirty="0"/>
          </a:p>
          <a:p>
            <a:pPr indent="0" marL="0">
              <a:buNone/>
            </a:pPr>
            <a:r>
              <a:rPr lang="en-US" sz="750" dirty="0">
                <a:solidFill>
                  <a:srgbClr val="A3B3BE"/>
                </a:solidFill>
                <a:latin typeface="Space Mono" pitchFamily="34" charset="0"/>
                <a:ea typeface="Space Mono" pitchFamily="34" charset="-122"/>
                <a:cs typeface="Space Mono" pitchFamily="34" charset="-120"/>
              </a:rPr>
              <a:t>Flux · Fusion · parts APIs</a:t>
            </a:r>
            <a:endParaRPr lang="en-US" sz="750" dirty="0"/>
          </a:p>
        </p:txBody>
      </p:sp>
      <p:sp>
        <p:nvSpPr>
          <p:cNvPr id="14" name="Shape 12"/>
          <p:cNvSpPr/>
          <p:nvPr/>
        </p:nvSpPr>
        <p:spPr>
          <a:xfrm>
            <a:off x="1737360" y="1965960"/>
            <a:ext cx="274320" cy="228600"/>
          </a:xfrm>
          <a:prstGeom prst="line">
            <a:avLst/>
          </a:prstGeom>
          <a:noFill/>
          <a:ln w="9525">
            <a:solidFill>
              <a:srgbClr val="424A51"/>
            </a:solidFill>
            <a:prstDash val="solid"/>
          </a:ln>
        </p:spPr>
      </p:sp>
      <p:sp>
        <p:nvSpPr>
          <p:cNvPr id="15" name="Shape 13"/>
          <p:cNvSpPr/>
          <p:nvPr/>
        </p:nvSpPr>
        <p:spPr>
          <a:xfrm>
            <a:off x="3657600" y="2212848"/>
            <a:ext cx="502920" cy="-274320"/>
          </a:xfrm>
          <a:prstGeom prst="line">
            <a:avLst/>
          </a:prstGeom>
          <a:noFill/>
          <a:ln w="9525">
            <a:solidFill>
              <a:srgbClr val="424A51"/>
            </a:solidFill>
            <a:prstDash val="solid"/>
          </a:ln>
        </p:spPr>
      </p:sp>
      <p:sp>
        <p:nvSpPr>
          <p:cNvPr id="16" name="Shape 14"/>
          <p:cNvSpPr/>
          <p:nvPr/>
        </p:nvSpPr>
        <p:spPr>
          <a:xfrm>
            <a:off x="1737360" y="3291840"/>
            <a:ext cx="274320" cy="-320040"/>
          </a:xfrm>
          <a:prstGeom prst="line">
            <a:avLst/>
          </a:prstGeom>
          <a:noFill/>
          <a:ln w="9525">
            <a:solidFill>
              <a:srgbClr val="424A51"/>
            </a:solidFill>
            <a:prstDash val="solid"/>
          </a:ln>
        </p:spPr>
      </p:sp>
      <p:sp>
        <p:nvSpPr>
          <p:cNvPr id="17" name="Shape 15"/>
          <p:cNvSpPr/>
          <p:nvPr/>
        </p:nvSpPr>
        <p:spPr>
          <a:xfrm>
            <a:off x="3657600" y="2834640"/>
            <a:ext cx="502920" cy="411480"/>
          </a:xfrm>
          <a:prstGeom prst="line">
            <a:avLst/>
          </a:prstGeom>
          <a:noFill/>
          <a:ln w="9525">
            <a:solidFill>
              <a:srgbClr val="424A51"/>
            </a:solidFill>
            <a:prstDash val="solid"/>
          </a:ln>
        </p:spPr>
      </p:sp>
      <p:sp>
        <p:nvSpPr>
          <p:cNvPr id="18" name="Text 16"/>
          <p:cNvSpPr txBox="1"/>
          <p:nvPr/>
        </p:nvSpPr>
        <p:spPr>
          <a:xfrm>
            <a:off x="411480" y="3794760"/>
            <a:ext cx="5120640" cy="320040"/>
          </a:xfrm>
          <a:prstGeom prst="rect">
            <a:avLst/>
          </a:prstGeom>
          <a:noFill/>
          <a:ln/>
        </p:spPr>
        <p:txBody>
          <a:bodyPr wrap="square" lIns="0" tIns="0" rIns="0" bIns="0" rtlCol="0" anchor="t"/>
          <a:lstStyle/>
          <a:p>
            <a:pPr indent="0" marL="0">
              <a:buNone/>
            </a:pPr>
            <a:r>
              <a:rPr lang="en-US" sz="720" dirty="0">
                <a:solidFill>
                  <a:srgbClr val="6E7A83"/>
                </a:solidFill>
                <a:latin typeface="Space Mono" pitchFamily="34" charset="0"/>
                <a:ea typeface="Space Mono" pitchFamily="34" charset="-122"/>
                <a:cs typeface="Space Mono" pitchFamily="34" charset="-120"/>
              </a:rPr>
              <a:t>We never sell a 3D printer: Proto drives the one you have. BOMs come with purchase links; the case is sized from the measured board.</a:t>
            </a:r>
            <a:endParaRPr lang="en-US" sz="720" dirty="0"/>
          </a:p>
        </p:txBody>
      </p:sp>
      <p:sp>
        <p:nvSpPr>
          <p:cNvPr id="19" name="Text 17"/>
          <p:cNvSpPr txBox="1"/>
          <p:nvPr/>
        </p:nvSpPr>
        <p:spPr>
          <a:xfrm>
            <a:off x="411480" y="4160520"/>
            <a:ext cx="5212080" cy="502920"/>
          </a:xfrm>
          <a:prstGeom prst="rect">
            <a:avLst/>
          </a:prstGeom>
          <a:noFill/>
          <a:ln/>
        </p:spPr>
        <p:txBody>
          <a:bodyPr wrap="square" lIns="0" tIns="0" rIns="0" bIns="0" rtlCol="0" anchor="t"/>
          <a:lstStyle/>
          <a:p>
            <a:pPr indent="0" marL="0">
              <a:buNone/>
            </a:pPr>
            <a:r>
              <a:rPr lang="en-US" sz="1200" b="1" dirty="0">
                <a:solidFill>
                  <a:srgbClr val="E8EEF2"/>
                </a:solidFill>
                <a:latin typeface="Space Grotesk" pitchFamily="34" charset="0"/>
                <a:ea typeface="Space Grotesk" pitchFamily="34" charset="-122"/>
                <a:cs typeface="Space Grotesk" pitchFamily="34" charset="-120"/>
              </a:rPr>
              <a:t>The one-stop solution for prototyping: </a:t>
            </a:r>
            <a:r>
              <a:rPr lang="en-US" sz="1200" b="1" dirty="0">
                <a:solidFill>
                  <a:srgbClr val="F2C230"/>
                </a:solidFill>
                <a:latin typeface="Space Grotesk" pitchFamily="34" charset="0"/>
                <a:ea typeface="Space Grotesk" pitchFamily="34" charset="-122"/>
                <a:cs typeface="Space Grotesk" pitchFamily="34" charset="-120"/>
              </a:rPr>
              <a:t>idea to innovation, without the friction.</a:t>
            </a:r>
            <a:endParaRPr lang="en-US" sz="1200" dirty="0"/>
          </a:p>
        </p:txBody>
      </p:sp>
      <p:sp>
        <p:nvSpPr>
          <p:cNvPr id="20" name="Shape 18"/>
          <p:cNvSpPr/>
          <p:nvPr/>
        </p:nvSpPr>
        <p:spPr>
          <a:xfrm>
            <a:off x="5760720" y="1508760"/>
            <a:ext cx="2971800" cy="3200400"/>
          </a:xfrm>
          <a:prstGeom prst="rect">
            <a:avLst/>
          </a:prstGeom>
          <a:solidFill>
            <a:srgbClr val="121A21"/>
          </a:solidFill>
          <a:ln w="9525">
            <a:solidFill>
              <a:srgbClr val="1F2A32"/>
            </a:solidFill>
            <a:prstDash val="solid"/>
          </a:ln>
        </p:spPr>
      </p:sp>
      <p:sp>
        <p:nvSpPr>
          <p:cNvPr id="21" name="Text 19"/>
          <p:cNvSpPr txBox="1"/>
          <p:nvPr/>
        </p:nvSpPr>
        <p:spPr>
          <a:xfrm>
            <a:off x="5897880" y="1600200"/>
            <a:ext cx="2743200" cy="182880"/>
          </a:xfrm>
          <a:prstGeom prst="rect">
            <a:avLst/>
          </a:prstGeom>
          <a:noFill/>
          <a:ln/>
        </p:spPr>
        <p:txBody>
          <a:bodyPr wrap="square" lIns="0" tIns="0" rIns="0" bIns="0" rtlCol="0" anchor="t"/>
          <a:lstStyle/>
          <a:p>
            <a:pPr indent="0" marL="0">
              <a:buNone/>
            </a:pPr>
            <a:r>
              <a:rPr lang="en-US" sz="700" spc="100" kern="0" dirty="0">
                <a:solidFill>
                  <a:srgbClr val="F2C230"/>
                </a:solidFill>
                <a:latin typeface="Space Mono" pitchFamily="34" charset="0"/>
                <a:ea typeface="Space Mono" pitchFamily="34" charset="-122"/>
                <a:cs typeface="Space Mono" pitchFamily="34" charset="-120"/>
              </a:rPr>
              <a:t>EXAMPLE · A SMARTWATCH WITH 10 BUTTONS</a:t>
            </a:r>
            <a:endParaRPr lang="en-US" sz="700" dirty="0"/>
          </a:p>
        </p:txBody>
      </p:sp>
      <p:sp>
        <p:nvSpPr>
          <p:cNvPr id="22" name="Text 20"/>
          <p:cNvSpPr txBox="1"/>
          <p:nvPr/>
        </p:nvSpPr>
        <p:spPr>
          <a:xfrm>
            <a:off x="5897880" y="1874520"/>
            <a:ext cx="320040" cy="274320"/>
          </a:xfrm>
          <a:prstGeom prst="rect">
            <a:avLst/>
          </a:prstGeom>
          <a:noFill/>
          <a:ln/>
        </p:spPr>
        <p:txBody>
          <a:bodyPr wrap="square" lIns="0" tIns="0" rIns="0" bIns="0" rtlCol="0" anchor="t"/>
          <a:lstStyle/>
          <a:p>
            <a:pPr indent="0" marL="0">
              <a:buNone/>
            </a:pPr>
            <a:r>
              <a:rPr lang="en-US" sz="900" b="1" dirty="0">
                <a:solidFill>
                  <a:srgbClr val="F2C230"/>
                </a:solidFill>
                <a:latin typeface="Space Grotesk" pitchFamily="34" charset="0"/>
                <a:ea typeface="Space Grotesk" pitchFamily="34" charset="-122"/>
                <a:cs typeface="Space Grotesk" pitchFamily="34" charset="-120"/>
              </a:rPr>
              <a:t>01</a:t>
            </a:r>
            <a:endParaRPr lang="en-US" sz="900" dirty="0"/>
          </a:p>
        </p:txBody>
      </p:sp>
      <p:sp>
        <p:nvSpPr>
          <p:cNvPr id="23" name="Text 21"/>
          <p:cNvSpPr txBox="1"/>
          <p:nvPr/>
        </p:nvSpPr>
        <p:spPr>
          <a:xfrm>
            <a:off x="6263640" y="1874520"/>
            <a:ext cx="2395728" cy="438912"/>
          </a:xfrm>
          <a:prstGeom prst="rect">
            <a:avLst/>
          </a:prstGeom>
          <a:noFill/>
          <a:ln/>
        </p:spPr>
        <p:txBody>
          <a:bodyPr wrap="square" lIns="0" tIns="0" rIns="0" bIns="0" rtlCol="0" anchor="t"/>
          <a:lstStyle/>
          <a:p>
            <a:pPr indent="0" marL="0">
              <a:buNone/>
            </a:pPr>
            <a:r>
              <a:rPr lang="en-US" sz="740" dirty="0">
                <a:solidFill>
                  <a:srgbClr val="E8EEF2"/>
                </a:solidFill>
                <a:latin typeface="Space Mono" pitchFamily="34" charset="0"/>
                <a:ea typeface="Space Mono" pitchFamily="34" charset="-122"/>
                <a:cs typeface="Space Mono" pitchFamily="34" charset="-120"/>
              </a:rPr>
              <a:t>you describe it in plain English</a:t>
            </a:r>
            <a:endParaRPr lang="en-US" sz="740" dirty="0"/>
          </a:p>
        </p:txBody>
      </p:sp>
      <p:sp>
        <p:nvSpPr>
          <p:cNvPr id="24" name="Text 22"/>
          <p:cNvSpPr txBox="1"/>
          <p:nvPr/>
        </p:nvSpPr>
        <p:spPr>
          <a:xfrm>
            <a:off x="5897880" y="2331720"/>
            <a:ext cx="320040" cy="274320"/>
          </a:xfrm>
          <a:prstGeom prst="rect">
            <a:avLst/>
          </a:prstGeom>
          <a:noFill/>
          <a:ln/>
        </p:spPr>
        <p:txBody>
          <a:bodyPr wrap="square" lIns="0" tIns="0" rIns="0" bIns="0" rtlCol="0" anchor="t"/>
          <a:lstStyle/>
          <a:p>
            <a:pPr indent="0" marL="0">
              <a:buNone/>
            </a:pPr>
            <a:r>
              <a:rPr lang="en-US" sz="900" b="1" dirty="0">
                <a:solidFill>
                  <a:srgbClr val="F2C230"/>
                </a:solidFill>
                <a:latin typeface="Space Grotesk" pitchFamily="34" charset="0"/>
                <a:ea typeface="Space Grotesk" pitchFamily="34" charset="-122"/>
                <a:cs typeface="Space Grotesk" pitchFamily="34" charset="-120"/>
              </a:rPr>
              <a:t>02</a:t>
            </a:r>
            <a:endParaRPr lang="en-US" sz="900" dirty="0"/>
          </a:p>
        </p:txBody>
      </p:sp>
      <p:sp>
        <p:nvSpPr>
          <p:cNvPr id="25" name="Text 23"/>
          <p:cNvSpPr txBox="1"/>
          <p:nvPr/>
        </p:nvSpPr>
        <p:spPr>
          <a:xfrm>
            <a:off x="6263640" y="2331720"/>
            <a:ext cx="2395728" cy="438912"/>
          </a:xfrm>
          <a:prstGeom prst="rect">
            <a:avLst/>
          </a:prstGeom>
          <a:noFill/>
          <a:ln/>
        </p:spPr>
        <p:txBody>
          <a:bodyPr wrap="square" lIns="0" tIns="0" rIns="0" bIns="0" rtlCol="0" anchor="t"/>
          <a:lstStyle/>
          <a:p>
            <a:pPr indent="0" marL="0">
              <a:buNone/>
            </a:pPr>
            <a:r>
              <a:rPr lang="en-US" sz="740" dirty="0">
                <a:solidFill>
                  <a:srgbClr val="E8EEF2"/>
                </a:solidFill>
                <a:latin typeface="Space Mono" pitchFamily="34" charset="0"/>
                <a:ea typeface="Space Mono" pitchFamily="34" charset="-122"/>
                <a:cs typeface="Space Mono" pitchFamily="34" charset="-120"/>
              </a:rPr>
              <a:t>Proto checks feasibility and limits, writes the requirements</a:t>
            </a:r>
            <a:endParaRPr lang="en-US" sz="740" dirty="0"/>
          </a:p>
        </p:txBody>
      </p:sp>
      <p:sp>
        <p:nvSpPr>
          <p:cNvPr id="26" name="Text 24"/>
          <p:cNvSpPr txBox="1"/>
          <p:nvPr/>
        </p:nvSpPr>
        <p:spPr>
          <a:xfrm>
            <a:off x="5897880" y="2788920"/>
            <a:ext cx="320040" cy="274320"/>
          </a:xfrm>
          <a:prstGeom prst="rect">
            <a:avLst/>
          </a:prstGeom>
          <a:noFill/>
          <a:ln/>
        </p:spPr>
        <p:txBody>
          <a:bodyPr wrap="square" lIns="0" tIns="0" rIns="0" bIns="0" rtlCol="0" anchor="t"/>
          <a:lstStyle/>
          <a:p>
            <a:pPr indent="0" marL="0">
              <a:buNone/>
            </a:pPr>
            <a:r>
              <a:rPr lang="en-US" sz="900" b="1" dirty="0">
                <a:solidFill>
                  <a:srgbClr val="F2C230"/>
                </a:solidFill>
                <a:latin typeface="Space Grotesk" pitchFamily="34" charset="0"/>
                <a:ea typeface="Space Grotesk" pitchFamily="34" charset="-122"/>
                <a:cs typeface="Space Grotesk" pitchFamily="34" charset="-120"/>
              </a:rPr>
              <a:t>03</a:t>
            </a:r>
            <a:endParaRPr lang="en-US" sz="900" dirty="0"/>
          </a:p>
        </p:txBody>
      </p:sp>
      <p:sp>
        <p:nvSpPr>
          <p:cNvPr id="27" name="Text 25"/>
          <p:cNvSpPr txBox="1"/>
          <p:nvPr/>
        </p:nvSpPr>
        <p:spPr>
          <a:xfrm>
            <a:off x="6263640" y="2788920"/>
            <a:ext cx="2395728" cy="438912"/>
          </a:xfrm>
          <a:prstGeom prst="rect">
            <a:avLst/>
          </a:prstGeom>
          <a:noFill/>
          <a:ln/>
        </p:spPr>
        <p:txBody>
          <a:bodyPr wrap="square" lIns="0" tIns="0" rIns="0" bIns="0" rtlCol="0" anchor="t"/>
          <a:lstStyle/>
          <a:p>
            <a:pPr indent="0" marL="0">
              <a:buNone/>
            </a:pPr>
            <a:r>
              <a:rPr lang="en-US" sz="740" dirty="0">
                <a:solidFill>
                  <a:srgbClr val="E8EEF2"/>
                </a:solidFill>
                <a:latin typeface="Space Mono" pitchFamily="34" charset="0"/>
                <a:ea typeface="Space Mono" pitchFamily="34" charset="-122"/>
                <a:cs typeface="Space Mono" pitchFamily="34" charset="-120"/>
              </a:rPr>
              <a:t>Proto designs the PCB, sensors and BOM with buy links</a:t>
            </a:r>
            <a:endParaRPr lang="en-US" sz="740" dirty="0"/>
          </a:p>
        </p:txBody>
      </p:sp>
      <p:sp>
        <p:nvSpPr>
          <p:cNvPr id="28" name="Text 26"/>
          <p:cNvSpPr txBox="1"/>
          <p:nvPr/>
        </p:nvSpPr>
        <p:spPr>
          <a:xfrm>
            <a:off x="5897880" y="3246120"/>
            <a:ext cx="320040" cy="274320"/>
          </a:xfrm>
          <a:prstGeom prst="rect">
            <a:avLst/>
          </a:prstGeom>
          <a:noFill/>
          <a:ln/>
        </p:spPr>
        <p:txBody>
          <a:bodyPr wrap="square" lIns="0" tIns="0" rIns="0" bIns="0" rtlCol="0" anchor="t"/>
          <a:lstStyle/>
          <a:p>
            <a:pPr indent="0" marL="0">
              <a:buNone/>
            </a:pPr>
            <a:r>
              <a:rPr lang="en-US" sz="900" b="1" dirty="0">
                <a:solidFill>
                  <a:srgbClr val="F2C230"/>
                </a:solidFill>
                <a:latin typeface="Space Grotesk" pitchFamily="34" charset="0"/>
                <a:ea typeface="Space Grotesk" pitchFamily="34" charset="-122"/>
                <a:cs typeface="Space Grotesk" pitchFamily="34" charset="-120"/>
              </a:rPr>
              <a:t>04</a:t>
            </a:r>
            <a:endParaRPr lang="en-US" sz="900" dirty="0"/>
          </a:p>
        </p:txBody>
      </p:sp>
      <p:sp>
        <p:nvSpPr>
          <p:cNvPr id="29" name="Text 27"/>
          <p:cNvSpPr txBox="1"/>
          <p:nvPr/>
        </p:nvSpPr>
        <p:spPr>
          <a:xfrm>
            <a:off x="6263640" y="3246120"/>
            <a:ext cx="2395728" cy="438912"/>
          </a:xfrm>
          <a:prstGeom prst="rect">
            <a:avLst/>
          </a:prstGeom>
          <a:noFill/>
          <a:ln/>
        </p:spPr>
        <p:txBody>
          <a:bodyPr wrap="square" lIns="0" tIns="0" rIns="0" bIns="0" rtlCol="0" anchor="t"/>
          <a:lstStyle/>
          <a:p>
            <a:pPr indent="0" marL="0">
              <a:buNone/>
            </a:pPr>
            <a:r>
              <a:rPr lang="en-US" sz="740" dirty="0">
                <a:solidFill>
                  <a:srgbClr val="E8EEF2"/>
                </a:solidFill>
                <a:latin typeface="Space Mono" pitchFamily="34" charset="0"/>
                <a:ea typeface="Space Mono" pitchFamily="34" charset="-122"/>
                <a:cs typeface="Space Mono" pitchFamily="34" charset="-120"/>
              </a:rPr>
              <a:t>​</a:t>
            </a:r>
            <a:r>
              <a:rPr lang="en-US" sz="740" u="sng" dirty="0">
                <a:solidFill>
                  <a:srgbClr val="CF8F4E"/>
                </a:solidFill>
                <a:latin typeface="Space Mono" pitchFamily="34" charset="0"/>
                <a:ea typeface="Space Mono" pitchFamily="34" charset="-122"/>
                <a:cs typeface="Space Mono" pitchFamily="34" charset="-120"/>
                <a:hlinkClick r:id="rId4"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740" dirty="0">
                <a:solidFill>
                  <a:srgbClr val="E8EEF2"/>
                </a:solidFill>
                <a:latin typeface="Space Mono" pitchFamily="34" charset="0"/>
                <a:ea typeface="Space Mono" pitchFamily="34" charset="-122"/>
                <a:cs typeface="Space Mono" pitchFamily="34" charset="-120"/>
              </a:rPr>
              <a:t> makes the board; your printer prints the case</a:t>
            </a:r>
            <a:endParaRPr lang="en-US" sz="740" dirty="0"/>
          </a:p>
        </p:txBody>
      </p:sp>
      <p:sp>
        <p:nvSpPr>
          <p:cNvPr id="30" name="Text 28"/>
          <p:cNvSpPr txBox="1"/>
          <p:nvPr/>
        </p:nvSpPr>
        <p:spPr>
          <a:xfrm>
            <a:off x="5897880" y="3703320"/>
            <a:ext cx="320040" cy="274320"/>
          </a:xfrm>
          <a:prstGeom prst="rect">
            <a:avLst/>
          </a:prstGeom>
          <a:noFill/>
          <a:ln/>
        </p:spPr>
        <p:txBody>
          <a:bodyPr wrap="square" lIns="0" tIns="0" rIns="0" bIns="0" rtlCol="0" anchor="t"/>
          <a:lstStyle/>
          <a:p>
            <a:pPr indent="0" marL="0">
              <a:buNone/>
            </a:pPr>
            <a:r>
              <a:rPr lang="en-US" sz="900" b="1" dirty="0">
                <a:solidFill>
                  <a:srgbClr val="F2C230"/>
                </a:solidFill>
                <a:latin typeface="Space Grotesk" pitchFamily="34" charset="0"/>
                <a:ea typeface="Space Grotesk" pitchFamily="34" charset="-122"/>
                <a:cs typeface="Space Grotesk" pitchFamily="34" charset="-120"/>
              </a:rPr>
              <a:t>05</a:t>
            </a:r>
            <a:endParaRPr lang="en-US" sz="900" dirty="0"/>
          </a:p>
        </p:txBody>
      </p:sp>
      <p:sp>
        <p:nvSpPr>
          <p:cNvPr id="31" name="Text 29"/>
          <p:cNvSpPr txBox="1"/>
          <p:nvPr/>
        </p:nvSpPr>
        <p:spPr>
          <a:xfrm>
            <a:off x="6263640" y="3703320"/>
            <a:ext cx="2395728" cy="438912"/>
          </a:xfrm>
          <a:prstGeom prst="rect">
            <a:avLst/>
          </a:prstGeom>
          <a:noFill/>
          <a:ln/>
        </p:spPr>
        <p:txBody>
          <a:bodyPr wrap="square" lIns="0" tIns="0" rIns="0" bIns="0" rtlCol="0" anchor="t"/>
          <a:lstStyle/>
          <a:p>
            <a:pPr indent="0" marL="0">
              <a:buNone/>
            </a:pPr>
            <a:r>
              <a:rPr lang="en-US" sz="740" dirty="0">
                <a:solidFill>
                  <a:srgbClr val="E8EEF2"/>
                </a:solidFill>
                <a:latin typeface="Space Mono" pitchFamily="34" charset="0"/>
                <a:ea typeface="Space Mono" pitchFamily="34" charset="-122"/>
                <a:cs typeface="Space Mono" pitchFamily="34" charset="-120"/>
              </a:rPr>
              <a:t>Proto flashes the firmware; </a:t>
            </a:r>
            <a:r>
              <a:rPr lang="en-US" sz="740" u="sng" dirty="0">
                <a:solidFill>
                  <a:srgbClr val="54ACF0"/>
                </a:solidFill>
                <a:latin typeface="Space Mono" pitchFamily="34" charset="0"/>
                <a:ea typeface="Space Mono" pitchFamily="34" charset="-122"/>
                <a:cs typeface="Space Mono" pitchFamily="34" charset="-120"/>
                <a:hlinkClick r:id="rId5" invalidUrl="" action="" tgtFrame="" tooltip="https://protopus-kappa.vercel.app/#/mixer" history="1" highlightClick="0" endSnd="0">
                  <a:extLst>
                    <a:ext uri="{A12FA001-AC4F-418D-AE19-62706E023703}">
                      <ahyp:hlinkClr xmlns:ahyp="http://schemas.microsoft.com/office/drawing/2018/hyperlinkcolor" val="tx"/>
                    </a:ext>
                  </a:extLst>
                </a:hlinkClick>
              </a:rPr>
              <a:t>Mixer</a:t>
            </a:r>
            <a:r>
              <a:rPr lang="en-US" sz="740" dirty="0">
                <a:solidFill>
                  <a:srgbClr val="E8EEF2"/>
                </a:solidFill>
                <a:latin typeface="Space Mono" pitchFamily="34" charset="0"/>
                <a:ea typeface="Space Mono" pitchFamily="34" charset="-122"/>
                <a:cs typeface="Space Mono" pitchFamily="34" charset="-120"/>
              </a:rPr>
              <a:t> + </a:t>
            </a:r>
            <a:r>
              <a:rPr lang="en-US" sz="740" u="sng" dirty="0">
                <a:solidFill>
                  <a:srgbClr val="54ACF0"/>
                </a:solidFill>
                <a:latin typeface="Space Mono" pitchFamily="34" charset="0"/>
                <a:ea typeface="Space Mono" pitchFamily="34" charset="-122"/>
                <a:cs typeface="Space Mono" pitchFamily="34" charset="-120"/>
                <a:hlinkClick r:id="rId6" invalidUrl="" action="" tgtFrame="" tooltip="https://probe-matrix.vercel.app/" history="1" highlightClick="0" endSnd="0">
                  <a:extLst>
                    <a:ext uri="{A12FA001-AC4F-418D-AE19-62706E023703}">
                      <ahyp:hlinkClr xmlns:ahyp="http://schemas.microsoft.com/office/drawing/2018/hyperlinkcolor" val="tx"/>
                    </a:ext>
                  </a:extLst>
                </a:hlinkClick>
              </a:rPr>
              <a:t>Probe Matrix</a:t>
            </a:r>
            <a:r>
              <a:rPr lang="en-US" sz="740" dirty="0">
                <a:solidFill>
                  <a:srgbClr val="E8EEF2"/>
                </a:solidFill>
                <a:latin typeface="Space Mono" pitchFamily="34" charset="0"/>
                <a:ea typeface="Space Mono" pitchFamily="34" charset="-122"/>
                <a:cs typeface="Space Mono" pitchFamily="34" charset="-120"/>
              </a:rPr>
              <a:t> test it and flag failures</a:t>
            </a:r>
            <a:endParaRPr lang="en-US" sz="740" dirty="0"/>
          </a:p>
        </p:txBody>
      </p:sp>
      <p:sp>
        <p:nvSpPr>
          <p:cNvPr id="32" name="Text 30"/>
          <p:cNvSpPr txBox="1"/>
          <p:nvPr/>
        </p:nvSpPr>
        <p:spPr>
          <a:xfrm>
            <a:off x="5897880" y="4160520"/>
            <a:ext cx="320040" cy="274320"/>
          </a:xfrm>
          <a:prstGeom prst="rect">
            <a:avLst/>
          </a:prstGeom>
          <a:noFill/>
          <a:ln/>
        </p:spPr>
        <p:txBody>
          <a:bodyPr wrap="square" lIns="0" tIns="0" rIns="0" bIns="0" rtlCol="0" anchor="t"/>
          <a:lstStyle/>
          <a:p>
            <a:pPr indent="0" marL="0">
              <a:buNone/>
            </a:pPr>
            <a:r>
              <a:rPr lang="en-US" sz="900" b="1" dirty="0">
                <a:solidFill>
                  <a:srgbClr val="F2C230"/>
                </a:solidFill>
                <a:latin typeface="Space Grotesk" pitchFamily="34" charset="0"/>
                <a:ea typeface="Space Grotesk" pitchFamily="34" charset="-122"/>
                <a:cs typeface="Space Grotesk" pitchFamily="34" charset="-120"/>
              </a:rPr>
              <a:t>06</a:t>
            </a:r>
            <a:endParaRPr lang="en-US" sz="900" dirty="0"/>
          </a:p>
        </p:txBody>
      </p:sp>
      <p:sp>
        <p:nvSpPr>
          <p:cNvPr id="33" name="Text 31"/>
          <p:cNvSpPr txBox="1"/>
          <p:nvPr/>
        </p:nvSpPr>
        <p:spPr>
          <a:xfrm>
            <a:off x="6263640" y="4160520"/>
            <a:ext cx="2395728" cy="438912"/>
          </a:xfrm>
          <a:prstGeom prst="rect">
            <a:avLst/>
          </a:prstGeom>
          <a:noFill/>
          <a:ln/>
        </p:spPr>
        <p:txBody>
          <a:bodyPr wrap="square" lIns="0" tIns="0" rIns="0" bIns="0" rtlCol="0" anchor="t"/>
          <a:lstStyle/>
          <a:p>
            <a:pPr indent="0" marL="0">
              <a:buNone/>
            </a:pPr>
            <a:r>
              <a:rPr lang="en-US" sz="740" dirty="0">
                <a:solidFill>
                  <a:srgbClr val="E8EEF2"/>
                </a:solidFill>
                <a:latin typeface="Space Mono" pitchFamily="34" charset="0"/>
                <a:ea typeface="Space Mono" pitchFamily="34" charset="-122"/>
                <a:cs typeface="Space Mono" pitchFamily="34" charset="-120"/>
              </a:rPr>
              <a:t>you say what felt off; Proto plans the next revision</a:t>
            </a:r>
            <a:endParaRPr lang="en-US" sz="74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216"/>
        </a:solidFill>
      </p:bgPr>
    </p:bg>
    <p:spTree>
      <p:nvGrpSpPr>
        <p:cNvPr id="1" name=""/>
        <p:cNvGrpSpPr/>
        <p:nvPr/>
      </p:nvGrpSpPr>
      <p:grpSpPr>
        <a:xfrm>
          <a:off x="0" y="0"/>
          <a:ext cx="0" cy="0"/>
          <a:chOff x="0" y="0"/>
          <a:chExt cx="0" cy="0"/>
        </a:xfrm>
      </p:grpSpPr>
      <p:pic>
        <p:nvPicPr>
          <p:cNvPr id="2" name="Image 0" descr="/tmp/claude-0/-home-user-robowar/aee4da2e-473c-53db-a5de-8e0dc57de510/scratchpad/proj/PROTOPUS_Project/08_Build_Scripts/assets/logo.png">    </p:cNvPr>
          <p:cNvPicPr>
            <a:picLocks noChangeAspect="1"/>
          </p:cNvPicPr>
          <p:nvPr/>
        </p:nvPicPr>
        <p:blipFill>
          <a:blip r:embed="rId1"/>
          <a:stretch>
            <a:fillRect/>
          </a:stretch>
        </p:blipFill>
        <p:spPr>
          <a:xfrm>
            <a:off x="411480" y="475488"/>
            <a:ext cx="1965960" cy="341986"/>
          </a:xfrm>
          <a:prstGeom prst="rect">
            <a:avLst/>
          </a:prstGeom>
        </p:spPr>
      </p:pic>
      <p:sp>
        <p:nvSpPr>
          <p:cNvPr id="3" name="Text 0"/>
          <p:cNvSpPr txBox="1"/>
          <p:nvPr/>
        </p:nvSpPr>
        <p:spPr>
          <a:xfrm>
            <a:off x="411480" y="2011680"/>
            <a:ext cx="6400800" cy="777240"/>
          </a:xfrm>
          <a:prstGeom prst="rect">
            <a:avLst/>
          </a:prstGeom>
          <a:noFill/>
          <a:ln/>
        </p:spPr>
        <p:txBody>
          <a:bodyPr wrap="square" lIns="0" tIns="0" rIns="0" bIns="0" rtlCol="0" anchor="t"/>
          <a:lstStyle/>
          <a:p>
            <a:pPr indent="0" marL="0">
              <a:buNone/>
            </a:pPr>
            <a:r>
              <a:rPr lang="en-US" sz="4400" b="1" dirty="0">
                <a:solidFill>
                  <a:srgbClr val="E8EEF2"/>
                </a:solidFill>
                <a:latin typeface="Space Grotesk" pitchFamily="34" charset="0"/>
                <a:ea typeface="Space Grotesk" pitchFamily="34" charset="-122"/>
                <a:cs typeface="Space Grotesk" pitchFamily="34" charset="-120"/>
              </a:rPr>
              <a:t>Thank you, sir.</a:t>
            </a:r>
            <a:endParaRPr lang="en-US" sz="4400" dirty="0"/>
          </a:p>
        </p:txBody>
      </p:sp>
      <p:sp>
        <p:nvSpPr>
          <p:cNvPr id="4" name="Text 1"/>
          <p:cNvSpPr txBox="1"/>
          <p:nvPr/>
        </p:nvSpPr>
        <p:spPr>
          <a:xfrm>
            <a:off x="411480" y="2788920"/>
            <a:ext cx="6400800" cy="292608"/>
          </a:xfrm>
          <a:prstGeom prst="rect">
            <a:avLst/>
          </a:prstGeom>
          <a:noFill/>
          <a:ln/>
        </p:spPr>
        <p:txBody>
          <a:bodyPr wrap="square" lIns="0" tIns="0" rIns="0" bIns="0" rtlCol="0" anchor="t"/>
          <a:lstStyle/>
          <a:p>
            <a:pPr indent="0" marL="0">
              <a:buNone/>
            </a:pPr>
            <a:r>
              <a:rPr lang="en-US" sz="1300" dirty="0">
                <a:solidFill>
                  <a:srgbClr val="A3B3BE"/>
                </a:solidFill>
                <a:latin typeface="Space Mono" pitchFamily="34" charset="0"/>
                <a:ea typeface="Space Mono" pitchFamily="34" charset="-122"/>
                <a:cs typeface="Space Mono" pitchFamily="34" charset="-120"/>
              </a:rPr>
              <a:t>Happy to get on a call and go through any of this in detail.</a:t>
            </a:r>
            <a:endParaRPr lang="en-US" sz="1300" dirty="0"/>
          </a:p>
        </p:txBody>
      </p:sp>
      <p:sp>
        <p:nvSpPr>
          <p:cNvPr id="5" name="Text 2"/>
          <p:cNvSpPr txBox="1"/>
          <p:nvPr/>
        </p:nvSpPr>
        <p:spPr>
          <a:xfrm>
            <a:off x="411480" y="3429000"/>
            <a:ext cx="5943600" cy="274320"/>
          </a:xfrm>
          <a:prstGeom prst="rect">
            <a:avLst/>
          </a:prstGeom>
          <a:noFill/>
          <a:ln/>
        </p:spPr>
        <p:txBody>
          <a:bodyPr wrap="square" lIns="0" tIns="0" rIns="0" bIns="0" rtlCol="0" anchor="t"/>
          <a:lstStyle/>
          <a:p>
            <a:pPr indent="0" marL="0">
              <a:buNone/>
            </a:pPr>
            <a:r>
              <a:rPr lang="en-US" sz="1100" u="sng" dirty="0">
                <a:solidFill>
                  <a:srgbClr val="E8EEF2"/>
                </a:solidFill>
                <a:latin typeface="Space Mono" pitchFamily="34" charset="0"/>
                <a:ea typeface="Space Mono" pitchFamily="34" charset="-122"/>
                <a:cs typeface="Space Mono" pitchFamily="34" charset="-120"/>
                <a:hlinkClick r:id="rId2" invalidUrl="" action="" tgtFrame="" tooltip="https://protopus-kappa.vercel.app/" history="1" highlightClick="0" endSnd="0">
                  <a:extLst>
                    <a:ext uri="{A12FA001-AC4F-418D-AE19-62706E023703}">
                      <ahyp:hlinkClr xmlns:ahyp="http://schemas.microsoft.com/office/drawing/2018/hyperlinkcolor" val="tx"/>
                    </a:ext>
                  </a:extLst>
                </a:hlinkClick>
              </a:rPr>
              <a:t>website</a:t>
            </a:r>
            <a:r>
              <a:rPr lang="en-US" sz="1100" dirty="0">
                <a:solidFill>
                  <a:srgbClr val="6E7A83"/>
                </a:solidFill>
                <a:latin typeface="Space Mono" pitchFamily="34" charset="0"/>
                <a:ea typeface="Space Mono" pitchFamily="34" charset="-122"/>
                <a:cs typeface="Space Mono" pitchFamily="34" charset="-120"/>
              </a:rPr>
              <a:t>   ·   </a:t>
            </a:r>
            <a:r>
              <a:rPr lang="en-US" sz="1100" dirty="0">
                <a:solidFill>
                  <a:srgbClr val="6E7A83"/>
                </a:solidFill>
                <a:latin typeface="Space Mono" pitchFamily="34" charset="0"/>
                <a:ea typeface="Space Mono" pitchFamily="34" charset="-122"/>
                <a:cs typeface="Space Mono" pitchFamily="34" charset="-120"/>
              </a:rPr>
              <a:t>​</a:t>
            </a:r>
            <a:r>
              <a:rPr lang="en-US" sz="1100" u="sng" dirty="0">
                <a:solidFill>
                  <a:srgbClr val="CF8F4E"/>
                </a:solidFill>
                <a:latin typeface="Space Mono" pitchFamily="34" charset="0"/>
                <a:ea typeface="Space Mono" pitchFamily="34" charset="-122"/>
                <a:cs typeface="Space Mono" pitchFamily="34" charset="-120"/>
                <a:hlinkClick r:id="rId3" invalidUrl="" action="" tgtFrame="" tooltip="https://protopus-kappa.vercel.app/#/baker" history="1" highlightClick="0" endSnd="0">
                  <a:extLst>
                    <a:ext uri="{A12FA001-AC4F-418D-AE19-62706E023703}">
                      <ahyp:hlinkClr xmlns:ahyp="http://schemas.microsoft.com/office/drawing/2018/hyperlinkcolor" val="tx"/>
                    </a:ext>
                  </a:extLst>
                </a:hlinkClick>
              </a:rPr>
              <a:t>Baker</a:t>
            </a:r>
            <a:r>
              <a:rPr lang="en-US" sz="1100" dirty="0">
                <a:solidFill>
                  <a:srgbClr val="6E7A83"/>
                </a:solidFill>
                <a:latin typeface="Space Mono" pitchFamily="34" charset="0"/>
                <a:ea typeface="Space Mono" pitchFamily="34" charset="-122"/>
                <a:cs typeface="Space Mono" pitchFamily="34" charset="-120"/>
              </a:rPr>
              <a:t>   ·   </a:t>
            </a:r>
            <a:r>
              <a:rPr lang="en-US" sz="1100" dirty="0">
                <a:solidFill>
                  <a:srgbClr val="6E7A83"/>
                </a:solidFill>
                <a:latin typeface="Space Mono" pitchFamily="34" charset="0"/>
                <a:ea typeface="Space Mono" pitchFamily="34" charset="-122"/>
                <a:cs typeface="Space Mono" pitchFamily="34" charset="-120"/>
              </a:rPr>
              <a:t>​</a:t>
            </a:r>
            <a:r>
              <a:rPr lang="en-US" sz="1100" u="sng" dirty="0">
                <a:solidFill>
                  <a:srgbClr val="54ACF0"/>
                </a:solidFill>
                <a:latin typeface="Space Mono" pitchFamily="34" charset="0"/>
                <a:ea typeface="Space Mono" pitchFamily="34" charset="-122"/>
                <a:cs typeface="Space Mono" pitchFamily="34" charset="-120"/>
                <a:hlinkClick r:id="rId4" invalidUrl="" action="" tgtFrame="" tooltip="https://protopus-kappa.vercel.app/#/mixer" history="1" highlightClick="0" endSnd="0">
                  <a:extLst>
                    <a:ext uri="{A12FA001-AC4F-418D-AE19-62706E023703}">
                      <ahyp:hlinkClr xmlns:ahyp="http://schemas.microsoft.com/office/drawing/2018/hyperlinkcolor" val="tx"/>
                    </a:ext>
                  </a:extLst>
                </a:hlinkClick>
              </a:rPr>
              <a:t>Mixer</a:t>
            </a:r>
            <a:r>
              <a:rPr lang="en-US" sz="1100" dirty="0">
                <a:solidFill>
                  <a:srgbClr val="6E7A83"/>
                </a:solidFill>
                <a:latin typeface="Space Mono" pitchFamily="34" charset="0"/>
                <a:ea typeface="Space Mono" pitchFamily="34" charset="-122"/>
                <a:cs typeface="Space Mono" pitchFamily="34" charset="-120"/>
              </a:rPr>
              <a:t>   ·   </a:t>
            </a:r>
            <a:r>
              <a:rPr lang="en-US" sz="1100" dirty="0">
                <a:solidFill>
                  <a:srgbClr val="6E7A83"/>
                </a:solidFill>
                <a:latin typeface="Space Mono" pitchFamily="34" charset="0"/>
                <a:ea typeface="Space Mono" pitchFamily="34" charset="-122"/>
                <a:cs typeface="Space Mono" pitchFamily="34" charset="-120"/>
              </a:rPr>
              <a:t>​</a:t>
            </a:r>
            <a:r>
              <a:rPr lang="en-US" sz="1100" u="sng" dirty="0">
                <a:solidFill>
                  <a:srgbClr val="54ACF0"/>
                </a:solidFill>
                <a:latin typeface="Space Mono" pitchFamily="34" charset="0"/>
                <a:ea typeface="Space Mono" pitchFamily="34" charset="-122"/>
                <a:cs typeface="Space Mono" pitchFamily="34" charset="-120"/>
                <a:hlinkClick r:id="rId5" invalidUrl="" action="" tgtFrame="" tooltip="https://probe-matrix.vercel.app/" history="1" highlightClick="0" endSnd="0">
                  <a:extLst>
                    <a:ext uri="{A12FA001-AC4F-418D-AE19-62706E023703}">
                      <ahyp:hlinkClr xmlns:ahyp="http://schemas.microsoft.com/office/drawing/2018/hyperlinkcolor" val="tx"/>
                    </a:ext>
                  </a:extLst>
                </a:hlinkClick>
              </a:rPr>
              <a:t>Probe Matrix</a:t>
            </a:r>
            <a:endParaRPr lang="en-US" sz="1100" dirty="0"/>
          </a:p>
        </p:txBody>
      </p:sp>
      <p:sp>
        <p:nvSpPr>
          <p:cNvPr id="6" name="Text 3"/>
          <p:cNvSpPr txBox="1"/>
          <p:nvPr/>
        </p:nvSpPr>
        <p:spPr>
          <a:xfrm>
            <a:off x="411480" y="3840480"/>
            <a:ext cx="5943600" cy="228600"/>
          </a:xfrm>
          <a:prstGeom prst="rect">
            <a:avLst/>
          </a:prstGeom>
          <a:noFill/>
          <a:ln/>
        </p:spPr>
        <p:txBody>
          <a:bodyPr wrap="square" lIns="0" tIns="0" rIns="0" bIns="0" rtlCol="0" anchor="t"/>
          <a:lstStyle/>
          <a:p>
            <a:pPr indent="0" marL="0">
              <a:buNone/>
            </a:pPr>
            <a:r>
              <a:rPr lang="en-US" sz="900" dirty="0">
                <a:solidFill>
                  <a:srgbClr val="54ACF0"/>
                </a:solidFill>
                <a:latin typeface="Space Mono" pitchFamily="34" charset="0"/>
                <a:ea typeface="Space Mono" pitchFamily="34" charset="-122"/>
                <a:cs typeface="Space Mono" pitchFamily="34" charset="-120"/>
              </a:rPr>
              <a:t>Soham · Founder, PROTOPUS · soham9763015@ece.du.ac.in</a:t>
            </a:r>
            <a:endParaRPr lang="en-US" sz="900" dirty="0"/>
          </a:p>
        </p:txBody>
      </p:sp>
      <p:pic>
        <p:nvPicPr>
          <p:cNvPr id="7" name="Image 1" descr="/tmp/claude-0/-home-user-robowar/aee4da2e-473c-53db-a5de-8e0dc57de510/scratchpad/proj/PROTOPUS_Project/08_Build_Scripts/assets/mascot.png">    </p:cNvPr>
          <p:cNvPicPr>
            <a:picLocks noChangeAspect="1"/>
          </p:cNvPicPr>
          <p:nvPr/>
        </p:nvPicPr>
        <p:blipFill>
          <a:blip r:embed="rId6"/>
          <a:srcRect l="0" r="0" t="0" b="0"/>
          <a:stretch/>
        </p:blipFill>
        <p:spPr>
          <a:xfrm>
            <a:off x="6675120" y="3108960"/>
            <a:ext cx="2011680" cy="14630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54ACF0"/>
      </a:hlink>
      <a:folHlink>
        <a:srgbClr val="54ACF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PROTOPUS: answers to Prateek, round 1</dc:title>
  <dc:subject>PptxGenJS Presentation</dc:subject>
  <dc:creator>PROTOPUS</dc:creator>
  <cp:lastModifiedBy>PROTOPUS</cp:lastModifiedBy>
  <cp:revision>1</cp:revision>
  <dcterms:created xsi:type="dcterms:W3CDTF">2026-10-02T15:27:37Z</dcterms:created>
  <dcterms:modified xsi:type="dcterms:W3CDTF">2026-10-02T15:27:37Z</dcterms:modified>
</cp:coreProperties>
</file>