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0:20  ·  Cover
Good afternoon, sir. I am Soham, founder of Protopus. Thank you for your patience today. In the next ten minutes I will take you through what we did from July to September, month by month, and what we plan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1:20  ·  What we are building
First, a quick reminder of what Protopus is. Today, a first circuit board in India means a fab order, seven to twenty days of shipping and customs, hand soldering, and a borrowed test bench. AI has made software easy to build, but not hardware, because AI has no hands in the real world. We build those hands. Proto is our AI engineer: it plans the build. Baker, our first machine, makes a finished board on the desk. Mixer, the second, will test it. The Probe Matrix is a new accessory that lets Proto reach every point on the board. And we are clear about one thing: this is for prototyping, the first one to ten boards of a design. Volume stays with the fabs.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2:20  ·  The quarter at a glance
Here is the quarter on one page. In July we finished our research, launched the website and had our first investor conversation. In August we finalised the prototype design and started building it. In September we worked on connecting the software to the hardware, opened funding talks for the proof of concept, and conceived the Probe Matrix. The colours show where each item stands: green is done, yellow is in progress, blue is in discussion. I have only marked something done when it is actually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3:50  ·  July
July was research and our first step outside. We mapped how a first board is made today: one assembled try from JLCPCB, landed in India, costs about six thousand seven hundred rupees and takes up to twenty days. We studied where people get stuck, in eight rungs from idea to iteration, and saw that the first four are being solved by AI software, while the last four are physical. That is where we chose to work. We studied every competitor and their prices; each one solves only one step. We sized our first market in India: about fifty-nine hundred engineering colleges, the hardware startups, and ten thousand Atal Tinkering Labs. Then we defined the product, built the Protopus brand, and launched the website with pages for Baker and Mixer. At the end of July we met Samuel Beek, founder and CEO of Schematik. He gave us a verbal commitment to fund Protopus once the proof of concept is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 5:20  ·  August
In August we turned the idea into an engineering design. We fixed Baker's fifteen-step process: feed and probe the board, mill and drill it, apply and cure the solder mask, cut the stencil and paste, place the parts using a printed jig, reflow, and hand it over for test. We chose one moving shuttle that carries the board through two zones in a single coordinate frame, with a refill magazine so a board does not need loading each time. We specified every subsystem: the spindle, the laser, the UV screen for the mask, the low-temperature reflow, and the control electronics running Klipper. We also defined Mixer's architecture for a later stage. Then we selected the parts, built the bill of materials, and in late August we started building the first Baker. The build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6:50  ·  September: integration and the business
September had two halves. The first was software and documentation. We worked on Baker Studio, where Proto reads a design through the Flux AI interface, flags problems like a trace that is too thin, proposes the fix, and plans the machine job. We are connecting it to the machine through the Klipper firmware; that integration is in progress. We costed the full bill of materials, line by line. The first Baker prototype comes to about three lakh seventy-three thousand rupees, including duty and a fifteen percent contingency. At a hundred units, with parts from China, production is projected at about one lakh forty-five thousand. We also wrote the workflow document, which follows one board through all fifteen steps, and a manufacturing plan: turnkey production in China, with final testing, minimal assembly and shipping from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 7:50  ·  September: funding, Probe Matrix, plan
The second half was about the road ahead. We approached STMicroelectronics to fund the prototype and the proof of concept. Those discussions are ongoing; nothing is committed yet. After that meeting we conceived the Probe Matrix: spring probes under the board, so Proto can reach every point to test and program it without a person moving probes. The concept page is live. Finally, we prepared our pitch and received round-one review questions. As a result we are going Baker first, one product at a time, with funding released in milestone-based instalments.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8:30  ·  The quarter in numbers
In numbers: a fifteen-step process designed, a seventy-line costed bill of materials, two machines designed and one accessory conceived, a costed prototype of about three point seven three lakh, a projected production cost of about one point four five lakh, and seven deliverables completed, from the website to the concept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9:40  ·  Next quarter
For October to December, our focus is the Baker prototype. We will complete the build, run all fifteen steps end to end on one board, take Proto from a plain-English brief to a Baker job, and close the proof-of-concept funding. We are seeking fifteen lakh rupees for a nine-month proof of concept, released in three instalments: six lakh at signing, five lakh once Baker runs all fifteen steps, and four lakh once the process tests pass and Proto produces a Baker job. The proof of concept is twenty boards made with Proto and Baker. No founder salary is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 – 10:00  ·  Thank you
That is our quarter, sir. The report has the full details, and the links are on the screen. Thank you. I would be glad to take your questions and your guidance for the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rotopus-kappa.vercel.app/"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hyperlink" Target="https://probe-matrix.vercel.app/" TargetMode="External"/><Relationship Id="rId1"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be-matrix.vercel.app/"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be-matrix.vercel.app/"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6" Type="http://schemas.openxmlformats.org/officeDocument/2006/relationships/hyperlink" Target="https://protopus-kappa.vercel.app/#/baker" TargetMode="External"/><Relationship Id="rId7" Type="http://schemas.openxmlformats.org/officeDocument/2006/relationships/hyperlink" Target="https://protopus-kappa.vercel.app/#/baker" TargetMode="External"/><Relationship Id="rId5" Type="http://schemas.openxmlformats.org/officeDocument/2006/relationships/image" Target="../media/image-5-1.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mixer" TargetMode="External"/><Relationship Id="rId6" Type="http://schemas.openxmlformats.org/officeDocument/2006/relationships/hyperlink" Target="https://protopus-kappa.vercel.app/#/mixer" TargetMode="External"/><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robe-matrix.vercel.app/" TargetMode="External"/><Relationship Id="rId2" Type="http://schemas.openxmlformats.org/officeDocument/2006/relationships/hyperlink" Target="https://protopus-kappa.vercel.app/#/baker" TargetMode="External"/><Relationship Id="rId3" Type="http://schemas.openxmlformats.org/officeDocument/2006/relationships/hyperlink" Target="https://probe-matrix.vercel.app/"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baker" TargetMode="External"/><Relationship Id="rId6" Type="http://schemas.openxmlformats.org/officeDocument/2006/relationships/hyperlink" Target="https://protopus-kappa.vercel.app/#/baker" TargetMode="External"/><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protopus-kappa.vercel.app/"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hyperlink" Target="https://probe-matrix.vercel.app/" TargetMode="External"/><Relationship Id="rId1"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216"/>
        </a:solidFill>
      </p:bgPr>
    </p:bg>
    <p:spTree>
      <p:nvGrpSpPr>
        <p:cNvPr id="1" name=""/>
        <p:cNvGrpSpPr/>
        <p:nvPr/>
      </p:nvGrpSpPr>
      <p:grpSpPr>
        <a:xfrm>
          <a:off x="0" y="0"/>
          <a:ext cx="0" cy="0"/>
          <a:chOff x="0" y="0"/>
          <a:chExt cx="0" cy="0"/>
        </a:xfrm>
      </p:grpSpPr>
      <p:pic>
        <p:nvPicPr>
          <p:cNvPr id="3" name="Image 0" descr="/tmp/claude-0/-home-user-robowar/aee4da2e-473c-53db-a5de-8e0dc57de510/scratchpad/proj/PROTOPUS_Project/08_Build_Scripts/assets/logo.png">    </p:cNvPr>
          <p:cNvPicPr>
            <a:picLocks noChangeAspect="1"/>
          </p:cNvPicPr>
          <p:nvPr/>
        </p:nvPicPr>
        <p:blipFill>
          <a:blip r:embed="rId1"/>
          <a:stretch>
            <a:fillRect/>
          </a:stretch>
        </p:blipFill>
        <p:spPr>
          <a:xfrm>
            <a:off x="411480" y="457200"/>
            <a:ext cx="1965960" cy="341986"/>
          </a:xfrm>
          <a:prstGeom prst="rect">
            <a:avLst/>
          </a:prstGeom>
        </p:spPr>
      </p:pic>
      <p:sp>
        <p:nvSpPr>
          <p:cNvPr id="4" name="Text 0"/>
          <p:cNvSpPr txBox="1"/>
          <p:nvPr/>
        </p:nvSpPr>
        <p:spPr>
          <a:xfrm>
            <a:off x="411480" y="1325880"/>
            <a:ext cx="8229600" cy="201168"/>
          </a:xfrm>
          <a:prstGeom prst="rect">
            <a:avLst/>
          </a:prstGeom>
          <a:noFill/>
          <a:ln/>
        </p:spPr>
        <p:txBody>
          <a:bodyPr wrap="square" lIns="0" tIns="0" rIns="0" bIns="0" rtlCol="0" anchor="t"/>
          <a:lstStyle/>
          <a:p>
            <a:pPr indent="0" marL="0">
              <a:buNone/>
            </a:pPr>
            <a:r>
              <a:rPr lang="en-US" sz="950" spc="250" kern="0" dirty="0">
                <a:solidFill>
                  <a:srgbClr val="CF8F4E"/>
                </a:solidFill>
                <a:latin typeface="Space Mono" pitchFamily="34" charset="0"/>
                <a:ea typeface="Space Mono" pitchFamily="34" charset="-122"/>
                <a:cs typeface="Space Mono" pitchFamily="34" charset="-120"/>
              </a:rPr>
              <a:t>CIC-TBI · QUARTERLY PROGRESS REVIEW</a:t>
            </a:r>
            <a:endParaRPr lang="en-US" sz="950" dirty="0"/>
          </a:p>
        </p:txBody>
      </p:sp>
      <p:sp>
        <p:nvSpPr>
          <p:cNvPr id="5" name="Text 1"/>
          <p:cNvSpPr txBox="1"/>
          <p:nvPr/>
        </p:nvSpPr>
        <p:spPr>
          <a:xfrm>
            <a:off x="411480" y="1600200"/>
            <a:ext cx="8412480" cy="685800"/>
          </a:xfrm>
          <a:prstGeom prst="rect">
            <a:avLst/>
          </a:prstGeom>
          <a:noFill/>
          <a:ln/>
        </p:spPr>
        <p:txBody>
          <a:bodyPr wrap="square" lIns="0" tIns="0" rIns="0" bIns="0" rtlCol="0" anchor="t"/>
          <a:lstStyle/>
          <a:p>
            <a:pPr indent="0" marL="0">
              <a:buNone/>
            </a:pPr>
            <a:r>
              <a:rPr lang="en-US" sz="4000" b="1" dirty="0">
                <a:solidFill>
                  <a:srgbClr val="E8EEF2"/>
                </a:solidFill>
                <a:latin typeface="Space Mono" pitchFamily="34" charset="0"/>
                <a:ea typeface="Space Mono" pitchFamily="34" charset="-122"/>
                <a:cs typeface="Space Mono" pitchFamily="34" charset="-120"/>
              </a:rPr>
              <a:t>Quarterly progress,</a:t>
            </a:r>
            <a:endParaRPr lang="en-US" sz="4000" dirty="0"/>
          </a:p>
        </p:txBody>
      </p:sp>
      <p:sp>
        <p:nvSpPr>
          <p:cNvPr id="6" name="Text 2"/>
          <p:cNvSpPr txBox="1"/>
          <p:nvPr/>
        </p:nvSpPr>
        <p:spPr>
          <a:xfrm>
            <a:off x="411480" y="2240280"/>
            <a:ext cx="8412480" cy="685800"/>
          </a:xfrm>
          <a:prstGeom prst="rect">
            <a:avLst/>
          </a:prstGeom>
          <a:noFill/>
          <a:ln/>
        </p:spPr>
        <p:txBody>
          <a:bodyPr wrap="square" lIns="0" tIns="0" rIns="0" bIns="0" rtlCol="0" anchor="t"/>
          <a:lstStyle/>
          <a:p>
            <a:pPr indent="0" marL="0">
              <a:buNone/>
            </a:pPr>
            <a:r>
              <a:rPr lang="en-US" sz="4000" b="1" dirty="0">
                <a:solidFill>
                  <a:srgbClr val="9FB0BC"/>
                </a:solidFill>
                <a:latin typeface="Space Mono" pitchFamily="34" charset="0"/>
                <a:ea typeface="Space Mono" pitchFamily="34" charset="-122"/>
                <a:cs typeface="Space Mono" pitchFamily="34" charset="-120"/>
              </a:rPr>
              <a:t>July to September.</a:t>
            </a:r>
            <a:endParaRPr lang="en-US" sz="4000" dirty="0"/>
          </a:p>
        </p:txBody>
      </p:sp>
      <p:sp>
        <p:nvSpPr>
          <p:cNvPr id="7" name="Text 3"/>
          <p:cNvSpPr txBox="1"/>
          <p:nvPr/>
        </p:nvSpPr>
        <p:spPr>
          <a:xfrm>
            <a:off x="411480" y="3063240"/>
            <a:ext cx="6400800" cy="320040"/>
          </a:xfrm>
          <a:prstGeom prst="rect">
            <a:avLst/>
          </a:prstGeom>
          <a:noFill/>
          <a:ln/>
        </p:spPr>
        <p:txBody>
          <a:bodyPr wrap="square" lIns="0" tIns="0" rIns="0" bIns="0" rtlCol="0" anchor="t"/>
          <a:lstStyle/>
          <a:p>
            <a:pPr indent="0" marL="0">
              <a:buNone/>
            </a:pPr>
            <a:r>
              <a:rPr lang="en-US" sz="1500" dirty="0">
                <a:solidFill>
                  <a:srgbClr val="E8EEF2"/>
                </a:solidFill>
                <a:latin typeface="Space Grotesk" pitchFamily="34" charset="0"/>
                <a:ea typeface="Space Grotesk" pitchFamily="34" charset="-122"/>
                <a:cs typeface="Space Grotesk" pitchFamily="34" charset="-120"/>
              </a:rPr>
              <a:t>Research → design → build → integration, and what comes next.</a:t>
            </a:r>
            <a:endParaRPr lang="en-US" sz="1500" dirty="0"/>
          </a:p>
        </p:txBody>
      </p:sp>
      <p:sp>
        <p:nvSpPr>
          <p:cNvPr id="8" name="Text 4"/>
          <p:cNvSpPr txBox="1"/>
          <p:nvPr/>
        </p:nvSpPr>
        <p:spPr>
          <a:xfrm>
            <a:off x="411480" y="3794760"/>
            <a:ext cx="5486400" cy="274320"/>
          </a:xfrm>
          <a:prstGeom prst="rect">
            <a:avLst/>
          </a:prstGeom>
          <a:noFill/>
          <a:ln/>
        </p:spPr>
        <p:txBody>
          <a:bodyPr wrap="square" lIns="0" tIns="0" rIns="0" bIns="0" rtlCol="0" anchor="t"/>
          <a:lstStyle/>
          <a:p>
            <a:pPr indent="0" marL="0">
              <a:buNone/>
            </a:pPr>
            <a:r>
              <a:rPr lang="en-US" sz="1100" u="sng" dirty="0">
                <a:solidFill>
                  <a:srgbClr val="E8EEF2"/>
                </a:solidFill>
                <a:latin typeface="Space Mono" pitchFamily="34" charset="0"/>
                <a:ea typeface="Space Mono" pitchFamily="34" charset="-122"/>
                <a:cs typeface="Space Mono" pitchFamily="34" charset="-120"/>
                <a:hlinkClick r:id="rId2" invalidUrl="" action="" tgtFrame="" tooltip="https://protopus-kappa.vercel.app/" history="1" highlightClick="0" endSnd="0">
                  <a:extLst>
                    <a:ext uri="{A12FA001-AC4F-418D-AE19-62706E023703}">
                      <ahyp:hlinkClr xmlns:ahyp="http://schemas.microsoft.com/office/drawing/2018/hyperlinkcolor" val="tx"/>
                    </a:ext>
                  </a:extLst>
                </a:hlinkClick>
              </a:rPr>
              <a:t>website</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54ACF0"/>
                </a:solidFill>
                <a:latin typeface="Space Mono" pitchFamily="34" charset="0"/>
                <a:ea typeface="Space Mono" pitchFamily="34" charset="-122"/>
                <a:cs typeface="Space Mono" pitchFamily="34" charset="-120"/>
                <a:hlinkClick r:id="rId5"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100" dirty="0"/>
          </a:p>
        </p:txBody>
      </p:sp>
      <p:sp>
        <p:nvSpPr>
          <p:cNvPr id="9" name="Text 5"/>
          <p:cNvSpPr txBox="1"/>
          <p:nvPr/>
        </p:nvSpPr>
        <p:spPr>
          <a:xfrm>
            <a:off x="411480" y="4206240"/>
            <a:ext cx="5486400" cy="228600"/>
          </a:xfrm>
          <a:prstGeom prst="rect">
            <a:avLst/>
          </a:prstGeom>
          <a:noFill/>
          <a:ln/>
        </p:spPr>
        <p:txBody>
          <a:bodyPr wrap="square" lIns="0" tIns="0" rIns="0" bIns="0" rtlCol="0" anchor="t"/>
          <a:lstStyle/>
          <a:p>
            <a:pPr indent="0" marL="0">
              <a:buNone/>
            </a:pPr>
            <a:r>
              <a:rPr lang="en-US" sz="1000" dirty="0">
                <a:solidFill>
                  <a:srgbClr val="54ACF0"/>
                </a:solidFill>
                <a:latin typeface="Space Mono" pitchFamily="34" charset="0"/>
                <a:ea typeface="Space Mono" pitchFamily="34" charset="-122"/>
                <a:cs typeface="Space Mono" pitchFamily="34" charset="-120"/>
              </a:rPr>
              <a:t>Soham, Founder · Protopus</a:t>
            </a:r>
            <a:endParaRPr lang="en-US" sz="1000" dirty="0"/>
          </a:p>
        </p:txBody>
      </p:sp>
      <p:pic>
        <p:nvPicPr>
          <p:cNvPr id="10" name="Image 1" descr="/tmp/claude-0/-home-user-robowar/aee4da2e-473c-53db-a5de-8e0dc57de510/scratchpad/proj/PROTOPUS_Project/08_Build_Scripts/assets/mascot.png">    </p:cNvPr>
          <p:cNvPicPr>
            <a:picLocks noChangeAspect="1"/>
          </p:cNvPicPr>
          <p:nvPr/>
        </p:nvPicPr>
        <p:blipFill>
          <a:blip r:embed="rId6"/>
          <a:stretch>
            <a:fillRect/>
          </a:stretch>
        </p:blipFill>
        <p:spPr>
          <a:xfrm>
            <a:off x="6766560" y="3337560"/>
            <a:ext cx="1920240" cy="11704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F2C230"/>
                </a:solidFill>
                <a:latin typeface="Space Mono" pitchFamily="34" charset="0"/>
                <a:ea typeface="Space Mono" pitchFamily="34" charset="-122"/>
                <a:cs typeface="Space Mono" pitchFamily="34" charset="-120"/>
              </a:rPr>
              <a:t>01 · WHAT WE ARE BUILDING</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Smart prototyping machines, guided by AI</a:t>
            </a:r>
            <a:endParaRPr lang="en-US" sz="2400" dirty="0"/>
          </a:p>
        </p:txBody>
      </p:sp>
      <p:sp>
        <p:nvSpPr>
          <p:cNvPr id="5" name="Shape 2"/>
          <p:cNvSpPr/>
          <p:nvPr/>
        </p:nvSpPr>
        <p:spPr>
          <a:xfrm>
            <a:off x="411480" y="1325880"/>
            <a:ext cx="8321040" cy="566928"/>
          </a:xfrm>
          <a:prstGeom prst="rect">
            <a:avLst/>
          </a:prstGeom>
          <a:solidFill>
            <a:srgbClr val="121A21"/>
          </a:solidFill>
          <a:ln w="9525">
            <a:solidFill>
              <a:srgbClr val="1F2A32"/>
            </a:solidFill>
            <a:prstDash val="solid"/>
          </a:ln>
        </p:spPr>
      </p:sp>
      <p:sp>
        <p:nvSpPr>
          <p:cNvPr id="6" name="Text 3"/>
          <p:cNvSpPr txBox="1"/>
          <p:nvPr/>
        </p:nvSpPr>
        <p:spPr>
          <a:xfrm>
            <a:off x="566928" y="1325880"/>
            <a:ext cx="8046720" cy="566928"/>
          </a:xfrm>
          <a:prstGeom prst="rect">
            <a:avLst/>
          </a:prstGeom>
          <a:noFill/>
          <a:ln/>
        </p:spPr>
        <p:txBody>
          <a:bodyPr wrap="square" lIns="0" tIns="0" rIns="0" bIns="0" rtlCol="0" anchor="ctr"/>
          <a:lstStyle/>
          <a:p>
            <a:pPr indent="0" marL="0">
              <a:buNone/>
            </a:pPr>
            <a:r>
              <a:rPr lang="en-US" sz="1100" b="1" dirty="0">
                <a:solidFill>
                  <a:srgbClr val="CF8F4E"/>
                </a:solidFill>
                <a:latin typeface="Space Mono" pitchFamily="34" charset="0"/>
                <a:ea typeface="Space Mono" pitchFamily="34" charset="-122"/>
                <a:cs typeface="Space Mono" pitchFamily="34" charset="-120"/>
              </a:rPr>
              <a:t>TODAY   </a:t>
            </a:r>
            <a:r>
              <a:rPr lang="en-US" sz="1100" dirty="0">
                <a:solidFill>
                  <a:srgbClr val="E8EEF2"/>
                </a:solidFill>
                <a:latin typeface="Space Mono" pitchFamily="34" charset="0"/>
                <a:ea typeface="Space Mono" pitchFamily="34" charset="-122"/>
                <a:cs typeface="Space Mono" pitchFamily="34" charset="-120"/>
              </a:rPr>
              <a:t>fab order  →  7–20 days + customs  →  hand soldering  →  a borrowed bench</a:t>
            </a:r>
            <a:endParaRPr lang="en-US" sz="1100" dirty="0"/>
          </a:p>
        </p:txBody>
      </p:sp>
      <p:sp>
        <p:nvSpPr>
          <p:cNvPr id="7" name="Shape 4"/>
          <p:cNvSpPr/>
          <p:nvPr/>
        </p:nvSpPr>
        <p:spPr>
          <a:xfrm>
            <a:off x="411480" y="2148840"/>
            <a:ext cx="1965960" cy="36576"/>
          </a:xfrm>
          <a:prstGeom prst="rect">
            <a:avLst/>
          </a:prstGeom>
          <a:solidFill>
            <a:srgbClr val="F2C230"/>
          </a:solidFill>
          <a:ln w="12700">
            <a:solidFill>
              <a:srgbClr val="F2C230"/>
            </a:solidFill>
            <a:prstDash val="solid"/>
          </a:ln>
        </p:spPr>
      </p:sp>
      <p:sp>
        <p:nvSpPr>
          <p:cNvPr id="8" name="Text 5"/>
          <p:cNvSpPr txBox="1"/>
          <p:nvPr/>
        </p:nvSpPr>
        <p:spPr>
          <a:xfrm>
            <a:off x="411480" y="2267712"/>
            <a:ext cx="1965960" cy="182880"/>
          </a:xfrm>
          <a:prstGeom prst="rect">
            <a:avLst/>
          </a:prstGeom>
          <a:noFill/>
          <a:ln/>
        </p:spPr>
        <p:txBody>
          <a:bodyPr wrap="square" lIns="0" tIns="0" rIns="0" bIns="0" rtlCol="0" anchor="t"/>
          <a:lstStyle/>
          <a:p>
            <a:pPr indent="0" marL="0">
              <a:buNone/>
            </a:pPr>
            <a:r>
              <a:rPr lang="en-US" sz="800" spc="150" kern="0" dirty="0">
                <a:solidFill>
                  <a:srgbClr val="F2C230"/>
                </a:solidFill>
                <a:latin typeface="Space Mono" pitchFamily="34" charset="0"/>
                <a:ea typeface="Space Mono" pitchFamily="34" charset="-122"/>
                <a:cs typeface="Space Mono" pitchFamily="34" charset="-120"/>
              </a:rPr>
              <a:t>PROTO</a:t>
            </a:r>
            <a:endParaRPr lang="en-US" sz="800" dirty="0"/>
          </a:p>
        </p:txBody>
      </p:sp>
      <p:sp>
        <p:nvSpPr>
          <p:cNvPr id="9" name="Text 6"/>
          <p:cNvSpPr txBox="1"/>
          <p:nvPr/>
        </p:nvSpPr>
        <p:spPr>
          <a:xfrm>
            <a:off x="411480" y="2514600"/>
            <a:ext cx="1965960" cy="365760"/>
          </a:xfrm>
          <a:prstGeom prst="rect">
            <a:avLst/>
          </a:prstGeom>
          <a:noFill/>
          <a:ln/>
        </p:spPr>
        <p:txBody>
          <a:bodyPr wrap="square" lIns="0" tIns="0" rIns="0" bIns="0" rtlCol="0" anchor="t"/>
          <a:lstStyle/>
          <a:p>
            <a:pPr indent="0" marL="0">
              <a:buNone/>
            </a:pPr>
            <a:r>
              <a:rPr lang="en-US" sz="1800" b="1" dirty="0">
                <a:solidFill>
                  <a:srgbClr val="F2C230"/>
                </a:solidFill>
                <a:latin typeface="Space Grotesk" pitchFamily="34" charset="0"/>
                <a:ea typeface="Space Grotesk" pitchFamily="34" charset="-122"/>
                <a:cs typeface="Space Grotesk" pitchFamily="34" charset="-120"/>
              </a:rPr>
              <a:t>Proto</a:t>
            </a:r>
            <a:endParaRPr lang="en-US" sz="1800" dirty="0"/>
          </a:p>
        </p:txBody>
      </p:sp>
      <p:sp>
        <p:nvSpPr>
          <p:cNvPr id="10" name="Text 7"/>
          <p:cNvSpPr txBox="1"/>
          <p:nvPr/>
        </p:nvSpPr>
        <p:spPr>
          <a:xfrm>
            <a:off x="411480" y="2926080"/>
            <a:ext cx="1920240" cy="822960"/>
          </a:xfrm>
          <a:prstGeom prst="rect">
            <a:avLst/>
          </a:prstGeom>
          <a:noFill/>
          <a:ln/>
        </p:spPr>
        <p:txBody>
          <a:bodyPr wrap="square" lIns="0" tIns="0" rIns="0" bIns="0" rtlCol="0" anchor="t"/>
          <a:lstStyle/>
          <a:p>
            <a:pPr indent="0" marL="0">
              <a:buNone/>
            </a:pPr>
            <a:r>
              <a:rPr lang="en-US" sz="980" dirty="0">
                <a:solidFill>
                  <a:srgbClr val="A3B3BE"/>
                </a:solidFill>
                <a:latin typeface="Space Mono" pitchFamily="34" charset="0"/>
                <a:ea typeface="Space Mono" pitchFamily="34" charset="-122"/>
                <a:cs typeface="Space Mono" pitchFamily="34" charset="-120"/>
              </a:rPr>
              <a:t>the AI engineer: plans the build, checks the design, explains results</a:t>
            </a:r>
            <a:endParaRPr lang="en-US" sz="980" dirty="0"/>
          </a:p>
        </p:txBody>
      </p:sp>
      <p:sp>
        <p:nvSpPr>
          <p:cNvPr id="11" name="Shape 8"/>
          <p:cNvSpPr/>
          <p:nvPr/>
        </p:nvSpPr>
        <p:spPr>
          <a:xfrm>
            <a:off x="2532888" y="2148840"/>
            <a:ext cx="1965960" cy="36576"/>
          </a:xfrm>
          <a:prstGeom prst="rect">
            <a:avLst/>
          </a:prstGeom>
          <a:solidFill>
            <a:srgbClr val="CF8F4E"/>
          </a:solidFill>
          <a:ln w="12700">
            <a:solidFill>
              <a:srgbClr val="CF8F4E"/>
            </a:solidFill>
            <a:prstDash val="solid"/>
          </a:ln>
        </p:spPr>
      </p:sp>
      <p:sp>
        <p:nvSpPr>
          <p:cNvPr id="12" name="Text 9"/>
          <p:cNvSpPr txBox="1"/>
          <p:nvPr/>
        </p:nvSpPr>
        <p:spPr>
          <a:xfrm>
            <a:off x="2532888" y="2267712"/>
            <a:ext cx="1965960" cy="182880"/>
          </a:xfrm>
          <a:prstGeom prst="rect">
            <a:avLst/>
          </a:prstGeom>
          <a:noFill/>
          <a:ln/>
        </p:spPr>
        <p:txBody>
          <a:bodyPr wrap="square" lIns="0" tIns="0" rIns="0" bIns="0" rtlCol="0" anchor="t"/>
          <a:lstStyle/>
          <a:p>
            <a:pPr indent="0" marL="0">
              <a:buNone/>
            </a:pPr>
            <a:r>
              <a:rPr lang="en-US" sz="800" spc="150" kern="0" dirty="0">
                <a:solidFill>
                  <a:srgbClr val="CF8F4E"/>
                </a:solidFill>
                <a:latin typeface="Space Mono" pitchFamily="34" charset="0"/>
                <a:ea typeface="Space Mono" pitchFamily="34" charset="-122"/>
                <a:cs typeface="Space Mono" pitchFamily="34" charset="-120"/>
              </a:rPr>
              <a:t>STEP 1 · NOW</a:t>
            </a:r>
            <a:endParaRPr lang="en-US" sz="800" dirty="0"/>
          </a:p>
        </p:txBody>
      </p:sp>
      <p:sp>
        <p:nvSpPr>
          <p:cNvPr id="13" name="Text 10"/>
          <p:cNvSpPr txBox="1"/>
          <p:nvPr/>
        </p:nvSpPr>
        <p:spPr>
          <a:xfrm>
            <a:off x="2532888" y="2514600"/>
            <a:ext cx="1965960" cy="365760"/>
          </a:xfrm>
          <a:prstGeom prst="rect">
            <a:avLst/>
          </a:prstGeom>
          <a:noFill/>
          <a:ln/>
        </p:spPr>
        <p:txBody>
          <a:bodyPr wrap="square" lIns="0" tIns="0" rIns="0" bIns="0" rtlCol="0" anchor="t"/>
          <a:lstStyle/>
          <a:p>
            <a:pPr indent="0" marL="0">
              <a:buNone/>
            </a:pPr>
            <a:r>
              <a:rPr lang="en-US" sz="1800" b="1" dirty="0">
                <a:solidFill>
                  <a:srgbClr val="CF8F4E"/>
                </a:solidFill>
                <a:latin typeface="Space Grotesk" pitchFamily="34" charset="0"/>
                <a:ea typeface="Space Grotesk" pitchFamily="34" charset="-122"/>
                <a:cs typeface="Space Grotesk" pitchFamily="34" charset="-120"/>
              </a:rPr>
              <a:t>​</a:t>
            </a:r>
            <a:r>
              <a:rPr lang="en-US" sz="1800" b="1"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1800" dirty="0"/>
          </a:p>
        </p:txBody>
      </p:sp>
      <p:sp>
        <p:nvSpPr>
          <p:cNvPr id="14" name="Text 11"/>
          <p:cNvSpPr txBox="1"/>
          <p:nvPr/>
        </p:nvSpPr>
        <p:spPr>
          <a:xfrm>
            <a:off x="2532888" y="2926080"/>
            <a:ext cx="1920240" cy="822960"/>
          </a:xfrm>
          <a:prstGeom prst="rect">
            <a:avLst/>
          </a:prstGeom>
          <a:noFill/>
          <a:ln/>
        </p:spPr>
        <p:txBody>
          <a:bodyPr wrap="square" lIns="0" tIns="0" rIns="0" bIns="0" rtlCol="0" anchor="t"/>
          <a:lstStyle/>
          <a:p>
            <a:pPr indent="0" marL="0">
              <a:buNone/>
            </a:pPr>
            <a:r>
              <a:rPr lang="en-US" sz="980" dirty="0">
                <a:solidFill>
                  <a:srgbClr val="A3B3BE"/>
                </a:solidFill>
                <a:latin typeface="Space Mono" pitchFamily="34" charset="0"/>
                <a:ea typeface="Space Mono" pitchFamily="34" charset="-122"/>
                <a:cs typeface="Space Mono" pitchFamily="34" charset="-120"/>
              </a:rPr>
              <a:t>makes a finished board on the desk: mill, mask, stencil, paste, reflow</a:t>
            </a:r>
            <a:endParaRPr lang="en-US" sz="980" dirty="0"/>
          </a:p>
        </p:txBody>
      </p:sp>
      <p:sp>
        <p:nvSpPr>
          <p:cNvPr id="15" name="Shape 12"/>
          <p:cNvSpPr/>
          <p:nvPr/>
        </p:nvSpPr>
        <p:spPr>
          <a:xfrm>
            <a:off x="4654296" y="2148840"/>
            <a:ext cx="1965960" cy="36576"/>
          </a:xfrm>
          <a:prstGeom prst="rect">
            <a:avLst/>
          </a:prstGeom>
          <a:solidFill>
            <a:srgbClr val="54ACF0"/>
          </a:solidFill>
          <a:ln w="12700">
            <a:solidFill>
              <a:srgbClr val="54ACF0"/>
            </a:solidFill>
            <a:prstDash val="solid"/>
          </a:ln>
        </p:spPr>
      </p:sp>
      <p:sp>
        <p:nvSpPr>
          <p:cNvPr id="16" name="Text 13"/>
          <p:cNvSpPr txBox="1"/>
          <p:nvPr/>
        </p:nvSpPr>
        <p:spPr>
          <a:xfrm>
            <a:off x="4654296" y="2267712"/>
            <a:ext cx="1965960" cy="182880"/>
          </a:xfrm>
          <a:prstGeom prst="rect">
            <a:avLst/>
          </a:prstGeom>
          <a:noFill/>
          <a:ln/>
        </p:spPr>
        <p:txBody>
          <a:bodyPr wrap="square" lIns="0" tIns="0" rIns="0" bIns="0" rtlCol="0" anchor="t"/>
          <a:lstStyle/>
          <a:p>
            <a:pPr indent="0" marL="0">
              <a:buNone/>
            </a:pPr>
            <a:r>
              <a:rPr lang="en-US" sz="800" spc="150" kern="0" dirty="0">
                <a:solidFill>
                  <a:srgbClr val="54ACF0"/>
                </a:solidFill>
                <a:latin typeface="Space Mono" pitchFamily="34" charset="0"/>
                <a:ea typeface="Space Mono" pitchFamily="34" charset="-122"/>
                <a:cs typeface="Space Mono" pitchFamily="34" charset="-120"/>
              </a:rPr>
              <a:t>STEP 2</a:t>
            </a:r>
            <a:endParaRPr lang="en-US" sz="800" dirty="0"/>
          </a:p>
        </p:txBody>
      </p:sp>
      <p:sp>
        <p:nvSpPr>
          <p:cNvPr id="17" name="Text 14"/>
          <p:cNvSpPr txBox="1"/>
          <p:nvPr/>
        </p:nvSpPr>
        <p:spPr>
          <a:xfrm>
            <a:off x="4654296" y="2514600"/>
            <a:ext cx="1965960" cy="365760"/>
          </a:xfrm>
          <a:prstGeom prst="rect">
            <a:avLst/>
          </a:prstGeom>
          <a:noFill/>
          <a:ln/>
        </p:spPr>
        <p:txBody>
          <a:bodyPr wrap="square" lIns="0" tIns="0" rIns="0" bIns="0" rtlCol="0" anchor="t"/>
          <a:lstStyle/>
          <a:p>
            <a:pPr indent="0" marL="0">
              <a:buNone/>
            </a:pPr>
            <a:r>
              <a:rPr lang="en-US" sz="1800" b="1" dirty="0">
                <a:solidFill>
                  <a:srgbClr val="54ACF0"/>
                </a:solidFill>
                <a:latin typeface="Space Grotesk" pitchFamily="34" charset="0"/>
                <a:ea typeface="Space Grotesk" pitchFamily="34" charset="-122"/>
                <a:cs typeface="Space Grotesk" pitchFamily="34" charset="-120"/>
              </a:rPr>
              <a:t>​</a:t>
            </a:r>
            <a:r>
              <a:rPr lang="en-US" sz="1800" b="1" u="sng" dirty="0">
                <a:solidFill>
                  <a:srgbClr val="54ACF0"/>
                </a:solidFill>
                <a:latin typeface="Space Grotesk" pitchFamily="34" charset="0"/>
                <a:ea typeface="Space Grotesk" pitchFamily="34" charset="-122"/>
                <a:cs typeface="Space Grotesk"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endParaRPr lang="en-US" sz="1800" dirty="0"/>
          </a:p>
        </p:txBody>
      </p:sp>
      <p:sp>
        <p:nvSpPr>
          <p:cNvPr id="18" name="Text 15"/>
          <p:cNvSpPr txBox="1"/>
          <p:nvPr/>
        </p:nvSpPr>
        <p:spPr>
          <a:xfrm>
            <a:off x="4654296" y="2926080"/>
            <a:ext cx="1920240" cy="822960"/>
          </a:xfrm>
          <a:prstGeom prst="rect">
            <a:avLst/>
          </a:prstGeom>
          <a:noFill/>
          <a:ln/>
        </p:spPr>
        <p:txBody>
          <a:bodyPr wrap="square" lIns="0" tIns="0" rIns="0" bIns="0" rtlCol="0" anchor="t"/>
          <a:lstStyle/>
          <a:p>
            <a:pPr indent="0" marL="0">
              <a:buNone/>
            </a:pPr>
            <a:r>
              <a:rPr lang="en-US" sz="980" dirty="0">
                <a:solidFill>
                  <a:srgbClr val="A3B3BE"/>
                </a:solidFill>
                <a:latin typeface="Space Mono" pitchFamily="34" charset="0"/>
                <a:ea typeface="Space Mono" pitchFamily="34" charset="-122"/>
                <a:cs typeface="Space Mono" pitchFamily="34" charset="-120"/>
              </a:rPr>
              <a:t>tests the board: eight instruments on one cable</a:t>
            </a:r>
            <a:endParaRPr lang="en-US" sz="980" dirty="0"/>
          </a:p>
        </p:txBody>
      </p:sp>
      <p:sp>
        <p:nvSpPr>
          <p:cNvPr id="19" name="Shape 16"/>
          <p:cNvSpPr/>
          <p:nvPr/>
        </p:nvSpPr>
        <p:spPr>
          <a:xfrm>
            <a:off x="6775704" y="2148840"/>
            <a:ext cx="1965960" cy="36576"/>
          </a:xfrm>
          <a:prstGeom prst="rect">
            <a:avLst/>
          </a:prstGeom>
          <a:solidFill>
            <a:srgbClr val="8FB3C9"/>
          </a:solidFill>
          <a:ln w="12700">
            <a:solidFill>
              <a:srgbClr val="8FB3C9"/>
            </a:solidFill>
            <a:prstDash val="solid"/>
          </a:ln>
        </p:spPr>
      </p:sp>
      <p:sp>
        <p:nvSpPr>
          <p:cNvPr id="20" name="Text 17"/>
          <p:cNvSpPr txBox="1"/>
          <p:nvPr/>
        </p:nvSpPr>
        <p:spPr>
          <a:xfrm>
            <a:off x="6775704" y="2267712"/>
            <a:ext cx="1965960" cy="182880"/>
          </a:xfrm>
          <a:prstGeom prst="rect">
            <a:avLst/>
          </a:prstGeom>
          <a:noFill/>
          <a:ln/>
        </p:spPr>
        <p:txBody>
          <a:bodyPr wrap="square" lIns="0" tIns="0" rIns="0" bIns="0" rtlCol="0" anchor="t"/>
          <a:lstStyle/>
          <a:p>
            <a:pPr indent="0" marL="0">
              <a:buNone/>
            </a:pPr>
            <a:r>
              <a:rPr lang="en-US" sz="800" spc="150" kern="0" dirty="0">
                <a:solidFill>
                  <a:srgbClr val="8FB3C9"/>
                </a:solidFill>
                <a:latin typeface="Space Mono" pitchFamily="34" charset="0"/>
                <a:ea typeface="Space Mono" pitchFamily="34" charset="-122"/>
                <a:cs typeface="Space Mono" pitchFamily="34" charset="-120"/>
              </a:rPr>
              <a:t>CONCEPT</a:t>
            </a:r>
            <a:endParaRPr lang="en-US" sz="800" dirty="0"/>
          </a:p>
        </p:txBody>
      </p:sp>
      <p:sp>
        <p:nvSpPr>
          <p:cNvPr id="21" name="Text 18"/>
          <p:cNvSpPr txBox="1"/>
          <p:nvPr/>
        </p:nvSpPr>
        <p:spPr>
          <a:xfrm>
            <a:off x="6775704" y="2514600"/>
            <a:ext cx="1965960" cy="365760"/>
          </a:xfrm>
          <a:prstGeom prst="rect">
            <a:avLst/>
          </a:prstGeom>
          <a:noFill/>
          <a:ln/>
        </p:spPr>
        <p:txBody>
          <a:bodyPr wrap="square" lIns="0" tIns="0" rIns="0" bIns="0" rtlCol="0" anchor="t"/>
          <a:lstStyle/>
          <a:p>
            <a:pPr indent="0" marL="0">
              <a:buNone/>
            </a:pPr>
            <a:r>
              <a:rPr lang="en-US" sz="1800" b="1" dirty="0">
                <a:solidFill>
                  <a:srgbClr val="E8EEF2"/>
                </a:solidFill>
                <a:latin typeface="Space Grotesk" pitchFamily="34" charset="0"/>
                <a:ea typeface="Space Grotesk" pitchFamily="34" charset="-122"/>
                <a:cs typeface="Space Grotesk" pitchFamily="34" charset="-120"/>
              </a:rPr>
              <a:t>​</a:t>
            </a:r>
            <a:r>
              <a:rPr lang="en-US" sz="1800" b="1" u="sng" dirty="0">
                <a:solidFill>
                  <a:srgbClr val="54ACF0"/>
                </a:solidFill>
                <a:latin typeface="Space Grotesk" pitchFamily="34" charset="0"/>
                <a:ea typeface="Space Grotesk" pitchFamily="34" charset="-122"/>
                <a:cs typeface="Space Grotesk" pitchFamily="34" charset="-120"/>
                <a:hlinkClick r:id="rId3"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800" dirty="0"/>
          </a:p>
        </p:txBody>
      </p:sp>
      <p:sp>
        <p:nvSpPr>
          <p:cNvPr id="22" name="Text 19"/>
          <p:cNvSpPr txBox="1"/>
          <p:nvPr/>
        </p:nvSpPr>
        <p:spPr>
          <a:xfrm>
            <a:off x="6775704" y="2926080"/>
            <a:ext cx="1920240" cy="822960"/>
          </a:xfrm>
          <a:prstGeom prst="rect">
            <a:avLst/>
          </a:prstGeom>
          <a:noFill/>
          <a:ln/>
        </p:spPr>
        <p:txBody>
          <a:bodyPr wrap="square" lIns="0" tIns="0" rIns="0" bIns="0" rtlCol="0" anchor="t"/>
          <a:lstStyle/>
          <a:p>
            <a:pPr indent="0" marL="0">
              <a:buNone/>
            </a:pPr>
            <a:r>
              <a:rPr lang="en-US" sz="980" dirty="0">
                <a:solidFill>
                  <a:srgbClr val="A3B3BE"/>
                </a:solidFill>
                <a:latin typeface="Space Mono" pitchFamily="34" charset="0"/>
                <a:ea typeface="Space Mono" pitchFamily="34" charset="-122"/>
                <a:cs typeface="Space Mono" pitchFamily="34" charset="-120"/>
              </a:rPr>
              <a:t>spring probes under the board, so Proto reaches every net</a:t>
            </a:r>
            <a:endParaRPr lang="en-US" sz="980" dirty="0"/>
          </a:p>
        </p:txBody>
      </p:sp>
      <p:sp>
        <p:nvSpPr>
          <p:cNvPr id="23" name="Shape 20"/>
          <p:cNvSpPr/>
          <p:nvPr/>
        </p:nvSpPr>
        <p:spPr>
          <a:xfrm>
            <a:off x="411480" y="4023360"/>
            <a:ext cx="8321040" cy="548640"/>
          </a:xfrm>
          <a:prstGeom prst="rect">
            <a:avLst/>
          </a:prstGeom>
          <a:solidFill>
            <a:srgbClr val="121A21"/>
          </a:solidFill>
          <a:ln w="9525">
            <a:solidFill>
              <a:srgbClr val="F2C230"/>
            </a:solidFill>
            <a:prstDash val="solid"/>
          </a:ln>
        </p:spPr>
      </p:sp>
      <p:sp>
        <p:nvSpPr>
          <p:cNvPr id="24" name="Text 21"/>
          <p:cNvSpPr txBox="1"/>
          <p:nvPr/>
        </p:nvSpPr>
        <p:spPr>
          <a:xfrm>
            <a:off x="566928" y="4023360"/>
            <a:ext cx="8046720" cy="548640"/>
          </a:xfrm>
          <a:prstGeom prst="rect">
            <a:avLst/>
          </a:prstGeom>
          <a:noFill/>
          <a:ln/>
        </p:spPr>
        <p:txBody>
          <a:bodyPr wrap="square" lIns="0" tIns="0" rIns="0" bIns="0" rtlCol="0" anchor="ctr"/>
          <a:lstStyle/>
          <a:p>
            <a:pPr indent="0" marL="0">
              <a:buNone/>
            </a:pPr>
            <a:r>
              <a:rPr lang="en-US" sz="1150" b="1" dirty="0">
                <a:solidFill>
                  <a:srgbClr val="F2C230"/>
                </a:solidFill>
                <a:latin typeface="Space Mono" pitchFamily="34" charset="0"/>
                <a:ea typeface="Space Mono" pitchFamily="34" charset="-122"/>
                <a:cs typeface="Space Mono" pitchFamily="34" charset="-120"/>
              </a:rPr>
              <a:t>FOR PROTOTYPING   </a:t>
            </a:r>
            <a:r>
              <a:rPr lang="en-US" sz="1150" dirty="0">
                <a:solidFill>
                  <a:srgbClr val="E8EEF2"/>
                </a:solidFill>
                <a:latin typeface="Space Mono" pitchFamily="34" charset="0"/>
                <a:ea typeface="Space Mono" pitchFamily="34" charset="-122"/>
                <a:cs typeface="Space Mono" pitchFamily="34" charset="-120"/>
              </a:rPr>
              <a:t>the first 1–10 boards of a design. Volume stays with the fabs.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CF8F4E"/>
                </a:solidFill>
                <a:latin typeface="Space Mono" pitchFamily="34" charset="0"/>
                <a:ea typeface="Space Mono" pitchFamily="34" charset="-122"/>
                <a:cs typeface="Space Mono" pitchFamily="34" charset="-120"/>
              </a:rPr>
              <a:t>02 · THE QUARTER AT A GLANCE</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Research → design → build → integration</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61872"/>
          <a:ext cx="8321040" cy="914400"/>
        </p:xfrm>
        <a:graphic>
          <a:graphicData uri="http://schemas.openxmlformats.org/drawingml/2006/table">
            <a:tbl>
              <a:tblPr/>
              <a:tblGrid>
                <a:gridCol w="5852160"/>
                <a:gridCol w="914400"/>
                <a:gridCol w="1554480"/>
              </a:tblGrid>
              <a:tr h="260604">
                <a:tc>
                  <a:txBody>
                    <a:bodyPr/>
                    <a:lstStyle/>
                    <a:p>
                      <a:pPr indent="0" marL="0">
                        <a:buNone/>
                      </a:pPr>
                      <a:r>
                        <a:rPr lang="en-US" sz="960" spc="100" kern="0" dirty="0">
                          <a:solidFill>
                            <a:srgbClr val="6E7A83"/>
                          </a:solidFill>
                          <a:latin typeface="Space Mono" pitchFamily="34" charset="0"/>
                          <a:ea typeface="Space Mono" pitchFamily="34" charset="-122"/>
                          <a:cs typeface="Space Mono" pitchFamily="34" charset="-120"/>
                        </a:rPr>
                        <a:t>MILESTONE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960" spc="100" kern="0" dirty="0">
                          <a:solidFill>
                            <a:srgbClr val="6E7A83"/>
                          </a:solidFill>
                          <a:latin typeface="Space Mono" pitchFamily="34" charset="0"/>
                          <a:ea typeface="Space Mono" pitchFamily="34" charset="-122"/>
                          <a:cs typeface="Space Mono" pitchFamily="34" charset="-120"/>
                        </a:rPr>
                        <a:t>MONTH</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960" spc="100" kern="0" dirty="0">
                          <a:solidFill>
                            <a:srgbClr val="6E7A83"/>
                          </a:solidFill>
                          <a:latin typeface="Space Mono" pitchFamily="34" charset="0"/>
                          <a:ea typeface="Space Mono" pitchFamily="34" charset="-122"/>
                          <a:cs typeface="Space Mono" pitchFamily="34" charset="-120"/>
                        </a:rPr>
                        <a:t>STATUS</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Market, user and competition research</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Jul</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60A05A"/>
                          </a:solidFill>
                          <a:latin typeface="Space Mono" pitchFamily="34" charset="0"/>
                          <a:ea typeface="Space Mono" pitchFamily="34" charset="-122"/>
                          <a:cs typeface="Space Mono" pitchFamily="34" charset="-120"/>
                        </a:rPr>
                        <a:t>DONE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Brand identity and website live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Jul</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60A05A"/>
                          </a:solidFill>
                          <a:latin typeface="Space Mono" pitchFamily="34" charset="0"/>
                          <a:ea typeface="Space Mono" pitchFamily="34" charset="-122"/>
                          <a:cs typeface="Space Mono" pitchFamily="34" charset="-120"/>
                        </a:rPr>
                        <a:t>DONE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Samuel Beek (Schematik): funding offered after the proof of concept</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Jul</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60A05A"/>
                          </a:solidFill>
                          <a:latin typeface="Space Mono" pitchFamily="34" charset="0"/>
                          <a:ea typeface="Space Mono" pitchFamily="34" charset="-122"/>
                          <a:cs typeface="Space Mono" pitchFamily="34" charset="-120"/>
                        </a:rPr>
                        <a:t>DONE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Prototype design finalised</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Aug</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60A05A"/>
                          </a:solidFill>
                          <a:latin typeface="Space Mono" pitchFamily="34" charset="0"/>
                          <a:ea typeface="Space Mono" pitchFamily="34" charset="-122"/>
                          <a:cs typeface="Space Mono" pitchFamily="34" charset="-120"/>
                        </a:rPr>
                        <a:t>DONE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Build of the first </a:t>
                      </a:r>
                      <a:r>
                        <a:rPr lang="en-US" sz="96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60" dirty="0">
                          <a:solidFill>
                            <a:srgbClr val="E8EEF2"/>
                          </a:solidFill>
                          <a:latin typeface="Space Mono" pitchFamily="34" charset="0"/>
                          <a:ea typeface="Space Mono" pitchFamily="34" charset="-122"/>
                          <a:cs typeface="Space Mono" pitchFamily="34" charset="-120"/>
                        </a:rPr>
                        <a:t> prototype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Aug–</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F2C230"/>
                          </a:solidFill>
                          <a:latin typeface="Space Mono" pitchFamily="34" charset="0"/>
                          <a:ea typeface="Space Mono" pitchFamily="34" charset="-122"/>
                          <a:cs typeface="Space Mono" pitchFamily="34" charset="-120"/>
                        </a:rPr>
                        <a:t>IN PROGRESS</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Software–hardware integration</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Sep–</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F2C230"/>
                          </a:solidFill>
                          <a:latin typeface="Space Mono" pitchFamily="34" charset="0"/>
                          <a:ea typeface="Space Mono" pitchFamily="34" charset="-122"/>
                          <a:cs typeface="Space Mono" pitchFamily="34" charset="-120"/>
                        </a:rPr>
                        <a:t>IN PROGRESS</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Proof-of-concept funding from STMicroelectronics</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Sep–</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54ACF0"/>
                          </a:solidFill>
                          <a:latin typeface="Space Mono" pitchFamily="34" charset="0"/>
                          <a:ea typeface="Space Mono" pitchFamily="34" charset="-122"/>
                          <a:cs typeface="Space Mono" pitchFamily="34" charset="-120"/>
                        </a:rPr>
                        <a:t>IN DISCUSSION</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a:t>
                      </a:r>
                      <a:r>
                        <a:rPr lang="en-US" sz="960" u="sng" dirty="0">
                          <a:solidFill>
                            <a:srgbClr val="54ACF0"/>
                          </a:solidFill>
                          <a:latin typeface="Space Mono" pitchFamily="34" charset="0"/>
                          <a:ea typeface="Space Mono" pitchFamily="34" charset="-122"/>
                          <a:cs typeface="Space Mono" pitchFamily="34" charset="-120"/>
                          <a:hlinkClick r:id="rId2"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960" dirty="0">
                          <a:solidFill>
                            <a:srgbClr val="E8EEF2"/>
                          </a:solidFill>
                          <a:latin typeface="Space Mono" pitchFamily="34" charset="0"/>
                          <a:ea typeface="Space Mono" pitchFamily="34" charset="-122"/>
                          <a:cs typeface="Space Mono" pitchFamily="34" charset="-120"/>
                        </a:rPr>
                        <a:t> accessory</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Sep</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8FB3C9"/>
                          </a:solidFill>
                          <a:latin typeface="Space Mono" pitchFamily="34" charset="0"/>
                          <a:ea typeface="Space Mono" pitchFamily="34" charset="-122"/>
                          <a:cs typeface="Space Mono" pitchFamily="34" charset="-120"/>
                        </a:rPr>
                        <a:t>CONCEPT</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60604">
                <a:tc>
                  <a:txBody>
                    <a:bodyPr/>
                    <a:lstStyle/>
                    <a:p>
                      <a:pPr indent="0" marL="0">
                        <a:buNone/>
                      </a:pPr>
                      <a:r>
                        <a:rPr lang="en-US" sz="960" dirty="0">
                          <a:solidFill>
                            <a:srgbClr val="E8EEF2"/>
                          </a:solidFill>
                          <a:latin typeface="Space Mono" pitchFamily="34" charset="0"/>
                          <a:ea typeface="Space Mono" pitchFamily="34" charset="-122"/>
                          <a:cs typeface="Space Mono" pitchFamily="34" charset="-120"/>
                        </a:rPr>
                        <a:t>Cost report, workflow, China plan, pitch</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dirty="0">
                          <a:solidFill>
                            <a:srgbClr val="A3B3BE"/>
                          </a:solidFill>
                          <a:latin typeface="Space Mono" pitchFamily="34" charset="0"/>
                          <a:ea typeface="Space Mono" pitchFamily="34" charset="-122"/>
                          <a:cs typeface="Space Mono" pitchFamily="34" charset="-120"/>
                        </a:rPr>
                        <a:t>Sep</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960" b="1" dirty="0">
                          <a:solidFill>
                            <a:srgbClr val="60A05A"/>
                          </a:solidFill>
                          <a:latin typeface="Space Mono" pitchFamily="34" charset="0"/>
                          <a:ea typeface="Space Mono" pitchFamily="34" charset="-122"/>
                          <a:cs typeface="Space Mono" pitchFamily="34" charset="-120"/>
                        </a:rPr>
                        <a:t>DONE</a:t>
                      </a:r>
                      <a:endParaRPr lang="en-US" sz="9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6" name="Shape 2"/>
          <p:cNvSpPr/>
          <p:nvPr/>
        </p:nvSpPr>
        <p:spPr>
          <a:xfrm>
            <a:off x="411480" y="4498848"/>
            <a:ext cx="2697480" cy="54864"/>
          </a:xfrm>
          <a:prstGeom prst="rect">
            <a:avLst/>
          </a:prstGeom>
          <a:solidFill>
            <a:srgbClr val="CF8F4E"/>
          </a:solidFill>
          <a:ln w="12700">
            <a:solidFill>
              <a:srgbClr val="CF8F4E"/>
            </a:solidFill>
            <a:prstDash val="solid"/>
          </a:ln>
        </p:spPr>
      </p:sp>
      <p:sp>
        <p:nvSpPr>
          <p:cNvPr id="7" name="Text 3"/>
          <p:cNvSpPr txBox="1"/>
          <p:nvPr/>
        </p:nvSpPr>
        <p:spPr>
          <a:xfrm>
            <a:off x="411480" y="4279392"/>
            <a:ext cx="2651760" cy="182880"/>
          </a:xfrm>
          <a:prstGeom prst="rect">
            <a:avLst/>
          </a:prstGeom>
          <a:noFill/>
          <a:ln/>
        </p:spPr>
        <p:txBody>
          <a:bodyPr wrap="square" lIns="0" tIns="0" rIns="0" bIns="0" rtlCol="0" anchor="t"/>
          <a:lstStyle/>
          <a:p>
            <a:pPr indent="0" marL="0">
              <a:buNone/>
            </a:pPr>
            <a:r>
              <a:rPr lang="en-US" sz="850" b="1" spc="150" kern="0" dirty="0">
                <a:solidFill>
                  <a:srgbClr val="CF8F4E"/>
                </a:solidFill>
                <a:latin typeface="Space Mono" pitchFamily="34" charset="0"/>
                <a:ea typeface="Space Mono" pitchFamily="34" charset="-122"/>
                <a:cs typeface="Space Mono" pitchFamily="34" charset="-120"/>
              </a:rPr>
              <a:t>JULY</a:t>
            </a:r>
            <a:endParaRPr lang="en-US" sz="850" dirty="0"/>
          </a:p>
        </p:txBody>
      </p:sp>
      <p:sp>
        <p:nvSpPr>
          <p:cNvPr id="8" name="Shape 4"/>
          <p:cNvSpPr/>
          <p:nvPr/>
        </p:nvSpPr>
        <p:spPr>
          <a:xfrm>
            <a:off x="3182112" y="4498848"/>
            <a:ext cx="2697480" cy="54864"/>
          </a:xfrm>
          <a:prstGeom prst="rect">
            <a:avLst/>
          </a:prstGeom>
          <a:solidFill>
            <a:srgbClr val="54ACF0"/>
          </a:solidFill>
          <a:ln w="12700">
            <a:solidFill>
              <a:srgbClr val="54ACF0"/>
            </a:solidFill>
            <a:prstDash val="solid"/>
          </a:ln>
        </p:spPr>
      </p:sp>
      <p:sp>
        <p:nvSpPr>
          <p:cNvPr id="9" name="Text 5"/>
          <p:cNvSpPr txBox="1"/>
          <p:nvPr/>
        </p:nvSpPr>
        <p:spPr>
          <a:xfrm>
            <a:off x="3182112" y="4279392"/>
            <a:ext cx="2651760" cy="182880"/>
          </a:xfrm>
          <a:prstGeom prst="rect">
            <a:avLst/>
          </a:prstGeom>
          <a:noFill/>
          <a:ln/>
        </p:spPr>
        <p:txBody>
          <a:bodyPr wrap="square" lIns="0" tIns="0" rIns="0" bIns="0" rtlCol="0" anchor="t"/>
          <a:lstStyle/>
          <a:p>
            <a:pPr indent="0" marL="0">
              <a:buNone/>
            </a:pPr>
            <a:r>
              <a:rPr lang="en-US" sz="850" b="1" spc="150" kern="0" dirty="0">
                <a:solidFill>
                  <a:srgbClr val="54ACF0"/>
                </a:solidFill>
                <a:latin typeface="Space Mono" pitchFamily="34" charset="0"/>
                <a:ea typeface="Space Mono" pitchFamily="34" charset="-122"/>
                <a:cs typeface="Space Mono" pitchFamily="34" charset="-120"/>
              </a:rPr>
              <a:t>AUGUST</a:t>
            </a:r>
            <a:endParaRPr lang="en-US" sz="850" dirty="0"/>
          </a:p>
        </p:txBody>
      </p:sp>
      <p:sp>
        <p:nvSpPr>
          <p:cNvPr id="10" name="Shape 6"/>
          <p:cNvSpPr/>
          <p:nvPr/>
        </p:nvSpPr>
        <p:spPr>
          <a:xfrm>
            <a:off x="5952744" y="4498848"/>
            <a:ext cx="2697480" cy="54864"/>
          </a:xfrm>
          <a:prstGeom prst="rect">
            <a:avLst/>
          </a:prstGeom>
          <a:solidFill>
            <a:srgbClr val="F2C230"/>
          </a:solidFill>
          <a:ln w="12700">
            <a:solidFill>
              <a:srgbClr val="F2C230"/>
            </a:solidFill>
            <a:prstDash val="solid"/>
          </a:ln>
        </p:spPr>
      </p:sp>
      <p:sp>
        <p:nvSpPr>
          <p:cNvPr id="11" name="Text 7"/>
          <p:cNvSpPr txBox="1"/>
          <p:nvPr/>
        </p:nvSpPr>
        <p:spPr>
          <a:xfrm>
            <a:off x="5952744" y="4279392"/>
            <a:ext cx="2651760" cy="182880"/>
          </a:xfrm>
          <a:prstGeom prst="rect">
            <a:avLst/>
          </a:prstGeom>
          <a:noFill/>
          <a:ln/>
        </p:spPr>
        <p:txBody>
          <a:bodyPr wrap="square" lIns="0" tIns="0" rIns="0" bIns="0" rtlCol="0" anchor="t"/>
          <a:lstStyle/>
          <a:p>
            <a:pPr indent="0" marL="0">
              <a:buNone/>
            </a:pPr>
            <a:r>
              <a:rPr lang="en-US" sz="850" b="1" spc="150" kern="0" dirty="0">
                <a:solidFill>
                  <a:srgbClr val="F2C230"/>
                </a:solidFill>
                <a:latin typeface="Space Mono" pitchFamily="34" charset="0"/>
                <a:ea typeface="Space Mono" pitchFamily="34" charset="-122"/>
                <a:cs typeface="Space Mono" pitchFamily="34" charset="-120"/>
              </a:rPr>
              <a:t>SEPTEMBER</a:t>
            </a:r>
            <a:endParaRPr lang="en-US" sz="850" dirty="0"/>
          </a:p>
        </p:txBody>
      </p:sp>
      <p:sp>
        <p:nvSpPr>
          <p:cNvPr id="12" name="Shape 8"/>
          <p:cNvSpPr/>
          <p:nvPr/>
        </p:nvSpPr>
        <p:spPr>
          <a:xfrm>
            <a:off x="781355" y="4480560"/>
            <a:ext cx="91440" cy="91440"/>
          </a:xfrm>
          <a:prstGeom prst="ellipse">
            <a:avLst/>
          </a:prstGeom>
          <a:solidFill>
            <a:srgbClr val="E8EEF2"/>
          </a:solidFill>
          <a:ln w="9525">
            <a:solidFill>
              <a:srgbClr val="E8EEF2"/>
            </a:solidFill>
            <a:prstDash val="solid"/>
          </a:ln>
        </p:spPr>
      </p:sp>
      <p:sp>
        <p:nvSpPr>
          <p:cNvPr id="13" name="Text 9"/>
          <p:cNvSpPr txBox="1"/>
          <p:nvPr/>
        </p:nvSpPr>
        <p:spPr>
          <a:xfrm>
            <a:off x="278435"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research</a:t>
            </a:r>
            <a:endParaRPr lang="en-US" sz="800" dirty="0"/>
          </a:p>
        </p:txBody>
      </p:sp>
      <p:sp>
        <p:nvSpPr>
          <p:cNvPr id="14" name="Shape 10"/>
          <p:cNvSpPr/>
          <p:nvPr/>
        </p:nvSpPr>
        <p:spPr>
          <a:xfrm>
            <a:off x="1751076" y="4480560"/>
            <a:ext cx="91440" cy="91440"/>
          </a:xfrm>
          <a:prstGeom prst="ellipse">
            <a:avLst/>
          </a:prstGeom>
          <a:solidFill>
            <a:srgbClr val="E8EEF2"/>
          </a:solidFill>
          <a:ln w="9525">
            <a:solidFill>
              <a:srgbClr val="E8EEF2"/>
            </a:solidFill>
            <a:prstDash val="solid"/>
          </a:ln>
        </p:spPr>
      </p:sp>
      <p:sp>
        <p:nvSpPr>
          <p:cNvPr id="15" name="Text 11"/>
          <p:cNvSpPr txBox="1"/>
          <p:nvPr/>
        </p:nvSpPr>
        <p:spPr>
          <a:xfrm>
            <a:off x="1248156"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website</a:t>
            </a:r>
            <a:endParaRPr lang="en-US" sz="800" dirty="0"/>
          </a:p>
        </p:txBody>
      </p:sp>
      <p:sp>
        <p:nvSpPr>
          <p:cNvPr id="16" name="Shape 12"/>
          <p:cNvSpPr/>
          <p:nvPr/>
        </p:nvSpPr>
        <p:spPr>
          <a:xfrm>
            <a:off x="2720797" y="4480560"/>
            <a:ext cx="91440" cy="91440"/>
          </a:xfrm>
          <a:prstGeom prst="ellipse">
            <a:avLst/>
          </a:prstGeom>
          <a:solidFill>
            <a:srgbClr val="E8EEF2"/>
          </a:solidFill>
          <a:ln w="9525">
            <a:solidFill>
              <a:srgbClr val="E8EEF2"/>
            </a:solidFill>
            <a:prstDash val="solid"/>
          </a:ln>
        </p:spPr>
      </p:sp>
      <p:sp>
        <p:nvSpPr>
          <p:cNvPr id="17" name="Text 13"/>
          <p:cNvSpPr txBox="1"/>
          <p:nvPr/>
        </p:nvSpPr>
        <p:spPr>
          <a:xfrm>
            <a:off x="2217877"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S. Beek</a:t>
            </a:r>
            <a:endParaRPr lang="en-US" sz="800" dirty="0"/>
          </a:p>
        </p:txBody>
      </p:sp>
      <p:sp>
        <p:nvSpPr>
          <p:cNvPr id="18" name="Shape 14"/>
          <p:cNvSpPr/>
          <p:nvPr/>
        </p:nvSpPr>
        <p:spPr>
          <a:xfrm>
            <a:off x="3967582" y="4480560"/>
            <a:ext cx="91440" cy="91440"/>
          </a:xfrm>
          <a:prstGeom prst="ellipse">
            <a:avLst/>
          </a:prstGeom>
          <a:solidFill>
            <a:srgbClr val="E8EEF2"/>
          </a:solidFill>
          <a:ln w="9525">
            <a:solidFill>
              <a:srgbClr val="E8EEF2"/>
            </a:solidFill>
            <a:prstDash val="solid"/>
          </a:ln>
        </p:spPr>
      </p:sp>
      <p:sp>
        <p:nvSpPr>
          <p:cNvPr id="19" name="Text 15"/>
          <p:cNvSpPr txBox="1"/>
          <p:nvPr/>
        </p:nvSpPr>
        <p:spPr>
          <a:xfrm>
            <a:off x="3464662"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design</a:t>
            </a:r>
            <a:endParaRPr lang="en-US" sz="800" dirty="0"/>
          </a:p>
        </p:txBody>
      </p:sp>
      <p:sp>
        <p:nvSpPr>
          <p:cNvPr id="20" name="Shape 16"/>
          <p:cNvSpPr/>
          <p:nvPr/>
        </p:nvSpPr>
        <p:spPr>
          <a:xfrm>
            <a:off x="5491429" y="4480560"/>
            <a:ext cx="91440" cy="91440"/>
          </a:xfrm>
          <a:prstGeom prst="ellipse">
            <a:avLst/>
          </a:prstGeom>
          <a:solidFill>
            <a:srgbClr val="E8EEF2"/>
          </a:solidFill>
          <a:ln w="9525">
            <a:solidFill>
              <a:srgbClr val="E8EEF2"/>
            </a:solidFill>
            <a:prstDash val="solid"/>
          </a:ln>
        </p:spPr>
      </p:sp>
      <p:sp>
        <p:nvSpPr>
          <p:cNvPr id="21" name="Text 17"/>
          <p:cNvSpPr txBox="1"/>
          <p:nvPr/>
        </p:nvSpPr>
        <p:spPr>
          <a:xfrm>
            <a:off x="4988509"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build</a:t>
            </a:r>
            <a:endParaRPr lang="en-US" sz="800" dirty="0"/>
          </a:p>
        </p:txBody>
      </p:sp>
      <p:sp>
        <p:nvSpPr>
          <p:cNvPr id="22" name="Shape 18"/>
          <p:cNvSpPr/>
          <p:nvPr/>
        </p:nvSpPr>
        <p:spPr>
          <a:xfrm>
            <a:off x="6461150" y="4480560"/>
            <a:ext cx="91440" cy="91440"/>
          </a:xfrm>
          <a:prstGeom prst="ellipse">
            <a:avLst/>
          </a:prstGeom>
          <a:solidFill>
            <a:srgbClr val="E8EEF2"/>
          </a:solidFill>
          <a:ln w="9525">
            <a:solidFill>
              <a:srgbClr val="E8EEF2"/>
            </a:solidFill>
            <a:prstDash val="solid"/>
          </a:ln>
        </p:spPr>
      </p:sp>
      <p:sp>
        <p:nvSpPr>
          <p:cNvPr id="23" name="Text 19"/>
          <p:cNvSpPr txBox="1"/>
          <p:nvPr/>
        </p:nvSpPr>
        <p:spPr>
          <a:xfrm>
            <a:off x="5958230"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integration</a:t>
            </a:r>
            <a:endParaRPr lang="en-US" sz="800" dirty="0"/>
          </a:p>
        </p:txBody>
      </p:sp>
      <p:sp>
        <p:nvSpPr>
          <p:cNvPr id="24" name="Shape 20"/>
          <p:cNvSpPr/>
          <p:nvPr/>
        </p:nvSpPr>
        <p:spPr>
          <a:xfrm>
            <a:off x="7292340" y="4480560"/>
            <a:ext cx="91440" cy="91440"/>
          </a:xfrm>
          <a:prstGeom prst="ellipse">
            <a:avLst/>
          </a:prstGeom>
          <a:solidFill>
            <a:srgbClr val="E8EEF2"/>
          </a:solidFill>
          <a:ln w="9525">
            <a:solidFill>
              <a:srgbClr val="E8EEF2"/>
            </a:solidFill>
            <a:prstDash val="solid"/>
          </a:ln>
        </p:spPr>
      </p:sp>
      <p:sp>
        <p:nvSpPr>
          <p:cNvPr id="25" name="Text 21"/>
          <p:cNvSpPr txBox="1"/>
          <p:nvPr/>
        </p:nvSpPr>
        <p:spPr>
          <a:xfrm>
            <a:off x="6789420"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STMicro</a:t>
            </a:r>
            <a:endParaRPr lang="en-US" sz="800" dirty="0"/>
          </a:p>
        </p:txBody>
      </p:sp>
      <p:sp>
        <p:nvSpPr>
          <p:cNvPr id="26" name="Shape 22"/>
          <p:cNvSpPr/>
          <p:nvPr/>
        </p:nvSpPr>
        <p:spPr>
          <a:xfrm>
            <a:off x="8262061" y="4480560"/>
            <a:ext cx="91440" cy="91440"/>
          </a:xfrm>
          <a:prstGeom prst="ellipse">
            <a:avLst/>
          </a:prstGeom>
          <a:solidFill>
            <a:srgbClr val="E8EEF2"/>
          </a:solidFill>
          <a:ln w="9525">
            <a:solidFill>
              <a:srgbClr val="E8EEF2"/>
            </a:solidFill>
            <a:prstDash val="solid"/>
          </a:ln>
        </p:spPr>
      </p:sp>
      <p:sp>
        <p:nvSpPr>
          <p:cNvPr id="27" name="Text 23"/>
          <p:cNvSpPr txBox="1"/>
          <p:nvPr/>
        </p:nvSpPr>
        <p:spPr>
          <a:xfrm>
            <a:off x="7759141" y="4617720"/>
            <a:ext cx="1097280" cy="182880"/>
          </a:xfrm>
          <a:prstGeom prst="rect">
            <a:avLst/>
          </a:prstGeom>
          <a:noFill/>
          <a:ln/>
        </p:spPr>
        <p:txBody>
          <a:bodyPr wrap="square" lIns="0" tIns="0" rIns="0" bIns="0" rtlCol="0" anchor="t"/>
          <a:lstStyle/>
          <a:p>
            <a:pPr algn="ctr" indent="0" marL="0">
              <a:buNone/>
            </a:pPr>
            <a:r>
              <a:rPr lang="en-US" sz="800" dirty="0">
                <a:solidFill>
                  <a:srgbClr val="A3B3BE"/>
                </a:solidFill>
                <a:latin typeface="Space Mono" pitchFamily="34" charset="0"/>
                <a:ea typeface="Space Mono" pitchFamily="34" charset="-122"/>
                <a:cs typeface="Space Mono" pitchFamily="34" charset="-120"/>
              </a:rPr>
              <a:t>Probe Matrix</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CF8F4E"/>
                </a:solidFill>
                <a:latin typeface="Space Mono" pitchFamily="34" charset="0"/>
                <a:ea typeface="Space Mono" pitchFamily="34" charset="-122"/>
                <a:cs typeface="Space Mono" pitchFamily="34" charset="-120"/>
              </a:rPr>
              <a:t>03 · JULY 2026</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Research, brand and website, first investor</a:t>
            </a:r>
            <a:endParaRPr lang="en-US" sz="2400" dirty="0"/>
          </a:p>
        </p:txBody>
      </p:sp>
      <p:sp>
        <p:nvSpPr>
          <p:cNvPr id="5" name="Text 2"/>
          <p:cNvSpPr txBox="1"/>
          <p:nvPr/>
        </p:nvSpPr>
        <p:spPr>
          <a:xfrm>
            <a:off x="411480" y="129844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1.1</a:t>
            </a:r>
            <a:endParaRPr lang="en-US" sz="1200" dirty="0"/>
          </a:p>
        </p:txBody>
      </p:sp>
      <p:sp>
        <p:nvSpPr>
          <p:cNvPr id="6" name="Text 3"/>
          <p:cNvSpPr txBox="1"/>
          <p:nvPr/>
        </p:nvSpPr>
        <p:spPr>
          <a:xfrm>
            <a:off x="868680" y="1298448"/>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Problem study</a:t>
            </a:r>
            <a:endParaRPr lang="en-US" sz="1250" dirty="0"/>
          </a:p>
        </p:txBody>
      </p:sp>
      <p:sp>
        <p:nvSpPr>
          <p:cNvPr id="7" name="Text 4"/>
          <p:cNvSpPr txBox="1"/>
          <p:nvPr/>
        </p:nvSpPr>
        <p:spPr>
          <a:xfrm>
            <a:off x="7452360" y="131673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8" name="Text 5"/>
          <p:cNvSpPr txBox="1"/>
          <p:nvPr/>
        </p:nvSpPr>
        <p:spPr>
          <a:xfrm>
            <a:off x="868680" y="1572768"/>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a first board: fab order, 7–20 days, ~</a:t>
            </a:r>
            <a:r>
              <a:rPr lang="en-US" sz="920" dirty="0">
                <a:solidFill>
                  <a:srgbClr val="A3B3BE"/>
                </a:solidFill>
                <a:latin typeface="Space Grotesk" pitchFamily="34" charset="0"/>
                <a:ea typeface="Space Grotesk" pitchFamily="34" charset="-122"/>
                <a:cs typeface="Space Grotesk" pitchFamily="34" charset="-120"/>
              </a:rPr>
              <a:t>₹</a:t>
            </a:r>
            <a:r>
              <a:rPr lang="en-US" sz="920" dirty="0">
                <a:solidFill>
                  <a:srgbClr val="A3B3BE"/>
                </a:solidFill>
                <a:latin typeface="Space Mono" pitchFamily="34" charset="0"/>
                <a:ea typeface="Space Mono" pitchFamily="34" charset="-122"/>
                <a:cs typeface="Space Mono" pitchFamily="34" charset="-120"/>
              </a:rPr>
              <a:t>6,700 per assembled try landed in India</a:t>
            </a:r>
            <a:endParaRPr lang="en-US" sz="920" dirty="0"/>
          </a:p>
        </p:txBody>
      </p:sp>
      <p:sp>
        <p:nvSpPr>
          <p:cNvPr id="9" name="Shape 6"/>
          <p:cNvSpPr/>
          <p:nvPr/>
        </p:nvSpPr>
        <p:spPr>
          <a:xfrm>
            <a:off x="411480" y="1728216"/>
            <a:ext cx="8321040" cy="0"/>
          </a:xfrm>
          <a:prstGeom prst="line">
            <a:avLst/>
          </a:prstGeom>
          <a:noFill/>
          <a:ln w="9525">
            <a:solidFill>
              <a:srgbClr val="1F2A32"/>
            </a:solidFill>
            <a:prstDash val="solid"/>
          </a:ln>
        </p:spPr>
      </p:sp>
      <p:sp>
        <p:nvSpPr>
          <p:cNvPr id="10" name="Text 7"/>
          <p:cNvSpPr txBox="1"/>
          <p:nvPr/>
        </p:nvSpPr>
        <p:spPr>
          <a:xfrm>
            <a:off x="411480" y="1773936"/>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1.2</a:t>
            </a:r>
            <a:endParaRPr lang="en-US" sz="1200" dirty="0"/>
          </a:p>
        </p:txBody>
      </p:sp>
      <p:sp>
        <p:nvSpPr>
          <p:cNvPr id="11" name="Text 8"/>
          <p:cNvSpPr txBox="1"/>
          <p:nvPr/>
        </p:nvSpPr>
        <p:spPr>
          <a:xfrm>
            <a:off x="868680" y="1773936"/>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User study</a:t>
            </a:r>
            <a:endParaRPr lang="en-US" sz="1250" dirty="0"/>
          </a:p>
        </p:txBody>
      </p:sp>
      <p:sp>
        <p:nvSpPr>
          <p:cNvPr id="12" name="Text 9"/>
          <p:cNvSpPr txBox="1"/>
          <p:nvPr/>
        </p:nvSpPr>
        <p:spPr>
          <a:xfrm>
            <a:off x="7452360" y="1792224"/>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13" name="Text 10"/>
          <p:cNvSpPr txBox="1"/>
          <p:nvPr/>
        </p:nvSpPr>
        <p:spPr>
          <a:xfrm>
            <a:off x="868680" y="2048256"/>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eight rungs from idea to iteration; rungs 5–8 are physical, where we work</a:t>
            </a:r>
            <a:endParaRPr lang="en-US" sz="920" dirty="0"/>
          </a:p>
        </p:txBody>
      </p:sp>
      <p:sp>
        <p:nvSpPr>
          <p:cNvPr id="14" name="Shape 11"/>
          <p:cNvSpPr/>
          <p:nvPr/>
        </p:nvSpPr>
        <p:spPr>
          <a:xfrm>
            <a:off x="411480" y="2203704"/>
            <a:ext cx="8321040" cy="0"/>
          </a:xfrm>
          <a:prstGeom prst="line">
            <a:avLst/>
          </a:prstGeom>
          <a:noFill/>
          <a:ln w="9525">
            <a:solidFill>
              <a:srgbClr val="1F2A32"/>
            </a:solidFill>
            <a:prstDash val="solid"/>
          </a:ln>
        </p:spPr>
      </p:sp>
      <p:sp>
        <p:nvSpPr>
          <p:cNvPr id="15" name="Text 12"/>
          <p:cNvSpPr txBox="1"/>
          <p:nvPr/>
        </p:nvSpPr>
        <p:spPr>
          <a:xfrm>
            <a:off x="411480" y="2249424"/>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1.3</a:t>
            </a:r>
            <a:endParaRPr lang="en-US" sz="1200" dirty="0"/>
          </a:p>
        </p:txBody>
      </p:sp>
      <p:sp>
        <p:nvSpPr>
          <p:cNvPr id="16" name="Text 13"/>
          <p:cNvSpPr txBox="1"/>
          <p:nvPr/>
        </p:nvSpPr>
        <p:spPr>
          <a:xfrm>
            <a:off x="868680" y="2249424"/>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Competition study</a:t>
            </a:r>
            <a:endParaRPr lang="en-US" sz="1250" dirty="0"/>
          </a:p>
        </p:txBody>
      </p:sp>
      <p:sp>
        <p:nvSpPr>
          <p:cNvPr id="17" name="Text 14"/>
          <p:cNvSpPr txBox="1"/>
          <p:nvPr/>
        </p:nvSpPr>
        <p:spPr>
          <a:xfrm>
            <a:off x="7452360" y="2267712"/>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18" name="Text 15"/>
          <p:cNvSpPr txBox="1"/>
          <p:nvPr/>
        </p:nvSpPr>
        <p:spPr>
          <a:xfrm>
            <a:off x="868680" y="2523744"/>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mills, ink printers, pick-and-place, USB instruments, fabs, AI tools: each solves one step</a:t>
            </a:r>
            <a:endParaRPr lang="en-US" sz="920" dirty="0"/>
          </a:p>
        </p:txBody>
      </p:sp>
      <p:sp>
        <p:nvSpPr>
          <p:cNvPr id="19" name="Shape 16"/>
          <p:cNvSpPr/>
          <p:nvPr/>
        </p:nvSpPr>
        <p:spPr>
          <a:xfrm>
            <a:off x="411480" y="2679192"/>
            <a:ext cx="8321040" cy="0"/>
          </a:xfrm>
          <a:prstGeom prst="line">
            <a:avLst/>
          </a:prstGeom>
          <a:noFill/>
          <a:ln w="9525">
            <a:solidFill>
              <a:srgbClr val="1F2A32"/>
            </a:solidFill>
            <a:prstDash val="solid"/>
          </a:ln>
        </p:spPr>
      </p:sp>
      <p:sp>
        <p:nvSpPr>
          <p:cNvPr id="20" name="Text 17"/>
          <p:cNvSpPr txBox="1"/>
          <p:nvPr/>
        </p:nvSpPr>
        <p:spPr>
          <a:xfrm>
            <a:off x="411480" y="2724912"/>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1.4</a:t>
            </a:r>
            <a:endParaRPr lang="en-US" sz="1200" dirty="0"/>
          </a:p>
        </p:txBody>
      </p:sp>
      <p:sp>
        <p:nvSpPr>
          <p:cNvPr id="21" name="Text 18"/>
          <p:cNvSpPr txBox="1"/>
          <p:nvPr/>
        </p:nvSpPr>
        <p:spPr>
          <a:xfrm>
            <a:off x="868680" y="2724912"/>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Market study</a:t>
            </a:r>
            <a:endParaRPr lang="en-US" sz="1250" dirty="0"/>
          </a:p>
        </p:txBody>
      </p:sp>
      <p:sp>
        <p:nvSpPr>
          <p:cNvPr id="22" name="Text 19"/>
          <p:cNvSpPr txBox="1"/>
          <p:nvPr/>
        </p:nvSpPr>
        <p:spPr>
          <a:xfrm>
            <a:off x="7452360" y="2743200"/>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3" name="Text 20"/>
          <p:cNvSpPr txBox="1"/>
          <p:nvPr/>
        </p:nvSpPr>
        <p:spPr>
          <a:xfrm>
            <a:off x="868680" y="2999232"/>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5,868 AICTE colleges, ~2,250 hardware startups, 10,000 Atal Tinkering Labs</a:t>
            </a:r>
            <a:endParaRPr lang="en-US" sz="920" dirty="0"/>
          </a:p>
        </p:txBody>
      </p:sp>
      <p:sp>
        <p:nvSpPr>
          <p:cNvPr id="24" name="Shape 21"/>
          <p:cNvSpPr/>
          <p:nvPr/>
        </p:nvSpPr>
        <p:spPr>
          <a:xfrm>
            <a:off x="411480" y="3154680"/>
            <a:ext cx="8321040" cy="0"/>
          </a:xfrm>
          <a:prstGeom prst="line">
            <a:avLst/>
          </a:prstGeom>
          <a:noFill/>
          <a:ln w="9525">
            <a:solidFill>
              <a:srgbClr val="1F2A32"/>
            </a:solidFill>
            <a:prstDash val="solid"/>
          </a:ln>
        </p:spPr>
      </p:sp>
      <p:sp>
        <p:nvSpPr>
          <p:cNvPr id="25" name="Text 22"/>
          <p:cNvSpPr txBox="1"/>
          <p:nvPr/>
        </p:nvSpPr>
        <p:spPr>
          <a:xfrm>
            <a:off x="411480" y="3200400"/>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1.5</a:t>
            </a:r>
            <a:endParaRPr lang="en-US" sz="1200" dirty="0"/>
          </a:p>
        </p:txBody>
      </p:sp>
      <p:sp>
        <p:nvSpPr>
          <p:cNvPr id="26" name="Text 23"/>
          <p:cNvSpPr txBox="1"/>
          <p:nvPr/>
        </p:nvSpPr>
        <p:spPr>
          <a:xfrm>
            <a:off x="868680" y="3200400"/>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Product concept</a:t>
            </a:r>
            <a:endParaRPr lang="en-US" sz="1250" dirty="0"/>
          </a:p>
        </p:txBody>
      </p:sp>
      <p:sp>
        <p:nvSpPr>
          <p:cNvPr id="27" name="Text 24"/>
          <p:cNvSpPr txBox="1"/>
          <p:nvPr/>
        </p:nvSpPr>
        <p:spPr>
          <a:xfrm>
            <a:off x="7452360" y="3218688"/>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8" name="Text 25"/>
          <p:cNvSpPr txBox="1"/>
          <p:nvPr/>
        </p:nvSpPr>
        <p:spPr>
          <a:xfrm>
            <a:off x="868680" y="3474720"/>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Proto plans, </a:t>
            </a:r>
            <a:r>
              <a:rPr lang="en-US" sz="92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20" dirty="0">
                <a:solidFill>
                  <a:srgbClr val="A3B3BE"/>
                </a:solidFill>
                <a:latin typeface="Space Mono" pitchFamily="34" charset="0"/>
                <a:ea typeface="Space Mono" pitchFamily="34" charset="-122"/>
                <a:cs typeface="Space Mono" pitchFamily="34" charset="-120"/>
              </a:rPr>
              <a:t> makes, </a:t>
            </a:r>
            <a:r>
              <a:rPr lang="en-US" sz="920" u="sng" dirty="0">
                <a:solidFill>
                  <a:srgbClr val="54ACF0"/>
                </a:solidFill>
                <a:latin typeface="Space Mono" pitchFamily="34" charset="0"/>
                <a:ea typeface="Space Mono" pitchFamily="34" charset="-122"/>
                <a:cs typeface="Space Mono"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920" dirty="0">
                <a:solidFill>
                  <a:srgbClr val="A3B3BE"/>
                </a:solidFill>
                <a:latin typeface="Space Mono" pitchFamily="34" charset="0"/>
                <a:ea typeface="Space Mono" pitchFamily="34" charset="-122"/>
                <a:cs typeface="Space Mono" pitchFamily="34" charset="-120"/>
              </a:rPr>
              <a:t> tests; for the first 1–10 boards of a design</a:t>
            </a:r>
            <a:endParaRPr lang="en-US" sz="920" dirty="0"/>
          </a:p>
        </p:txBody>
      </p:sp>
      <p:sp>
        <p:nvSpPr>
          <p:cNvPr id="29" name="Shape 26"/>
          <p:cNvSpPr/>
          <p:nvPr/>
        </p:nvSpPr>
        <p:spPr>
          <a:xfrm>
            <a:off x="411480" y="3630168"/>
            <a:ext cx="8321040" cy="0"/>
          </a:xfrm>
          <a:prstGeom prst="line">
            <a:avLst/>
          </a:prstGeom>
          <a:noFill/>
          <a:ln w="9525">
            <a:solidFill>
              <a:srgbClr val="1F2A32"/>
            </a:solidFill>
            <a:prstDash val="solid"/>
          </a:ln>
        </p:spPr>
      </p:sp>
      <p:sp>
        <p:nvSpPr>
          <p:cNvPr id="30" name="Text 27"/>
          <p:cNvSpPr txBox="1"/>
          <p:nvPr/>
        </p:nvSpPr>
        <p:spPr>
          <a:xfrm>
            <a:off x="411480" y="367588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1.6</a:t>
            </a:r>
            <a:endParaRPr lang="en-US" sz="1200" dirty="0"/>
          </a:p>
        </p:txBody>
      </p:sp>
      <p:sp>
        <p:nvSpPr>
          <p:cNvPr id="31" name="Text 28"/>
          <p:cNvSpPr txBox="1"/>
          <p:nvPr/>
        </p:nvSpPr>
        <p:spPr>
          <a:xfrm>
            <a:off x="868680" y="3675888"/>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Brand and website</a:t>
            </a:r>
            <a:endParaRPr lang="en-US" sz="1250" dirty="0"/>
          </a:p>
        </p:txBody>
      </p:sp>
      <p:sp>
        <p:nvSpPr>
          <p:cNvPr id="32" name="Text 29"/>
          <p:cNvSpPr txBox="1"/>
          <p:nvPr/>
        </p:nvSpPr>
        <p:spPr>
          <a:xfrm>
            <a:off x="7452360" y="369417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33" name="Text 30"/>
          <p:cNvSpPr txBox="1"/>
          <p:nvPr/>
        </p:nvSpPr>
        <p:spPr>
          <a:xfrm>
            <a:off x="868680" y="3950208"/>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name, logo, mascot, design language; site live with </a:t>
            </a:r>
            <a:r>
              <a:rPr lang="en-US" sz="92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20" dirty="0">
                <a:solidFill>
                  <a:srgbClr val="A3B3BE"/>
                </a:solidFill>
                <a:latin typeface="Space Mono" pitchFamily="34" charset="0"/>
                <a:ea typeface="Space Mono" pitchFamily="34" charset="-122"/>
                <a:cs typeface="Space Mono" pitchFamily="34" charset="-120"/>
              </a:rPr>
              <a:t> and </a:t>
            </a:r>
            <a:r>
              <a:rPr lang="en-US" sz="92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920" dirty="0">
                <a:solidFill>
                  <a:srgbClr val="A3B3BE"/>
                </a:solidFill>
                <a:latin typeface="Space Mono" pitchFamily="34" charset="0"/>
                <a:ea typeface="Space Mono" pitchFamily="34" charset="-122"/>
                <a:cs typeface="Space Mono" pitchFamily="34" charset="-120"/>
              </a:rPr>
              <a:t> pages</a:t>
            </a:r>
            <a:endParaRPr lang="en-US" sz="920" dirty="0"/>
          </a:p>
        </p:txBody>
      </p:sp>
      <p:sp>
        <p:nvSpPr>
          <p:cNvPr id="34" name="Shape 31"/>
          <p:cNvSpPr/>
          <p:nvPr/>
        </p:nvSpPr>
        <p:spPr>
          <a:xfrm>
            <a:off x="411480" y="4105656"/>
            <a:ext cx="8321040" cy="0"/>
          </a:xfrm>
          <a:prstGeom prst="line">
            <a:avLst/>
          </a:prstGeom>
          <a:noFill/>
          <a:ln w="9525">
            <a:solidFill>
              <a:srgbClr val="1F2A32"/>
            </a:solidFill>
            <a:prstDash val="solid"/>
          </a:ln>
        </p:spPr>
      </p:sp>
      <p:sp>
        <p:nvSpPr>
          <p:cNvPr id="35" name="Text 32"/>
          <p:cNvSpPr txBox="1"/>
          <p:nvPr/>
        </p:nvSpPr>
        <p:spPr>
          <a:xfrm>
            <a:off x="411480" y="4151376"/>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1.7</a:t>
            </a:r>
            <a:endParaRPr lang="en-US" sz="1200" dirty="0"/>
          </a:p>
        </p:txBody>
      </p:sp>
      <p:sp>
        <p:nvSpPr>
          <p:cNvPr id="36" name="Text 33"/>
          <p:cNvSpPr txBox="1"/>
          <p:nvPr/>
        </p:nvSpPr>
        <p:spPr>
          <a:xfrm>
            <a:off x="868680" y="4151376"/>
            <a:ext cx="653796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Meeting with Samuel Beek, Schematik</a:t>
            </a:r>
            <a:endParaRPr lang="en-US" sz="1250" dirty="0"/>
          </a:p>
        </p:txBody>
      </p:sp>
      <p:sp>
        <p:nvSpPr>
          <p:cNvPr id="37" name="Text 34"/>
          <p:cNvSpPr txBox="1"/>
          <p:nvPr/>
        </p:nvSpPr>
        <p:spPr>
          <a:xfrm>
            <a:off x="7452360" y="4169664"/>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38" name="Text 35"/>
          <p:cNvSpPr txBox="1"/>
          <p:nvPr/>
        </p:nvSpPr>
        <p:spPr>
          <a:xfrm>
            <a:off x="868680" y="4425696"/>
            <a:ext cx="7863840" cy="146304"/>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verbal commitment to fund Protopus after the proof of concept</a:t>
            </a:r>
            <a:endParaRPr lang="en-US" sz="920" dirty="0"/>
          </a:p>
        </p:txBody>
      </p:sp>
      <p:sp>
        <p:nvSpPr>
          <p:cNvPr id="39" name="Shape 36"/>
          <p:cNvSpPr/>
          <p:nvPr/>
        </p:nvSpPr>
        <p:spPr>
          <a:xfrm>
            <a:off x="411480" y="4581144"/>
            <a:ext cx="8321040" cy="0"/>
          </a:xfrm>
          <a:prstGeom prst="line">
            <a:avLst/>
          </a:prstGeom>
          <a:noFill/>
          <a:ln w="9525">
            <a:solidFill>
              <a:srgbClr val="1F2A3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54ACF0"/>
                </a:solidFill>
                <a:latin typeface="Space Mono" pitchFamily="34" charset="0"/>
                <a:ea typeface="Space Mono" pitchFamily="34" charset="-122"/>
                <a:cs typeface="Space Mono" pitchFamily="34" charset="-120"/>
              </a:rPr>
              <a:t>04 · AUGUST 2026</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Prototype design finalised; build started</a:t>
            </a:r>
            <a:endParaRPr lang="en-US" sz="2400" dirty="0"/>
          </a:p>
        </p:txBody>
      </p:sp>
      <p:sp>
        <p:nvSpPr>
          <p:cNvPr id="5" name="Text 2"/>
          <p:cNvSpPr txBox="1"/>
          <p:nvPr/>
        </p:nvSpPr>
        <p:spPr>
          <a:xfrm>
            <a:off x="411480" y="129844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2.1</a:t>
            </a:r>
            <a:endParaRPr lang="en-US" sz="1200" dirty="0"/>
          </a:p>
        </p:txBody>
      </p:sp>
      <p:sp>
        <p:nvSpPr>
          <p:cNvPr id="6" name="Text 3"/>
          <p:cNvSpPr txBox="1"/>
          <p:nvPr/>
        </p:nvSpPr>
        <p:spPr>
          <a:xfrm>
            <a:off x="868680" y="129844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a:t>
            </a:r>
            <a:r>
              <a:rPr lang="en-US" sz="1250" b="1"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b="1" dirty="0">
                <a:solidFill>
                  <a:srgbClr val="E8EEF2"/>
                </a:solidFill>
                <a:latin typeface="Space Grotesk" pitchFamily="34" charset="0"/>
                <a:ea typeface="Space Grotesk" pitchFamily="34" charset="-122"/>
                <a:cs typeface="Space Grotesk" pitchFamily="34" charset="-120"/>
              </a:rPr>
              <a:t> 15-step process</a:t>
            </a:r>
            <a:endParaRPr lang="en-US" sz="1250" dirty="0"/>
          </a:p>
        </p:txBody>
      </p:sp>
      <p:sp>
        <p:nvSpPr>
          <p:cNvPr id="7" name="Text 4"/>
          <p:cNvSpPr txBox="1"/>
          <p:nvPr/>
        </p:nvSpPr>
        <p:spPr>
          <a:xfrm>
            <a:off x="4617720" y="131673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8" name="Text 5"/>
          <p:cNvSpPr txBox="1"/>
          <p:nvPr/>
        </p:nvSpPr>
        <p:spPr>
          <a:xfrm>
            <a:off x="868680" y="157276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feed, probe, mill, drill, mask, stencil, paste, jig, reflow, test</a:t>
            </a:r>
            <a:endParaRPr lang="en-US" sz="920" dirty="0"/>
          </a:p>
        </p:txBody>
      </p:sp>
      <p:sp>
        <p:nvSpPr>
          <p:cNvPr id="9" name="Shape 6"/>
          <p:cNvSpPr/>
          <p:nvPr/>
        </p:nvSpPr>
        <p:spPr>
          <a:xfrm>
            <a:off x="411480" y="1801368"/>
            <a:ext cx="5486400" cy="0"/>
          </a:xfrm>
          <a:prstGeom prst="line">
            <a:avLst/>
          </a:prstGeom>
          <a:noFill/>
          <a:ln w="9525">
            <a:solidFill>
              <a:srgbClr val="1F2A32"/>
            </a:solidFill>
            <a:prstDash val="solid"/>
          </a:ln>
        </p:spPr>
      </p:sp>
      <p:sp>
        <p:nvSpPr>
          <p:cNvPr id="10" name="Text 7"/>
          <p:cNvSpPr txBox="1"/>
          <p:nvPr/>
        </p:nvSpPr>
        <p:spPr>
          <a:xfrm>
            <a:off x="411480" y="184708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2.2</a:t>
            </a:r>
            <a:endParaRPr lang="en-US" sz="1200" dirty="0"/>
          </a:p>
        </p:txBody>
      </p:sp>
      <p:sp>
        <p:nvSpPr>
          <p:cNvPr id="11" name="Text 8"/>
          <p:cNvSpPr txBox="1"/>
          <p:nvPr/>
        </p:nvSpPr>
        <p:spPr>
          <a:xfrm>
            <a:off x="868680" y="184708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Machine architecture</a:t>
            </a:r>
            <a:endParaRPr lang="en-US" sz="1250" dirty="0"/>
          </a:p>
        </p:txBody>
      </p:sp>
      <p:sp>
        <p:nvSpPr>
          <p:cNvPr id="12" name="Text 9"/>
          <p:cNvSpPr txBox="1"/>
          <p:nvPr/>
        </p:nvSpPr>
        <p:spPr>
          <a:xfrm>
            <a:off x="4617720" y="186537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13" name="Text 10"/>
          <p:cNvSpPr txBox="1"/>
          <p:nvPr/>
        </p:nvSpPr>
        <p:spPr>
          <a:xfrm>
            <a:off x="868680" y="212140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one shuttle, two zones, one coordinate frame; refill magazine</a:t>
            </a:r>
            <a:endParaRPr lang="en-US" sz="920" dirty="0"/>
          </a:p>
        </p:txBody>
      </p:sp>
      <p:sp>
        <p:nvSpPr>
          <p:cNvPr id="14" name="Shape 11"/>
          <p:cNvSpPr/>
          <p:nvPr/>
        </p:nvSpPr>
        <p:spPr>
          <a:xfrm>
            <a:off x="411480" y="2350008"/>
            <a:ext cx="5486400" cy="0"/>
          </a:xfrm>
          <a:prstGeom prst="line">
            <a:avLst/>
          </a:prstGeom>
          <a:noFill/>
          <a:ln w="9525">
            <a:solidFill>
              <a:srgbClr val="1F2A32"/>
            </a:solidFill>
            <a:prstDash val="solid"/>
          </a:ln>
        </p:spPr>
      </p:sp>
      <p:sp>
        <p:nvSpPr>
          <p:cNvPr id="15" name="Text 12"/>
          <p:cNvSpPr txBox="1"/>
          <p:nvPr/>
        </p:nvSpPr>
        <p:spPr>
          <a:xfrm>
            <a:off x="411480" y="239572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2.3</a:t>
            </a:r>
            <a:endParaRPr lang="en-US" sz="1200" dirty="0"/>
          </a:p>
        </p:txBody>
      </p:sp>
      <p:sp>
        <p:nvSpPr>
          <p:cNvPr id="16" name="Text 13"/>
          <p:cNvSpPr txBox="1"/>
          <p:nvPr/>
        </p:nvSpPr>
        <p:spPr>
          <a:xfrm>
            <a:off x="868680" y="239572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Subsystem specification</a:t>
            </a:r>
            <a:endParaRPr lang="en-US" sz="1250" dirty="0"/>
          </a:p>
        </p:txBody>
      </p:sp>
      <p:sp>
        <p:nvSpPr>
          <p:cNvPr id="17" name="Text 14"/>
          <p:cNvSpPr txBox="1"/>
          <p:nvPr/>
        </p:nvSpPr>
        <p:spPr>
          <a:xfrm>
            <a:off x="4617720" y="241401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18" name="Text 15"/>
          <p:cNvSpPr txBox="1"/>
          <p:nvPr/>
        </p:nvSpPr>
        <p:spPr>
          <a:xfrm>
            <a:off x="868680" y="267004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500 W spindle, 10 W laser, 405 nm LCD, 138 °C reflow; Pi 5 + Klipper</a:t>
            </a:r>
            <a:endParaRPr lang="en-US" sz="920" dirty="0"/>
          </a:p>
        </p:txBody>
      </p:sp>
      <p:sp>
        <p:nvSpPr>
          <p:cNvPr id="19" name="Shape 16"/>
          <p:cNvSpPr/>
          <p:nvPr/>
        </p:nvSpPr>
        <p:spPr>
          <a:xfrm>
            <a:off x="411480" y="2898648"/>
            <a:ext cx="5486400" cy="0"/>
          </a:xfrm>
          <a:prstGeom prst="line">
            <a:avLst/>
          </a:prstGeom>
          <a:noFill/>
          <a:ln w="9525">
            <a:solidFill>
              <a:srgbClr val="1F2A32"/>
            </a:solidFill>
            <a:prstDash val="solid"/>
          </a:ln>
        </p:spPr>
      </p:sp>
      <p:sp>
        <p:nvSpPr>
          <p:cNvPr id="20" name="Text 17"/>
          <p:cNvSpPr txBox="1"/>
          <p:nvPr/>
        </p:nvSpPr>
        <p:spPr>
          <a:xfrm>
            <a:off x="411480" y="294436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2.4</a:t>
            </a:r>
            <a:endParaRPr lang="en-US" sz="1200" dirty="0"/>
          </a:p>
        </p:txBody>
      </p:sp>
      <p:sp>
        <p:nvSpPr>
          <p:cNvPr id="21" name="Text 18"/>
          <p:cNvSpPr txBox="1"/>
          <p:nvPr/>
        </p:nvSpPr>
        <p:spPr>
          <a:xfrm>
            <a:off x="868680" y="294436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a:t>
            </a:r>
            <a:r>
              <a:rPr lang="en-US" sz="1250" b="1" u="sng" dirty="0">
                <a:solidFill>
                  <a:srgbClr val="54ACF0"/>
                </a:solidFill>
                <a:latin typeface="Space Grotesk" pitchFamily="34" charset="0"/>
                <a:ea typeface="Space Grotesk" pitchFamily="34" charset="-122"/>
                <a:cs typeface="Space Grotesk"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50" b="1" dirty="0">
                <a:solidFill>
                  <a:srgbClr val="E8EEF2"/>
                </a:solidFill>
                <a:latin typeface="Space Grotesk" pitchFamily="34" charset="0"/>
                <a:ea typeface="Space Grotesk" pitchFamily="34" charset="-122"/>
                <a:cs typeface="Space Grotesk" pitchFamily="34" charset="-120"/>
              </a:rPr>
              <a:t> architecture</a:t>
            </a:r>
            <a:endParaRPr lang="en-US" sz="1250" dirty="0"/>
          </a:p>
        </p:txBody>
      </p:sp>
      <p:sp>
        <p:nvSpPr>
          <p:cNvPr id="22" name="Text 19"/>
          <p:cNvSpPr txBox="1"/>
          <p:nvPr/>
        </p:nvSpPr>
        <p:spPr>
          <a:xfrm>
            <a:off x="4617720" y="296265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3" name="Text 20"/>
          <p:cNvSpPr txBox="1"/>
          <p:nvPr/>
        </p:nvSpPr>
        <p:spPr>
          <a:xfrm>
            <a:off x="868680" y="321868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eight instruments on one FPGA; for after the </a:t>
            </a:r>
            <a:r>
              <a:rPr lang="en-US" sz="92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20" dirty="0">
                <a:solidFill>
                  <a:srgbClr val="A3B3BE"/>
                </a:solidFill>
                <a:latin typeface="Space Mono" pitchFamily="34" charset="0"/>
                <a:ea typeface="Space Mono" pitchFamily="34" charset="-122"/>
                <a:cs typeface="Space Mono" pitchFamily="34" charset="-120"/>
              </a:rPr>
              <a:t> proof of concept</a:t>
            </a:r>
            <a:endParaRPr lang="en-US" sz="920" dirty="0"/>
          </a:p>
        </p:txBody>
      </p:sp>
      <p:sp>
        <p:nvSpPr>
          <p:cNvPr id="24" name="Shape 21"/>
          <p:cNvSpPr/>
          <p:nvPr/>
        </p:nvSpPr>
        <p:spPr>
          <a:xfrm>
            <a:off x="411480" y="3447288"/>
            <a:ext cx="5486400" cy="0"/>
          </a:xfrm>
          <a:prstGeom prst="line">
            <a:avLst/>
          </a:prstGeom>
          <a:noFill/>
          <a:ln w="9525">
            <a:solidFill>
              <a:srgbClr val="1F2A32"/>
            </a:solidFill>
            <a:prstDash val="solid"/>
          </a:ln>
        </p:spPr>
      </p:sp>
      <p:sp>
        <p:nvSpPr>
          <p:cNvPr id="25" name="Text 22"/>
          <p:cNvSpPr txBox="1"/>
          <p:nvPr/>
        </p:nvSpPr>
        <p:spPr>
          <a:xfrm>
            <a:off x="411480" y="349300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2.5</a:t>
            </a:r>
            <a:endParaRPr lang="en-US" sz="1200" dirty="0"/>
          </a:p>
        </p:txBody>
      </p:sp>
      <p:sp>
        <p:nvSpPr>
          <p:cNvPr id="26" name="Text 23"/>
          <p:cNvSpPr txBox="1"/>
          <p:nvPr/>
        </p:nvSpPr>
        <p:spPr>
          <a:xfrm>
            <a:off x="868680" y="349300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Parts and bill of materials</a:t>
            </a:r>
            <a:endParaRPr lang="en-US" sz="1250" dirty="0"/>
          </a:p>
        </p:txBody>
      </p:sp>
      <p:sp>
        <p:nvSpPr>
          <p:cNvPr id="27" name="Text 24"/>
          <p:cNvSpPr txBox="1"/>
          <p:nvPr/>
        </p:nvSpPr>
        <p:spPr>
          <a:xfrm>
            <a:off x="4617720" y="351129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8" name="Text 25"/>
          <p:cNvSpPr txBox="1"/>
          <p:nvPr/>
        </p:nvSpPr>
        <p:spPr>
          <a:xfrm>
            <a:off x="868680" y="376732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every subsystem selected, so procurement could start</a:t>
            </a:r>
            <a:endParaRPr lang="en-US" sz="920" dirty="0"/>
          </a:p>
        </p:txBody>
      </p:sp>
      <p:sp>
        <p:nvSpPr>
          <p:cNvPr id="29" name="Shape 26"/>
          <p:cNvSpPr/>
          <p:nvPr/>
        </p:nvSpPr>
        <p:spPr>
          <a:xfrm>
            <a:off x="411480" y="3995928"/>
            <a:ext cx="5486400" cy="0"/>
          </a:xfrm>
          <a:prstGeom prst="line">
            <a:avLst/>
          </a:prstGeom>
          <a:noFill/>
          <a:ln w="9525">
            <a:solidFill>
              <a:srgbClr val="1F2A32"/>
            </a:solidFill>
            <a:prstDash val="solid"/>
          </a:ln>
        </p:spPr>
      </p:sp>
      <p:sp>
        <p:nvSpPr>
          <p:cNvPr id="30" name="Text 27"/>
          <p:cNvSpPr txBox="1"/>
          <p:nvPr/>
        </p:nvSpPr>
        <p:spPr>
          <a:xfrm>
            <a:off x="411480" y="404164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2.6</a:t>
            </a:r>
            <a:endParaRPr lang="en-US" sz="1200" dirty="0"/>
          </a:p>
        </p:txBody>
      </p:sp>
      <p:sp>
        <p:nvSpPr>
          <p:cNvPr id="31" name="Text 28"/>
          <p:cNvSpPr txBox="1"/>
          <p:nvPr/>
        </p:nvSpPr>
        <p:spPr>
          <a:xfrm>
            <a:off x="868680" y="404164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Build of the real prototype</a:t>
            </a:r>
            <a:endParaRPr lang="en-US" sz="1250" dirty="0"/>
          </a:p>
        </p:txBody>
      </p:sp>
      <p:sp>
        <p:nvSpPr>
          <p:cNvPr id="32" name="Text 29"/>
          <p:cNvSpPr txBox="1"/>
          <p:nvPr/>
        </p:nvSpPr>
        <p:spPr>
          <a:xfrm>
            <a:off x="4617720" y="4059936"/>
            <a:ext cx="1280160" cy="228600"/>
          </a:xfrm>
          <a:prstGeom prst="rect">
            <a:avLst/>
          </a:prstGeom>
          <a:noFill/>
          <a:ln/>
        </p:spPr>
        <p:txBody>
          <a:bodyPr wrap="square" lIns="0" tIns="0" rIns="0" bIns="0" rtlCol="0" anchor="t"/>
          <a:lstStyle/>
          <a:p>
            <a:pPr algn="r" indent="0" marL="0">
              <a:buNone/>
            </a:pPr>
            <a:r>
              <a:rPr lang="en-US" sz="780" b="1" spc="100" kern="0" dirty="0">
                <a:solidFill>
                  <a:srgbClr val="F2C230"/>
                </a:solidFill>
                <a:latin typeface="Space Mono" pitchFamily="34" charset="0"/>
                <a:ea typeface="Space Mono" pitchFamily="34" charset="-122"/>
                <a:cs typeface="Space Mono" pitchFamily="34" charset="-120"/>
              </a:rPr>
              <a:t>IN PROGRESS</a:t>
            </a:r>
            <a:endParaRPr lang="en-US" sz="780" dirty="0"/>
          </a:p>
        </p:txBody>
      </p:sp>
      <p:sp>
        <p:nvSpPr>
          <p:cNvPr id="33" name="Text 30"/>
          <p:cNvSpPr txBox="1"/>
          <p:nvPr/>
        </p:nvSpPr>
        <p:spPr>
          <a:xfrm>
            <a:off x="868680" y="4315968"/>
            <a:ext cx="5029200" cy="21945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procurement and assembly of the first </a:t>
            </a:r>
            <a:r>
              <a:rPr lang="en-US" sz="92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920" dirty="0"/>
          </a:p>
        </p:txBody>
      </p:sp>
      <p:sp>
        <p:nvSpPr>
          <p:cNvPr id="34" name="Shape 31"/>
          <p:cNvSpPr/>
          <p:nvPr/>
        </p:nvSpPr>
        <p:spPr>
          <a:xfrm>
            <a:off x="411480" y="4544568"/>
            <a:ext cx="5486400" cy="0"/>
          </a:xfrm>
          <a:prstGeom prst="line">
            <a:avLst/>
          </a:prstGeom>
          <a:noFill/>
          <a:ln w="9525">
            <a:solidFill>
              <a:srgbClr val="1F2A32"/>
            </a:solidFill>
            <a:prstDash val="solid"/>
          </a:ln>
        </p:spPr>
      </p:sp>
      <p:pic>
        <p:nvPicPr>
          <p:cNvPr id="35" name="Image 0" descr="/tmp/claude-0/-home-user-robowar/aee4da2e-473c-53db-a5de-8e0dc57de510/scratchpad/proj/PROTOPUS_Project/08_Build_Scripts/assets/r0.png">
            <a:hlinkClick r:id="rId6" tooltip="https://protopus-kappa.vercel.app/#/baker"/>
          </p:cNvPr>
          <p:cNvPicPr>
            <a:picLocks noChangeAspect="1"/>
          </p:cNvPicPr>
          <p:nvPr/>
        </p:nvPicPr>
        <p:blipFill>
          <a:blip r:embed="rId5"/>
          <a:stretch>
            <a:fillRect/>
          </a:stretch>
        </p:blipFill>
        <p:spPr>
          <a:xfrm>
            <a:off x="6080760" y="1417320"/>
            <a:ext cx="2651760" cy="1874520"/>
          </a:xfrm>
          <a:prstGeom prst="rect">
            <a:avLst/>
          </a:prstGeom>
        </p:spPr>
      </p:pic>
      <p:sp>
        <p:nvSpPr>
          <p:cNvPr id="36" name="Text 32"/>
          <p:cNvSpPr txBox="1"/>
          <p:nvPr/>
        </p:nvSpPr>
        <p:spPr>
          <a:xfrm>
            <a:off x="6080760" y="3337560"/>
            <a:ext cx="2651760" cy="228600"/>
          </a:xfrm>
          <a:prstGeom prst="rect">
            <a:avLst/>
          </a:prstGeom>
          <a:noFill/>
          <a:ln/>
        </p:spPr>
        <p:txBody>
          <a:bodyPr wrap="square" lIns="0" tIns="0" rIns="0" bIns="0" rtlCol="0" anchor="t"/>
          <a:lstStyle/>
          <a:p>
            <a:pPr algn="ctr" indent="0" marL="0">
              <a:buNone/>
            </a:pPr>
            <a:r>
              <a:rPr lang="en-US" sz="850" dirty="0">
                <a:solidFill>
                  <a:srgbClr val="6E7A83"/>
                </a:solidFill>
                <a:latin typeface="Space Mono" pitchFamily="34" charset="0"/>
                <a:ea typeface="Space Mono" pitchFamily="34" charset="-122"/>
                <a:cs typeface="Space Mono" pitchFamily="34" charset="-120"/>
              </a:rPr>
              <a:t>​</a:t>
            </a:r>
            <a:r>
              <a:rPr lang="en-US" sz="850" u="sng" dirty="0">
                <a:solidFill>
                  <a:srgbClr val="CF8F4E"/>
                </a:solidFill>
                <a:latin typeface="Space Mono" pitchFamily="34" charset="0"/>
                <a:ea typeface="Space Mono" pitchFamily="34" charset="-122"/>
                <a:cs typeface="Space Mono" pitchFamily="34" charset="-120"/>
                <a:hlinkClick r:id="rId7"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6E7A83"/>
                </a:solidFill>
                <a:latin typeface="Space Mono" pitchFamily="34" charset="0"/>
                <a:ea typeface="Space Mono" pitchFamily="34" charset="-122"/>
                <a:cs typeface="Space Mono" pitchFamily="34" charset="-120"/>
              </a:rPr>
              <a:t>, render of the design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F2C230"/>
                </a:solidFill>
                <a:latin typeface="Space Mono" pitchFamily="34" charset="0"/>
                <a:ea typeface="Space Mono" pitchFamily="34" charset="-122"/>
                <a:cs typeface="Space Mono" pitchFamily="34" charset="-120"/>
              </a:rPr>
              <a:t>05 · SEPTEMBER 2026 · PART 1</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Software meets hardware; the business on paper</a:t>
            </a:r>
            <a:endParaRPr lang="en-US" sz="2400" dirty="0"/>
          </a:p>
        </p:txBody>
      </p:sp>
      <p:sp>
        <p:nvSpPr>
          <p:cNvPr id="5" name="Text 2"/>
          <p:cNvSpPr txBox="1"/>
          <p:nvPr/>
        </p:nvSpPr>
        <p:spPr>
          <a:xfrm>
            <a:off x="411480" y="129844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3.1</a:t>
            </a:r>
            <a:endParaRPr lang="en-US" sz="1200" dirty="0"/>
          </a:p>
        </p:txBody>
      </p:sp>
      <p:sp>
        <p:nvSpPr>
          <p:cNvPr id="6" name="Text 3"/>
          <p:cNvSpPr txBox="1"/>
          <p:nvPr/>
        </p:nvSpPr>
        <p:spPr>
          <a:xfrm>
            <a:off x="868680" y="129844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a:t>
            </a:r>
            <a:r>
              <a:rPr lang="en-US" sz="1250" b="1"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b="1" dirty="0">
                <a:solidFill>
                  <a:srgbClr val="E8EEF2"/>
                </a:solidFill>
                <a:latin typeface="Space Grotesk" pitchFamily="34" charset="0"/>
                <a:ea typeface="Space Grotesk" pitchFamily="34" charset="-122"/>
                <a:cs typeface="Space Grotesk" pitchFamily="34" charset="-120"/>
              </a:rPr>
              <a:t> Studio and Proto</a:t>
            </a:r>
            <a:endParaRPr lang="en-US" sz="1250" dirty="0"/>
          </a:p>
        </p:txBody>
      </p:sp>
      <p:sp>
        <p:nvSpPr>
          <p:cNvPr id="7" name="Text 4"/>
          <p:cNvSpPr txBox="1"/>
          <p:nvPr/>
        </p:nvSpPr>
        <p:spPr>
          <a:xfrm>
            <a:off x="4617720" y="1316736"/>
            <a:ext cx="1280160" cy="228600"/>
          </a:xfrm>
          <a:prstGeom prst="rect">
            <a:avLst/>
          </a:prstGeom>
          <a:noFill/>
          <a:ln/>
        </p:spPr>
        <p:txBody>
          <a:bodyPr wrap="square" lIns="0" tIns="0" rIns="0" bIns="0" rtlCol="0" anchor="t"/>
          <a:lstStyle/>
          <a:p>
            <a:pPr algn="r" indent="0" marL="0">
              <a:buNone/>
            </a:pPr>
            <a:r>
              <a:rPr lang="en-US" sz="780" b="1" spc="100" kern="0" dirty="0">
                <a:solidFill>
                  <a:srgbClr val="F2C230"/>
                </a:solidFill>
                <a:latin typeface="Space Mono" pitchFamily="34" charset="0"/>
                <a:ea typeface="Space Mono" pitchFamily="34" charset="-122"/>
                <a:cs typeface="Space Mono" pitchFamily="34" charset="-120"/>
              </a:rPr>
              <a:t>IN PROGRESS</a:t>
            </a:r>
            <a:endParaRPr lang="en-US" sz="780" dirty="0"/>
          </a:p>
        </p:txBody>
      </p:sp>
      <p:sp>
        <p:nvSpPr>
          <p:cNvPr id="8" name="Text 5"/>
          <p:cNvSpPr txBox="1"/>
          <p:nvPr/>
        </p:nvSpPr>
        <p:spPr>
          <a:xfrm>
            <a:off x="868680" y="1572768"/>
            <a:ext cx="5029200" cy="31089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reads designs (Flux.ai API), flags problems, plans the job</a:t>
            </a:r>
            <a:endParaRPr lang="en-US" sz="920" dirty="0"/>
          </a:p>
        </p:txBody>
      </p:sp>
      <p:sp>
        <p:nvSpPr>
          <p:cNvPr id="9" name="Shape 6"/>
          <p:cNvSpPr/>
          <p:nvPr/>
        </p:nvSpPr>
        <p:spPr>
          <a:xfrm>
            <a:off x="411480" y="1892808"/>
            <a:ext cx="5486400" cy="0"/>
          </a:xfrm>
          <a:prstGeom prst="line">
            <a:avLst/>
          </a:prstGeom>
          <a:noFill/>
          <a:ln w="9525">
            <a:solidFill>
              <a:srgbClr val="1F2A32"/>
            </a:solidFill>
            <a:prstDash val="solid"/>
          </a:ln>
        </p:spPr>
      </p:sp>
      <p:sp>
        <p:nvSpPr>
          <p:cNvPr id="10" name="Text 7"/>
          <p:cNvSpPr txBox="1"/>
          <p:nvPr/>
        </p:nvSpPr>
        <p:spPr>
          <a:xfrm>
            <a:off x="411480" y="193852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3.2</a:t>
            </a:r>
            <a:endParaRPr lang="en-US" sz="1200" dirty="0"/>
          </a:p>
        </p:txBody>
      </p:sp>
      <p:sp>
        <p:nvSpPr>
          <p:cNvPr id="11" name="Text 8"/>
          <p:cNvSpPr txBox="1"/>
          <p:nvPr/>
        </p:nvSpPr>
        <p:spPr>
          <a:xfrm>
            <a:off x="868680" y="193852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Software–hardware integration</a:t>
            </a:r>
            <a:endParaRPr lang="en-US" sz="1250" dirty="0"/>
          </a:p>
        </p:txBody>
      </p:sp>
      <p:sp>
        <p:nvSpPr>
          <p:cNvPr id="12" name="Text 9"/>
          <p:cNvSpPr txBox="1"/>
          <p:nvPr/>
        </p:nvSpPr>
        <p:spPr>
          <a:xfrm>
            <a:off x="4617720" y="1956816"/>
            <a:ext cx="1280160" cy="228600"/>
          </a:xfrm>
          <a:prstGeom prst="rect">
            <a:avLst/>
          </a:prstGeom>
          <a:noFill/>
          <a:ln/>
        </p:spPr>
        <p:txBody>
          <a:bodyPr wrap="square" lIns="0" tIns="0" rIns="0" bIns="0" rtlCol="0" anchor="t"/>
          <a:lstStyle/>
          <a:p>
            <a:pPr algn="r" indent="0" marL="0">
              <a:buNone/>
            </a:pPr>
            <a:r>
              <a:rPr lang="en-US" sz="780" b="1" spc="100" kern="0" dirty="0">
                <a:solidFill>
                  <a:srgbClr val="F2C230"/>
                </a:solidFill>
                <a:latin typeface="Space Mono" pitchFamily="34" charset="0"/>
                <a:ea typeface="Space Mono" pitchFamily="34" charset="-122"/>
                <a:cs typeface="Space Mono" pitchFamily="34" charset="-120"/>
              </a:rPr>
              <a:t>IN PROGRESS</a:t>
            </a:r>
            <a:endParaRPr lang="en-US" sz="780" dirty="0"/>
          </a:p>
        </p:txBody>
      </p:sp>
      <p:sp>
        <p:nvSpPr>
          <p:cNvPr id="13" name="Text 10"/>
          <p:cNvSpPr txBox="1"/>
          <p:nvPr/>
        </p:nvSpPr>
        <p:spPr>
          <a:xfrm>
            <a:off x="868680" y="2212848"/>
            <a:ext cx="5029200" cy="31089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a:t>
            </a:r>
            <a:r>
              <a:rPr lang="en-US" sz="92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20" dirty="0">
                <a:solidFill>
                  <a:srgbClr val="A3B3BE"/>
                </a:solidFill>
                <a:latin typeface="Space Mono" pitchFamily="34" charset="0"/>
                <a:ea typeface="Space Mono" pitchFamily="34" charset="-122"/>
                <a:cs typeface="Space Mono" pitchFamily="34" charset="-120"/>
              </a:rPr>
              <a:t> Studio to the control electronics through Klipper</a:t>
            </a:r>
            <a:endParaRPr lang="en-US" sz="920" dirty="0"/>
          </a:p>
        </p:txBody>
      </p:sp>
      <p:sp>
        <p:nvSpPr>
          <p:cNvPr id="14" name="Shape 11"/>
          <p:cNvSpPr/>
          <p:nvPr/>
        </p:nvSpPr>
        <p:spPr>
          <a:xfrm>
            <a:off x="411480" y="2532888"/>
            <a:ext cx="5486400" cy="0"/>
          </a:xfrm>
          <a:prstGeom prst="line">
            <a:avLst/>
          </a:prstGeom>
          <a:noFill/>
          <a:ln w="9525">
            <a:solidFill>
              <a:srgbClr val="1F2A32"/>
            </a:solidFill>
            <a:prstDash val="solid"/>
          </a:ln>
        </p:spPr>
      </p:sp>
      <p:sp>
        <p:nvSpPr>
          <p:cNvPr id="15" name="Text 12"/>
          <p:cNvSpPr txBox="1"/>
          <p:nvPr/>
        </p:nvSpPr>
        <p:spPr>
          <a:xfrm>
            <a:off x="411480" y="257860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3.3</a:t>
            </a:r>
            <a:endParaRPr lang="en-US" sz="1200" dirty="0"/>
          </a:p>
        </p:txBody>
      </p:sp>
      <p:sp>
        <p:nvSpPr>
          <p:cNvPr id="16" name="Text 13"/>
          <p:cNvSpPr txBox="1"/>
          <p:nvPr/>
        </p:nvSpPr>
        <p:spPr>
          <a:xfrm>
            <a:off x="868680" y="257860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Costed BOM and cost report</a:t>
            </a:r>
            <a:endParaRPr lang="en-US" sz="1250" dirty="0"/>
          </a:p>
        </p:txBody>
      </p:sp>
      <p:sp>
        <p:nvSpPr>
          <p:cNvPr id="17" name="Text 14"/>
          <p:cNvSpPr txBox="1"/>
          <p:nvPr/>
        </p:nvSpPr>
        <p:spPr>
          <a:xfrm>
            <a:off x="4617720" y="259689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18" name="Text 15"/>
          <p:cNvSpPr txBox="1"/>
          <p:nvPr/>
        </p:nvSpPr>
        <p:spPr>
          <a:xfrm>
            <a:off x="868680" y="2852928"/>
            <a:ext cx="5029200" cy="31089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70 lines, costed with duty and a 15% contingency</a:t>
            </a:r>
            <a:endParaRPr lang="en-US" sz="920" dirty="0"/>
          </a:p>
        </p:txBody>
      </p:sp>
      <p:sp>
        <p:nvSpPr>
          <p:cNvPr id="19" name="Shape 16"/>
          <p:cNvSpPr/>
          <p:nvPr/>
        </p:nvSpPr>
        <p:spPr>
          <a:xfrm>
            <a:off x="411480" y="3172968"/>
            <a:ext cx="5486400" cy="0"/>
          </a:xfrm>
          <a:prstGeom prst="line">
            <a:avLst/>
          </a:prstGeom>
          <a:noFill/>
          <a:ln w="9525">
            <a:solidFill>
              <a:srgbClr val="1F2A32"/>
            </a:solidFill>
            <a:prstDash val="solid"/>
          </a:ln>
        </p:spPr>
      </p:sp>
      <p:sp>
        <p:nvSpPr>
          <p:cNvPr id="20" name="Text 17"/>
          <p:cNvSpPr txBox="1"/>
          <p:nvPr/>
        </p:nvSpPr>
        <p:spPr>
          <a:xfrm>
            <a:off x="411480" y="321868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3.4</a:t>
            </a:r>
            <a:endParaRPr lang="en-US" sz="1200" dirty="0"/>
          </a:p>
        </p:txBody>
      </p:sp>
      <p:sp>
        <p:nvSpPr>
          <p:cNvPr id="21" name="Text 18"/>
          <p:cNvSpPr txBox="1"/>
          <p:nvPr/>
        </p:nvSpPr>
        <p:spPr>
          <a:xfrm>
            <a:off x="868680" y="321868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Workflow document</a:t>
            </a:r>
            <a:endParaRPr lang="en-US" sz="1250" dirty="0"/>
          </a:p>
        </p:txBody>
      </p:sp>
      <p:sp>
        <p:nvSpPr>
          <p:cNvPr id="22" name="Text 19"/>
          <p:cNvSpPr txBox="1"/>
          <p:nvPr/>
        </p:nvSpPr>
        <p:spPr>
          <a:xfrm>
            <a:off x="4617720" y="323697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3" name="Text 20"/>
          <p:cNvSpPr txBox="1"/>
          <p:nvPr/>
        </p:nvSpPr>
        <p:spPr>
          <a:xfrm>
            <a:off x="868680" y="3493008"/>
            <a:ext cx="5029200" cy="31089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“the story of a PCB”: one board through all 15 steps</a:t>
            </a:r>
            <a:endParaRPr lang="en-US" sz="920" dirty="0"/>
          </a:p>
        </p:txBody>
      </p:sp>
      <p:sp>
        <p:nvSpPr>
          <p:cNvPr id="24" name="Shape 21"/>
          <p:cNvSpPr/>
          <p:nvPr/>
        </p:nvSpPr>
        <p:spPr>
          <a:xfrm>
            <a:off x="411480" y="3813048"/>
            <a:ext cx="5486400" cy="0"/>
          </a:xfrm>
          <a:prstGeom prst="line">
            <a:avLst/>
          </a:prstGeom>
          <a:noFill/>
          <a:ln w="9525">
            <a:solidFill>
              <a:srgbClr val="1F2A32"/>
            </a:solidFill>
            <a:prstDash val="solid"/>
          </a:ln>
        </p:spPr>
      </p:sp>
      <p:sp>
        <p:nvSpPr>
          <p:cNvPr id="25" name="Text 22"/>
          <p:cNvSpPr txBox="1"/>
          <p:nvPr/>
        </p:nvSpPr>
        <p:spPr>
          <a:xfrm>
            <a:off x="411480" y="3858768"/>
            <a:ext cx="411480" cy="274320"/>
          </a:xfrm>
          <a:prstGeom prst="rect">
            <a:avLst/>
          </a:prstGeom>
          <a:noFill/>
          <a:ln/>
        </p:spPr>
        <p:txBody>
          <a:bodyPr wrap="square" lIns="0" tIns="0" rIns="0" bIns="0" rtlCol="0" anchor="t"/>
          <a:lstStyle/>
          <a:p>
            <a:pPr indent="0" marL="0">
              <a:buNone/>
            </a:pPr>
            <a:r>
              <a:rPr lang="en-US" sz="1200" b="1" dirty="0">
                <a:solidFill>
                  <a:srgbClr val="F2C230"/>
                </a:solidFill>
                <a:latin typeface="Space Grotesk" pitchFamily="34" charset="0"/>
                <a:ea typeface="Space Grotesk" pitchFamily="34" charset="-122"/>
                <a:cs typeface="Space Grotesk" pitchFamily="34" charset="-120"/>
              </a:rPr>
              <a:t>3.5</a:t>
            </a:r>
            <a:endParaRPr lang="en-US" sz="1200" dirty="0"/>
          </a:p>
        </p:txBody>
      </p:sp>
      <p:sp>
        <p:nvSpPr>
          <p:cNvPr id="26" name="Text 23"/>
          <p:cNvSpPr txBox="1"/>
          <p:nvPr/>
        </p:nvSpPr>
        <p:spPr>
          <a:xfrm>
            <a:off x="868680" y="3858768"/>
            <a:ext cx="3703320" cy="274320"/>
          </a:xfrm>
          <a:prstGeom prst="rect">
            <a:avLst/>
          </a:prstGeom>
          <a:noFill/>
          <a:ln/>
        </p:spPr>
        <p:txBody>
          <a:bodyPr wrap="square" lIns="0" tIns="0" rIns="0" bIns="0" rtlCol="0" anchor="t"/>
          <a:lstStyle/>
          <a:p>
            <a:pPr indent="0" marL="0">
              <a:buNone/>
            </a:pPr>
            <a:r>
              <a:rPr lang="en-US" sz="1250" b="1" dirty="0">
                <a:solidFill>
                  <a:srgbClr val="E8EEF2"/>
                </a:solidFill>
                <a:latin typeface="Space Grotesk" pitchFamily="34" charset="0"/>
                <a:ea typeface="Space Grotesk" pitchFamily="34" charset="-122"/>
                <a:cs typeface="Space Grotesk" pitchFamily="34" charset="-120"/>
              </a:rPr>
              <a:t>China manufacturing plan</a:t>
            </a:r>
            <a:endParaRPr lang="en-US" sz="1250" dirty="0"/>
          </a:p>
        </p:txBody>
      </p:sp>
      <p:sp>
        <p:nvSpPr>
          <p:cNvPr id="27" name="Text 24"/>
          <p:cNvSpPr txBox="1"/>
          <p:nvPr/>
        </p:nvSpPr>
        <p:spPr>
          <a:xfrm>
            <a:off x="4617720" y="3877056"/>
            <a:ext cx="1280160" cy="228600"/>
          </a:xfrm>
          <a:prstGeom prst="rect">
            <a:avLst/>
          </a:prstGeom>
          <a:noFill/>
          <a:ln/>
        </p:spPr>
        <p:txBody>
          <a:bodyPr wrap="square" lIns="0" tIns="0" rIns="0" bIns="0" rtlCol="0" anchor="t"/>
          <a:lstStyle/>
          <a:p>
            <a:pPr algn="r" indent="0" marL="0">
              <a:buNone/>
            </a:pPr>
            <a:r>
              <a:rPr lang="en-US" sz="780" b="1" spc="100" kern="0" dirty="0">
                <a:solidFill>
                  <a:srgbClr val="60A05A"/>
                </a:solidFill>
                <a:latin typeface="Space Mono" pitchFamily="34" charset="0"/>
                <a:ea typeface="Space Mono" pitchFamily="34" charset="-122"/>
                <a:cs typeface="Space Mono" pitchFamily="34" charset="-120"/>
              </a:rPr>
              <a:t>DONE</a:t>
            </a:r>
            <a:endParaRPr lang="en-US" sz="780" dirty="0"/>
          </a:p>
        </p:txBody>
      </p:sp>
      <p:sp>
        <p:nvSpPr>
          <p:cNvPr id="28" name="Text 25"/>
          <p:cNvSpPr txBox="1"/>
          <p:nvPr/>
        </p:nvSpPr>
        <p:spPr>
          <a:xfrm>
            <a:off x="868680" y="4133088"/>
            <a:ext cx="5029200" cy="310896"/>
          </a:xfrm>
          <a:prstGeom prst="rect">
            <a:avLst/>
          </a:prstGeom>
          <a:noFill/>
          <a:ln/>
        </p:spPr>
        <p:txBody>
          <a:bodyPr wrap="square" lIns="0" tIns="0" rIns="0" bIns="0" rtlCol="0" anchor="t"/>
          <a:lstStyle/>
          <a:p>
            <a:pPr indent="0" marL="0">
              <a:buNone/>
            </a:pPr>
            <a:r>
              <a:rPr lang="en-US" sz="920" dirty="0">
                <a:solidFill>
                  <a:srgbClr val="A3B3BE"/>
                </a:solidFill>
                <a:latin typeface="Space Mono" pitchFamily="34" charset="0"/>
                <a:ea typeface="Space Mono" pitchFamily="34" charset="-122"/>
                <a:cs typeface="Space Mono" pitchFamily="34" charset="-120"/>
              </a:rPr>
              <a:t>turnkey in China; testing, minimal assembly and shipping from India</a:t>
            </a:r>
            <a:endParaRPr lang="en-US" sz="920" dirty="0"/>
          </a:p>
        </p:txBody>
      </p:sp>
      <p:sp>
        <p:nvSpPr>
          <p:cNvPr id="29" name="Shape 26"/>
          <p:cNvSpPr/>
          <p:nvPr/>
        </p:nvSpPr>
        <p:spPr>
          <a:xfrm>
            <a:off x="411480" y="4453128"/>
            <a:ext cx="5486400" cy="0"/>
          </a:xfrm>
          <a:prstGeom prst="line">
            <a:avLst/>
          </a:prstGeom>
          <a:noFill/>
          <a:ln w="9525">
            <a:solidFill>
              <a:srgbClr val="1F2A32"/>
            </a:solidFill>
            <a:prstDash val="solid"/>
          </a:ln>
        </p:spPr>
      </p:sp>
      <p:sp>
        <p:nvSpPr>
          <p:cNvPr id="30" name="Shape 27"/>
          <p:cNvSpPr/>
          <p:nvPr/>
        </p:nvSpPr>
        <p:spPr>
          <a:xfrm>
            <a:off x="6172200" y="1325880"/>
            <a:ext cx="2560320" cy="36576"/>
          </a:xfrm>
          <a:prstGeom prst="rect">
            <a:avLst/>
          </a:prstGeom>
          <a:solidFill>
            <a:srgbClr val="CF8F4E"/>
          </a:solidFill>
          <a:ln w="12700">
            <a:solidFill>
              <a:srgbClr val="CF8F4E"/>
            </a:solidFill>
            <a:prstDash val="solid"/>
          </a:ln>
        </p:spPr>
      </p:sp>
      <p:sp>
        <p:nvSpPr>
          <p:cNvPr id="31" name="Text 28"/>
          <p:cNvSpPr txBox="1"/>
          <p:nvPr/>
        </p:nvSpPr>
        <p:spPr>
          <a:xfrm>
            <a:off x="6172200" y="1399032"/>
            <a:ext cx="2560320" cy="384048"/>
          </a:xfrm>
          <a:prstGeom prst="rect">
            <a:avLst/>
          </a:prstGeom>
          <a:noFill/>
          <a:ln/>
        </p:spPr>
        <p:txBody>
          <a:bodyPr wrap="square" lIns="0" tIns="0" rIns="0" bIns="0" rtlCol="0" anchor="t"/>
          <a:lstStyle/>
          <a:p>
            <a:pPr indent="0" marL="0">
              <a:buNone/>
            </a:pPr>
            <a:r>
              <a:rPr lang="en-US" sz="2000" b="1" dirty="0">
                <a:solidFill>
                  <a:srgbClr val="CF8F4E"/>
                </a:solidFill>
                <a:latin typeface="Space Grotesk" pitchFamily="34" charset="0"/>
                <a:ea typeface="Space Grotesk" pitchFamily="34" charset="-122"/>
                <a:cs typeface="Space Grotesk" pitchFamily="34" charset="-120"/>
              </a:rPr>
              <a:t>₹3,73,418</a:t>
            </a:r>
            <a:endParaRPr lang="en-US" sz="2000" dirty="0"/>
          </a:p>
        </p:txBody>
      </p:sp>
      <p:sp>
        <p:nvSpPr>
          <p:cNvPr id="32" name="Text 29"/>
          <p:cNvSpPr txBox="1"/>
          <p:nvPr/>
        </p:nvSpPr>
        <p:spPr>
          <a:xfrm>
            <a:off x="6172200" y="1783080"/>
            <a:ext cx="2560320" cy="228600"/>
          </a:xfrm>
          <a:prstGeom prst="rect">
            <a:avLst/>
          </a:prstGeom>
          <a:noFill/>
          <a:ln/>
        </p:spPr>
        <p:txBody>
          <a:bodyPr wrap="square" lIns="0" tIns="0" rIns="0" bIns="0" rtlCol="0" anchor="t"/>
          <a:lstStyle/>
          <a:p>
            <a:pPr indent="0" marL="0">
              <a:buNone/>
            </a:pPr>
            <a:r>
              <a:rPr lang="en-US" sz="850" dirty="0">
                <a:solidFill>
                  <a:srgbClr val="6E7A83"/>
                </a:solidFill>
                <a:latin typeface="Space Mono" pitchFamily="34" charset="0"/>
                <a:ea typeface="Space Mono" pitchFamily="34" charset="-122"/>
                <a:cs typeface="Space Mono" pitchFamily="34" charset="-120"/>
              </a:rPr>
              <a:t>​</a:t>
            </a:r>
            <a:r>
              <a:rPr lang="en-US" sz="85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6E7A83"/>
                </a:solidFill>
                <a:latin typeface="Space Mono" pitchFamily="34" charset="0"/>
                <a:ea typeface="Space Mono" pitchFamily="34" charset="-122"/>
                <a:cs typeface="Space Mono" pitchFamily="34" charset="-120"/>
              </a:rPr>
              <a:t> prototype build</a:t>
            </a:r>
            <a:endParaRPr lang="en-US" sz="850" dirty="0"/>
          </a:p>
        </p:txBody>
      </p:sp>
      <p:sp>
        <p:nvSpPr>
          <p:cNvPr id="33" name="Shape 30"/>
          <p:cNvSpPr/>
          <p:nvPr/>
        </p:nvSpPr>
        <p:spPr>
          <a:xfrm>
            <a:off x="6172200" y="2130552"/>
            <a:ext cx="2560320" cy="36576"/>
          </a:xfrm>
          <a:prstGeom prst="rect">
            <a:avLst/>
          </a:prstGeom>
          <a:solidFill>
            <a:srgbClr val="60A05A"/>
          </a:solidFill>
          <a:ln w="12700">
            <a:solidFill>
              <a:srgbClr val="60A05A"/>
            </a:solidFill>
            <a:prstDash val="solid"/>
          </a:ln>
        </p:spPr>
      </p:sp>
      <p:sp>
        <p:nvSpPr>
          <p:cNvPr id="34" name="Text 31"/>
          <p:cNvSpPr txBox="1"/>
          <p:nvPr/>
        </p:nvSpPr>
        <p:spPr>
          <a:xfrm>
            <a:off x="6172200" y="2203704"/>
            <a:ext cx="2560320" cy="384048"/>
          </a:xfrm>
          <a:prstGeom prst="rect">
            <a:avLst/>
          </a:prstGeom>
          <a:noFill/>
          <a:ln/>
        </p:spPr>
        <p:txBody>
          <a:bodyPr wrap="square" lIns="0" tIns="0" rIns="0" bIns="0" rtlCol="0" anchor="t"/>
          <a:lstStyle/>
          <a:p>
            <a:pPr indent="0" marL="0">
              <a:buNone/>
            </a:pPr>
            <a:r>
              <a:rPr lang="en-US" sz="2000" b="1" dirty="0">
                <a:solidFill>
                  <a:srgbClr val="60A05A"/>
                </a:solidFill>
                <a:latin typeface="Space Grotesk" pitchFamily="34" charset="0"/>
                <a:ea typeface="Space Grotesk" pitchFamily="34" charset="-122"/>
                <a:cs typeface="Space Grotesk" pitchFamily="34" charset="-120"/>
              </a:rPr>
              <a:t>₹1,44,842</a:t>
            </a:r>
            <a:endParaRPr lang="en-US" sz="2000" dirty="0"/>
          </a:p>
        </p:txBody>
      </p:sp>
      <p:sp>
        <p:nvSpPr>
          <p:cNvPr id="35" name="Text 32"/>
          <p:cNvSpPr txBox="1"/>
          <p:nvPr/>
        </p:nvSpPr>
        <p:spPr>
          <a:xfrm>
            <a:off x="6172200" y="2587752"/>
            <a:ext cx="2560320" cy="228600"/>
          </a:xfrm>
          <a:prstGeom prst="rect">
            <a:avLst/>
          </a:prstGeom>
          <a:noFill/>
          <a:ln/>
        </p:spPr>
        <p:txBody>
          <a:bodyPr wrap="square" lIns="0" tIns="0" rIns="0" bIns="0" rtlCol="0" anchor="t"/>
          <a:lstStyle/>
          <a:p>
            <a:pPr indent="0" marL="0">
              <a:buNone/>
            </a:pPr>
            <a:r>
              <a:rPr lang="en-US" sz="850" dirty="0">
                <a:solidFill>
                  <a:srgbClr val="6E7A83"/>
                </a:solidFill>
                <a:latin typeface="Space Mono" pitchFamily="34" charset="0"/>
                <a:ea typeface="Space Mono" pitchFamily="34" charset="-122"/>
                <a:cs typeface="Space Mono" pitchFamily="34" charset="-120"/>
              </a:rPr>
              <a:t>​</a:t>
            </a:r>
            <a:r>
              <a:rPr lang="en-US" sz="85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6E7A83"/>
                </a:solidFill>
                <a:latin typeface="Space Mono" pitchFamily="34" charset="0"/>
                <a:ea typeface="Space Mono" pitchFamily="34" charset="-122"/>
                <a:cs typeface="Space Mono" pitchFamily="34" charset="-120"/>
              </a:rPr>
              <a:t> production (projected)</a:t>
            </a:r>
            <a:endParaRPr lang="en-US" sz="850" dirty="0"/>
          </a:p>
        </p:txBody>
      </p:sp>
      <p:sp>
        <p:nvSpPr>
          <p:cNvPr id="36" name="Shape 33"/>
          <p:cNvSpPr/>
          <p:nvPr/>
        </p:nvSpPr>
        <p:spPr>
          <a:xfrm>
            <a:off x="6172200" y="2935224"/>
            <a:ext cx="2560320" cy="36576"/>
          </a:xfrm>
          <a:prstGeom prst="rect">
            <a:avLst/>
          </a:prstGeom>
          <a:solidFill>
            <a:srgbClr val="54ACF0"/>
          </a:solidFill>
          <a:ln w="12700">
            <a:solidFill>
              <a:srgbClr val="54ACF0"/>
            </a:solidFill>
            <a:prstDash val="solid"/>
          </a:ln>
        </p:spPr>
      </p:sp>
      <p:sp>
        <p:nvSpPr>
          <p:cNvPr id="37" name="Text 34"/>
          <p:cNvSpPr txBox="1"/>
          <p:nvPr/>
        </p:nvSpPr>
        <p:spPr>
          <a:xfrm>
            <a:off x="6172200" y="3008376"/>
            <a:ext cx="2560320" cy="384048"/>
          </a:xfrm>
          <a:prstGeom prst="rect">
            <a:avLst/>
          </a:prstGeom>
          <a:noFill/>
          <a:ln/>
        </p:spPr>
        <p:txBody>
          <a:bodyPr wrap="square" lIns="0" tIns="0" rIns="0" bIns="0" rtlCol="0" anchor="t"/>
          <a:lstStyle/>
          <a:p>
            <a:pPr indent="0" marL="0">
              <a:buNone/>
            </a:pPr>
            <a:r>
              <a:rPr lang="en-US" sz="2000" b="1" dirty="0">
                <a:solidFill>
                  <a:srgbClr val="54ACF0"/>
                </a:solidFill>
                <a:latin typeface="Space Grotesk" pitchFamily="34" charset="0"/>
                <a:ea typeface="Space Grotesk" pitchFamily="34" charset="-122"/>
                <a:cs typeface="Space Grotesk" pitchFamily="34" charset="-120"/>
              </a:rPr>
              <a:t>₹74,847</a:t>
            </a:r>
            <a:endParaRPr lang="en-US" sz="2000" dirty="0"/>
          </a:p>
        </p:txBody>
      </p:sp>
      <p:sp>
        <p:nvSpPr>
          <p:cNvPr id="38" name="Text 35"/>
          <p:cNvSpPr txBox="1"/>
          <p:nvPr/>
        </p:nvSpPr>
        <p:spPr>
          <a:xfrm>
            <a:off x="6172200" y="3392424"/>
            <a:ext cx="2560320" cy="228600"/>
          </a:xfrm>
          <a:prstGeom prst="rect">
            <a:avLst/>
          </a:prstGeom>
          <a:noFill/>
          <a:ln/>
        </p:spPr>
        <p:txBody>
          <a:bodyPr wrap="square" lIns="0" tIns="0" rIns="0" bIns="0" rtlCol="0" anchor="t"/>
          <a:lstStyle/>
          <a:p>
            <a:pPr indent="0" marL="0">
              <a:buNone/>
            </a:pPr>
            <a:r>
              <a:rPr lang="en-US" sz="850" dirty="0">
                <a:solidFill>
                  <a:srgbClr val="6E7A83"/>
                </a:solidFill>
                <a:latin typeface="Space Mono" pitchFamily="34" charset="0"/>
                <a:ea typeface="Space Mono" pitchFamily="34" charset="-122"/>
                <a:cs typeface="Space Mono" pitchFamily="34" charset="-120"/>
              </a:rPr>
              <a:t>​</a:t>
            </a:r>
            <a:r>
              <a:rPr lang="en-US" sz="850" u="sng" dirty="0">
                <a:solidFill>
                  <a:srgbClr val="54ACF0"/>
                </a:solidFill>
                <a:latin typeface="Space Mono" pitchFamily="34" charset="0"/>
                <a:ea typeface="Space Mono" pitchFamily="34" charset="-122"/>
                <a:cs typeface="Space Mono" pitchFamily="34" charset="-120"/>
                <a:hlinkClick r:id="rId5"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850" dirty="0">
                <a:solidFill>
                  <a:srgbClr val="6E7A83"/>
                </a:solidFill>
                <a:latin typeface="Space Mono" pitchFamily="34" charset="0"/>
                <a:ea typeface="Space Mono" pitchFamily="34" charset="-122"/>
                <a:cs typeface="Space Mono" pitchFamily="34" charset="-120"/>
              </a:rPr>
              <a:t> prototype build</a:t>
            </a:r>
            <a:endParaRPr lang="en-US" sz="850" dirty="0"/>
          </a:p>
        </p:txBody>
      </p:sp>
      <p:sp>
        <p:nvSpPr>
          <p:cNvPr id="39" name="Shape 36"/>
          <p:cNvSpPr/>
          <p:nvPr/>
        </p:nvSpPr>
        <p:spPr>
          <a:xfrm>
            <a:off x="6172200" y="3739896"/>
            <a:ext cx="2560320" cy="36576"/>
          </a:xfrm>
          <a:prstGeom prst="rect">
            <a:avLst/>
          </a:prstGeom>
          <a:solidFill>
            <a:srgbClr val="8FB3C9"/>
          </a:solidFill>
          <a:ln w="12700">
            <a:solidFill>
              <a:srgbClr val="8FB3C9"/>
            </a:solidFill>
            <a:prstDash val="solid"/>
          </a:ln>
        </p:spPr>
      </p:sp>
      <p:sp>
        <p:nvSpPr>
          <p:cNvPr id="40" name="Text 37"/>
          <p:cNvSpPr txBox="1"/>
          <p:nvPr/>
        </p:nvSpPr>
        <p:spPr>
          <a:xfrm>
            <a:off x="6172200" y="3813048"/>
            <a:ext cx="2560320" cy="384048"/>
          </a:xfrm>
          <a:prstGeom prst="rect">
            <a:avLst/>
          </a:prstGeom>
          <a:noFill/>
          <a:ln/>
        </p:spPr>
        <p:txBody>
          <a:bodyPr wrap="square" lIns="0" tIns="0" rIns="0" bIns="0" rtlCol="0" anchor="t"/>
          <a:lstStyle/>
          <a:p>
            <a:pPr indent="0" marL="0">
              <a:buNone/>
            </a:pPr>
            <a:r>
              <a:rPr lang="en-US" sz="2000" b="1" dirty="0">
                <a:solidFill>
                  <a:srgbClr val="8FB3C9"/>
                </a:solidFill>
                <a:latin typeface="Space Grotesk" pitchFamily="34" charset="0"/>
                <a:ea typeface="Space Grotesk" pitchFamily="34" charset="-122"/>
                <a:cs typeface="Space Grotesk" pitchFamily="34" charset="-120"/>
              </a:rPr>
              <a:t>₹13,740</a:t>
            </a:r>
            <a:endParaRPr lang="en-US" sz="2000" dirty="0"/>
          </a:p>
        </p:txBody>
      </p:sp>
      <p:sp>
        <p:nvSpPr>
          <p:cNvPr id="41" name="Text 38"/>
          <p:cNvSpPr txBox="1"/>
          <p:nvPr/>
        </p:nvSpPr>
        <p:spPr>
          <a:xfrm>
            <a:off x="6172200" y="4197096"/>
            <a:ext cx="2560320" cy="228600"/>
          </a:xfrm>
          <a:prstGeom prst="rect">
            <a:avLst/>
          </a:prstGeom>
          <a:noFill/>
          <a:ln/>
        </p:spPr>
        <p:txBody>
          <a:bodyPr wrap="square" lIns="0" tIns="0" rIns="0" bIns="0" rtlCol="0" anchor="t"/>
          <a:lstStyle/>
          <a:p>
            <a:pPr indent="0" marL="0">
              <a:buNone/>
            </a:pPr>
            <a:r>
              <a:rPr lang="en-US" sz="850" dirty="0">
                <a:solidFill>
                  <a:srgbClr val="6E7A83"/>
                </a:solidFill>
                <a:latin typeface="Space Mono" pitchFamily="34" charset="0"/>
                <a:ea typeface="Space Mono" pitchFamily="34" charset="-122"/>
                <a:cs typeface="Space Mono" pitchFamily="34" charset="-120"/>
              </a:rPr>
              <a:t>​</a:t>
            </a:r>
            <a:r>
              <a:rPr lang="en-US" sz="850" u="sng" dirty="0">
                <a:solidFill>
                  <a:srgbClr val="54ACF0"/>
                </a:solidFill>
                <a:latin typeface="Space Mono" pitchFamily="34" charset="0"/>
                <a:ea typeface="Space Mono" pitchFamily="34" charset="-122"/>
                <a:cs typeface="Space Mono" pitchFamily="34" charset="-120"/>
                <a:hlinkClick r:id="rId6"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850" dirty="0">
                <a:solidFill>
                  <a:srgbClr val="6E7A83"/>
                </a:solidFill>
                <a:latin typeface="Space Mono" pitchFamily="34" charset="0"/>
                <a:ea typeface="Space Mono" pitchFamily="34" charset="-122"/>
                <a:cs typeface="Space Mono" pitchFamily="34" charset="-120"/>
              </a:rPr>
              <a:t> production, projected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F2C230"/>
                </a:solidFill>
                <a:latin typeface="Space Mono" pitchFamily="34" charset="0"/>
                <a:ea typeface="Space Mono" pitchFamily="34" charset="-122"/>
                <a:cs typeface="Space Mono" pitchFamily="34" charset="-120"/>
              </a:rPr>
              <a:t>06 · SEPTEMBER 2026 · PART 2</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Funding talks, a new accessory, a sharper plan</a:t>
            </a:r>
            <a:endParaRPr lang="en-US" sz="2400" dirty="0"/>
          </a:p>
        </p:txBody>
      </p:sp>
      <p:sp>
        <p:nvSpPr>
          <p:cNvPr id="5" name="Shape 2"/>
          <p:cNvSpPr/>
          <p:nvPr/>
        </p:nvSpPr>
        <p:spPr>
          <a:xfrm>
            <a:off x="411480" y="1417320"/>
            <a:ext cx="2651760" cy="36576"/>
          </a:xfrm>
          <a:prstGeom prst="rect">
            <a:avLst/>
          </a:prstGeom>
          <a:solidFill>
            <a:srgbClr val="54ACF0"/>
          </a:solidFill>
          <a:ln w="12700">
            <a:solidFill>
              <a:srgbClr val="54ACF0"/>
            </a:solidFill>
            <a:prstDash val="solid"/>
          </a:ln>
        </p:spPr>
      </p:sp>
      <p:sp>
        <p:nvSpPr>
          <p:cNvPr id="6" name="Text 3"/>
          <p:cNvSpPr txBox="1"/>
          <p:nvPr/>
        </p:nvSpPr>
        <p:spPr>
          <a:xfrm>
            <a:off x="411480" y="1554480"/>
            <a:ext cx="2651760" cy="201168"/>
          </a:xfrm>
          <a:prstGeom prst="rect">
            <a:avLst/>
          </a:prstGeom>
          <a:noFill/>
          <a:ln/>
        </p:spPr>
        <p:txBody>
          <a:bodyPr wrap="square" lIns="0" tIns="0" rIns="0" bIns="0" rtlCol="0" anchor="t"/>
          <a:lstStyle/>
          <a:p>
            <a:pPr indent="0" marL="0">
              <a:buNone/>
            </a:pPr>
            <a:r>
              <a:rPr lang="en-US" sz="850" b="1" spc="150" kern="0" dirty="0">
                <a:solidFill>
                  <a:srgbClr val="54ACF0"/>
                </a:solidFill>
                <a:latin typeface="Space Mono" pitchFamily="34" charset="0"/>
                <a:ea typeface="Space Mono" pitchFamily="34" charset="-122"/>
                <a:cs typeface="Space Mono" pitchFamily="34" charset="-120"/>
              </a:rPr>
              <a:t>3.6 · IN DISCUSSION</a:t>
            </a:r>
            <a:endParaRPr lang="en-US" sz="850" dirty="0"/>
          </a:p>
        </p:txBody>
      </p:sp>
      <p:sp>
        <p:nvSpPr>
          <p:cNvPr id="7" name="Text 4"/>
          <p:cNvSpPr txBox="1"/>
          <p:nvPr/>
        </p:nvSpPr>
        <p:spPr>
          <a:xfrm>
            <a:off x="411480" y="1828800"/>
            <a:ext cx="2651760" cy="411480"/>
          </a:xfrm>
          <a:prstGeom prst="rect">
            <a:avLst/>
          </a:prstGeom>
          <a:noFill/>
          <a:ln/>
        </p:spPr>
        <p:txBody>
          <a:bodyPr wrap="square" lIns="0" tIns="0" rIns="0" bIns="0" rtlCol="0" anchor="t"/>
          <a:lstStyle/>
          <a:p>
            <a:pPr indent="0" marL="0">
              <a:buNone/>
            </a:pPr>
            <a:r>
              <a:rPr lang="en-US" sz="1700" b="1" dirty="0">
                <a:solidFill>
                  <a:srgbClr val="E8EEF2"/>
                </a:solidFill>
                <a:latin typeface="Space Grotesk" pitchFamily="34" charset="0"/>
                <a:ea typeface="Space Grotesk" pitchFamily="34" charset="-122"/>
                <a:cs typeface="Space Grotesk" pitchFamily="34" charset="-120"/>
              </a:rPr>
              <a:t>STMicroelectronics</a:t>
            </a:r>
            <a:endParaRPr lang="en-US" sz="1700" dirty="0"/>
          </a:p>
        </p:txBody>
      </p:sp>
      <p:sp>
        <p:nvSpPr>
          <p:cNvPr id="8" name="Text 5"/>
          <p:cNvSpPr txBox="1"/>
          <p:nvPr/>
        </p:nvSpPr>
        <p:spPr>
          <a:xfrm>
            <a:off x="411480" y="2331720"/>
            <a:ext cx="2606040" cy="1737360"/>
          </a:xfrm>
          <a:prstGeom prst="rect">
            <a:avLst/>
          </a:prstGeom>
          <a:noFill/>
          <a:ln/>
        </p:spPr>
        <p:txBody>
          <a:bodyPr wrap="square" lIns="0" tIns="0" rIns="0" bIns="0" rtlCol="0" anchor="t"/>
          <a:lstStyle/>
          <a:p>
            <a:pPr indent="0" marL="0">
              <a:buNone/>
            </a:pPr>
            <a:r>
              <a:rPr lang="en-US" sz="1350" dirty="0">
                <a:solidFill>
                  <a:srgbClr val="A3B3BE"/>
                </a:solidFill>
                <a:latin typeface="Space Grotesk" pitchFamily="34" charset="0"/>
                <a:ea typeface="Space Grotesk" pitchFamily="34" charset="-122"/>
                <a:cs typeface="Space Grotesk" pitchFamily="34" charset="-120"/>
              </a:rPr>
              <a:t>We approached STMicroelectronics to fund the prototype and the proof of concept. Discussions are ongoing; nothing is committed yet.</a:t>
            </a:r>
            <a:endParaRPr lang="en-US" sz="1350" dirty="0"/>
          </a:p>
        </p:txBody>
      </p:sp>
      <p:sp>
        <p:nvSpPr>
          <p:cNvPr id="9" name="Shape 6"/>
          <p:cNvSpPr/>
          <p:nvPr/>
        </p:nvSpPr>
        <p:spPr>
          <a:xfrm>
            <a:off x="3218688" y="1417320"/>
            <a:ext cx="2651760" cy="36576"/>
          </a:xfrm>
          <a:prstGeom prst="rect">
            <a:avLst/>
          </a:prstGeom>
          <a:solidFill>
            <a:srgbClr val="8FB3C9"/>
          </a:solidFill>
          <a:ln w="12700">
            <a:solidFill>
              <a:srgbClr val="8FB3C9"/>
            </a:solidFill>
            <a:prstDash val="solid"/>
          </a:ln>
        </p:spPr>
      </p:sp>
      <p:sp>
        <p:nvSpPr>
          <p:cNvPr id="10" name="Text 7"/>
          <p:cNvSpPr txBox="1"/>
          <p:nvPr/>
        </p:nvSpPr>
        <p:spPr>
          <a:xfrm>
            <a:off x="3218688" y="1554480"/>
            <a:ext cx="2651760" cy="201168"/>
          </a:xfrm>
          <a:prstGeom prst="rect">
            <a:avLst/>
          </a:prstGeom>
          <a:noFill/>
          <a:ln/>
        </p:spPr>
        <p:txBody>
          <a:bodyPr wrap="square" lIns="0" tIns="0" rIns="0" bIns="0" rtlCol="0" anchor="t"/>
          <a:lstStyle/>
          <a:p>
            <a:pPr indent="0" marL="0">
              <a:buNone/>
            </a:pPr>
            <a:r>
              <a:rPr lang="en-US" sz="850" b="1" spc="150" kern="0" dirty="0">
                <a:solidFill>
                  <a:srgbClr val="8FB3C9"/>
                </a:solidFill>
                <a:latin typeface="Space Mono" pitchFamily="34" charset="0"/>
                <a:ea typeface="Space Mono" pitchFamily="34" charset="-122"/>
                <a:cs typeface="Space Mono" pitchFamily="34" charset="-120"/>
              </a:rPr>
              <a:t>3.7 · CONCEPT</a:t>
            </a:r>
            <a:endParaRPr lang="en-US" sz="850" dirty="0"/>
          </a:p>
        </p:txBody>
      </p:sp>
      <p:sp>
        <p:nvSpPr>
          <p:cNvPr id="11" name="Text 8"/>
          <p:cNvSpPr txBox="1"/>
          <p:nvPr/>
        </p:nvSpPr>
        <p:spPr>
          <a:xfrm>
            <a:off x="3218688" y="1828800"/>
            <a:ext cx="2651760" cy="411480"/>
          </a:xfrm>
          <a:prstGeom prst="rect">
            <a:avLst/>
          </a:prstGeom>
          <a:noFill/>
          <a:ln/>
        </p:spPr>
        <p:txBody>
          <a:bodyPr wrap="square" lIns="0" tIns="0" rIns="0" bIns="0" rtlCol="0" anchor="t"/>
          <a:lstStyle/>
          <a:p>
            <a:pPr indent="0" marL="0">
              <a:buNone/>
            </a:pPr>
            <a:r>
              <a:rPr lang="en-US" sz="1700" b="1" dirty="0">
                <a:solidFill>
                  <a:srgbClr val="E8EEF2"/>
                </a:solidFill>
                <a:latin typeface="Space Grotesk" pitchFamily="34" charset="0"/>
                <a:ea typeface="Space Grotesk" pitchFamily="34" charset="-122"/>
                <a:cs typeface="Space Grotesk" pitchFamily="34" charset="-120"/>
              </a:rPr>
              <a:t>​</a:t>
            </a:r>
            <a:r>
              <a:rPr lang="en-US" sz="1700" b="1" u="sng" dirty="0">
                <a:solidFill>
                  <a:srgbClr val="54ACF0"/>
                </a:solidFill>
                <a:latin typeface="Space Grotesk" pitchFamily="34" charset="0"/>
                <a:ea typeface="Space Grotesk" pitchFamily="34" charset="-122"/>
                <a:cs typeface="Space Grotesk" pitchFamily="34" charset="-120"/>
                <a:hlinkClick r:id="rId1"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700" dirty="0"/>
          </a:p>
        </p:txBody>
      </p:sp>
      <p:sp>
        <p:nvSpPr>
          <p:cNvPr id="12" name="Text 9"/>
          <p:cNvSpPr txBox="1"/>
          <p:nvPr/>
        </p:nvSpPr>
        <p:spPr>
          <a:xfrm>
            <a:off x="3218688" y="2331720"/>
            <a:ext cx="2606040" cy="1737360"/>
          </a:xfrm>
          <a:prstGeom prst="rect">
            <a:avLst/>
          </a:prstGeom>
          <a:noFill/>
          <a:ln/>
        </p:spPr>
        <p:txBody>
          <a:bodyPr wrap="square" lIns="0" tIns="0" rIns="0" bIns="0" rtlCol="0" anchor="t"/>
          <a:lstStyle/>
          <a:p>
            <a:pPr indent="0" marL="0">
              <a:buNone/>
            </a:pPr>
            <a:r>
              <a:rPr lang="en-US" sz="1350" dirty="0">
                <a:solidFill>
                  <a:srgbClr val="A3B3BE"/>
                </a:solidFill>
                <a:latin typeface="Space Grotesk" pitchFamily="34" charset="0"/>
                <a:ea typeface="Space Grotesk" pitchFamily="34" charset="-122"/>
                <a:cs typeface="Space Grotesk" pitchFamily="34" charset="-120"/>
              </a:rPr>
              <a:t>Conceived after that meeting: spring probes under the board, so Proto can reach every net to test and program it. Concept page live.</a:t>
            </a:r>
            <a:endParaRPr lang="en-US" sz="1350" dirty="0"/>
          </a:p>
        </p:txBody>
      </p:sp>
      <p:sp>
        <p:nvSpPr>
          <p:cNvPr id="13" name="Shape 10"/>
          <p:cNvSpPr/>
          <p:nvPr/>
        </p:nvSpPr>
        <p:spPr>
          <a:xfrm>
            <a:off x="6025896" y="1417320"/>
            <a:ext cx="2651760" cy="36576"/>
          </a:xfrm>
          <a:prstGeom prst="rect">
            <a:avLst/>
          </a:prstGeom>
          <a:solidFill>
            <a:srgbClr val="60A05A"/>
          </a:solidFill>
          <a:ln w="12700">
            <a:solidFill>
              <a:srgbClr val="60A05A"/>
            </a:solidFill>
            <a:prstDash val="solid"/>
          </a:ln>
        </p:spPr>
      </p:sp>
      <p:sp>
        <p:nvSpPr>
          <p:cNvPr id="14" name="Text 11"/>
          <p:cNvSpPr txBox="1"/>
          <p:nvPr/>
        </p:nvSpPr>
        <p:spPr>
          <a:xfrm>
            <a:off x="6025896" y="1554480"/>
            <a:ext cx="2651760" cy="201168"/>
          </a:xfrm>
          <a:prstGeom prst="rect">
            <a:avLst/>
          </a:prstGeom>
          <a:noFill/>
          <a:ln/>
        </p:spPr>
        <p:txBody>
          <a:bodyPr wrap="square" lIns="0" tIns="0" rIns="0" bIns="0" rtlCol="0" anchor="t"/>
          <a:lstStyle/>
          <a:p>
            <a:pPr indent="0" marL="0">
              <a:buNone/>
            </a:pPr>
            <a:r>
              <a:rPr lang="en-US" sz="850" b="1" spc="150" kern="0" dirty="0">
                <a:solidFill>
                  <a:srgbClr val="60A05A"/>
                </a:solidFill>
                <a:latin typeface="Space Mono" pitchFamily="34" charset="0"/>
                <a:ea typeface="Space Mono" pitchFamily="34" charset="-122"/>
                <a:cs typeface="Space Mono" pitchFamily="34" charset="-120"/>
              </a:rPr>
              <a:t>3.8 · DONE</a:t>
            </a:r>
            <a:endParaRPr lang="en-US" sz="850" dirty="0"/>
          </a:p>
        </p:txBody>
      </p:sp>
      <p:sp>
        <p:nvSpPr>
          <p:cNvPr id="15" name="Text 12"/>
          <p:cNvSpPr txBox="1"/>
          <p:nvPr/>
        </p:nvSpPr>
        <p:spPr>
          <a:xfrm>
            <a:off x="6025896" y="1828800"/>
            <a:ext cx="2651760" cy="411480"/>
          </a:xfrm>
          <a:prstGeom prst="rect">
            <a:avLst/>
          </a:prstGeom>
          <a:noFill/>
          <a:ln/>
        </p:spPr>
        <p:txBody>
          <a:bodyPr wrap="square" lIns="0" tIns="0" rIns="0" bIns="0" rtlCol="0" anchor="t"/>
          <a:lstStyle/>
          <a:p>
            <a:pPr indent="0" marL="0">
              <a:buNone/>
            </a:pPr>
            <a:r>
              <a:rPr lang="en-US" sz="1700" b="1" dirty="0">
                <a:solidFill>
                  <a:srgbClr val="E8EEF2"/>
                </a:solidFill>
                <a:latin typeface="Space Grotesk" pitchFamily="34" charset="0"/>
                <a:ea typeface="Space Grotesk" pitchFamily="34" charset="-122"/>
                <a:cs typeface="Space Grotesk" pitchFamily="34" charset="-120"/>
              </a:rPr>
              <a:t>Pitch and round-1 review</a:t>
            </a:r>
            <a:endParaRPr lang="en-US" sz="1700" dirty="0"/>
          </a:p>
        </p:txBody>
      </p:sp>
      <p:sp>
        <p:nvSpPr>
          <p:cNvPr id="16" name="Text 13"/>
          <p:cNvSpPr txBox="1"/>
          <p:nvPr/>
        </p:nvSpPr>
        <p:spPr>
          <a:xfrm>
            <a:off x="6025896" y="2331720"/>
            <a:ext cx="2606040" cy="1737360"/>
          </a:xfrm>
          <a:prstGeom prst="rect">
            <a:avLst/>
          </a:prstGeom>
          <a:noFill/>
          <a:ln/>
        </p:spPr>
        <p:txBody>
          <a:bodyPr wrap="square" lIns="0" tIns="0" rIns="0" bIns="0" rtlCol="0" anchor="t"/>
          <a:lstStyle/>
          <a:p>
            <a:pPr indent="0" marL="0">
              <a:buNone/>
            </a:pPr>
            <a:r>
              <a:rPr lang="en-US" sz="1350" dirty="0">
                <a:solidFill>
                  <a:srgbClr val="A3B3BE"/>
                </a:solidFill>
                <a:latin typeface="Space Grotesk" pitchFamily="34" charset="0"/>
                <a:ea typeface="Space Grotesk" pitchFamily="34" charset="-122"/>
                <a:cs typeface="Space Grotesk" pitchFamily="34" charset="-120"/>
              </a:rPr>
              <a:t>Pitch prepared; round-1 questions answered in writing. The plan is now </a:t>
            </a:r>
            <a:r>
              <a:rPr lang="en-US" sz="1350" u="sng" dirty="0">
                <a:solidFill>
                  <a:srgbClr val="CF8F4E"/>
                </a:solidFill>
                <a:latin typeface="Space Grotesk" pitchFamily="34" charset="0"/>
                <a:ea typeface="Space Grotesk" pitchFamily="34" charset="-122"/>
                <a:cs typeface="Space Grotesk"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350" dirty="0">
                <a:solidFill>
                  <a:srgbClr val="A3B3BE"/>
                </a:solidFill>
                <a:latin typeface="Space Grotesk" pitchFamily="34" charset="0"/>
                <a:ea typeface="Space Grotesk" pitchFamily="34" charset="-122"/>
                <a:cs typeface="Space Grotesk" pitchFamily="34" charset="-120"/>
              </a:rPr>
              <a:t> first, with funding in milestone-based instalments.</a:t>
            </a:r>
            <a:endParaRPr lang="en-US" sz="1350" dirty="0"/>
          </a:p>
        </p:txBody>
      </p:sp>
      <p:sp>
        <p:nvSpPr>
          <p:cNvPr id="17" name="Text 14"/>
          <p:cNvSpPr txBox="1"/>
          <p:nvPr/>
        </p:nvSpPr>
        <p:spPr>
          <a:xfrm>
            <a:off x="411480" y="4206240"/>
            <a:ext cx="8229600" cy="274320"/>
          </a:xfrm>
          <a:prstGeom prst="rect">
            <a:avLst/>
          </a:prstGeom>
          <a:noFill/>
          <a:ln/>
        </p:spPr>
        <p:txBody>
          <a:bodyPr wrap="square" lIns="0" tIns="0" rIns="0" bIns="0" rtlCol="0" anchor="t"/>
          <a:lstStyle/>
          <a:p>
            <a:pPr indent="0" marL="0">
              <a:buNone/>
            </a:pPr>
            <a:r>
              <a:rPr lang="en-US" sz="1050" dirty="0">
                <a:solidFill>
                  <a:srgbClr val="6E7A83"/>
                </a:solidFill>
                <a:latin typeface="Space Mono" pitchFamily="34" charset="0"/>
                <a:ea typeface="Space Mono" pitchFamily="34" charset="-122"/>
                <a:cs typeface="Space Mono" pitchFamily="34" charset="-120"/>
              </a:rPr>
              <a:t>Probe Matrix concept: </a:t>
            </a:r>
            <a:r>
              <a:rPr lang="en-US" sz="1050" u="sng" dirty="0">
                <a:solidFill>
                  <a:srgbClr val="54ACF0"/>
                </a:solidFill>
                <a:latin typeface="Space Mono" pitchFamily="34" charset="0"/>
                <a:ea typeface="Space Mono" pitchFamily="34" charset="-122"/>
                <a:cs typeface="Space Mono" pitchFamily="34" charset="-120"/>
                <a:hlinkClick r:id="rId3" invalidUrl="" action="" tgtFrame="" tooltip="https://probe-matrix.vercel.app/" history="1" highlightClick="0" endSnd="0">
                  <a:extLst>
                    <a:ext uri="{A12FA001-AC4F-418D-AE19-62706E023703}">
                      <ahyp:hlinkClr xmlns:ahyp="http://schemas.microsoft.com/office/drawing/2018/hyperlinkcolor" val="tx"/>
                    </a:ext>
                  </a:extLst>
                </a:hlinkClick>
              </a:rPr>
              <a:t>probe-matrix.vercel.app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CF8F4E"/>
                </a:solidFill>
                <a:latin typeface="Space Mono" pitchFamily="34" charset="0"/>
                <a:ea typeface="Space Mono" pitchFamily="34" charset="-122"/>
                <a:cs typeface="Space Mono" pitchFamily="34" charset="-120"/>
              </a:rPr>
              <a:t>07 · THE QUARTER IN NUMBERS</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What the three months produced</a:t>
            </a:r>
            <a:endParaRPr lang="en-US" sz="2400" dirty="0"/>
          </a:p>
        </p:txBody>
      </p:sp>
      <p:sp>
        <p:nvSpPr>
          <p:cNvPr id="5" name="Shape 2"/>
          <p:cNvSpPr/>
          <p:nvPr/>
        </p:nvSpPr>
        <p:spPr>
          <a:xfrm>
            <a:off x="411480" y="1417320"/>
            <a:ext cx="2651760" cy="36576"/>
          </a:xfrm>
          <a:prstGeom prst="rect">
            <a:avLst/>
          </a:prstGeom>
          <a:solidFill>
            <a:srgbClr val="CF8F4E"/>
          </a:solidFill>
          <a:ln w="12700">
            <a:solidFill>
              <a:srgbClr val="CF8F4E"/>
            </a:solidFill>
            <a:prstDash val="solid"/>
          </a:ln>
        </p:spPr>
      </p:sp>
      <p:sp>
        <p:nvSpPr>
          <p:cNvPr id="6" name="Text 3"/>
          <p:cNvSpPr txBox="1"/>
          <p:nvPr/>
        </p:nvSpPr>
        <p:spPr>
          <a:xfrm>
            <a:off x="411480" y="1527048"/>
            <a:ext cx="2651760" cy="548640"/>
          </a:xfrm>
          <a:prstGeom prst="rect">
            <a:avLst/>
          </a:prstGeom>
          <a:noFill/>
          <a:ln/>
        </p:spPr>
        <p:txBody>
          <a:bodyPr wrap="square" lIns="0" tIns="0" rIns="0" bIns="0" rtlCol="0" anchor="t"/>
          <a:lstStyle/>
          <a:p>
            <a:pPr indent="0" marL="0">
              <a:buNone/>
            </a:pPr>
            <a:r>
              <a:rPr lang="en-US" sz="3000" b="1" dirty="0">
                <a:solidFill>
                  <a:srgbClr val="CF8F4E"/>
                </a:solidFill>
                <a:latin typeface="Space Grotesk" pitchFamily="34" charset="0"/>
                <a:ea typeface="Space Grotesk" pitchFamily="34" charset="-122"/>
                <a:cs typeface="Space Grotesk" pitchFamily="34" charset="-120"/>
              </a:rPr>
              <a:t>15</a:t>
            </a:r>
            <a:endParaRPr lang="en-US" sz="3000" dirty="0"/>
          </a:p>
        </p:txBody>
      </p:sp>
      <p:sp>
        <p:nvSpPr>
          <p:cNvPr id="7" name="Text 4"/>
          <p:cNvSpPr txBox="1"/>
          <p:nvPr/>
        </p:nvSpPr>
        <p:spPr>
          <a:xfrm>
            <a:off x="411480" y="213055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a:t>
            </a:r>
            <a:r>
              <a:rPr lang="en-US" sz="100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00" dirty="0">
                <a:solidFill>
                  <a:srgbClr val="A3B3BE"/>
                </a:solidFill>
                <a:latin typeface="Space Mono" pitchFamily="34" charset="0"/>
                <a:ea typeface="Space Mono" pitchFamily="34" charset="-122"/>
                <a:cs typeface="Space Mono" pitchFamily="34" charset="-120"/>
              </a:rPr>
              <a:t> process steps designed</a:t>
            </a:r>
            <a:endParaRPr lang="en-US" sz="1000" dirty="0"/>
          </a:p>
        </p:txBody>
      </p:sp>
      <p:sp>
        <p:nvSpPr>
          <p:cNvPr id="8" name="Shape 5"/>
          <p:cNvSpPr/>
          <p:nvPr/>
        </p:nvSpPr>
        <p:spPr>
          <a:xfrm>
            <a:off x="3218688" y="1417320"/>
            <a:ext cx="2651760" cy="36576"/>
          </a:xfrm>
          <a:prstGeom prst="rect">
            <a:avLst/>
          </a:prstGeom>
          <a:solidFill>
            <a:srgbClr val="54ACF0"/>
          </a:solidFill>
          <a:ln w="12700">
            <a:solidFill>
              <a:srgbClr val="54ACF0"/>
            </a:solidFill>
            <a:prstDash val="solid"/>
          </a:ln>
        </p:spPr>
      </p:sp>
      <p:sp>
        <p:nvSpPr>
          <p:cNvPr id="9" name="Text 6"/>
          <p:cNvSpPr txBox="1"/>
          <p:nvPr/>
        </p:nvSpPr>
        <p:spPr>
          <a:xfrm>
            <a:off x="3218688" y="1527048"/>
            <a:ext cx="2651760" cy="548640"/>
          </a:xfrm>
          <a:prstGeom prst="rect">
            <a:avLst/>
          </a:prstGeom>
          <a:noFill/>
          <a:ln/>
        </p:spPr>
        <p:txBody>
          <a:bodyPr wrap="square" lIns="0" tIns="0" rIns="0" bIns="0" rtlCol="0" anchor="t"/>
          <a:lstStyle/>
          <a:p>
            <a:pPr indent="0" marL="0">
              <a:buNone/>
            </a:pPr>
            <a:r>
              <a:rPr lang="en-US" sz="3000" b="1" dirty="0">
                <a:solidFill>
                  <a:srgbClr val="54ACF0"/>
                </a:solidFill>
                <a:latin typeface="Space Grotesk" pitchFamily="34" charset="0"/>
                <a:ea typeface="Space Grotesk" pitchFamily="34" charset="-122"/>
                <a:cs typeface="Space Grotesk" pitchFamily="34" charset="-120"/>
              </a:rPr>
              <a:t>70</a:t>
            </a:r>
            <a:endParaRPr lang="en-US" sz="3000" dirty="0"/>
          </a:p>
        </p:txBody>
      </p:sp>
      <p:sp>
        <p:nvSpPr>
          <p:cNvPr id="10" name="Text 7"/>
          <p:cNvSpPr txBox="1"/>
          <p:nvPr/>
        </p:nvSpPr>
        <p:spPr>
          <a:xfrm>
            <a:off x="3218688" y="213055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line items in the costed bill of materials</a:t>
            </a:r>
            <a:endParaRPr lang="en-US" sz="1000" dirty="0"/>
          </a:p>
        </p:txBody>
      </p:sp>
      <p:sp>
        <p:nvSpPr>
          <p:cNvPr id="11" name="Shape 8"/>
          <p:cNvSpPr/>
          <p:nvPr/>
        </p:nvSpPr>
        <p:spPr>
          <a:xfrm>
            <a:off x="6025896" y="1417320"/>
            <a:ext cx="2651760" cy="36576"/>
          </a:xfrm>
          <a:prstGeom prst="rect">
            <a:avLst/>
          </a:prstGeom>
          <a:solidFill>
            <a:srgbClr val="F2C230"/>
          </a:solidFill>
          <a:ln w="12700">
            <a:solidFill>
              <a:srgbClr val="F2C230"/>
            </a:solidFill>
            <a:prstDash val="solid"/>
          </a:ln>
        </p:spPr>
      </p:sp>
      <p:sp>
        <p:nvSpPr>
          <p:cNvPr id="12" name="Text 9"/>
          <p:cNvSpPr txBox="1"/>
          <p:nvPr/>
        </p:nvSpPr>
        <p:spPr>
          <a:xfrm>
            <a:off x="6025896" y="1527048"/>
            <a:ext cx="2651760" cy="548640"/>
          </a:xfrm>
          <a:prstGeom prst="rect">
            <a:avLst/>
          </a:prstGeom>
          <a:noFill/>
          <a:ln/>
        </p:spPr>
        <p:txBody>
          <a:bodyPr wrap="square" lIns="0" tIns="0" rIns="0" bIns="0" rtlCol="0" anchor="t"/>
          <a:lstStyle/>
          <a:p>
            <a:pPr indent="0" marL="0">
              <a:buNone/>
            </a:pPr>
            <a:r>
              <a:rPr lang="en-US" sz="3000" b="1" dirty="0">
                <a:solidFill>
                  <a:srgbClr val="F2C230"/>
                </a:solidFill>
                <a:latin typeface="Space Grotesk" pitchFamily="34" charset="0"/>
                <a:ea typeface="Space Grotesk" pitchFamily="34" charset="-122"/>
                <a:cs typeface="Space Grotesk" pitchFamily="34" charset="-120"/>
              </a:rPr>
              <a:t>2 + 1</a:t>
            </a:r>
            <a:endParaRPr lang="en-US" sz="3000" dirty="0"/>
          </a:p>
        </p:txBody>
      </p:sp>
      <p:sp>
        <p:nvSpPr>
          <p:cNvPr id="13" name="Text 10"/>
          <p:cNvSpPr txBox="1"/>
          <p:nvPr/>
        </p:nvSpPr>
        <p:spPr>
          <a:xfrm>
            <a:off x="6025896" y="213055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machines designed, plus one accessory conceived</a:t>
            </a:r>
            <a:endParaRPr lang="en-US" sz="1000" dirty="0"/>
          </a:p>
        </p:txBody>
      </p:sp>
      <p:sp>
        <p:nvSpPr>
          <p:cNvPr id="14" name="Shape 11"/>
          <p:cNvSpPr/>
          <p:nvPr/>
        </p:nvSpPr>
        <p:spPr>
          <a:xfrm>
            <a:off x="411480" y="2926080"/>
            <a:ext cx="2651760" cy="36576"/>
          </a:xfrm>
          <a:prstGeom prst="rect">
            <a:avLst/>
          </a:prstGeom>
          <a:solidFill>
            <a:srgbClr val="CF8F4E"/>
          </a:solidFill>
          <a:ln w="12700">
            <a:solidFill>
              <a:srgbClr val="CF8F4E"/>
            </a:solidFill>
            <a:prstDash val="solid"/>
          </a:ln>
        </p:spPr>
      </p:sp>
      <p:sp>
        <p:nvSpPr>
          <p:cNvPr id="15" name="Text 12"/>
          <p:cNvSpPr txBox="1"/>
          <p:nvPr/>
        </p:nvSpPr>
        <p:spPr>
          <a:xfrm>
            <a:off x="411480" y="3035808"/>
            <a:ext cx="2651760" cy="548640"/>
          </a:xfrm>
          <a:prstGeom prst="rect">
            <a:avLst/>
          </a:prstGeom>
          <a:noFill/>
          <a:ln/>
        </p:spPr>
        <p:txBody>
          <a:bodyPr wrap="square" lIns="0" tIns="0" rIns="0" bIns="0" rtlCol="0" anchor="t"/>
          <a:lstStyle/>
          <a:p>
            <a:pPr indent="0" marL="0">
              <a:buNone/>
            </a:pPr>
            <a:r>
              <a:rPr lang="en-US" sz="3000" b="1" dirty="0">
                <a:solidFill>
                  <a:srgbClr val="CF8F4E"/>
                </a:solidFill>
                <a:latin typeface="Space Grotesk" pitchFamily="34" charset="0"/>
                <a:ea typeface="Space Grotesk" pitchFamily="34" charset="-122"/>
                <a:cs typeface="Space Grotesk" pitchFamily="34" charset="-120"/>
              </a:rPr>
              <a:t>₹3,73,418</a:t>
            </a:r>
            <a:endParaRPr lang="en-US" sz="3000" dirty="0"/>
          </a:p>
        </p:txBody>
      </p:sp>
      <p:sp>
        <p:nvSpPr>
          <p:cNvPr id="16" name="Text 13"/>
          <p:cNvSpPr txBox="1"/>
          <p:nvPr/>
        </p:nvSpPr>
        <p:spPr>
          <a:xfrm>
            <a:off x="411480" y="363931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costed first </a:t>
            </a:r>
            <a:r>
              <a:rPr lang="en-US" sz="100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00" dirty="0">
                <a:solidFill>
                  <a:srgbClr val="A3B3BE"/>
                </a:solidFill>
                <a:latin typeface="Space Mono" pitchFamily="34" charset="0"/>
                <a:ea typeface="Space Mono" pitchFamily="34" charset="-122"/>
                <a:cs typeface="Space Mono" pitchFamily="34" charset="-120"/>
              </a:rPr>
              <a:t> prototype</a:t>
            </a:r>
            <a:endParaRPr lang="en-US" sz="1000" dirty="0"/>
          </a:p>
        </p:txBody>
      </p:sp>
      <p:sp>
        <p:nvSpPr>
          <p:cNvPr id="17" name="Shape 14"/>
          <p:cNvSpPr/>
          <p:nvPr/>
        </p:nvSpPr>
        <p:spPr>
          <a:xfrm>
            <a:off x="3218688" y="2926080"/>
            <a:ext cx="2651760" cy="36576"/>
          </a:xfrm>
          <a:prstGeom prst="rect">
            <a:avLst/>
          </a:prstGeom>
          <a:solidFill>
            <a:srgbClr val="60A05A"/>
          </a:solidFill>
          <a:ln w="12700">
            <a:solidFill>
              <a:srgbClr val="60A05A"/>
            </a:solidFill>
            <a:prstDash val="solid"/>
          </a:ln>
        </p:spPr>
      </p:sp>
      <p:sp>
        <p:nvSpPr>
          <p:cNvPr id="18" name="Text 15"/>
          <p:cNvSpPr txBox="1"/>
          <p:nvPr/>
        </p:nvSpPr>
        <p:spPr>
          <a:xfrm>
            <a:off x="3218688" y="3035808"/>
            <a:ext cx="2651760" cy="548640"/>
          </a:xfrm>
          <a:prstGeom prst="rect">
            <a:avLst/>
          </a:prstGeom>
          <a:noFill/>
          <a:ln/>
        </p:spPr>
        <p:txBody>
          <a:bodyPr wrap="square" lIns="0" tIns="0" rIns="0" bIns="0" rtlCol="0" anchor="t"/>
          <a:lstStyle/>
          <a:p>
            <a:pPr indent="0" marL="0">
              <a:buNone/>
            </a:pPr>
            <a:r>
              <a:rPr lang="en-US" sz="3000" b="1" dirty="0">
                <a:solidFill>
                  <a:srgbClr val="60A05A"/>
                </a:solidFill>
                <a:latin typeface="Space Grotesk" pitchFamily="34" charset="0"/>
                <a:ea typeface="Space Grotesk" pitchFamily="34" charset="-122"/>
                <a:cs typeface="Space Grotesk" pitchFamily="34" charset="-120"/>
              </a:rPr>
              <a:t>₹1,44,842</a:t>
            </a:r>
            <a:endParaRPr lang="en-US" sz="3000" dirty="0"/>
          </a:p>
        </p:txBody>
      </p:sp>
      <p:sp>
        <p:nvSpPr>
          <p:cNvPr id="19" name="Text 16"/>
          <p:cNvSpPr txBox="1"/>
          <p:nvPr/>
        </p:nvSpPr>
        <p:spPr>
          <a:xfrm>
            <a:off x="3218688" y="363931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projected </a:t>
            </a:r>
            <a:r>
              <a:rPr lang="en-US" sz="100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00" dirty="0">
                <a:solidFill>
                  <a:srgbClr val="A3B3BE"/>
                </a:solidFill>
                <a:latin typeface="Space Mono" pitchFamily="34" charset="0"/>
                <a:ea typeface="Space Mono" pitchFamily="34" charset="-122"/>
                <a:cs typeface="Space Mono" pitchFamily="34" charset="-120"/>
              </a:rPr>
              <a:t> production cost</a:t>
            </a:r>
            <a:endParaRPr lang="en-US" sz="1000" dirty="0"/>
          </a:p>
        </p:txBody>
      </p:sp>
      <p:sp>
        <p:nvSpPr>
          <p:cNvPr id="20" name="Shape 17"/>
          <p:cNvSpPr/>
          <p:nvPr/>
        </p:nvSpPr>
        <p:spPr>
          <a:xfrm>
            <a:off x="6025896" y="2926080"/>
            <a:ext cx="2651760" cy="36576"/>
          </a:xfrm>
          <a:prstGeom prst="rect">
            <a:avLst/>
          </a:prstGeom>
          <a:solidFill>
            <a:srgbClr val="E8EEF2"/>
          </a:solidFill>
          <a:ln w="12700">
            <a:solidFill>
              <a:srgbClr val="E8EEF2"/>
            </a:solidFill>
            <a:prstDash val="solid"/>
          </a:ln>
        </p:spPr>
      </p:sp>
      <p:sp>
        <p:nvSpPr>
          <p:cNvPr id="21" name="Text 18"/>
          <p:cNvSpPr txBox="1"/>
          <p:nvPr/>
        </p:nvSpPr>
        <p:spPr>
          <a:xfrm>
            <a:off x="6025896" y="3035808"/>
            <a:ext cx="2651760" cy="548640"/>
          </a:xfrm>
          <a:prstGeom prst="rect">
            <a:avLst/>
          </a:prstGeom>
          <a:noFill/>
          <a:ln/>
        </p:spPr>
        <p:txBody>
          <a:bodyPr wrap="square" lIns="0" tIns="0" rIns="0" bIns="0" rtlCol="0" anchor="t"/>
          <a:lstStyle/>
          <a:p>
            <a:pPr indent="0" marL="0">
              <a:buNone/>
            </a:pPr>
            <a:r>
              <a:rPr lang="en-US" sz="3000" b="1" dirty="0">
                <a:solidFill>
                  <a:srgbClr val="E8EEF2"/>
                </a:solidFill>
                <a:latin typeface="Space Grotesk" pitchFamily="34" charset="0"/>
                <a:ea typeface="Space Grotesk" pitchFamily="34" charset="-122"/>
                <a:cs typeface="Space Grotesk" pitchFamily="34" charset="-120"/>
              </a:rPr>
              <a:t>7</a:t>
            </a:r>
            <a:endParaRPr lang="en-US" sz="3000" dirty="0"/>
          </a:p>
        </p:txBody>
      </p:sp>
      <p:sp>
        <p:nvSpPr>
          <p:cNvPr id="22" name="Text 19"/>
          <p:cNvSpPr txBox="1"/>
          <p:nvPr/>
        </p:nvSpPr>
        <p:spPr>
          <a:xfrm>
            <a:off x="6025896" y="3639312"/>
            <a:ext cx="2606040" cy="548640"/>
          </a:xfrm>
          <a:prstGeom prst="rect">
            <a:avLst/>
          </a:prstGeom>
          <a:noFill/>
          <a:ln/>
        </p:spPr>
        <p:txBody>
          <a:bodyPr wrap="square" lIns="0" tIns="0" rIns="0" bIns="0" rtlCol="0" anchor="t"/>
          <a:lstStyle/>
          <a:p>
            <a:pPr indent="0" marL="0">
              <a:buNone/>
            </a:pPr>
            <a:r>
              <a:rPr lang="en-US" sz="1000" dirty="0">
                <a:solidFill>
                  <a:srgbClr val="A3B3BE"/>
                </a:solidFill>
                <a:latin typeface="Space Mono" pitchFamily="34" charset="0"/>
                <a:ea typeface="Space Mono" pitchFamily="34" charset="-122"/>
                <a:cs typeface="Space Mono" pitchFamily="34" charset="-120"/>
              </a:rPr>
              <a:t>deliverables: website, BOM, cost report, workflow, China plan, pitch, concept page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65760"/>
            <a:ext cx="8321040" cy="201168"/>
          </a:xfrm>
          <a:prstGeom prst="rect">
            <a:avLst/>
          </a:prstGeom>
          <a:noFill/>
          <a:ln/>
        </p:spPr>
        <p:txBody>
          <a:bodyPr wrap="square" lIns="0" tIns="0" rIns="0" bIns="0" rtlCol="0" anchor="t"/>
          <a:lstStyle/>
          <a:p>
            <a:pPr indent="0" marL="0">
              <a:buNone/>
            </a:pPr>
            <a:r>
              <a:rPr lang="en-US" sz="900" spc="250" kern="0" dirty="0">
                <a:solidFill>
                  <a:srgbClr val="F2C230"/>
                </a:solidFill>
                <a:latin typeface="Space Mono" pitchFamily="34" charset="0"/>
                <a:ea typeface="Space Mono" pitchFamily="34" charset="-122"/>
                <a:cs typeface="Space Mono" pitchFamily="34" charset="-120"/>
              </a:rPr>
              <a:t>08 · NEXT QUARTER · OCT–DEC 2026</a:t>
            </a:r>
            <a:endParaRPr lang="en-US" sz="900" dirty="0"/>
          </a:p>
        </p:txBody>
      </p:sp>
      <p:sp>
        <p:nvSpPr>
          <p:cNvPr id="3" name="Text 1"/>
          <p:cNvSpPr txBox="1"/>
          <p:nvPr/>
        </p:nvSpPr>
        <p:spPr>
          <a:xfrm>
            <a:off x="411480" y="621792"/>
            <a:ext cx="8321040" cy="566928"/>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Finish Baker, prove it, fund it</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6675120"/>
                <a:gridCol w="1645920"/>
              </a:tblGrid>
              <a:tr h="310896">
                <a:tc>
                  <a:txBody>
                    <a:bodyPr/>
                    <a:lstStyle/>
                    <a:p>
                      <a:pPr indent="0" marL="0">
                        <a:buNone/>
                      </a:pPr>
                      <a:r>
                        <a:rPr lang="en-US" sz="1050" spc="100" kern="0" dirty="0">
                          <a:solidFill>
                            <a:srgbClr val="6E7A83"/>
                          </a:solidFill>
                          <a:latin typeface="Space Mono" pitchFamily="34" charset="0"/>
                          <a:ea typeface="Space Mono" pitchFamily="34" charset="-122"/>
                          <a:cs typeface="Space Mono" pitchFamily="34" charset="-120"/>
                        </a:rPr>
                        <a:t>PLANNED STEP</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1050" spc="100" kern="0" dirty="0">
                          <a:solidFill>
                            <a:srgbClr val="6E7A83"/>
                          </a:solidFill>
                          <a:latin typeface="Space Mono" pitchFamily="34" charset="0"/>
                          <a:ea typeface="Space Mono" pitchFamily="34" charset="-122"/>
                          <a:cs typeface="Space Mono" pitchFamily="34" charset="-120"/>
                        </a:rPr>
                        <a:t>TARGET</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310896">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Complete the first </a:t>
                      </a:r>
                      <a:r>
                        <a:rPr lang="en-US" sz="105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50" dirty="0">
                          <a:solidFill>
                            <a:srgbClr val="E8EEF2"/>
                          </a:solidFill>
                          <a:latin typeface="Space Mono" pitchFamily="34" charset="0"/>
                          <a:ea typeface="Space Mono" pitchFamily="34" charset="-122"/>
                          <a:cs typeface="Space Mono" pitchFamily="34" charset="-120"/>
                        </a:rPr>
                        <a:t> prototype build</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Oct–Nov</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10896">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Run all 15 </a:t>
                      </a:r>
                      <a:r>
                        <a:rPr lang="en-US" sz="105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50" dirty="0">
                          <a:solidFill>
                            <a:srgbClr val="E8EEF2"/>
                          </a:solidFill>
                          <a:latin typeface="Space Mono" pitchFamily="34" charset="0"/>
                          <a:ea typeface="Space Mono" pitchFamily="34" charset="-122"/>
                          <a:cs typeface="Space Mono" pitchFamily="34" charset="-120"/>
                        </a:rPr>
                        <a:t> steps end to end on one board</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Nov–Dec</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10896">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Proto: plain-English brief → Gerbers → </a:t>
                      </a:r>
                      <a:r>
                        <a:rPr lang="en-US" sz="105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50" dirty="0">
                          <a:solidFill>
                            <a:srgbClr val="E8EEF2"/>
                          </a:solidFill>
                          <a:latin typeface="Space Mono" pitchFamily="34" charset="0"/>
                          <a:ea typeface="Space Mono" pitchFamily="34" charset="-122"/>
                          <a:cs typeface="Space Mono" pitchFamily="34" charset="-120"/>
                        </a:rPr>
                        <a:t> job</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Nov–Dec</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10896">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Close proof-of-concept funding</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1050" dirty="0">
                          <a:solidFill>
                            <a:srgbClr val="E8EEF2"/>
                          </a:solidFill>
                          <a:latin typeface="Space Mono" pitchFamily="34" charset="0"/>
                          <a:ea typeface="Space Mono" pitchFamily="34" charset="-122"/>
                          <a:cs typeface="Space Mono" pitchFamily="34" charset="-120"/>
                        </a:rPr>
                        <a:t>Oct–Dec</a:t>
                      </a:r>
                      <a:endParaRPr lang="en-US" sz="105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6" name="Text 2"/>
          <p:cNvSpPr txBox="1"/>
          <p:nvPr/>
        </p:nvSpPr>
        <p:spPr>
          <a:xfrm>
            <a:off x="411480" y="3063240"/>
            <a:ext cx="8321040" cy="201168"/>
          </a:xfrm>
          <a:prstGeom prst="rect">
            <a:avLst/>
          </a:prstGeom>
          <a:noFill/>
          <a:ln/>
        </p:spPr>
        <p:txBody>
          <a:bodyPr wrap="square" lIns="0" tIns="0" rIns="0" bIns="0" rtlCol="0" anchor="t"/>
          <a:lstStyle/>
          <a:p>
            <a:pPr indent="0" marL="0">
              <a:buNone/>
            </a:pPr>
            <a:r>
              <a:rPr lang="en-US" sz="850" spc="150" kern="0" dirty="0">
                <a:solidFill>
                  <a:srgbClr val="6E7A83"/>
                </a:solidFill>
                <a:latin typeface="Space Grotesk" pitchFamily="34" charset="0"/>
                <a:ea typeface="Space Grotesk" pitchFamily="34" charset="-122"/>
                <a:cs typeface="Space Grotesk" pitchFamily="34" charset="-120"/>
              </a:rPr>
              <a:t>₹</a:t>
            </a:r>
            <a:r>
              <a:rPr lang="en-US" sz="850" spc="150" kern="0" dirty="0">
                <a:solidFill>
                  <a:srgbClr val="6E7A83"/>
                </a:solidFill>
                <a:latin typeface="Space Mono" pitchFamily="34" charset="0"/>
                <a:ea typeface="Space Mono" pitchFamily="34" charset="-122"/>
                <a:cs typeface="Space Mono" pitchFamily="34" charset="-120"/>
              </a:rPr>
              <a:t>15 LAKH, NINE MONTHS, RELEASED IN INSTALMENTS · NO FOUNDER SALARY</a:t>
            </a:r>
            <a:endParaRPr lang="en-US" sz="850" dirty="0"/>
          </a:p>
        </p:txBody>
      </p:sp>
      <p:sp>
        <p:nvSpPr>
          <p:cNvPr id="7" name="Shape 3"/>
          <p:cNvSpPr/>
          <p:nvPr/>
        </p:nvSpPr>
        <p:spPr>
          <a:xfrm>
            <a:off x="411480" y="3337560"/>
            <a:ext cx="2606040" cy="914400"/>
          </a:xfrm>
          <a:prstGeom prst="rect">
            <a:avLst/>
          </a:prstGeom>
          <a:solidFill>
            <a:srgbClr val="121A21"/>
          </a:solidFill>
          <a:ln w="9525">
            <a:solidFill>
              <a:srgbClr val="CF8F4E"/>
            </a:solidFill>
            <a:prstDash val="solid"/>
          </a:ln>
        </p:spPr>
      </p:sp>
      <p:sp>
        <p:nvSpPr>
          <p:cNvPr id="8" name="Text 4"/>
          <p:cNvSpPr txBox="1"/>
          <p:nvPr/>
        </p:nvSpPr>
        <p:spPr>
          <a:xfrm>
            <a:off x="548640" y="3383280"/>
            <a:ext cx="2377440" cy="411480"/>
          </a:xfrm>
          <a:prstGeom prst="rect">
            <a:avLst/>
          </a:prstGeom>
          <a:noFill/>
          <a:ln/>
        </p:spPr>
        <p:txBody>
          <a:bodyPr wrap="square" lIns="0" tIns="0" rIns="0" bIns="0" rtlCol="0" anchor="t"/>
          <a:lstStyle/>
          <a:p>
            <a:pPr indent="0" marL="0">
              <a:buNone/>
            </a:pPr>
            <a:r>
              <a:rPr lang="en-US" sz="2000" b="1" dirty="0">
                <a:solidFill>
                  <a:srgbClr val="CF8F4E"/>
                </a:solidFill>
                <a:latin typeface="Space Grotesk" pitchFamily="34" charset="0"/>
                <a:ea typeface="Space Grotesk" pitchFamily="34" charset="-122"/>
                <a:cs typeface="Space Grotesk" pitchFamily="34" charset="-120"/>
              </a:rPr>
              <a:t>₹6L</a:t>
            </a:r>
            <a:endParaRPr lang="en-US" sz="2000" dirty="0"/>
          </a:p>
        </p:txBody>
      </p:sp>
      <p:sp>
        <p:nvSpPr>
          <p:cNvPr id="9" name="Text 5"/>
          <p:cNvSpPr txBox="1"/>
          <p:nvPr/>
        </p:nvSpPr>
        <p:spPr>
          <a:xfrm>
            <a:off x="548640" y="3794760"/>
            <a:ext cx="2377440" cy="411480"/>
          </a:xfrm>
          <a:prstGeom prst="rect">
            <a:avLst/>
          </a:prstGeom>
          <a:noFill/>
          <a:ln/>
        </p:spPr>
        <p:txBody>
          <a:bodyPr wrap="square" lIns="0" tIns="0" rIns="0" bIns="0" rtlCol="0" anchor="t"/>
          <a:lstStyle/>
          <a:p>
            <a:pPr indent="0" marL="0">
              <a:buNone/>
            </a:pPr>
            <a:r>
              <a:rPr lang="en-US" sz="880" dirty="0">
                <a:solidFill>
                  <a:srgbClr val="A3B3BE"/>
                </a:solidFill>
                <a:latin typeface="Space Mono" pitchFamily="34" charset="0"/>
                <a:ea typeface="Space Mono" pitchFamily="34" charset="-122"/>
                <a:cs typeface="Space Mono" pitchFamily="34" charset="-120"/>
              </a:rPr>
              <a:t>at signing</a:t>
            </a:r>
            <a:endParaRPr lang="en-US" sz="880" dirty="0"/>
          </a:p>
        </p:txBody>
      </p:sp>
      <p:sp>
        <p:nvSpPr>
          <p:cNvPr id="10" name="Shape 6"/>
          <p:cNvSpPr/>
          <p:nvPr/>
        </p:nvSpPr>
        <p:spPr>
          <a:xfrm>
            <a:off x="3026664" y="3794760"/>
            <a:ext cx="182880" cy="0"/>
          </a:xfrm>
          <a:prstGeom prst="line">
            <a:avLst/>
          </a:prstGeom>
          <a:noFill/>
          <a:ln w="12700">
            <a:solidFill>
              <a:srgbClr val="424A51"/>
            </a:solidFill>
            <a:prstDash val="solid"/>
            <a:tailEnd type="triangle"/>
          </a:ln>
        </p:spPr>
      </p:sp>
      <p:sp>
        <p:nvSpPr>
          <p:cNvPr id="11" name="Shape 7"/>
          <p:cNvSpPr/>
          <p:nvPr/>
        </p:nvSpPr>
        <p:spPr>
          <a:xfrm>
            <a:off x="3218688" y="3337560"/>
            <a:ext cx="2606040" cy="914400"/>
          </a:xfrm>
          <a:prstGeom prst="rect">
            <a:avLst/>
          </a:prstGeom>
          <a:solidFill>
            <a:srgbClr val="121A21"/>
          </a:solidFill>
          <a:ln w="9525">
            <a:solidFill>
              <a:srgbClr val="54ACF0"/>
            </a:solidFill>
            <a:prstDash val="solid"/>
          </a:ln>
        </p:spPr>
      </p:sp>
      <p:sp>
        <p:nvSpPr>
          <p:cNvPr id="12" name="Text 8"/>
          <p:cNvSpPr txBox="1"/>
          <p:nvPr/>
        </p:nvSpPr>
        <p:spPr>
          <a:xfrm>
            <a:off x="3355848" y="3383280"/>
            <a:ext cx="2377440" cy="411480"/>
          </a:xfrm>
          <a:prstGeom prst="rect">
            <a:avLst/>
          </a:prstGeom>
          <a:noFill/>
          <a:ln/>
        </p:spPr>
        <p:txBody>
          <a:bodyPr wrap="square" lIns="0" tIns="0" rIns="0" bIns="0" rtlCol="0" anchor="t"/>
          <a:lstStyle/>
          <a:p>
            <a:pPr indent="0" marL="0">
              <a:buNone/>
            </a:pPr>
            <a:r>
              <a:rPr lang="en-US" sz="2000" b="1" dirty="0">
                <a:solidFill>
                  <a:srgbClr val="54ACF0"/>
                </a:solidFill>
                <a:latin typeface="Space Grotesk" pitchFamily="34" charset="0"/>
                <a:ea typeface="Space Grotesk" pitchFamily="34" charset="-122"/>
                <a:cs typeface="Space Grotesk" pitchFamily="34" charset="-120"/>
              </a:rPr>
              <a:t>₹5L</a:t>
            </a:r>
            <a:endParaRPr lang="en-US" sz="2000" dirty="0"/>
          </a:p>
        </p:txBody>
      </p:sp>
      <p:sp>
        <p:nvSpPr>
          <p:cNvPr id="13" name="Text 9"/>
          <p:cNvSpPr txBox="1"/>
          <p:nvPr/>
        </p:nvSpPr>
        <p:spPr>
          <a:xfrm>
            <a:off x="3355848" y="3794760"/>
            <a:ext cx="2377440" cy="411480"/>
          </a:xfrm>
          <a:prstGeom prst="rect">
            <a:avLst/>
          </a:prstGeom>
          <a:noFill/>
          <a:ln/>
        </p:spPr>
        <p:txBody>
          <a:bodyPr wrap="square" lIns="0" tIns="0" rIns="0" bIns="0" rtlCol="0" anchor="t"/>
          <a:lstStyle/>
          <a:p>
            <a:pPr indent="0" marL="0">
              <a:buNone/>
            </a:pPr>
            <a:r>
              <a:rPr lang="en-US" sz="880" dirty="0">
                <a:solidFill>
                  <a:srgbClr val="A3B3BE"/>
                </a:solidFill>
                <a:latin typeface="Space Mono" pitchFamily="34" charset="0"/>
                <a:ea typeface="Space Mono" pitchFamily="34" charset="-122"/>
                <a:cs typeface="Space Mono" pitchFamily="34" charset="-120"/>
              </a:rPr>
              <a:t>after milestone 1: </a:t>
            </a:r>
            <a:r>
              <a:rPr lang="en-US" sz="88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80" dirty="0">
                <a:solidFill>
                  <a:srgbClr val="A3B3BE"/>
                </a:solidFill>
                <a:latin typeface="Space Mono" pitchFamily="34" charset="0"/>
                <a:ea typeface="Space Mono" pitchFamily="34" charset="-122"/>
                <a:cs typeface="Space Mono" pitchFamily="34" charset="-120"/>
              </a:rPr>
              <a:t> runs all 15 steps</a:t>
            </a:r>
            <a:endParaRPr lang="en-US" sz="880" dirty="0"/>
          </a:p>
        </p:txBody>
      </p:sp>
      <p:sp>
        <p:nvSpPr>
          <p:cNvPr id="14" name="Shape 10"/>
          <p:cNvSpPr/>
          <p:nvPr/>
        </p:nvSpPr>
        <p:spPr>
          <a:xfrm>
            <a:off x="5833872" y="3794760"/>
            <a:ext cx="182880" cy="0"/>
          </a:xfrm>
          <a:prstGeom prst="line">
            <a:avLst/>
          </a:prstGeom>
          <a:noFill/>
          <a:ln w="12700">
            <a:solidFill>
              <a:srgbClr val="424A51"/>
            </a:solidFill>
            <a:prstDash val="solid"/>
            <a:tailEnd type="triangle"/>
          </a:ln>
        </p:spPr>
      </p:sp>
      <p:sp>
        <p:nvSpPr>
          <p:cNvPr id="15" name="Shape 11"/>
          <p:cNvSpPr/>
          <p:nvPr/>
        </p:nvSpPr>
        <p:spPr>
          <a:xfrm>
            <a:off x="6025896" y="3337560"/>
            <a:ext cx="2606040" cy="914400"/>
          </a:xfrm>
          <a:prstGeom prst="rect">
            <a:avLst/>
          </a:prstGeom>
          <a:solidFill>
            <a:srgbClr val="121A21"/>
          </a:solidFill>
          <a:ln w="9525">
            <a:solidFill>
              <a:srgbClr val="F2C230"/>
            </a:solidFill>
            <a:prstDash val="solid"/>
          </a:ln>
        </p:spPr>
      </p:sp>
      <p:sp>
        <p:nvSpPr>
          <p:cNvPr id="16" name="Text 12"/>
          <p:cNvSpPr txBox="1"/>
          <p:nvPr/>
        </p:nvSpPr>
        <p:spPr>
          <a:xfrm>
            <a:off x="6163056" y="3383280"/>
            <a:ext cx="2377440" cy="411480"/>
          </a:xfrm>
          <a:prstGeom prst="rect">
            <a:avLst/>
          </a:prstGeom>
          <a:noFill/>
          <a:ln/>
        </p:spPr>
        <p:txBody>
          <a:bodyPr wrap="square" lIns="0" tIns="0" rIns="0" bIns="0" rtlCol="0" anchor="t"/>
          <a:lstStyle/>
          <a:p>
            <a:pPr indent="0" marL="0">
              <a:buNone/>
            </a:pPr>
            <a:r>
              <a:rPr lang="en-US" sz="2000" b="1" dirty="0">
                <a:solidFill>
                  <a:srgbClr val="F2C230"/>
                </a:solidFill>
                <a:latin typeface="Space Grotesk" pitchFamily="34" charset="0"/>
                <a:ea typeface="Space Grotesk" pitchFamily="34" charset="-122"/>
                <a:cs typeface="Space Grotesk" pitchFamily="34" charset="-120"/>
              </a:rPr>
              <a:t>₹4L</a:t>
            </a:r>
            <a:endParaRPr lang="en-US" sz="2000" dirty="0"/>
          </a:p>
        </p:txBody>
      </p:sp>
      <p:sp>
        <p:nvSpPr>
          <p:cNvPr id="17" name="Text 13"/>
          <p:cNvSpPr txBox="1"/>
          <p:nvPr/>
        </p:nvSpPr>
        <p:spPr>
          <a:xfrm>
            <a:off x="6163056" y="3794760"/>
            <a:ext cx="2377440" cy="411480"/>
          </a:xfrm>
          <a:prstGeom prst="rect">
            <a:avLst/>
          </a:prstGeom>
          <a:noFill/>
          <a:ln/>
        </p:spPr>
        <p:txBody>
          <a:bodyPr wrap="square" lIns="0" tIns="0" rIns="0" bIns="0" rtlCol="0" anchor="t"/>
          <a:lstStyle/>
          <a:p>
            <a:pPr indent="0" marL="0">
              <a:buNone/>
            </a:pPr>
            <a:r>
              <a:rPr lang="en-US" sz="880" dirty="0">
                <a:solidFill>
                  <a:srgbClr val="A3B3BE"/>
                </a:solidFill>
                <a:latin typeface="Space Mono" pitchFamily="34" charset="0"/>
                <a:ea typeface="Space Mono" pitchFamily="34" charset="-122"/>
                <a:cs typeface="Space Mono" pitchFamily="34" charset="-120"/>
              </a:rPr>
              <a:t>after milestone 2: process tests pass; Proto makes a </a:t>
            </a:r>
            <a:r>
              <a:rPr lang="en-US" sz="880" u="sng" dirty="0">
                <a:solidFill>
                  <a:srgbClr val="CF8F4E"/>
                </a:solidFill>
                <a:latin typeface="Space Mono" pitchFamily="34" charset="0"/>
                <a:ea typeface="Space Mono" pitchFamily="34" charset="-122"/>
                <a:cs typeface="Space Mono"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80" dirty="0">
                <a:solidFill>
                  <a:srgbClr val="A3B3BE"/>
                </a:solidFill>
                <a:latin typeface="Space Mono" pitchFamily="34" charset="0"/>
                <a:ea typeface="Space Mono" pitchFamily="34" charset="-122"/>
                <a:cs typeface="Space Mono" pitchFamily="34" charset="-120"/>
              </a:rPr>
              <a:t> job</a:t>
            </a:r>
            <a:endParaRPr lang="en-US" sz="880" dirty="0"/>
          </a:p>
        </p:txBody>
      </p:sp>
      <p:sp>
        <p:nvSpPr>
          <p:cNvPr id="18" name="Text 14"/>
          <p:cNvSpPr txBox="1"/>
          <p:nvPr/>
        </p:nvSpPr>
        <p:spPr>
          <a:xfrm>
            <a:off x="411480" y="4407408"/>
            <a:ext cx="8321040" cy="256032"/>
          </a:xfrm>
          <a:prstGeom prst="rect">
            <a:avLst/>
          </a:prstGeom>
          <a:noFill/>
          <a:ln/>
        </p:spPr>
        <p:txBody>
          <a:bodyPr wrap="square" lIns="0" tIns="0" rIns="0" bIns="0" rtlCol="0" anchor="t"/>
          <a:lstStyle/>
          <a:p>
            <a:pPr indent="0" marL="0">
              <a:buNone/>
            </a:pPr>
            <a:r>
              <a:rPr lang="en-US" sz="1000" dirty="0">
                <a:solidFill>
                  <a:srgbClr val="E8EEF2"/>
                </a:solidFill>
                <a:latin typeface="Space Mono" pitchFamily="34" charset="0"/>
                <a:ea typeface="Space Mono" pitchFamily="34" charset="-122"/>
                <a:cs typeface="Space Mono" pitchFamily="34" charset="-120"/>
              </a:rPr>
              <a:t>Milestone 3, the proof of concept: 20 boards made with Proto + </a:t>
            </a:r>
            <a:r>
              <a:rPr lang="en-US" sz="1000" u="sng" dirty="0">
                <a:solidFill>
                  <a:srgbClr val="CF8F4E"/>
                </a:solidFill>
                <a:latin typeface="Space Mono" pitchFamily="34" charset="0"/>
                <a:ea typeface="Space Mono" pitchFamily="34" charset="-122"/>
                <a:cs typeface="Space Mono" pitchFamily="34" charset="-120"/>
                <a:hlinkClick r:id="rId6"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00" dirty="0">
                <a:solidFill>
                  <a:srgbClr val="E8EEF2"/>
                </a:solidFill>
                <a:latin typeface="Space Mono" pitchFamily="34" charset="0"/>
                <a:ea typeface="Space Mono" pitchFamily="34" charset="-122"/>
                <a:cs typeface="Space Mono" pitchFamily="34" charset="-120"/>
              </a:rPr>
              <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216"/>
        </a:solidFill>
      </p:bgPr>
    </p:bg>
    <p:spTree>
      <p:nvGrpSpPr>
        <p:cNvPr id="1" name=""/>
        <p:cNvGrpSpPr/>
        <p:nvPr/>
      </p:nvGrpSpPr>
      <p:grpSpPr>
        <a:xfrm>
          <a:off x="0" y="0"/>
          <a:ext cx="0" cy="0"/>
          <a:chOff x="0" y="0"/>
          <a:chExt cx="0" cy="0"/>
        </a:xfrm>
      </p:grpSpPr>
      <p:pic>
        <p:nvPicPr>
          <p:cNvPr id="3" name="Image 0" descr="/tmp/claude-0/-home-user-robowar/aee4da2e-473c-53db-a5de-8e0dc57de510/scratchpad/proj/PROTOPUS_Project/08_Build_Scripts/assets/logo.png">    </p:cNvPr>
          <p:cNvPicPr>
            <a:picLocks noChangeAspect="1"/>
          </p:cNvPicPr>
          <p:nvPr/>
        </p:nvPicPr>
        <p:blipFill>
          <a:blip r:embed="rId1"/>
          <a:stretch>
            <a:fillRect/>
          </a:stretch>
        </p:blipFill>
        <p:spPr>
          <a:xfrm>
            <a:off x="411480" y="457200"/>
            <a:ext cx="1965960" cy="341986"/>
          </a:xfrm>
          <a:prstGeom prst="rect">
            <a:avLst/>
          </a:prstGeom>
        </p:spPr>
      </p:pic>
      <p:sp>
        <p:nvSpPr>
          <p:cNvPr id="4" name="Text 0"/>
          <p:cNvSpPr txBox="1"/>
          <p:nvPr/>
        </p:nvSpPr>
        <p:spPr>
          <a:xfrm>
            <a:off x="411480" y="1737360"/>
            <a:ext cx="6400800" cy="777240"/>
          </a:xfrm>
          <a:prstGeom prst="rect">
            <a:avLst/>
          </a:prstGeom>
          <a:noFill/>
          <a:ln/>
        </p:spPr>
        <p:txBody>
          <a:bodyPr wrap="square" lIns="0" tIns="0" rIns="0" bIns="0" rtlCol="0" anchor="t"/>
          <a:lstStyle/>
          <a:p>
            <a:pPr indent="0" marL="0">
              <a:buNone/>
            </a:pPr>
            <a:r>
              <a:rPr lang="en-US" sz="4400" b="1" dirty="0">
                <a:solidFill>
                  <a:srgbClr val="E8EEF2"/>
                </a:solidFill>
                <a:latin typeface="Space Grotesk" pitchFamily="34" charset="0"/>
                <a:ea typeface="Space Grotesk" pitchFamily="34" charset="-122"/>
                <a:cs typeface="Space Grotesk" pitchFamily="34" charset="-120"/>
              </a:rPr>
              <a:t>Thank you, sir.</a:t>
            </a:r>
            <a:endParaRPr lang="en-US" sz="4400" dirty="0"/>
          </a:p>
        </p:txBody>
      </p:sp>
      <p:sp>
        <p:nvSpPr>
          <p:cNvPr id="5" name="Text 1"/>
          <p:cNvSpPr txBox="1"/>
          <p:nvPr/>
        </p:nvSpPr>
        <p:spPr>
          <a:xfrm>
            <a:off x="411480" y="2514600"/>
            <a:ext cx="6400800" cy="320040"/>
          </a:xfrm>
          <a:prstGeom prst="rect">
            <a:avLst/>
          </a:prstGeom>
          <a:noFill/>
          <a:ln/>
        </p:spPr>
        <p:txBody>
          <a:bodyPr wrap="square" lIns="0" tIns="0" rIns="0" bIns="0" rtlCol="0" anchor="t"/>
          <a:lstStyle/>
          <a:p>
            <a:pPr indent="0" marL="0">
              <a:buNone/>
            </a:pPr>
            <a:r>
              <a:rPr lang="en-US" sz="1400" dirty="0">
                <a:solidFill>
                  <a:srgbClr val="A3B3BE"/>
                </a:solidFill>
                <a:latin typeface="Space Mono" pitchFamily="34" charset="0"/>
                <a:ea typeface="Space Mono" pitchFamily="34" charset="-122"/>
                <a:cs typeface="Space Mono" pitchFamily="34" charset="-120"/>
              </a:rPr>
              <a:t>Questions and guidance welcome.</a:t>
            </a:r>
            <a:endParaRPr lang="en-US" sz="1400" dirty="0"/>
          </a:p>
        </p:txBody>
      </p:sp>
      <p:sp>
        <p:nvSpPr>
          <p:cNvPr id="6" name="Text 2"/>
          <p:cNvSpPr txBox="1"/>
          <p:nvPr/>
        </p:nvSpPr>
        <p:spPr>
          <a:xfrm>
            <a:off x="411480" y="3108960"/>
            <a:ext cx="1371600" cy="256032"/>
          </a:xfrm>
          <a:prstGeom prst="rect">
            <a:avLst/>
          </a:prstGeom>
          <a:noFill/>
          <a:ln/>
        </p:spPr>
        <p:txBody>
          <a:bodyPr wrap="square" lIns="0" tIns="0" rIns="0" bIns="0" rtlCol="0" anchor="ctr"/>
          <a:lstStyle/>
          <a:p>
            <a:pPr indent="0" marL="0">
              <a:buNone/>
            </a:pPr>
            <a:r>
              <a:rPr lang="en-US" sz="850" spc="150" kern="0" dirty="0">
                <a:solidFill>
                  <a:srgbClr val="6E7A83"/>
                </a:solidFill>
                <a:latin typeface="Space Mono" pitchFamily="34" charset="0"/>
                <a:ea typeface="Space Mono" pitchFamily="34" charset="-122"/>
                <a:cs typeface="Space Mono" pitchFamily="34" charset="-120"/>
              </a:rPr>
              <a:t>WEBSITE</a:t>
            </a:r>
            <a:endParaRPr lang="en-US" sz="850" dirty="0"/>
          </a:p>
        </p:txBody>
      </p:sp>
      <p:sp>
        <p:nvSpPr>
          <p:cNvPr id="7" name="Text 3"/>
          <p:cNvSpPr txBox="1"/>
          <p:nvPr/>
        </p:nvSpPr>
        <p:spPr>
          <a:xfrm>
            <a:off x="1828800" y="3108960"/>
            <a:ext cx="4572000" cy="256032"/>
          </a:xfrm>
          <a:prstGeom prst="rect">
            <a:avLst/>
          </a:prstGeom>
          <a:noFill/>
          <a:ln/>
        </p:spPr>
        <p:txBody>
          <a:bodyPr wrap="square" lIns="0" tIns="0" rIns="0" bIns="0" rtlCol="0" anchor="ctr"/>
          <a:lstStyle/>
          <a:p>
            <a:pPr indent="0" marL="0">
              <a:buNone/>
            </a:pPr>
            <a:r>
              <a:rPr lang="en-US" sz="1050" u="sng" dirty="0">
                <a:solidFill>
                  <a:srgbClr val="E8EEF2"/>
                </a:solidFill>
                <a:latin typeface="Space Mono" pitchFamily="34" charset="0"/>
                <a:ea typeface="Space Mono" pitchFamily="34" charset="-122"/>
                <a:cs typeface="Space Mono" pitchFamily="34" charset="-120"/>
                <a:hlinkClick r:id="rId2" invalidUrl="" action="" tgtFrame="" tooltip="https://protopus-kappa.vercel.app/" history="1" highlightClick="0" endSnd="0">
                  <a:extLst>
                    <a:ext uri="{A12FA001-AC4F-418D-AE19-62706E023703}">
                      <ahyp:hlinkClr xmlns:ahyp="http://schemas.microsoft.com/office/drawing/2018/hyperlinkcolor" val="tx"/>
                    </a:ext>
                  </a:extLst>
                </a:hlinkClick>
              </a:rPr>
              <a:t>https://protopus-kappa.vercel.app/</a:t>
            </a:r>
            <a:endParaRPr lang="en-US" sz="1050" dirty="0"/>
          </a:p>
        </p:txBody>
      </p:sp>
      <p:sp>
        <p:nvSpPr>
          <p:cNvPr id="8" name="Text 4"/>
          <p:cNvSpPr txBox="1"/>
          <p:nvPr/>
        </p:nvSpPr>
        <p:spPr>
          <a:xfrm>
            <a:off x="411480" y="3401568"/>
            <a:ext cx="1371600" cy="256032"/>
          </a:xfrm>
          <a:prstGeom prst="rect">
            <a:avLst/>
          </a:prstGeom>
          <a:noFill/>
          <a:ln/>
        </p:spPr>
        <p:txBody>
          <a:bodyPr wrap="square" lIns="0" tIns="0" rIns="0" bIns="0" rtlCol="0" anchor="ctr"/>
          <a:lstStyle/>
          <a:p>
            <a:pPr indent="0" marL="0">
              <a:buNone/>
            </a:pPr>
            <a:r>
              <a:rPr lang="en-US" sz="850" spc="150" kern="0" dirty="0">
                <a:solidFill>
                  <a:srgbClr val="6E7A83"/>
                </a:solidFill>
                <a:latin typeface="Space Mono" pitchFamily="34" charset="0"/>
                <a:ea typeface="Space Mono" pitchFamily="34" charset="-122"/>
                <a:cs typeface="Space Mono" pitchFamily="34" charset="-120"/>
              </a:rPr>
              <a:t>BAKER</a:t>
            </a:r>
            <a:endParaRPr lang="en-US" sz="850" dirty="0"/>
          </a:p>
        </p:txBody>
      </p:sp>
      <p:sp>
        <p:nvSpPr>
          <p:cNvPr id="9" name="Text 5"/>
          <p:cNvSpPr txBox="1"/>
          <p:nvPr/>
        </p:nvSpPr>
        <p:spPr>
          <a:xfrm>
            <a:off x="1828800" y="3401568"/>
            <a:ext cx="4572000" cy="256032"/>
          </a:xfrm>
          <a:prstGeom prst="rect">
            <a:avLst/>
          </a:prstGeom>
          <a:noFill/>
          <a:ln/>
        </p:spPr>
        <p:txBody>
          <a:bodyPr wrap="square" lIns="0" tIns="0" rIns="0" bIns="0" rtlCol="0" anchor="ctr"/>
          <a:lstStyle/>
          <a:p>
            <a:pPr indent="0" marL="0">
              <a:buNone/>
            </a:pPr>
            <a:r>
              <a:rPr lang="en-US" sz="105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https://protopus-kappa.vercel.app/#/baker</a:t>
            </a:r>
            <a:endParaRPr lang="en-US" sz="1050" dirty="0"/>
          </a:p>
        </p:txBody>
      </p:sp>
      <p:sp>
        <p:nvSpPr>
          <p:cNvPr id="10" name="Text 6"/>
          <p:cNvSpPr txBox="1"/>
          <p:nvPr/>
        </p:nvSpPr>
        <p:spPr>
          <a:xfrm>
            <a:off x="411480" y="3694176"/>
            <a:ext cx="1371600" cy="256032"/>
          </a:xfrm>
          <a:prstGeom prst="rect">
            <a:avLst/>
          </a:prstGeom>
          <a:noFill/>
          <a:ln/>
        </p:spPr>
        <p:txBody>
          <a:bodyPr wrap="square" lIns="0" tIns="0" rIns="0" bIns="0" rtlCol="0" anchor="ctr"/>
          <a:lstStyle/>
          <a:p>
            <a:pPr indent="0" marL="0">
              <a:buNone/>
            </a:pPr>
            <a:r>
              <a:rPr lang="en-US" sz="850" spc="150" kern="0" dirty="0">
                <a:solidFill>
                  <a:srgbClr val="6E7A83"/>
                </a:solidFill>
                <a:latin typeface="Space Mono" pitchFamily="34" charset="0"/>
                <a:ea typeface="Space Mono" pitchFamily="34" charset="-122"/>
                <a:cs typeface="Space Mono" pitchFamily="34" charset="-120"/>
              </a:rPr>
              <a:t>MIXER</a:t>
            </a:r>
            <a:endParaRPr lang="en-US" sz="850" dirty="0"/>
          </a:p>
        </p:txBody>
      </p:sp>
      <p:sp>
        <p:nvSpPr>
          <p:cNvPr id="11" name="Text 7"/>
          <p:cNvSpPr txBox="1"/>
          <p:nvPr/>
        </p:nvSpPr>
        <p:spPr>
          <a:xfrm>
            <a:off x="1828800" y="3694176"/>
            <a:ext cx="4572000" cy="256032"/>
          </a:xfrm>
          <a:prstGeom prst="rect">
            <a:avLst/>
          </a:prstGeom>
          <a:noFill/>
          <a:ln/>
        </p:spPr>
        <p:txBody>
          <a:bodyPr wrap="square" lIns="0" tIns="0" rIns="0" bIns="0" rtlCol="0" anchor="ctr"/>
          <a:lstStyle/>
          <a:p>
            <a:pPr indent="0" marL="0">
              <a:buNone/>
            </a:pPr>
            <a:r>
              <a:rPr lang="en-US" sz="105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https://protopus-kappa.vercel.app/#/mixer</a:t>
            </a:r>
            <a:endParaRPr lang="en-US" sz="1050" dirty="0"/>
          </a:p>
        </p:txBody>
      </p:sp>
      <p:sp>
        <p:nvSpPr>
          <p:cNvPr id="12" name="Text 8"/>
          <p:cNvSpPr txBox="1"/>
          <p:nvPr/>
        </p:nvSpPr>
        <p:spPr>
          <a:xfrm>
            <a:off x="411480" y="3986784"/>
            <a:ext cx="1371600" cy="256032"/>
          </a:xfrm>
          <a:prstGeom prst="rect">
            <a:avLst/>
          </a:prstGeom>
          <a:noFill/>
          <a:ln/>
        </p:spPr>
        <p:txBody>
          <a:bodyPr wrap="square" lIns="0" tIns="0" rIns="0" bIns="0" rtlCol="0" anchor="ctr"/>
          <a:lstStyle/>
          <a:p>
            <a:pPr indent="0" marL="0">
              <a:buNone/>
            </a:pPr>
            <a:r>
              <a:rPr lang="en-US" sz="850" spc="150" kern="0" dirty="0">
                <a:solidFill>
                  <a:srgbClr val="6E7A83"/>
                </a:solidFill>
                <a:latin typeface="Space Mono" pitchFamily="34" charset="0"/>
                <a:ea typeface="Space Mono" pitchFamily="34" charset="-122"/>
                <a:cs typeface="Space Mono" pitchFamily="34" charset="-120"/>
              </a:rPr>
              <a:t>PROBE MATRIX</a:t>
            </a:r>
            <a:endParaRPr lang="en-US" sz="850" dirty="0"/>
          </a:p>
        </p:txBody>
      </p:sp>
      <p:sp>
        <p:nvSpPr>
          <p:cNvPr id="13" name="Text 9"/>
          <p:cNvSpPr txBox="1"/>
          <p:nvPr/>
        </p:nvSpPr>
        <p:spPr>
          <a:xfrm>
            <a:off x="1828800" y="3986784"/>
            <a:ext cx="4572000" cy="256032"/>
          </a:xfrm>
          <a:prstGeom prst="rect">
            <a:avLst/>
          </a:prstGeom>
          <a:noFill/>
          <a:ln/>
        </p:spPr>
        <p:txBody>
          <a:bodyPr wrap="square" lIns="0" tIns="0" rIns="0" bIns="0" rtlCol="0" anchor="ctr"/>
          <a:lstStyle/>
          <a:p>
            <a:pPr indent="0" marL="0">
              <a:buNone/>
            </a:pPr>
            <a:r>
              <a:rPr lang="en-US" sz="1050" u="sng" dirty="0">
                <a:solidFill>
                  <a:srgbClr val="54ACF0"/>
                </a:solidFill>
                <a:latin typeface="Space Mono" pitchFamily="34" charset="0"/>
                <a:ea typeface="Space Mono" pitchFamily="34" charset="-122"/>
                <a:cs typeface="Space Mono" pitchFamily="34" charset="-120"/>
                <a:hlinkClick r:id="rId5" invalidUrl="" action="" tgtFrame="" tooltip="https://probe-matrix.vercel.app/" history="1" highlightClick="0" endSnd="0">
                  <a:extLst>
                    <a:ext uri="{A12FA001-AC4F-418D-AE19-62706E023703}">
                      <ahyp:hlinkClr xmlns:ahyp="http://schemas.microsoft.com/office/drawing/2018/hyperlinkcolor" val="tx"/>
                    </a:ext>
                  </a:extLst>
                </a:hlinkClick>
              </a:rPr>
              <a:t>https://probe-matrix.vercel.app/</a:t>
            </a:r>
            <a:endParaRPr lang="en-US" sz="1050" dirty="0"/>
          </a:p>
        </p:txBody>
      </p:sp>
      <p:sp>
        <p:nvSpPr>
          <p:cNvPr id="14" name="Text 10"/>
          <p:cNvSpPr txBox="1"/>
          <p:nvPr/>
        </p:nvSpPr>
        <p:spPr>
          <a:xfrm>
            <a:off x="411480" y="4434840"/>
            <a:ext cx="6400800" cy="228600"/>
          </a:xfrm>
          <a:prstGeom prst="rect">
            <a:avLst/>
          </a:prstGeom>
          <a:noFill/>
          <a:ln/>
        </p:spPr>
        <p:txBody>
          <a:bodyPr wrap="square" lIns="0" tIns="0" rIns="0" bIns="0" rtlCol="0" anchor="t"/>
          <a:lstStyle/>
          <a:p>
            <a:pPr indent="0" marL="0">
              <a:buNone/>
            </a:pPr>
            <a:r>
              <a:rPr lang="en-US" sz="950" dirty="0">
                <a:solidFill>
                  <a:srgbClr val="54ACF0"/>
                </a:solidFill>
                <a:latin typeface="Space Mono" pitchFamily="34" charset="0"/>
                <a:ea typeface="Space Mono" pitchFamily="34" charset="-122"/>
                <a:cs typeface="Space Mono" pitchFamily="34" charset="-120"/>
              </a:rPr>
              <a:t>Soham · Founder, Protopus · soham9763015@ece.du.ac.in</a:t>
            </a:r>
            <a:endParaRPr lang="en-US" sz="950" dirty="0"/>
          </a:p>
        </p:txBody>
      </p:sp>
      <p:pic>
        <p:nvPicPr>
          <p:cNvPr id="15" name="Image 1" descr="/tmp/claude-0/-home-user-robowar/aee4da2e-473c-53db-a5de-8e0dc57de510/scratchpad/proj/PROTOPUS_Project/08_Build_Scripts/assets/mascot.png">    </p:cNvPr>
          <p:cNvPicPr>
            <a:picLocks noChangeAspect="1"/>
          </p:cNvPicPr>
          <p:nvPr/>
        </p:nvPicPr>
        <p:blipFill>
          <a:blip r:embed="rId6"/>
          <a:stretch>
            <a:fillRect/>
          </a:stretch>
        </p:blipFill>
        <p:spPr>
          <a:xfrm>
            <a:off x="6675120" y="3200400"/>
            <a:ext cx="2011680" cy="12252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54ACF0"/>
      </a:hlink>
      <a:folHlink>
        <a:srgbClr val="54AC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PROTOPUS: quarterly progress review, July to September 2026</dc:title>
  <dc:subject>PptxGenJS Presentation</dc:subject>
  <dc:creator>PROTOPUS</dc:creator>
  <cp:lastModifiedBy>PROTOPUS</cp:lastModifiedBy>
  <cp:revision>1</cp:revision>
  <dcterms:created xsi:type="dcterms:W3CDTF">2026-10-12T08:41:27Z</dcterms:created>
  <dcterms:modified xsi:type="dcterms:W3CDTF">2026-10-12T08:41:27Z</dcterms:modified>
</cp:coreProperties>
</file>