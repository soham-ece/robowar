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rotopus-kappa.vercel.app/#/baker" TargetMode="External"/><Relationship Id="rId3" Type="http://schemas.openxmlformats.org/officeDocument/2006/relationships/hyperlink" Target="https://protopus-kappa.vercel.app/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topus-kappa.vercel.app/#/baker" TargetMode="External"/><Relationship Id="rId5" Type="http://schemas.openxmlformats.org/officeDocument/2006/relationships/hyperlink" Target="https://probe-matrix.vercel.app/" TargetMode="External"/><Relationship Id="rId6" Type="http://schemas.openxmlformats.org/officeDocument/2006/relationships/hyperlink" Target="https://protopus-kappa.vercel.app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obe-matrix.vercel.app/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protopus-kappa.vercel.app/#/bak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protopus-kappa.vercel.app/#/bak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probe-matrix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protopus-kappa.vercel.app/#/bak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probe-matrix.vercel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protopus-kappa.vercel.app/#/baker" TargetMode="External"/><Relationship Id="rId2" Type="http://schemas.openxmlformats.org/officeDocument/2006/relationships/hyperlink" Target="https://probe-matrix.vercel.app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protopus-kappa.vercel.app/#/baker" TargetMode="External"/><Relationship Id="rId2" Type="http://schemas.openxmlformats.org/officeDocument/2006/relationships/hyperlink" Target="https://probe-matrix.vercel.app/" TargetMode="External"/><Relationship Id="rId3" Type="http://schemas.openxmlformats.org/officeDocument/2006/relationships/hyperlink" Target="https://probe-matrix.vercel.app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protopus-kappa.vercel.app/" TargetMode="Externa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robowar/aee4da2e-473c-53db-a5de-8e0dc57de510/scratchpad/proj/PROTOPUS_Project/08_Build_Scrip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1965960" cy="3419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1463040"/>
            <a:ext cx="8412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Focus on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u="wavy" dirty="0">
                <a:solidFill>
                  <a:srgbClr val="E8EEF2"/>
                </a:solidFill>
                <a:uFill>
                  <a:solidFill>
                    <a:srgbClr val="54ACF0"/>
                  </a:solidFill>
                </a:u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innovation</a:t>
            </a:r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2706624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9FB0B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take care of the rest.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Smart machines and accessories for prototyping, run by an AI engineer.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plans every step. </a:t>
            </a:r>
            <a:pPr indent="0" marL="0">
              <a:lnSpc>
                <a:spcPct val="125000"/>
              </a:lnSpc>
              <a:buNone/>
            </a:pPr>
            <a:r>
              <a:rPr lang="en-US" sz="1150" u="sng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makes the board.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will test it.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434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u="sng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3" invalidUrl="" action="" tgtFrame="" tooltip="https://protopus-kappa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protopus-kappa.vercel.app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PROBLEM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prototype is a loop,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every lap costs weeks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993392"/>
            <a:ext cx="2240280" cy="2240280"/>
          </a:xfrm>
          <a:prstGeom prst="ellipse">
            <a:avLst/>
          </a:prstGeom>
          <a:solidFill>
            <a:srgbClr val="0E1216"/>
          </a:solidFill>
          <a:ln w="11430">
            <a:solidFill>
              <a:srgbClr val="424A5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54480" y="1856232"/>
            <a:ext cx="603504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18562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24328" y="2395728"/>
            <a:ext cx="54864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24328" y="2395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order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3090672"/>
            <a:ext cx="1188720" cy="274320"/>
          </a:xfrm>
          <a:prstGeom prst="rect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wait 1–3 weeks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34440" y="4096512"/>
            <a:ext cx="123444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solder by hand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" y="3584448"/>
            <a:ext cx="475488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" y="35844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624328"/>
            <a:ext cx="868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6243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bug found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7614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AND AGAIN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2990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×3, ×4, ×5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7–20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892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days for an assembled prototype from JLCPCB to reach India, per 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03320" y="2551176"/>
            <a:ext cx="50292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2606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7157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instruments to buy before you can measure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03320" y="3374136"/>
            <a:ext cx="50292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429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538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vendor apps and driver stacks to keep alive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5262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Nobody is short of ideas. </a:t>
            </a:r>
            <a:pPr indent="0" marL="0">
              <a:buNone/>
            </a:pPr>
            <a:r>
              <a:rPr lang="en-US" sz="1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They are short of tries.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WHY NOW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already builds software.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hardware, it stops at the file.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SOFTWARE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$100M ARR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7249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Lovable, 8 months after launch, selling to people who can't code.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HARDWARE FILES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~$100M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7249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raised by AI that draws boards: Flux $49M, Quilter $40M, Diode $11.4M. Claude drives Fusion and Blender (Apr 2026).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080760" y="1783080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8928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BENCH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none yet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7249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 AI that can make the board, power it and tell you if it works.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1148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41732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60020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0020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0604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8892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9476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97764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7764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38679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66360" y="3703320"/>
            <a:ext cx="1005840" cy="329184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66360" y="3703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97480" y="3566160"/>
            <a:ext cx="0" cy="685800"/>
          </a:xfrm>
          <a:prstGeom prst="line">
            <a:avLst/>
          </a:prstGeom>
          <a:noFill/>
          <a:ln w="15875">
            <a:solidFill>
              <a:srgbClr val="CF8F4E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411480" y="41330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today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2788920" y="4133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protopus: the AI's hands and eyes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46520" y="3639312"/>
            <a:ext cx="2286000" cy="73152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56248" y="363931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Smart machines give the AI access to the real world.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TechCrunch 23 Jul 2025 (Lovable) · SiliconANGLE 27 Feb 2026 (Flux) · BusinessWire 7 Oct 2025 (Quilter) · Fenwick (Diode) · Anthropic, Claude for Creative Work, 28 Apr 2026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THE EXPERTISE CURVE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rung of hardware knowledge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loses people. Proto removes rungs.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RUNG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73736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USED TO NEED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7373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WHO CARRIES IT NOW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576072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96596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6596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idea → spec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9659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exactly should it do?</a:t>
            </a:r>
            <a:endParaRPr lang="en-US" sz="78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9659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asks, then writes it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30428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30428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230428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Datasheets, stock, footprints</a:t>
            </a:r>
            <a:endParaRPr lang="en-US" sz="78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23042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picks in-stock parts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11480" y="2624328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642616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264261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schematic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64261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Circuit theory, references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64261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+ Flux check it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11480" y="2962656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2980944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2980944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layout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298094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 EDA tool, DRC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298094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fixes it (Baker Studio)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" y="3300984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3319272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3319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fabrication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331927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Vendors, customs, 7–20 days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331927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Baker, in hours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11480" y="3639312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1480" y="365760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365760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assembly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2103120" y="365760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SMD soldering, stencil, reflow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365760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+ printed jig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11480" y="3977640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1480" y="3995928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3995928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bring-up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103120" y="399592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Scope, logic analyser, firmware</a:t>
            </a:r>
            <a:endParaRPr lang="en-US" sz="780" dirty="0"/>
          </a:p>
        </p:txBody>
      </p:sp>
      <p:sp>
        <p:nvSpPr>
          <p:cNvPr id="41" name="Text 39"/>
          <p:cNvSpPr txBox="1"/>
          <p:nvPr/>
        </p:nvSpPr>
        <p:spPr>
          <a:xfrm>
            <a:off x="4343400" y="399592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measures (step 2)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11480" y="4315968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4334256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" y="4334256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debug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2103120" y="433425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Root cause, next revision</a:t>
            </a:r>
            <a:endParaRPr lang="en-US" sz="780" dirty="0"/>
          </a:p>
        </p:txBody>
      </p:sp>
      <p:sp>
        <p:nvSpPr>
          <p:cNvPr id="46" name="Text 44"/>
          <p:cNvSpPr txBox="1"/>
          <p:nvPr/>
        </p:nvSpPr>
        <p:spPr>
          <a:xfrm>
            <a:off x="4343400" y="433425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explains the fix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411480" y="4654296"/>
            <a:ext cx="57607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11480" y="46817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rungs 01–04: software can carry them  ·  rungs 05–08: they need machines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46520" y="1737360"/>
            <a:ext cx="2286000" cy="301752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46520" y="1737360"/>
            <a:ext cx="228600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01968" y="18745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PEOPLE LEARN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6601968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By doing: try, look, adjust (Kolb's cycle). The speed of feedback sets the speed of learning.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6601968" y="2926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7–20 days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6601968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try today: beginners quit, experts batch changes</a:t>
            </a:r>
            <a:endParaRPr lang="en-US" sz="740" dirty="0"/>
          </a:p>
        </p:txBody>
      </p:sp>
      <p:sp>
        <p:nvSpPr>
          <p:cNvPr id="55" name="Text 53"/>
          <p:cNvSpPr txBox="1"/>
          <p:nvPr/>
        </p:nvSpPr>
        <p:spPr>
          <a:xfrm>
            <a:off x="6601968" y="36576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≈2 hours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6601968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try on Baker (target): many more attempts in one semester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SOLUTION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AI engineer, and the smart machines it runs</a:t>
            </a:r>
            <a:endParaRPr lang="en-US" sz="2400" dirty="0"/>
          </a:p>
        </p:txBody>
      </p:sp>
      <p:pic>
        <p:nvPicPr>
          <p:cNvPr id="4" name="Image 0" descr="/tmp/claude-0/-home-user-robowar/aee4da2e-473c-53db-a5de-8e0dc57de510/scratchpad/proj/PROTOPUS_Project/08_Build_Scripts/assets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261872"/>
            <a:ext cx="1949501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254203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6151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1 · NOW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7797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Plans the build, drives the machines, explains the results.</a:t>
            </a:r>
            <a:endParaRPr lang="en-US" sz="950" dirty="0"/>
          </a:p>
        </p:txBody>
      </p:sp>
      <p:pic>
        <p:nvPicPr>
          <p:cNvPr id="9" name="Image 1" descr="/tmp/claude-0/-home-user-robowar/aee4da2e-473c-53db-a5de-8e0dc57de510/scratchpad/proj/PROTOPUS_Project/08_Build_Scripts/assets/r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88" y="1261872"/>
            <a:ext cx="1683799" cy="1188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64408" y="254203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64408" y="26151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1 · NOW</a:t>
            </a:r>
            <a:endParaRPr lang="en-US" sz="720" dirty="0"/>
          </a:p>
        </p:txBody>
      </p:sp>
      <p:sp>
        <p:nvSpPr>
          <p:cNvPr id="12" name="Text 8"/>
          <p:cNvSpPr txBox="1"/>
          <p:nvPr/>
        </p:nvSpPr>
        <p:spPr>
          <a:xfrm>
            <a:off x="3264408" y="27797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264408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 the board: mill, mask, stencil, paste, reflow.</a:t>
            </a:r>
            <a:endParaRPr lang="en-US" sz="950" dirty="0"/>
          </a:p>
        </p:txBody>
      </p:sp>
      <p:pic>
        <p:nvPicPr>
          <p:cNvPr id="14" name="Image 2" descr="/tmp/claude-0/-home-user-robowar/aee4da2e-473c-53db-a5de-8e0dc57de510/scratchpad/proj/PROTOPUS_Project/08_Build_Scripts/assets/r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729" y="1261872"/>
            <a:ext cx="1598973" cy="11887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17336" y="254203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117336" y="261518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2 · AFTER POC</a:t>
            </a:r>
            <a:endParaRPr lang="en-US" sz="720" dirty="0"/>
          </a:p>
        </p:txBody>
      </p:sp>
      <p:sp>
        <p:nvSpPr>
          <p:cNvPr id="17" name="Text 12"/>
          <p:cNvSpPr txBox="1"/>
          <p:nvPr/>
        </p:nvSpPr>
        <p:spPr>
          <a:xfrm>
            <a:off x="6117336" y="27797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117336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Tests it: eight instruments on one cable.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11480" y="3767328"/>
            <a:ext cx="8321040" cy="38404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3840480"/>
            <a:ext cx="658368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38404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3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325880" y="37673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u="sng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5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: probes under the board, so Proto can reach, test and program every net. Then any 3D printer for the enclosure.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411480" y="43159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 PROTOTYPES · 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first 1–10 boards of a design. Volume goes to a fab.  </a:t>
            </a:r>
            <a:pPr indent="0" marL="0">
              <a:buNone/>
            </a:pPr>
            <a:r>
              <a:rPr lang="en-US" sz="85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DEMOS · </a:t>
            </a:r>
            <a:pPr indent="0" marL="0">
              <a:buNone/>
            </a:pPr>
            <a:r>
              <a:rPr lang="en-US" sz="850" u="sng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6" invalidUrl="" action="" tgtFrame="" tooltip="https://protopus-kappa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· Baker prototype video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· BUILT FOR PROTOTYPING, NOT PRODUCTION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3D printer doesn't replace the mould.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doesn't replace the fab.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190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PATH FROM IDEA TO 1,000s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457200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011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EXISTS</a:t>
            </a:r>
            <a:endParaRPr lang="en-US" sz="68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plastic bottle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0200" y="2057400"/>
            <a:ext cx="1965960" cy="475488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73352" y="2057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 </a:t>
            </a:r>
            <a:pPr indent="0" marL="0">
              <a:buNone/>
            </a:pPr>
            <a:r>
              <a:rPr lang="en-US" sz="76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desktop 3D print: shape, feel, fit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3566160" y="2295144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2057400"/>
            <a:ext cx="1234440" cy="47548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03904" y="2057400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VOLUME  </a:t>
            </a:r>
            <a:pPr indent="0" marL="0">
              <a:buNone/>
            </a:pPr>
            <a:r>
              <a:rPr lang="en-US" sz="76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injection mould</a:t>
            </a:r>
            <a:endParaRPr lang="en-US" sz="76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670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TODAY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852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circuit 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2715768"/>
            <a:ext cx="1965960" cy="475488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73352" y="27157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 </a:t>
            </a:r>
            <a:pPr indent="0" marL="0">
              <a:buNone/>
            </a:pPr>
            <a:r>
              <a:rPr lang="en-US" sz="76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order + hand assembly + borrowed bench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3566160" y="2953512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49040" y="2715768"/>
            <a:ext cx="1234440" cy="47548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03904" y="271576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VOLUME  </a:t>
            </a:r>
            <a:pPr indent="0" marL="0">
              <a:buNone/>
            </a:pPr>
            <a:r>
              <a:rPr lang="en-US" sz="76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/ EMS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332841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PROTOPUS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411480" y="35112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circuit 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00200" y="3374136"/>
            <a:ext cx="1965960" cy="475488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73352" y="33741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 </a:t>
            </a:r>
            <a:pPr indent="0" marL="0">
              <a:buNone/>
            </a:pPr>
            <a:r>
              <a:rPr lang="en-US" sz="76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+ Baker: finished board on the desk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3566160" y="3611880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749040" y="3374136"/>
            <a:ext cx="1234440" cy="475488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03904" y="337413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VOLUME  </a:t>
            </a:r>
            <a:pPr indent="0" marL="0">
              <a:buNone/>
            </a:pPr>
            <a:r>
              <a:rPr lang="en-US" sz="76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/ EMS, with checked files</a:t>
            </a:r>
            <a:endParaRPr lang="en-US" sz="76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041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Plastic has had a desktop prototyping path for years. Electronics hasn't had one that ends in a finished, soldered board.</a:t>
            </a:r>
            <a:endParaRPr lang="en-US" sz="78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17190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BOARDS A YEAR → RIGHT TOOL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303520" y="1920240"/>
            <a:ext cx="342900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0" y="1965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19933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88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21671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same-day loops beat fab minimums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5303520" y="2377440"/>
            <a:ext cx="3429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0" y="239572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2423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</a:t>
            </a:r>
            <a:endParaRPr lang="en-US" sz="88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25968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machine covers a busy lab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5303520" y="2807208"/>
            <a:ext cx="3429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0" y="28254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1,000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28529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+ a fab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30266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any batch of 10+ identical boards → fab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303520" y="3236976"/>
            <a:ext cx="3429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10,000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263640" y="328269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 / EMS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6263640" y="34564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production; Proto exports checked files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5303520" y="3666744"/>
            <a:ext cx="3429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03520" y="36850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1,00,000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3712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fab / EMS</a:t>
            </a:r>
            <a:endParaRPr lang="en-US" sz="880" dirty="0"/>
          </a:p>
        </p:txBody>
      </p:sp>
      <p:sp>
        <p:nvSpPr>
          <p:cNvPr id="48" name="Text 46"/>
          <p:cNvSpPr txBox="1"/>
          <p:nvPr/>
        </p:nvSpPr>
        <p:spPr>
          <a:xfrm>
            <a:off x="6263640" y="388620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not what Baker is for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5303520" y="4096512"/>
            <a:ext cx="342900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0352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Not a desktop mill: a mill automates one step for experts (Bantam Tools stopped selling its PCB mill in 2025). Baker runs 15 steps, with Proto guiding.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throughput target: 3–5 boards per 8-hour shift (750–1,250 a year), to be measured in the proof of concept · ToolGuyd, 11 Nov 2025.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· PROTO · WHAT MAKES IT OURS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AI engineer that understands your 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3657600" cy="2203704"/>
          </a:xfrm>
          <a:prstGeom prst="rect">
            <a:avLst/>
          </a:prstGeom>
          <a:solidFill>
            <a:srgbClr val="0E1216"/>
          </a:solidFill>
          <a:ln w="15875">
            <a:solidFill>
              <a:srgbClr val="F2C230"/>
            </a:solidFill>
            <a:prstDash val="solid"/>
          </a:ln>
        </p:spPr>
      </p:sp>
      <p:pic>
        <p:nvPicPr>
          <p:cNvPr id="5" name="Image 0" descr="/tmp/claude-0/-home-user-robowar/aee4da2e-473c-53db-a5de-8e0dc57de510/scratchpad/proj/PROTOPUS_Project/08_Build_Scripts/assets/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89888"/>
            <a:ext cx="3621024" cy="21671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11480" y="3657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today: Proto found the thin trace, fixed it and planned the mill. You press Accept.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343400" y="1325880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4340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3898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READS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91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schematics and layouts, via the Flux.ai API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43400" y="1892808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4340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956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1579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Gerbers and the Baker job: mill, drill, mask, stencil, jig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3400" y="2459736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43400" y="2505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5237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DIAGNOSES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7249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through Mixer (step 2): waveforms, in plain words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43400" y="3026664"/>
            <a:ext cx="438912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3072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0906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HAS A CHARACTER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platypus engineer, built on Gemini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43400" y="3657600"/>
            <a:ext cx="4389120" cy="502920"/>
          </a:xfrm>
          <a:prstGeom prst="rect">
            <a:avLst/>
          </a:prstGeom>
          <a:solidFill>
            <a:srgbClr val="121A21"/>
          </a:solidFill>
          <a:ln w="12700">
            <a:solidFill>
              <a:srgbClr val="121A2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62272" y="3785616"/>
            <a:ext cx="566928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62272" y="37856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138928" y="3657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: probes under the board reach every net.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Designed so a </a:t>
            </a:r>
            <a:pPr indent="0" marL="0">
              <a:buNone/>
            </a:pPr>
            <a:r>
              <a:rPr lang="en-US" sz="13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first-timer</a:t>
            </a:r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can go from idea to board, with Proto at each step.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· PROTO · HOW THE AI WORKS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loop, not a chatbot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2120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UNDERSTAND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brief or design → board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31720" y="18928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2432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large model breaks the goal into steps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8928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8FB3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CHECK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DRC + Baker process rules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37960" y="1892808"/>
            <a:ext cx="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146304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0568" y="1536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1783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Gerbers, toolpaths, mask, stencil, jig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2331720"/>
            <a:ext cx="0" cy="32004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" y="2651760"/>
            <a:ext cx="1920240" cy="868680"/>
          </a:xfrm>
          <a:prstGeom prst="rect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GET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board + a plain-English report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265176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2432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EXPLAIN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62432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measured vs expected → fix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14600" y="3081528"/>
            <a:ext cx="-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17720" y="265176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2744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MEASURE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72744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bench now; Mixer in step 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081528"/>
            <a:ext cx="-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20840" y="2651760"/>
            <a:ext cx="19202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30568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APPROVE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83056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press Accept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081528"/>
            <a:ext cx="-18288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74720" y="2651760"/>
            <a:ext cx="0" cy="-320040"/>
          </a:xfrm>
          <a:prstGeom prst="line">
            <a:avLst/>
          </a:prstGeom>
          <a:noFill/>
          <a:ln w="11430">
            <a:solidFill>
              <a:srgbClr val="F2C23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547872" y="2395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 attempt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11480" y="3749040"/>
            <a:ext cx="8321040" cy="45720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3749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MEMORY  </a:t>
            </a:r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 run logs design → settings → measurements → outcome. File-only AI tools never see the real board, so they can't collect this data.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11480" y="4389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model proposes · tested engines compute · you approve · the machine executes.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· PROTO · ONE RUN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“import” to “PASS” in one sitting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321040" cy="320040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4447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— sensor-hat-rev-c.brd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67335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10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1051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import sensor-hat-rev-c from Flux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396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10:03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1396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trace under the MCU necks to 5.8 mil. Widened to 7 mil.  [Accept]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10:04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4688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mill · drill 42 holes · mask · stencil · jig prints in parallel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7980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11:40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7980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7980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drop parts into the jig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1272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11:52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1272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31272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low-temperature reflow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456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456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4564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 up ✓   3V3 rail ✓   I²C sensor: no reply ✗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7856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12:08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785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37856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“SDA has no pull-up: R4 is lifted on one pad. Reheat R4.”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12:15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874520" y="4114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retest: sensor replies  ✓  PASS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Illustrative run of the full system (Mixer is step 2). Times are engineering targets; the proof of concept measures them.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· BAKER · UNDER THE HOOD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Fifteen steps on one shuttle, in one box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5669280" cy="2514600"/>
          </a:xfrm>
          <a:prstGeom prst="rect">
            <a:avLst/>
          </a:prstGeom>
          <a:solidFill>
            <a:srgbClr val="0E1216"/>
          </a:solidFill>
          <a:ln w="11430">
            <a:solidFill>
              <a:srgbClr val="424A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572768"/>
            <a:ext cx="2148840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6459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500 W spindle · touch probe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mill · drill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W laser cuts the stencil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37560" y="1572768"/>
            <a:ext cx="2148840" cy="1371600"/>
          </a:xfrm>
          <a:prstGeom prst="rect">
            <a:avLst/>
          </a:prstGeom>
          <a:solidFill>
            <a:srgbClr val="0E1216"/>
          </a:solidFill>
          <a:ln w="12700">
            <a:solidFill>
              <a:srgbClr val="8FB3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7288" y="16459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ZONE 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liquid mask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10.1" LCD, 405 nm UV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wipe · dry · cure · paste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30352" y="1572768"/>
            <a:ext cx="365760" cy="137160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1572768"/>
            <a:ext cx="365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refill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530352" y="3154680"/>
            <a:ext cx="5440680" cy="31089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31546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⟷  SHUTTLE · one fixture, one coordinate frame, steps 01–12 automated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56616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refill magazine loads the next blank · stencil cut from the same Gerber, in the same frame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423160" cy="1097280"/>
          </a:xfrm>
          <a:prstGeom prst="rect">
            <a:avLst/>
          </a:prstGeom>
          <a:solidFill>
            <a:srgbClr val="0E1216"/>
          </a:solidFill>
          <a:ln w="9525">
            <a:solidFill>
              <a:srgbClr val="6E7A8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1490472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· STEPS 13–14 (MANUAL)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jig auto-generated from the Gerber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drop parts into 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hotplate reflow, 138 °C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2423160" cy="1234440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2770632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 · STEP 15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bench instruments in step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in step 2: one cable,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eight instruments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1965960"/>
            <a:ext cx="22860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16368" y="2514600"/>
            <a:ext cx="0" cy="18288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" y="4133088"/>
            <a:ext cx="1920240" cy="27432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≈2 h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board (target)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96312" y="4133088"/>
            <a:ext cx="1920240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96312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15–20 min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2496312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of it hands-on (target)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81144" y="4133088"/>
            <a:ext cx="1920240" cy="27432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81144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boards per shift (target)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665976" y="4133088"/>
            <a:ext cx="1920240" cy="27432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65976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₹1.45L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665976" y="45720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 cost (projected)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3,73,418 → production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1,44,842 (China parts, Delhi build, 100 units) · </a:t>
            </a:r>
            <a:pPr indent="0" marL="0">
              <a:buNone/>
            </a:pPr>
            <a:r>
              <a:rPr lang="en-US" sz="650" u="sng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1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protopus-kappa.vercel.app/#/baker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· BAKER · TECH STACK, PROTOTYPE → PRODUCTION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15 steps, cheaper parts: ₹3,73,418 → ₹1,44,842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83210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697480"/>
                <a:gridCol w="2606040"/>
                <a:gridCol w="187452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FUNCTION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PROTOTYPE (INDIA, 1 UNIT)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PRODUCTION (CHINA PARTS, 100)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spc="100" kern="0" dirty="0">
                          <a:solidFill>
                            <a:srgbClr val="6E7A83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WHY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430" cap="flat" cmpd="sng" algn="ctr">
                      <a:solidFill>
                        <a:srgbClr val="E8E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Axes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Finished ball-screw linear stages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SFU1605 ball screws + HGR15 rails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≈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₹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5,500 per axis vs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₹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16,500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Z axes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100 mm SFU1605 stage + NEMA17 ×2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T8 screw + linear guide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Spindle/laser Z and dispense Z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Control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Raspberry Pi 5 + BTT Octopus Pro + DM556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BTT Manta M8P V2 + CB1 (8 × TMC2209)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One board, 8 drivers, ≈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₹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10,800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Power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24 V + 48 V + 12 V supplies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One LRS-350-24 rail (spindle keeps its own)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Fewer supplies, simpler wiring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Spindle + laser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500 W ER11 kit · 10 W 445 nm diode (retail)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Volume-sourced; quotes at 100 units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Biggest cost-down lever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Mask + UV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Syringe LPSM · 10.1" 12K LCD · ChiTu L K1 · 405 nm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Same engine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The LCD also prints jigs in production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Placement jig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Separate Saturn 3 Ultra + wash/cure (TR300, 160 °C)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Resin vat + lift under Baker's own UV screen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Removes the printer (to test)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Reflow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300 W silicone hotplate · SSR · MAX31855 · Sn42Bi58 (138 °C)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Same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Stays under the jig resin's 160 °C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Firmware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Klipper + Moonraker + Proto job runner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Locked factory image; activation stays with us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A3B3B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IP by architecture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Unit cost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₹</a:t>
                      </a:r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3,73,418 (incl. 35% duty/courier, 15% contingency)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F8F4E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₹</a:t>
                      </a:r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F8F4E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1,44,842 (incl. duty, freight, Delhi assembly)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Hardware target </a:t>
                      </a:r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₹</a:t>
                      </a:r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8EEF2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1,50,000</a:t>
                      </a:r>
                      <a:endParaRPr lang="en-US" sz="7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50800" marR="50800" marT="19050" marB="190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1F2A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Open points tested in the proof of concept: 0.5 mm-pitch mask clean-out · film registration ±50 µm · jig accuracy after resin shrink · laser offset drift · </a:t>
            </a:r>
            <a:pPr indent="0" marL="0">
              <a:buNone/>
            </a:pPr>
            <a:r>
              <a:rPr lang="en-US" sz="650" u="sng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1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 →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· MIXER · STEP 2 · TECH STACK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Eight instruments, one cable, one brain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17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scope · 2 ch · 12-bit 65 MS/s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2423160" y="1554480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1746504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7465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wavegen · 2 ch · 14-bit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423160" y="1883664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" y="2075688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075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logic · 16 ch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423160" y="2212848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" y="2404872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404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pattern generator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2423160" y="2542032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" y="2734056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27340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protocol decoder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2423160" y="2871216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1480" y="3063240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3063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 programmable supplies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2423160" y="3200400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" y="3392424"/>
            <a:ext cx="2011680" cy="274320"/>
          </a:xfrm>
          <a:prstGeom prst="rect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33924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24-bit multimeter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423160" y="3529584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97480" y="1417320"/>
            <a:ext cx="1645920" cy="2249424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1417320"/>
            <a:ext cx="14630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FPGA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Tang Primer 20K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capture, trigger,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waveforms, logic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43400" y="2542032"/>
            <a:ext cx="274320" cy="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17720" y="2103120"/>
            <a:ext cx="1463040" cy="868680"/>
          </a:xfrm>
          <a:prstGeom prst="rect">
            <a:avLst/>
          </a:prstGeom>
          <a:solidFill>
            <a:srgbClr val="0E1216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21031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expected vs measured → verdict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A TEST RUNS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16733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784848" y="16733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connect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19293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784848" y="19293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power up, current watched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21854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21854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check the rails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4414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T4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784848" y="24414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drive the inputs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2697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T5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784848" y="2697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capture outputs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29535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T6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2953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decode the buses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2095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T7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784848" y="32095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verdict in plain words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T8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784848" y="346557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fix → next board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37673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AD9226 ×2 · AN9767 · AD8066 · ADS1256 + REF5025 · MCP4728 → XL6009 · INA226 · 74LVC245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411480" y="4023360"/>
            <a:ext cx="2651760" cy="27432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11480" y="4096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₹13,740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411480" y="4462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production cost (projected)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27832" y="4023360"/>
            <a:ext cx="2651760" cy="27432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27832" y="4096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in 1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3227832" y="4462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Analog Discovery 3 class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044184" y="4023360"/>
            <a:ext cx="2688336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44184" y="4096512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endParaRPr lang="en-US" sz="1800" dirty="0"/>
          </a:p>
        </p:txBody>
      </p:sp>
      <p:sp>
        <p:nvSpPr>
          <p:cNvPr id="56" name="Text 54"/>
          <p:cNvSpPr txBox="1"/>
          <p:nvPr/>
        </p:nvSpPr>
        <p:spPr>
          <a:xfrm>
            <a:off x="6044184" y="4462272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next: full access to every net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75488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74,847 keeps 12/14-bit converters; production: Tang Nano 9K, AD9288 8-bit 80 MS/s, DAC908, FT232HL, one USB cable, no screen. Built in step 2, after the PoC.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· COMPETITION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Others solve one step.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We're building the whole loop.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373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PRODUCT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PRICE · </a:t>
            </a:r>
            <a:pPr algn="l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257800" y="1737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737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ASSEMBLE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7373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37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GUIDE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Voltera V-One (ink printer)</a:t>
            </a:r>
            <a:endParaRPr lang="en-US" sz="92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~3.1 lakh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18988" y="210312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210312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2068" y="210312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10312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31343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322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LPKF ProtoMat</a:t>
            </a:r>
            <a:endParaRPr lang="en-US" sz="92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8.6–24.5 lakh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2414016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24140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2068" y="24140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7888" y="241401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624328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633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Makera Carvera (desktop CNC)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~4.8 lakh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18988" y="2724912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0528" y="272491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2068" y="272491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888" y="2724912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2935224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1480" y="2944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Bantam Tools PCB mill</a:t>
            </a:r>
            <a:endParaRPr lang="en-US" sz="920" dirty="0"/>
          </a:p>
        </p:txBody>
      </p:sp>
      <p:sp>
        <p:nvSpPr>
          <p:cNvPr id="33" name="Text 31"/>
          <p:cNvSpPr txBox="1"/>
          <p:nvPr/>
        </p:nvSpPr>
        <p:spPr>
          <a:xfrm>
            <a:off x="324612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discontinued 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18988" y="3035808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10528" y="30358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2068" y="30358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3035808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24612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3255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Digilent Analog Discovery 3</a:t>
            </a:r>
            <a:endParaRPr lang="en-US" sz="920" dirty="0"/>
          </a:p>
        </p:txBody>
      </p:sp>
      <p:sp>
        <p:nvSpPr>
          <p:cNvPr id="40" name="Text 38"/>
          <p:cNvSpPr txBox="1"/>
          <p:nvPr/>
        </p:nvSpPr>
        <p:spPr>
          <a:xfrm>
            <a:off x="324612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~34,000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18988" y="334670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334670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2068" y="3346704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3346704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557016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11480" y="3566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JLCPCB, PCBWay → India</a:t>
            </a:r>
            <a:endParaRPr lang="en-US" sz="920" dirty="0"/>
          </a:p>
        </p:txBody>
      </p:sp>
      <p:sp>
        <p:nvSpPr>
          <p:cNvPr id="47" name="Text 45"/>
          <p:cNvSpPr txBox="1"/>
          <p:nvPr/>
        </p:nvSpPr>
        <p:spPr>
          <a:xfrm>
            <a:off x="32461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order, 7–20 days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18988" y="365760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10528" y="3657600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2068" y="365760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7888" y="3657600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3867912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11480" y="3877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Flux (AI design)</a:t>
            </a:r>
            <a:endParaRPr lang="en-US" sz="920" dirty="0"/>
          </a:p>
        </p:txBody>
      </p:sp>
      <p:sp>
        <p:nvSpPr>
          <p:cNvPr id="54" name="Text 52"/>
          <p:cNvSpPr txBox="1"/>
          <p:nvPr/>
        </p:nvSpPr>
        <p:spPr>
          <a:xfrm>
            <a:off x="324612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1.3–4.3k / month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618988" y="396849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10528" y="396849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02068" y="3968496"/>
            <a:ext cx="100584" cy="100584"/>
          </a:xfrm>
          <a:prstGeom prst="ellipse">
            <a:avLst/>
          </a:prstGeom>
          <a:solidFill>
            <a:srgbClr val="0E1216"/>
          </a:solidFill>
          <a:ln w="9525">
            <a:solidFill>
              <a:srgbClr val="424A5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47888" y="3968496"/>
            <a:ext cx="100584" cy="100584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4178808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" y="4242816"/>
            <a:ext cx="8321040" cy="36576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21208" y="4242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protopus · proto + baker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3246120" y="4242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2.99 lakh (+34,999 mixer)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1898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51052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0206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47888" y="4375404"/>
            <a:ext cx="100584" cy="100584"/>
          </a:xfrm>
          <a:prstGeom prst="ellipse">
            <a:avLst/>
          </a:prstGeom>
          <a:solidFill>
            <a:srgbClr val="1A1405"/>
          </a:solidFill>
          <a:ln w="9525">
            <a:solidFill>
              <a:srgbClr val="1A140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List prices at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88 per US$, before import duty: Voltera $3,499.99 · Makera $5,499 · Digilent $389 · Flux $15–49/editor/month · LPKF via Design World · ToolGuyd · JLCPCB + zbotic.in. Protopus prices projected.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 · ECONOMICS · PROJECTED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earn on every machine.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customer earns it back in months.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7556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 UNIT · </a:t>
            </a:r>
            <a:pPr indent="0" marL="0">
              <a:buNone/>
            </a:pPr>
            <a:r>
              <a:rPr lang="en-US" sz="750" spc="100" kern="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755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7556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956816"/>
            <a:ext cx="365760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0299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cost (all-in)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0299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2,00,000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2996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22,500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86584"/>
            <a:ext cx="3657600" cy="365760"/>
          </a:xfrm>
          <a:prstGeom prst="rect">
            <a:avLst/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414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Selling price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2,99,000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121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34,999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7980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Margin after all costs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27980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~33%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27980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~36%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3657600" cy="68580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32918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2000" b="1" dirty="0">
                <a:solidFill>
                  <a:srgbClr val="1A140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9,999</a:t>
            </a:r>
            <a:pPr indent="0" marL="0">
              <a:buNone/>
            </a:pPr>
            <a:r>
              <a:rPr lang="en-US" sz="85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/ year · one Proto plan per workspace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 consumables, reordered as labs build · gross margin on build cost: Baker 51.6%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4389120" y="1755648"/>
            <a:ext cx="0" cy="26517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7556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 THE CUSTOMER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₹334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consumables per board on Baker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₹6,721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24871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same board from JLCPCB, landed in India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069080" cy="27432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47 boards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to pay back Baker: about 5.9 months for a startup iterating twice a week (11.8 months at once a week). 53 boards once Mixer is added.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Projections at 100-unit batches; production cost Baker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1,44,842, Mixer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13,740. JLCPCB: 5 PCBs + PCBA ($8 setup, $1.50 stencil) + DHL + 10% BCD + 18% IGST. Waiting time not counted.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 · MARKET PLAN / GROWTH STRATEGY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Start in the maker studios, then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follow the people who watch them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₹6.4L cr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global PCB market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404872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96312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₹3.1L cr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496312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global test and measurement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489704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₹55K cr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PCB, ~15% a year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574536" y="173736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65976" y="1828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₹8.3K cr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65976" y="2194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India test and measurement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33M+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active Arduino users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04872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96312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2.3M+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496312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Hackster hardware community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89704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1144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Atal Tinkering Labs, +50,000 planned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74536" y="2468880"/>
            <a:ext cx="0" cy="73152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65976" y="2560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~2,500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665976" y="2926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Fab Labs in 125 countries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246888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200400"/>
            <a:ext cx="8321040" cy="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64992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1480" y="3474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NOW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Maker studios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1148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units for featured videos. The Bambu Lab playbook.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27832" y="3364992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227832" y="3474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NEXT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3227832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Hobbyists and startups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227832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Everyone who watches and loses weeks per board.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44184" y="3364992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44184" y="34747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ALONGSIDE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044184" y="36758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Prototyping labs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044184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Tinkering, Fab and college labs that already buy tools.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IMARC · Grand View · Arduino · Hackster · Atal Innovation Mission · Forbes · at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88 per US$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 · WHERE WE ARE, AND WHAT THE MONEY PROVES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Told honestly, one milestone at a time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prototype running on the bench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Studio + Proto; website live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80760" y="1417320"/>
            <a:ext cx="2651760" cy="36576"/>
          </a:xfrm>
          <a:prstGeom prst="rect">
            <a:avLst/>
          </a:prstGeom>
          <a:solidFill>
            <a:srgbClr val="424A51"/>
          </a:solidFill>
          <a:ln w="12700">
            <a:solidFill>
              <a:srgbClr val="424A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3B3B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8745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2: designed, built after the PoC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49631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M2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29077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runs all 15 steps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1810512" y="249631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10512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29077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 tests pass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209544" y="2496312"/>
            <a:ext cx="91440" cy="91440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9544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09544" y="29077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Proto: brief → Gerbers → Baker job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608576" y="2496312"/>
            <a:ext cx="91440" cy="91440"/>
          </a:xfrm>
          <a:prstGeom prst="ellipse">
            <a:avLst/>
          </a:prstGeom>
          <a:solidFill>
            <a:srgbClr val="CF8F4E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08576" y="29077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Baker Rev B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007608" y="2496312"/>
            <a:ext cx="91440" cy="91440"/>
          </a:xfrm>
          <a:prstGeom prst="ellipse">
            <a:avLst/>
          </a:prstGeom>
          <a:solidFill>
            <a:srgbClr val="F2C230"/>
          </a:solidFill>
          <a:ln w="9525">
            <a:solidFill>
              <a:srgbClr val="F2C2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07608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M6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007608" y="29077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 of concept: 20 boards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406640" y="2496312"/>
            <a:ext cx="91440" cy="91440"/>
          </a:xfrm>
          <a:prstGeom prst="ellipse">
            <a:avLst/>
          </a:prstGeom>
          <a:solidFill>
            <a:srgbClr val="60A05A"/>
          </a:solidFill>
          <a:ln w="9525">
            <a:solidFill>
              <a:srgbClr val="60A0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26974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0A05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M7–9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90779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11480" y="3657600"/>
            <a:ext cx="8321040" cy="603504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3840480"/>
            <a:ext cx="713232" cy="237744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384048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444752" y="3657600"/>
            <a:ext cx="7178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Samuel Beek</a:t>
            </a:r>
            <a:pPr indent="0" marL="0">
              <a:buNone/>
            </a:pPr>
            <a:r>
              <a:rPr lang="en-US" sz="9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, Founder &amp; CEO of Schematik, is interested in funding us at proof of concept.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11480" y="446227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first, one product at a time. Built in the university lab, tested with students and makers. A demo video every month.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3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16 · GRANT / FUNDING REQUIRED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8A5F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600" b="1" dirty="0">
                <a:solidFill>
                  <a:srgbClr val="8A5F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15,00,000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first: nine months to a proof of concept, and time to raise.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1261872" cy="45720"/>
          </a:xfrm>
          <a:prstGeom prst="rect">
            <a:avLst/>
          </a:prstGeom>
          <a:solidFill>
            <a:srgbClr val="8A5F31"/>
          </a:solidFill>
          <a:ln w="12700">
            <a:solidFill>
              <a:srgbClr val="8A5F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480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3.73L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09067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build, costed line by line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4228" y="2514600"/>
            <a:ext cx="1261872" cy="45720"/>
          </a:xfrm>
          <a:prstGeom prst="rect">
            <a:avLst/>
          </a:prstGeom>
          <a:solidFill>
            <a:srgbClr val="1B64A8"/>
          </a:solidFill>
          <a:ln w="12700">
            <a:solidFill>
              <a:srgbClr val="1B64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24228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1.60L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24228" y="309067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Rev B + test-board consumables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6976" y="2514600"/>
            <a:ext cx="1261872" cy="45720"/>
          </a:xfrm>
          <a:prstGeom prst="rect">
            <a:avLst/>
          </a:prstGeom>
          <a:solidFill>
            <a:srgbClr val="131210"/>
          </a:solidFill>
          <a:ln w="12700">
            <a:solidFill>
              <a:srgbClr val="13121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36976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4.50L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309067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software + firmware engineer, 9 months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49724" y="2514600"/>
            <a:ext cx="1261872" cy="45720"/>
          </a:xfrm>
          <a:prstGeom prst="rect">
            <a:avLst/>
          </a:prstGeom>
          <a:solidFill>
            <a:srgbClr val="C08A12"/>
          </a:solidFill>
          <a:ln w="12700">
            <a:solidFill>
              <a:srgbClr val="C08A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9724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1.35L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49724" y="309067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software + compute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62472" y="2514600"/>
            <a:ext cx="1261872" cy="45720"/>
          </a:xfrm>
          <a:prstGeom prst="rect">
            <a:avLst/>
          </a:prstGeom>
          <a:solidFill>
            <a:srgbClr val="9C8F7C"/>
          </a:solidFill>
          <a:ln w="12700">
            <a:solidFill>
              <a:srgbClr val="9C8F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62472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1.50L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062472" y="309067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testing, tooling, lab safety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75220" y="2514600"/>
            <a:ext cx="1261872" cy="45720"/>
          </a:xfrm>
          <a:prstGeom prst="rect">
            <a:avLst/>
          </a:prstGeom>
          <a:solidFill>
            <a:srgbClr val="60A05A"/>
          </a:solidFill>
          <a:ln w="12700">
            <a:solidFill>
              <a:srgbClr val="60A0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5220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190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2.32L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475220" y="309067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IP, outreach, reserve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4069080"/>
            <a:ext cx="8321040" cy="0"/>
          </a:xfrm>
          <a:prstGeom prst="line">
            <a:avLst/>
          </a:prstGeom>
          <a:noFill/>
          <a:ln w="12700">
            <a:solidFill>
              <a:srgbClr val="13121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42062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One product at a time: Mixer and </a:t>
            </a:r>
            <a:pPr indent="0" marL="0">
              <a:buNone/>
            </a:pPr>
            <a:r>
              <a:rPr lang="en-US" sz="950" b="1" u="sng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1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pPr indent="0" marL="0">
              <a:buNone/>
            </a:pPr>
            <a:r>
              <a:rPr lang="en-US" sz="950" b="1" dirty="0">
                <a:solidFill>
                  <a:srgbClr val="13121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are step 2, funded after the proof of concept. No founder salary. Builds line by line from the cost report.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 · WHAT'S NEXT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by step: prove Baker, then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 the instruments, then the ecosystem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755648"/>
            <a:ext cx="2651760" cy="36576"/>
          </a:xfrm>
          <a:prstGeom prst="rect">
            <a:avLst/>
          </a:prstGeom>
          <a:solidFill>
            <a:srgbClr val="CF8F4E"/>
          </a:solidFill>
          <a:ln w="12700">
            <a:solidFill>
              <a:srgbClr val="CF8F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847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1 · NOW · </a:t>
            </a:r>
            <a:pPr indent="0" marL="0">
              <a:buNone/>
            </a:pPr>
            <a:r>
              <a:rPr lang="en-US" sz="750" spc="150" kern="0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750" spc="15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15L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 + </a:t>
            </a:r>
            <a:pPr indent="0" marL="0">
              <a:buNone/>
            </a:pPr>
            <a:r>
              <a:rPr lang="en-US" sz="1300" b="1" u="sng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Proof of concept: 20 boards, measured cycle time, Proto from brief to Baker job.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246120" y="1755648"/>
            <a:ext cx="2651760" cy="36576"/>
          </a:xfrm>
          <a:prstGeom prst="rect">
            <a:avLst/>
          </a:prstGeom>
          <a:solidFill>
            <a:srgbClr val="54ACF0"/>
          </a:solidFill>
          <a:ln w="12700">
            <a:solidFill>
              <a:srgbClr val="54A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847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2 · SEED · ~</a:t>
            </a:r>
            <a:pPr indent="0" marL="0">
              <a:buNone/>
            </a:pPr>
            <a:r>
              <a:rPr lang="en-US" sz="750" spc="150" kern="0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750" spc="150" kern="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1.5 CR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Mixer + </a:t>
            </a:r>
            <a:pPr indent="0" marL="0">
              <a:buNone/>
            </a:pPr>
            <a:r>
              <a:rPr lang="en-US" sz="1300" b="1" u="sng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 and program every board. Baker pilots through China: 20 Bakers, 100 Mixers.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80760" y="1755648"/>
            <a:ext cx="2651760" cy="36576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84708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STEP 3 · ECOSYSTEM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 runs it all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80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Any 3D printer joins for enclosures and jigs. India first, then global.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11480" y="3337560"/>
            <a:ext cx="8321040" cy="0"/>
          </a:xfrm>
          <a:prstGeom prst="line">
            <a:avLst/>
          </a:prstGeom>
          <a:noFill/>
          <a:ln w="9525">
            <a:solidFill>
              <a:srgbClr val="E8E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4290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HOW WE RUN THE COMPANY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Software team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improves Proto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86584" y="3639312"/>
            <a:ext cx="0" cy="6858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96312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F8F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team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96312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machines + accessories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71416" y="3639312"/>
            <a:ext cx="0" cy="6858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81144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4AC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China, turnkey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parts, assembly, factory test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56248" y="3639312"/>
            <a:ext cx="0" cy="68580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65976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0A05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India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65976" y="3931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test, minimal assembly, ship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468172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Seed use (indicative): China pilots + first batches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70L · set-up + IP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25L · team of 5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25L · Delhi centre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20L · buffer 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10L. Pilot batches are sellable (≈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₹</a:t>
            </a:r>
            <a:pPr indent="0" marL="0">
              <a:buNone/>
            </a:pPr>
            <a:r>
              <a:rPr lang="en-US" sz="6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95L at list).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42976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 · VISION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plain-English brief in.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tested prototype out.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1965960"/>
            <a:ext cx="1828800" cy="914400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01952" y="1965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40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backed by large models; plans in a project repository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1325880" cy="566928"/>
          </a:xfrm>
          <a:prstGeom prst="rect">
            <a:avLst/>
          </a:prstGeom>
          <a:solidFill>
            <a:srgbClr val="0E1216"/>
          </a:solidFill>
          <a:ln w="9525">
            <a:solidFill>
              <a:srgbClr val="CF8F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16002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u="sng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1" invalidUrl="" action="" tgtFrame="" tooltip="https://protopus-kappa.vercel.app/#/bak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Baker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makes the board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60520" y="1600200"/>
            <a:ext cx="1325880" cy="566928"/>
          </a:xfrm>
          <a:prstGeom prst="rect">
            <a:avLst/>
          </a:prstGeom>
          <a:solidFill>
            <a:srgbClr val="0E1216"/>
          </a:solidFill>
          <a:ln w="9525">
            <a:solidFill>
              <a:srgbClr val="54A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24528" y="16002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+ </a:t>
            </a:r>
            <a:pPr indent="0" marL="0">
              <a:buNone/>
            </a:pPr>
            <a:r>
              <a:rPr lang="en-US" sz="750" b="1" u="sng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tests and programs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1325880" cy="566928"/>
          </a:xfrm>
          <a:prstGeom prst="rect">
            <a:avLst/>
          </a:prstGeom>
          <a:solidFill>
            <a:srgbClr val="0E1216"/>
          </a:solidFill>
          <a:ln w="9525">
            <a:solidFill>
              <a:srgbClr val="E8EE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301752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any 3D printer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enclosure + jigs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60520" y="3017520"/>
            <a:ext cx="1325880" cy="566928"/>
          </a:xfrm>
          <a:prstGeom prst="rect">
            <a:avLst/>
          </a:prstGeom>
          <a:solidFill>
            <a:srgbClr val="0E1216"/>
          </a:solidFill>
          <a:ln w="9525">
            <a:solidFill>
              <a:srgbClr val="8FB3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24528" y="301752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B3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connectors</a:t>
            </a:r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Flux · Fusion · parts APIs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737360" y="1920240"/>
            <a:ext cx="274320" cy="22860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176272"/>
            <a:ext cx="502920" cy="-27432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246120"/>
            <a:ext cx="274320" cy="-36576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743200"/>
            <a:ext cx="502920" cy="411480"/>
          </a:xfrm>
          <a:prstGeom prst="line">
            <a:avLst/>
          </a:prstGeom>
          <a:noFill/>
          <a:ln w="9525">
            <a:solidFill>
              <a:srgbClr val="424A5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374904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We never sell a 3D printer: Proto drives the one you have.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760720" y="1417320"/>
            <a:ext cx="2971800" cy="3246120"/>
          </a:xfrm>
          <a:prstGeom prst="rect">
            <a:avLst/>
          </a:prstGeom>
          <a:solidFill>
            <a:srgbClr val="121A21"/>
          </a:solidFill>
          <a:ln w="9525">
            <a:solidFill>
              <a:srgbClr val="1F2A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880" y="15087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2C23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EXAMPLE · A SMARTWATCH WITH 10 BUTTONS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783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17830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describe it in plain English</a:t>
            </a:r>
            <a:endParaRPr lang="en-US" sz="74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2240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22402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Proto checks feasibility and limits</a:t>
            </a:r>
            <a:endParaRPr lang="en-US" sz="74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2697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6974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plans electronics, sensors, PCB; BOM with buy links</a:t>
            </a:r>
            <a:endParaRPr lang="en-US" sz="74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31546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31546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Baker makes the board; the printer prints a case sized from the measured PCB</a:t>
            </a:r>
            <a:endParaRPr lang="en-US" sz="740" dirty="0"/>
          </a:p>
        </p:txBody>
      </p:sp>
      <p:sp>
        <p:nvSpPr>
          <p:cNvPr id="29" name="Text 27"/>
          <p:cNvSpPr txBox="1"/>
          <p:nvPr/>
        </p:nvSpPr>
        <p:spPr>
          <a:xfrm>
            <a:off x="589788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6118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Mixer + </a:t>
            </a:r>
            <a:pPr indent="0" marL="0">
              <a:buNone/>
            </a:pPr>
            <a:r>
              <a:rPr lang="en-US" sz="740" u="sng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3" invalidUrl="" action="" tgtFrame="" tooltip="https://probe-matrix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Probe Matrix</a:t>
            </a:r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program and test; failing parts are flagged</a:t>
            </a:r>
            <a:endParaRPr lang="en-US" sz="74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40690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406908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you say what felt off; Proto plans the next revision</a:t>
            </a:r>
            <a:endParaRPr lang="en-US" sz="740" dirty="0"/>
          </a:p>
        </p:txBody>
      </p:sp>
      <p:sp>
        <p:nvSpPr>
          <p:cNvPr id="33" name="Text 31"/>
          <p:cNvSpPr txBox="1"/>
          <p:nvPr/>
        </p:nvSpPr>
        <p:spPr>
          <a:xfrm>
            <a:off x="411480" y="4069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one-stop solution for prototyping: </a:t>
            </a:r>
            <a:pPr indent="0" marL="0">
              <a:buNone/>
            </a:pPr>
            <a:r>
              <a:rPr lang="en-US" sz="1200" b="1" dirty="0">
                <a:solidFill>
                  <a:srgbClr val="F2C2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idea to innovation, without the friction.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robowar/aee4da2e-473c-53db-a5de-8e0dc57de510/scratchpad/proj/PROTOPUS_Project/08_Build_Scrip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"/>
            <a:ext cx="1965960" cy="34198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788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you.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Come and try the loop.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4069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u="sng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  <a:hlinkClick r:id="rId2" invalidUrl="" action="" tgtFrame="" tooltip="https://protopus-kappa.vercel.app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protopus-kappa.vercel.app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43159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4AC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soham9763015@ece.du.ac.in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0" y="411480"/>
            <a:ext cx="0" cy="4480560"/>
          </a:xfrm>
          <a:prstGeom prst="line">
            <a:avLst/>
          </a:prstGeom>
          <a:noFill/>
          <a:ln w="9525">
            <a:solidFill>
              <a:srgbClr val="1F2A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429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MANAGEMENT TEAM &amp; CORE SKILLS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685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Who is building this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EE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Soham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1755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8F4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3B3B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Third year ECE, Faculty of Technology, University of Delhi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40680" y="256032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40680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Industrial design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141464" y="256032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41464" y="26243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Mechanical architecture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40680" y="3063240"/>
            <a:ext cx="1572768" cy="0"/>
          </a:xfrm>
          <a:prstGeom prst="line">
            <a:avLst/>
          </a:prstGeom>
          <a:noFill/>
          <a:ln w="11430">
            <a:solidFill>
              <a:srgbClr val="54AC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4068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Embedded electronics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141464" y="3063240"/>
            <a:ext cx="1572768" cy="0"/>
          </a:xfrm>
          <a:prstGeom prst="line">
            <a:avLst/>
          </a:prstGeom>
          <a:noFill/>
          <a:ln w="11430">
            <a:solidFill>
              <a:srgbClr val="CF8F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4146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Machine software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4160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7A8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HIRING NEXT · </a:t>
            </a:r>
            <a:pPr indent="0" marL="0">
              <a:buNone/>
            </a:pPr>
            <a:r>
              <a:rPr lang="en-US" sz="750" dirty="0">
                <a:solidFill>
                  <a:srgbClr val="E8EEF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 software engineer who also writes firmware.</a:t>
            </a:r>
            <a:endParaRPr lang="en-US" sz="750" dirty="0"/>
          </a:p>
        </p:txBody>
      </p:sp>
      <p:pic>
        <p:nvPicPr>
          <p:cNvPr id="22" name="Image 1" descr="/tmp/claude-0/-home-user-robowar/aee4da2e-473c-53db-a5de-8e0dc57de510/scratchpad/proj/PROTOPUS_Project/08_Build_Scripts/assets/masco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840480"/>
            <a:ext cx="1463040" cy="890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PROTOPUS pitch deck</dc:title>
  <dc:subject>PptxGenJS Presentation</dc:subject>
  <dc:creator>PROTOPUS</dc:creator>
  <cp:lastModifiedBy>PROTOPUS</cp:lastModifiedBy>
  <cp:revision>1</cp:revision>
  <dcterms:created xsi:type="dcterms:W3CDTF">2026-10-02T15:06:22Z</dcterms:created>
  <dcterms:modified xsi:type="dcterms:W3CDTF">2026-10-02T15:06:22Z</dcterms:modified>
</cp:coreProperties>
</file>